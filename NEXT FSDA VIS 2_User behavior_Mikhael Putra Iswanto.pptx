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Lst>
  <p:sldSz cy="5143500" cx="9144000"/>
  <p:notesSz cx="6858000" cy="9144000"/>
  <p:embeddedFontLst>
    <p:embeddedFont>
      <p:font typeface="Roboto ExtraBold"/>
      <p:bold r:id="rId35"/>
      <p:boldItalic r:id="rId36"/>
    </p:embeddedFont>
    <p:embeddedFont>
      <p:font typeface="Raleway"/>
      <p:regular r:id="rId37"/>
      <p:bold r:id="rId38"/>
      <p:italic r:id="rId39"/>
      <p:boldItalic r:id="rId40"/>
    </p:embeddedFont>
    <p:embeddedFont>
      <p:font typeface="Roboto"/>
      <p:regular r:id="rId41"/>
      <p:bold r:id="rId42"/>
      <p:italic r:id="rId43"/>
      <p:boldItalic r:id="rId44"/>
    </p:embeddedFont>
    <p:embeddedFont>
      <p:font typeface="Manrope ExtraBold"/>
      <p:bold r:id="rId45"/>
    </p:embeddedFont>
    <p:embeddedFont>
      <p:font typeface="Noto Sans Symbols"/>
      <p:regular r:id="rId46"/>
      <p:bold r:id="rId4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747775"/>
          </p15:clr>
        </p15:guide>
        <p15:guide id="2" orient="horz" pos="2102">
          <p15:clr>
            <a:srgbClr val="747775"/>
          </p15:clr>
        </p15:guide>
        <p15:guide id="3" orient="horz" pos="72">
          <p15:clr>
            <a:srgbClr val="747775"/>
          </p15:clr>
        </p15:guide>
      </p15:sldGuideLst>
    </p:ext>
    <p:ext uri="GoogleSlidesCustomDataVersion2">
      <go:slidesCustomData xmlns:go="http://customooxmlschemas.google.com/" r:id="rId48" roundtripDataSignature="AMtx7mh2RwzSjG1BC6G5HEzlC9gtvvCE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7D4DCAE-1861-4E6A-B2C0-FF0A4CF39091}">
  <a:tblStyle styleId="{37D4DCAE-1861-4E6A-B2C0-FF0A4CF39091}"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B4A69B4-0DA6-4D0D-AB2D-2A5B036AE7D8}"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2102" orient="horz"/>
        <p:guide pos="72"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aleway-boldItalic.fntdata"/><Relationship Id="rId20" Type="http://schemas.openxmlformats.org/officeDocument/2006/relationships/slide" Target="slides/slide14.xml"/><Relationship Id="rId42" Type="http://schemas.openxmlformats.org/officeDocument/2006/relationships/font" Target="fonts/Roboto-bold.fntdata"/><Relationship Id="rId41" Type="http://schemas.openxmlformats.org/officeDocument/2006/relationships/font" Target="fonts/Roboto-regular.fntdata"/><Relationship Id="rId22" Type="http://schemas.openxmlformats.org/officeDocument/2006/relationships/slide" Target="slides/slide16.xml"/><Relationship Id="rId44" Type="http://schemas.openxmlformats.org/officeDocument/2006/relationships/font" Target="fonts/Roboto-boldItalic.fntdata"/><Relationship Id="rId21" Type="http://schemas.openxmlformats.org/officeDocument/2006/relationships/slide" Target="slides/slide15.xml"/><Relationship Id="rId43" Type="http://schemas.openxmlformats.org/officeDocument/2006/relationships/font" Target="fonts/Roboto-italic.fntdata"/><Relationship Id="rId24" Type="http://schemas.openxmlformats.org/officeDocument/2006/relationships/slide" Target="slides/slide18.xml"/><Relationship Id="rId46" Type="http://schemas.openxmlformats.org/officeDocument/2006/relationships/font" Target="fonts/NotoSansSymbols-regular.fntdata"/><Relationship Id="rId23" Type="http://schemas.openxmlformats.org/officeDocument/2006/relationships/slide" Target="slides/slide17.xml"/><Relationship Id="rId45" Type="http://schemas.openxmlformats.org/officeDocument/2006/relationships/font" Target="fonts/ManropeExtra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48" Type="http://customschemas.google.com/relationships/presentationmetadata" Target="metadata"/><Relationship Id="rId25" Type="http://schemas.openxmlformats.org/officeDocument/2006/relationships/slide" Target="slides/slide19.xml"/><Relationship Id="rId47" Type="http://schemas.openxmlformats.org/officeDocument/2006/relationships/font" Target="fonts/NotoSansSymbols-bold.fntdata"/><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RobotoExtraBold-bold.fntdata"/><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Raleway-regular.fntdata"/><Relationship Id="rId14" Type="http://schemas.openxmlformats.org/officeDocument/2006/relationships/slide" Target="slides/slide8.xml"/><Relationship Id="rId36" Type="http://schemas.openxmlformats.org/officeDocument/2006/relationships/font" Target="fonts/RobotoExtraBold-boldItalic.fntdata"/><Relationship Id="rId17" Type="http://schemas.openxmlformats.org/officeDocument/2006/relationships/slide" Target="slides/slide11.xml"/><Relationship Id="rId39" Type="http://schemas.openxmlformats.org/officeDocument/2006/relationships/font" Target="fonts/Raleway-italic.fntdata"/><Relationship Id="rId16" Type="http://schemas.openxmlformats.org/officeDocument/2006/relationships/slide" Target="slides/slide10.xml"/><Relationship Id="rId38" Type="http://schemas.openxmlformats.org/officeDocument/2006/relationships/font" Target="fonts/Raleway-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7" name="Shape 797"/>
        <p:cNvGrpSpPr/>
        <p:nvPr/>
      </p:nvGrpSpPr>
      <p:grpSpPr>
        <a:xfrm>
          <a:off x="0" y="0"/>
          <a:ext cx="0" cy="0"/>
          <a:chOff x="0" y="0"/>
          <a:chExt cx="0" cy="0"/>
        </a:xfrm>
      </p:grpSpPr>
      <p:sp>
        <p:nvSpPr>
          <p:cNvPr id="798" name="Google Shape;798;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1" name="Shape 811"/>
        <p:cNvGrpSpPr/>
        <p:nvPr/>
      </p:nvGrpSpPr>
      <p:grpSpPr>
        <a:xfrm>
          <a:off x="0" y="0"/>
          <a:ext cx="0" cy="0"/>
          <a:chOff x="0" y="0"/>
          <a:chExt cx="0" cy="0"/>
        </a:xfrm>
      </p:grpSpPr>
      <p:sp>
        <p:nvSpPr>
          <p:cNvPr id="812" name="Google Shape;812;g3b8af0a3789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13" name="Google Shape;813;g3b8af0a3789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3b8af0a3789_0_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25" name="Google Shape;825;g3b8af0a3789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8" name="Shape 838"/>
        <p:cNvGrpSpPr/>
        <p:nvPr/>
      </p:nvGrpSpPr>
      <p:grpSpPr>
        <a:xfrm>
          <a:off x="0" y="0"/>
          <a:ext cx="0" cy="0"/>
          <a:chOff x="0" y="0"/>
          <a:chExt cx="0" cy="0"/>
        </a:xfrm>
      </p:grpSpPr>
      <p:sp>
        <p:nvSpPr>
          <p:cNvPr id="839" name="Google Shape;839;g3b8af0a3789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40" name="Google Shape;840;g3b8af0a378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g3b8af0a3789_0_9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57" name="Google Shape;857;g3b8af0a3789_0_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4" name="Shape 864"/>
        <p:cNvGrpSpPr/>
        <p:nvPr/>
      </p:nvGrpSpPr>
      <p:grpSpPr>
        <a:xfrm>
          <a:off x="0" y="0"/>
          <a:ext cx="0" cy="0"/>
          <a:chOff x="0" y="0"/>
          <a:chExt cx="0" cy="0"/>
        </a:xfrm>
      </p:grpSpPr>
      <p:sp>
        <p:nvSpPr>
          <p:cNvPr id="865" name="Google Shape;865;g3b8af0a3789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66" name="Google Shape;866;g3b8af0a3789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4" name="Shape 884"/>
        <p:cNvGrpSpPr/>
        <p:nvPr/>
      </p:nvGrpSpPr>
      <p:grpSpPr>
        <a:xfrm>
          <a:off x="0" y="0"/>
          <a:ext cx="0" cy="0"/>
          <a:chOff x="0" y="0"/>
          <a:chExt cx="0" cy="0"/>
        </a:xfrm>
      </p:grpSpPr>
      <p:sp>
        <p:nvSpPr>
          <p:cNvPr id="885" name="Google Shape;885;g3b8af0a3789_0_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886" name="Google Shape;886;g3b8af0a3789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b8af0a3789_0_1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04" name="Google Shape;904;g3b8af0a378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3" name="Shape 913"/>
        <p:cNvGrpSpPr/>
        <p:nvPr/>
      </p:nvGrpSpPr>
      <p:grpSpPr>
        <a:xfrm>
          <a:off x="0" y="0"/>
          <a:ext cx="0" cy="0"/>
          <a:chOff x="0" y="0"/>
          <a:chExt cx="0" cy="0"/>
        </a:xfrm>
      </p:grpSpPr>
      <p:sp>
        <p:nvSpPr>
          <p:cNvPr id="914" name="Google Shape;914;g3b8af0a3789_0_1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15" name="Google Shape;915;g3b8af0a3789_0_1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g3b8af0a3789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26" name="Google Shape;926;g3b8af0a3789_0_1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b8af0a3789_0_24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b8af0a3789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6" name="Shape 976"/>
        <p:cNvGrpSpPr/>
        <p:nvPr/>
      </p:nvGrpSpPr>
      <p:grpSpPr>
        <a:xfrm>
          <a:off x="0" y="0"/>
          <a:ext cx="0" cy="0"/>
          <a:chOff x="0" y="0"/>
          <a:chExt cx="0" cy="0"/>
        </a:xfrm>
      </p:grpSpPr>
      <p:sp>
        <p:nvSpPr>
          <p:cNvPr id="977" name="Google Shape;977;g3b8af0a3789_0_3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8" name="Google Shape;978;g3b8af0a3789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8" name="Shape 988"/>
        <p:cNvGrpSpPr/>
        <p:nvPr/>
      </p:nvGrpSpPr>
      <p:grpSpPr>
        <a:xfrm>
          <a:off x="0" y="0"/>
          <a:ext cx="0" cy="0"/>
          <a:chOff x="0" y="0"/>
          <a:chExt cx="0" cy="0"/>
        </a:xfrm>
      </p:grpSpPr>
      <p:sp>
        <p:nvSpPr>
          <p:cNvPr id="989" name="Google Shape;989;g3b8af0a3789_0_3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90" name="Google Shape;990;g3b8af0a3789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0" name="Shape 1000"/>
        <p:cNvGrpSpPr/>
        <p:nvPr/>
      </p:nvGrpSpPr>
      <p:grpSpPr>
        <a:xfrm>
          <a:off x="0" y="0"/>
          <a:ext cx="0" cy="0"/>
          <a:chOff x="0" y="0"/>
          <a:chExt cx="0" cy="0"/>
        </a:xfrm>
      </p:grpSpPr>
      <p:sp>
        <p:nvSpPr>
          <p:cNvPr id="1001" name="Google Shape;1001;g3b8af0a3789_0_3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02" name="Google Shape;1002;g3b8af0a3789_0_3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3b8af0a3789_0_4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13" name="Google Shape;1013;g3b8af0a3789_0_4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2" name="Shape 1022"/>
        <p:cNvGrpSpPr/>
        <p:nvPr/>
      </p:nvGrpSpPr>
      <p:grpSpPr>
        <a:xfrm>
          <a:off x="0" y="0"/>
          <a:ext cx="0" cy="0"/>
          <a:chOff x="0" y="0"/>
          <a:chExt cx="0" cy="0"/>
        </a:xfrm>
      </p:grpSpPr>
      <p:sp>
        <p:nvSpPr>
          <p:cNvPr id="1023" name="Google Shape;1023;g3b8af0a3789_0_4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24" name="Google Shape;1024;g3b8af0a3789_0_4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3" name="Shape 1033"/>
        <p:cNvGrpSpPr/>
        <p:nvPr/>
      </p:nvGrpSpPr>
      <p:grpSpPr>
        <a:xfrm>
          <a:off x="0" y="0"/>
          <a:ext cx="0" cy="0"/>
          <a:chOff x="0" y="0"/>
          <a:chExt cx="0" cy="0"/>
        </a:xfrm>
      </p:grpSpPr>
      <p:sp>
        <p:nvSpPr>
          <p:cNvPr id="1034" name="Google Shape;1034;g3bb6f6a63c2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35" name="Google Shape;1035;g3bb6f6a63c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2" name="Shape 1042"/>
        <p:cNvGrpSpPr/>
        <p:nvPr/>
      </p:nvGrpSpPr>
      <p:grpSpPr>
        <a:xfrm>
          <a:off x="0" y="0"/>
          <a:ext cx="0" cy="0"/>
          <a:chOff x="0" y="0"/>
          <a:chExt cx="0" cy="0"/>
        </a:xfrm>
      </p:grpSpPr>
      <p:sp>
        <p:nvSpPr>
          <p:cNvPr id="1043" name="Google Shape;1043;g3b8af0a3789_0_7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4" name="Google Shape;1044;g3b8af0a3789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6" name="Shape 1056"/>
        <p:cNvGrpSpPr/>
        <p:nvPr/>
      </p:nvGrpSpPr>
      <p:grpSpPr>
        <a:xfrm>
          <a:off x="0" y="0"/>
          <a:ext cx="0" cy="0"/>
          <a:chOff x="0" y="0"/>
          <a:chExt cx="0" cy="0"/>
        </a:xfrm>
      </p:grpSpPr>
      <p:sp>
        <p:nvSpPr>
          <p:cNvPr id="1057" name="Google Shape;1057;g3bb6f6a63c2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58" name="Google Shape;1058;g3bb6f6a63c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6" name="Shape 1066"/>
        <p:cNvGrpSpPr/>
        <p:nvPr/>
      </p:nvGrpSpPr>
      <p:grpSpPr>
        <a:xfrm>
          <a:off x="0" y="0"/>
          <a:ext cx="0" cy="0"/>
          <a:chOff x="0" y="0"/>
          <a:chExt cx="0" cy="0"/>
        </a:xfrm>
      </p:grpSpPr>
      <p:sp>
        <p:nvSpPr>
          <p:cNvPr id="1067" name="Google Shape;1067;g3b8af0a3789_0_7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8" name="Google Shape;1068;g3b8af0a3789_0_7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8" name="Shape 1078"/>
        <p:cNvGrpSpPr/>
        <p:nvPr/>
      </p:nvGrpSpPr>
      <p:grpSpPr>
        <a:xfrm>
          <a:off x="0" y="0"/>
          <a:ext cx="0" cy="0"/>
          <a:chOff x="0" y="0"/>
          <a:chExt cx="0" cy="0"/>
        </a:xfrm>
      </p:grpSpPr>
      <p:sp>
        <p:nvSpPr>
          <p:cNvPr id="1079" name="Google Shape;1079;g3bb6f6a63c2_0_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80" name="Google Shape;1080;g3bb6f6a63c2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1" name="Shape 1091"/>
        <p:cNvGrpSpPr/>
        <p:nvPr/>
      </p:nvGrpSpPr>
      <p:grpSpPr>
        <a:xfrm>
          <a:off x="0" y="0"/>
          <a:ext cx="0" cy="0"/>
          <a:chOff x="0" y="0"/>
          <a:chExt cx="0" cy="0"/>
        </a:xfrm>
      </p:grpSpPr>
      <p:sp>
        <p:nvSpPr>
          <p:cNvPr id="1092" name="Google Shape;1092;g3bb6f6a63c2_0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93" name="Google Shape;1093;g3bb6f6a63c2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3" name="Shape 1103"/>
        <p:cNvGrpSpPr/>
        <p:nvPr/>
      </p:nvGrpSpPr>
      <p:grpSpPr>
        <a:xfrm>
          <a:off x="0" y="0"/>
          <a:ext cx="0" cy="0"/>
          <a:chOff x="0" y="0"/>
          <a:chExt cx="0" cy="0"/>
        </a:xfrm>
      </p:grpSpPr>
      <p:sp>
        <p:nvSpPr>
          <p:cNvPr id="1104" name="Google Shape;1104;g3bb6f6a63c2_0_10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05" name="Google Shape;1105;g3bb6f6a63c2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1" name="Shape 1121"/>
        <p:cNvGrpSpPr/>
        <p:nvPr/>
      </p:nvGrpSpPr>
      <p:grpSpPr>
        <a:xfrm>
          <a:off x="0" y="0"/>
          <a:ext cx="0" cy="0"/>
          <a:chOff x="0" y="0"/>
          <a:chExt cx="0" cy="0"/>
        </a:xfrm>
      </p:grpSpPr>
      <p:sp>
        <p:nvSpPr>
          <p:cNvPr id="1122" name="Google Shape;1122;g3b8af0a3789_0_7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23" name="Google Shape;1123;g3b8af0a3789_0_7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1" name="Shape 1131"/>
        <p:cNvGrpSpPr/>
        <p:nvPr/>
      </p:nvGrpSpPr>
      <p:grpSpPr>
        <a:xfrm>
          <a:off x="0" y="0"/>
          <a:ext cx="0" cy="0"/>
          <a:chOff x="0" y="0"/>
          <a:chExt cx="0" cy="0"/>
        </a:xfrm>
      </p:grpSpPr>
      <p:sp>
        <p:nvSpPr>
          <p:cNvPr id="1132" name="Google Shape;1132;g3bb6f6a63c2_0_12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3" name="Google Shape;1133;g3bb6f6a63c2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1" name="Shape 1141"/>
        <p:cNvGrpSpPr/>
        <p:nvPr/>
      </p:nvGrpSpPr>
      <p:grpSpPr>
        <a:xfrm>
          <a:off x="0" y="0"/>
          <a:ext cx="0" cy="0"/>
          <a:chOff x="0" y="0"/>
          <a:chExt cx="0" cy="0"/>
        </a:xfrm>
      </p:grpSpPr>
      <p:sp>
        <p:nvSpPr>
          <p:cNvPr id="1142" name="Google Shape;1142;g3b8af0a3789_0_7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43" name="Google Shape;1143;g3b8af0a3789_0_7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g3b8af0a3789_0_44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53" name="Google Shape;1153;g3b8af0a3789_0_4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6" name="Shape 1176"/>
        <p:cNvGrpSpPr/>
        <p:nvPr/>
      </p:nvGrpSpPr>
      <p:grpSpPr>
        <a:xfrm>
          <a:off x="0" y="0"/>
          <a:ext cx="0" cy="0"/>
          <a:chOff x="0" y="0"/>
          <a:chExt cx="0" cy="0"/>
        </a:xfrm>
      </p:grpSpPr>
      <p:sp>
        <p:nvSpPr>
          <p:cNvPr id="1177" name="Google Shape;1177;g3b8af0a3789_0_7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78" name="Google Shape;1178;g3b8af0a3789_0_7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tBDfr" TargetMode="Externa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solidFill>
          <a:schemeClr val="lt1"/>
        </a:solidFill>
      </p:bgPr>
    </p:bg>
    <p:spTree>
      <p:nvGrpSpPr>
        <p:cNvPr id="6" name="Shape 6"/>
        <p:cNvGrpSpPr/>
        <p:nvPr/>
      </p:nvGrpSpPr>
      <p:grpSpPr>
        <a:xfrm>
          <a:off x="0" y="0"/>
          <a:ext cx="0" cy="0"/>
          <a:chOff x="0" y="0"/>
          <a:chExt cx="0" cy="0"/>
        </a:xfrm>
      </p:grpSpPr>
      <p:sp>
        <p:nvSpPr>
          <p:cNvPr id="7" name="Google Shape;7;p14"/>
          <p:cNvSpPr txBox="1"/>
          <p:nvPr>
            <p:ph type="title"/>
          </p:nvPr>
        </p:nvSpPr>
        <p:spPr>
          <a:xfrm>
            <a:off x="1081440" y="1777320"/>
            <a:ext cx="4791960" cy="229824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8" name="Google Shape;8;p14"/>
          <p:cNvGrpSpPr/>
          <p:nvPr/>
        </p:nvGrpSpPr>
        <p:grpSpPr>
          <a:xfrm>
            <a:off x="0" y="272880"/>
            <a:ext cx="9140760" cy="4669920"/>
            <a:chOff x="0" y="272880"/>
            <a:chExt cx="9140760" cy="4669920"/>
          </a:xfrm>
        </p:grpSpPr>
        <p:sp>
          <p:nvSpPr>
            <p:cNvPr id="9" name="Google Shape;9;p14"/>
            <p:cNvSpPr/>
            <p:nvPr/>
          </p:nvSpPr>
          <p:spPr>
            <a:xfrm>
              <a:off x="500040" y="47325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0" name="Google Shape;10;p14"/>
            <p:cNvSpPr/>
            <p:nvPr/>
          </p:nvSpPr>
          <p:spPr>
            <a:xfrm>
              <a:off x="8836920" y="32346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11" name="Google Shape;11;p14"/>
            <p:cNvSpPr/>
            <p:nvPr/>
          </p:nvSpPr>
          <p:spPr>
            <a:xfrm>
              <a:off x="472320" y="3358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2" name="Google Shape;12;p14"/>
            <p:cNvSpPr/>
            <p:nvPr/>
          </p:nvSpPr>
          <p:spPr>
            <a:xfrm>
              <a:off x="8977320" y="1602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nvGrpSpPr>
            <p:cNvPr id="13" name="Google Shape;13;p14"/>
            <p:cNvGrpSpPr/>
            <p:nvPr/>
          </p:nvGrpSpPr>
          <p:grpSpPr>
            <a:xfrm>
              <a:off x="4139280" y="272880"/>
              <a:ext cx="163440" cy="163440"/>
              <a:chOff x="4139280" y="272880"/>
              <a:chExt cx="163440" cy="163440"/>
            </a:xfrm>
          </p:grpSpPr>
          <p:sp>
            <p:nvSpPr>
              <p:cNvPr id="14" name="Google Shape;14;p14"/>
              <p:cNvSpPr/>
              <p:nvPr/>
            </p:nvSpPr>
            <p:spPr>
              <a:xfrm>
                <a:off x="4221000" y="2728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5" name="Google Shape;15;p14"/>
              <p:cNvSpPr/>
              <p:nvPr/>
            </p:nvSpPr>
            <p:spPr>
              <a:xfrm>
                <a:off x="4221000" y="2728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6" name="Google Shape;16;p14"/>
              <p:cNvSpPr/>
              <p:nvPr/>
            </p:nvSpPr>
            <p:spPr>
              <a:xfrm>
                <a:off x="4254840" y="35460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7" name="Google Shape;17;p14"/>
              <p:cNvSpPr/>
              <p:nvPr/>
            </p:nvSpPr>
            <p:spPr>
              <a:xfrm>
                <a:off x="4254840" y="35460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8" name="Google Shape;18;p14"/>
              <p:cNvSpPr/>
              <p:nvPr/>
            </p:nvSpPr>
            <p:spPr>
              <a:xfrm>
                <a:off x="4244760" y="3074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19" name="Google Shape;19;p14"/>
              <p:cNvSpPr/>
              <p:nvPr/>
            </p:nvSpPr>
            <p:spPr>
              <a:xfrm>
                <a:off x="4244760" y="3074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0" name="Google Shape;20;p14"/>
              <p:cNvSpPr/>
              <p:nvPr/>
            </p:nvSpPr>
            <p:spPr>
              <a:xfrm>
                <a:off x="4221000" y="3884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1" name="Google Shape;21;p14"/>
              <p:cNvSpPr/>
              <p:nvPr/>
            </p:nvSpPr>
            <p:spPr>
              <a:xfrm>
                <a:off x="4221000" y="3884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2" name="Google Shape;22;p14"/>
              <p:cNvSpPr/>
              <p:nvPr/>
            </p:nvSpPr>
            <p:spPr>
              <a:xfrm>
                <a:off x="4244760" y="3783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3" name="Google Shape;23;p14"/>
              <p:cNvSpPr/>
              <p:nvPr/>
            </p:nvSpPr>
            <p:spPr>
              <a:xfrm>
                <a:off x="4244760" y="3783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4" name="Google Shape;24;p14"/>
              <p:cNvSpPr/>
              <p:nvPr/>
            </p:nvSpPr>
            <p:spPr>
              <a:xfrm>
                <a:off x="4139280" y="35460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5" name="Google Shape;25;p14"/>
              <p:cNvSpPr/>
              <p:nvPr/>
            </p:nvSpPr>
            <p:spPr>
              <a:xfrm>
                <a:off x="4139280" y="35460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6" name="Google Shape;26;p14"/>
              <p:cNvSpPr/>
              <p:nvPr/>
            </p:nvSpPr>
            <p:spPr>
              <a:xfrm>
                <a:off x="4173840" y="3783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7" name="Google Shape;27;p14"/>
              <p:cNvSpPr/>
              <p:nvPr/>
            </p:nvSpPr>
            <p:spPr>
              <a:xfrm>
                <a:off x="4173840" y="3783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8" name="Google Shape;28;p14"/>
              <p:cNvSpPr/>
              <p:nvPr/>
            </p:nvSpPr>
            <p:spPr>
              <a:xfrm>
                <a:off x="4173840" y="3074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29" name="Google Shape;29;p14"/>
              <p:cNvSpPr/>
              <p:nvPr/>
            </p:nvSpPr>
            <p:spPr>
              <a:xfrm>
                <a:off x="4173840" y="3074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30" name="Google Shape;30;p14"/>
            <p:cNvSpPr/>
            <p:nvPr/>
          </p:nvSpPr>
          <p:spPr>
            <a:xfrm>
              <a:off x="8008200" y="30888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1" name="Google Shape;31;p14"/>
            <p:cNvSpPr/>
            <p:nvPr/>
          </p:nvSpPr>
          <p:spPr>
            <a:xfrm>
              <a:off x="0" y="19483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2" name="Google Shape;32;p14"/>
            <p:cNvSpPr/>
            <p:nvPr/>
          </p:nvSpPr>
          <p:spPr>
            <a:xfrm>
              <a:off x="4614480" y="47793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3" name="Google Shape;33;p14"/>
            <p:cNvSpPr/>
            <p:nvPr/>
          </p:nvSpPr>
          <p:spPr>
            <a:xfrm>
              <a:off x="433080" y="36586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4" name="Google Shape;34;p14"/>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sp>
          <p:nvSpPr>
            <p:cNvPr id="35" name="Google Shape;35;p14"/>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nvGrpSpPr>
            <p:cNvPr id="36" name="Google Shape;36;p14"/>
            <p:cNvGrpSpPr/>
            <p:nvPr/>
          </p:nvGrpSpPr>
          <p:grpSpPr>
            <a:xfrm>
              <a:off x="2730960" y="4779360"/>
              <a:ext cx="163440" cy="163440"/>
              <a:chOff x="2730960" y="4779360"/>
              <a:chExt cx="163440" cy="163440"/>
            </a:xfrm>
          </p:grpSpPr>
          <p:sp>
            <p:nvSpPr>
              <p:cNvPr id="37" name="Google Shape;37;p14"/>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8" name="Google Shape;38;p14"/>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39" name="Google Shape;39;p14"/>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0" name="Google Shape;40;p14"/>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1" name="Google Shape;41;p14"/>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2" name="Google Shape;42;p14"/>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3" name="Google Shape;43;p14"/>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4" name="Google Shape;44;p14"/>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5" name="Google Shape;45;p14"/>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6" name="Google Shape;46;p14"/>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7" name="Google Shape;47;p14"/>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8" name="Google Shape;48;p14"/>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49" name="Google Shape;49;p14"/>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0" name="Google Shape;50;p14"/>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1" name="Google Shape;51;p14"/>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sp>
            <p:nvSpPr>
              <p:cNvPr id="52" name="Google Shape;52;p14"/>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i="0" sz="1800" u="none" cap="none" strike="noStrike">
                  <a:solidFill>
                    <a:srgbClr val="000000"/>
                  </a:solidFill>
                  <a:latin typeface="Noto Sans Symbols"/>
                  <a:ea typeface="Noto Sans Symbols"/>
                  <a:cs typeface="Noto Sans Symbols"/>
                  <a:sym typeface="Noto Sans Symbols"/>
                </a:endParaRPr>
              </a:p>
            </p:txBody>
          </p:sp>
        </p:grpSp>
        <p:sp>
          <p:nvSpPr>
            <p:cNvPr id="53" name="Google Shape;53;p14"/>
            <p:cNvSpPr/>
            <p:nvPr/>
          </p:nvSpPr>
          <p:spPr>
            <a:xfrm>
              <a:off x="8977320" y="519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i="0" sz="1800" u="none" cap="none" strike="noStrike">
                <a:solidFill>
                  <a:srgbClr val="FFFFFF"/>
                </a:solidFill>
                <a:latin typeface="Noto Sans Symbols"/>
                <a:ea typeface="Noto Sans Symbols"/>
                <a:cs typeface="Noto Sans Symbols"/>
                <a:sym typeface="Noto Sans Symbols"/>
              </a:endParaRPr>
            </a:p>
          </p:txBody>
        </p:sp>
      </p:grpSp>
      <p:sp>
        <p:nvSpPr>
          <p:cNvPr id="54" name="Google Shape;54;p14"/>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 type="blank">
  <p:cSld name="BLANK">
    <p:bg>
      <p:bgPr>
        <a:solidFill>
          <a:schemeClr val="lt1"/>
        </a:solidFill>
      </p:bgPr>
    </p:bg>
    <p:spTree>
      <p:nvGrpSpPr>
        <p:cNvPr id="55" name="Shape 55"/>
        <p:cNvGrpSpPr/>
        <p:nvPr/>
      </p:nvGrpSpPr>
      <p:grpSpPr>
        <a:xfrm>
          <a:off x="0" y="0"/>
          <a:ext cx="0" cy="0"/>
          <a:chOff x="0" y="0"/>
          <a:chExt cx="0" cy="0"/>
        </a:xfrm>
      </p:grpSpPr>
      <p:sp>
        <p:nvSpPr>
          <p:cNvPr id="56" name="Google Shape;56;p15"/>
          <p:cNvSpPr txBox="1"/>
          <p:nvPr>
            <p:ph type="title"/>
          </p:nvPr>
        </p:nvSpPr>
        <p:spPr>
          <a:xfrm>
            <a:off x="720000" y="624240"/>
            <a:ext cx="642348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57" name="Google Shape;57;p15"/>
          <p:cNvGrpSpPr/>
          <p:nvPr/>
        </p:nvGrpSpPr>
        <p:grpSpPr>
          <a:xfrm>
            <a:off x="99000" y="117720"/>
            <a:ext cx="9042120" cy="4949640"/>
            <a:chOff x="99000" y="117720"/>
            <a:chExt cx="9042120" cy="4949640"/>
          </a:xfrm>
        </p:grpSpPr>
        <p:grpSp>
          <p:nvGrpSpPr>
            <p:cNvPr id="58" name="Google Shape;58;p15"/>
            <p:cNvGrpSpPr/>
            <p:nvPr/>
          </p:nvGrpSpPr>
          <p:grpSpPr>
            <a:xfrm>
              <a:off x="3453840" y="4487040"/>
              <a:ext cx="163440" cy="163440"/>
              <a:chOff x="3453840" y="4487040"/>
              <a:chExt cx="163440" cy="163440"/>
            </a:xfrm>
          </p:grpSpPr>
          <p:sp>
            <p:nvSpPr>
              <p:cNvPr id="59" name="Google Shape;59;p15"/>
              <p:cNvSpPr/>
              <p:nvPr/>
            </p:nvSpPr>
            <p:spPr>
              <a:xfrm>
                <a:off x="3535920" y="448704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 name="Google Shape;60;p15"/>
              <p:cNvSpPr/>
              <p:nvPr/>
            </p:nvSpPr>
            <p:spPr>
              <a:xfrm>
                <a:off x="3535920" y="448704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 name="Google Shape;61;p15"/>
              <p:cNvSpPr/>
              <p:nvPr/>
            </p:nvSpPr>
            <p:spPr>
              <a:xfrm>
                <a:off x="3569400" y="456912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 name="Google Shape;62;p15"/>
              <p:cNvSpPr/>
              <p:nvPr/>
            </p:nvSpPr>
            <p:spPr>
              <a:xfrm>
                <a:off x="3569400" y="456912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 name="Google Shape;63;p15"/>
              <p:cNvSpPr/>
              <p:nvPr/>
            </p:nvSpPr>
            <p:spPr>
              <a:xfrm>
                <a:off x="3559680" y="452160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 name="Google Shape;64;p15"/>
              <p:cNvSpPr/>
              <p:nvPr/>
            </p:nvSpPr>
            <p:spPr>
              <a:xfrm>
                <a:off x="3559680" y="452160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 name="Google Shape;65;p15"/>
              <p:cNvSpPr/>
              <p:nvPr/>
            </p:nvSpPr>
            <p:spPr>
              <a:xfrm>
                <a:off x="3535920" y="460260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 name="Google Shape;66;p15"/>
              <p:cNvSpPr/>
              <p:nvPr/>
            </p:nvSpPr>
            <p:spPr>
              <a:xfrm>
                <a:off x="3535920" y="460260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 name="Google Shape;67;p15"/>
              <p:cNvSpPr/>
              <p:nvPr/>
            </p:nvSpPr>
            <p:spPr>
              <a:xfrm>
                <a:off x="3559680" y="459288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 name="Google Shape;68;p15"/>
              <p:cNvSpPr/>
              <p:nvPr/>
            </p:nvSpPr>
            <p:spPr>
              <a:xfrm>
                <a:off x="3559680" y="459288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 name="Google Shape;69;p15"/>
              <p:cNvSpPr/>
              <p:nvPr/>
            </p:nvSpPr>
            <p:spPr>
              <a:xfrm>
                <a:off x="3453840" y="456912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 name="Google Shape;70;p15"/>
              <p:cNvSpPr/>
              <p:nvPr/>
            </p:nvSpPr>
            <p:spPr>
              <a:xfrm>
                <a:off x="3453840" y="456912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 name="Google Shape;71;p15"/>
              <p:cNvSpPr/>
              <p:nvPr/>
            </p:nvSpPr>
            <p:spPr>
              <a:xfrm>
                <a:off x="3488400" y="459288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 name="Google Shape;72;p15"/>
              <p:cNvSpPr/>
              <p:nvPr/>
            </p:nvSpPr>
            <p:spPr>
              <a:xfrm>
                <a:off x="3488400" y="459288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 name="Google Shape;73;p15"/>
              <p:cNvSpPr/>
              <p:nvPr/>
            </p:nvSpPr>
            <p:spPr>
              <a:xfrm>
                <a:off x="3488400" y="452160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 name="Google Shape;74;p15"/>
              <p:cNvSpPr/>
              <p:nvPr/>
            </p:nvSpPr>
            <p:spPr>
              <a:xfrm>
                <a:off x="3488400" y="452160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5" name="Google Shape;75;p15"/>
            <p:cNvSpPr/>
            <p:nvPr/>
          </p:nvSpPr>
          <p:spPr>
            <a:xfrm rot="10800000">
              <a:off x="8731800" y="38700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 name="Google Shape;76;p15"/>
            <p:cNvSpPr/>
            <p:nvPr/>
          </p:nvSpPr>
          <p:spPr>
            <a:xfrm rot="10800000">
              <a:off x="99000" y="19170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 name="Google Shape;77;p15"/>
            <p:cNvSpPr/>
            <p:nvPr/>
          </p:nvSpPr>
          <p:spPr>
            <a:xfrm rot="10800000">
              <a:off x="8463600" y="481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 name="Google Shape;78;p15"/>
            <p:cNvSpPr/>
            <p:nvPr/>
          </p:nvSpPr>
          <p:spPr>
            <a:xfrm rot="10800000">
              <a:off x="5351040" y="478872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 name="Google Shape;79;p15"/>
            <p:cNvSpPr/>
            <p:nvPr/>
          </p:nvSpPr>
          <p:spPr>
            <a:xfrm rot="10800000">
              <a:off x="8977680" y="31489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0" name="Google Shape;80;p15"/>
            <p:cNvSpPr/>
            <p:nvPr/>
          </p:nvSpPr>
          <p:spPr>
            <a:xfrm rot="10800000">
              <a:off x="4231800" y="117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1" name="Google Shape;81;p15"/>
            <p:cNvSpPr/>
            <p:nvPr/>
          </p:nvSpPr>
          <p:spPr>
            <a:xfrm rot="10800000">
              <a:off x="2491200" y="5028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2" name="Google Shape;82;p15"/>
            <p:cNvSpPr/>
            <p:nvPr/>
          </p:nvSpPr>
          <p:spPr>
            <a:xfrm rot="10800000">
              <a:off x="358920" y="3481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83" name="Google Shape;83;p15"/>
            <p:cNvSpPr/>
            <p:nvPr/>
          </p:nvSpPr>
          <p:spPr>
            <a:xfrm rot="10800000">
              <a:off x="507960" y="470556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84" name="Google Shape;84;p15"/>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_HEADER" type="secHead">
  <p:cSld name="SECTION_HEADER">
    <p:bg>
      <p:bgPr>
        <a:solidFill>
          <a:schemeClr val="lt1"/>
        </a:solidFill>
      </p:bgPr>
    </p:bg>
    <p:spTree>
      <p:nvGrpSpPr>
        <p:cNvPr id="85" name="Shape 85"/>
        <p:cNvGrpSpPr/>
        <p:nvPr/>
      </p:nvGrpSpPr>
      <p:grpSpPr>
        <a:xfrm>
          <a:off x="0" y="0"/>
          <a:ext cx="0" cy="0"/>
          <a:chOff x="0" y="0"/>
          <a:chExt cx="0" cy="0"/>
        </a:xfrm>
      </p:grpSpPr>
      <p:sp>
        <p:nvSpPr>
          <p:cNvPr id="86" name="Google Shape;86;p16"/>
          <p:cNvSpPr txBox="1"/>
          <p:nvPr>
            <p:ph type="title"/>
          </p:nvPr>
        </p:nvSpPr>
        <p:spPr>
          <a:xfrm>
            <a:off x="865800" y="1946520"/>
            <a:ext cx="6007320" cy="11023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7" name="Google Shape;87;p16"/>
          <p:cNvSpPr txBox="1"/>
          <p:nvPr>
            <p:ph idx="2" type="title"/>
          </p:nvPr>
        </p:nvSpPr>
        <p:spPr>
          <a:xfrm>
            <a:off x="865800" y="1049400"/>
            <a:ext cx="1551240" cy="84132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88" name="Google Shape;88;p16"/>
          <p:cNvGrpSpPr/>
          <p:nvPr/>
        </p:nvGrpSpPr>
        <p:grpSpPr>
          <a:xfrm>
            <a:off x="98640" y="117360"/>
            <a:ext cx="9042120" cy="4949640"/>
            <a:chOff x="98640" y="117360"/>
            <a:chExt cx="9042120" cy="4949640"/>
          </a:xfrm>
        </p:grpSpPr>
        <p:grpSp>
          <p:nvGrpSpPr>
            <p:cNvPr id="89" name="Google Shape;89;p16"/>
            <p:cNvGrpSpPr/>
            <p:nvPr/>
          </p:nvGrpSpPr>
          <p:grpSpPr>
            <a:xfrm>
              <a:off x="5622480" y="534240"/>
              <a:ext cx="163440" cy="163440"/>
              <a:chOff x="5622480" y="534240"/>
              <a:chExt cx="163440" cy="163440"/>
            </a:xfrm>
          </p:grpSpPr>
          <p:sp>
            <p:nvSpPr>
              <p:cNvPr id="90" name="Google Shape;90;p16"/>
              <p:cNvSpPr/>
              <p:nvPr/>
            </p:nvSpPr>
            <p:spPr>
              <a:xfrm rot="10800000">
                <a:off x="5703480" y="64980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1" name="Google Shape;91;p16"/>
              <p:cNvSpPr/>
              <p:nvPr/>
            </p:nvSpPr>
            <p:spPr>
              <a:xfrm rot="10800000">
                <a:off x="5703480" y="64980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2" name="Google Shape;92;p16"/>
              <p:cNvSpPr/>
              <p:nvPr/>
            </p:nvSpPr>
            <p:spPr>
              <a:xfrm rot="10800000">
                <a:off x="5622480" y="6152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3" name="Google Shape;93;p16"/>
              <p:cNvSpPr/>
              <p:nvPr/>
            </p:nvSpPr>
            <p:spPr>
              <a:xfrm rot="10800000">
                <a:off x="5622480" y="6152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4" name="Google Shape;94;p16"/>
              <p:cNvSpPr/>
              <p:nvPr/>
            </p:nvSpPr>
            <p:spPr>
              <a:xfrm rot="10800000">
                <a:off x="5657040" y="64008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5" name="Google Shape;95;p16"/>
              <p:cNvSpPr/>
              <p:nvPr/>
            </p:nvSpPr>
            <p:spPr>
              <a:xfrm rot="10800000">
                <a:off x="5657040" y="64008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6" name="Google Shape;96;p16"/>
              <p:cNvSpPr/>
              <p:nvPr/>
            </p:nvSpPr>
            <p:spPr>
              <a:xfrm rot="10800000">
                <a:off x="5703480" y="5342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7" name="Google Shape;97;p16"/>
              <p:cNvSpPr/>
              <p:nvPr/>
            </p:nvSpPr>
            <p:spPr>
              <a:xfrm rot="10800000">
                <a:off x="5703480" y="5342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8" name="Google Shape;98;p16"/>
              <p:cNvSpPr/>
              <p:nvPr/>
            </p:nvSpPr>
            <p:spPr>
              <a:xfrm rot="10800000">
                <a:off x="5657040" y="5688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99" name="Google Shape;99;p16"/>
              <p:cNvSpPr/>
              <p:nvPr/>
            </p:nvSpPr>
            <p:spPr>
              <a:xfrm rot="10800000">
                <a:off x="5657040" y="5688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0" name="Google Shape;100;p16"/>
              <p:cNvSpPr/>
              <p:nvPr/>
            </p:nvSpPr>
            <p:spPr>
              <a:xfrm rot="10800000">
                <a:off x="5738040" y="6152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1" name="Google Shape;101;p16"/>
              <p:cNvSpPr/>
              <p:nvPr/>
            </p:nvSpPr>
            <p:spPr>
              <a:xfrm rot="10800000">
                <a:off x="5738040" y="6152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2" name="Google Shape;102;p16"/>
              <p:cNvSpPr/>
              <p:nvPr/>
            </p:nvSpPr>
            <p:spPr>
              <a:xfrm rot="10800000">
                <a:off x="5728320" y="5688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3" name="Google Shape;103;p16"/>
              <p:cNvSpPr/>
              <p:nvPr/>
            </p:nvSpPr>
            <p:spPr>
              <a:xfrm rot="10800000">
                <a:off x="5728320" y="5688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4" name="Google Shape;104;p16"/>
              <p:cNvSpPr/>
              <p:nvPr/>
            </p:nvSpPr>
            <p:spPr>
              <a:xfrm rot="10800000">
                <a:off x="5728320" y="64008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5" name="Google Shape;105;p16"/>
              <p:cNvSpPr/>
              <p:nvPr/>
            </p:nvSpPr>
            <p:spPr>
              <a:xfrm rot="10800000">
                <a:off x="5728320" y="64008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06" name="Google Shape;106;p16"/>
            <p:cNvSpPr/>
            <p:nvPr/>
          </p:nvSpPr>
          <p:spPr>
            <a:xfrm>
              <a:off x="420840" y="47271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7" name="Google Shape;107;p16"/>
            <p:cNvSpPr/>
            <p:nvPr/>
          </p:nvSpPr>
          <p:spPr>
            <a:xfrm>
              <a:off x="8935560" y="315828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08" name="Google Shape;108;p16"/>
            <p:cNvSpPr/>
            <p:nvPr/>
          </p:nvSpPr>
          <p:spPr>
            <a:xfrm>
              <a:off x="570960" y="25956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09" name="Google Shape;109;p16"/>
            <p:cNvSpPr/>
            <p:nvPr/>
          </p:nvSpPr>
          <p:spPr>
            <a:xfrm>
              <a:off x="3725280" y="23256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0" name="Google Shape;110;p16"/>
            <p:cNvSpPr/>
            <p:nvPr/>
          </p:nvSpPr>
          <p:spPr>
            <a:xfrm>
              <a:off x="98640" y="187200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1" name="Google Shape;111;p16"/>
            <p:cNvSpPr/>
            <p:nvPr/>
          </p:nvSpPr>
          <p:spPr>
            <a:xfrm>
              <a:off x="4844520" y="49035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2" name="Google Shape;112;p16"/>
            <p:cNvSpPr/>
            <p:nvPr/>
          </p:nvSpPr>
          <p:spPr>
            <a:xfrm>
              <a:off x="6709320" y="1173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3" name="Google Shape;113;p16"/>
            <p:cNvSpPr/>
            <p:nvPr/>
          </p:nvSpPr>
          <p:spPr>
            <a:xfrm>
              <a:off x="8841600" y="47977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4" name="Google Shape;114;p16"/>
            <p:cNvSpPr/>
            <p:nvPr/>
          </p:nvSpPr>
          <p:spPr>
            <a:xfrm>
              <a:off x="8526600" y="369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15" name="Google Shape;115;p16"/>
          <p:cNvSpPr txBox="1"/>
          <p:nvPr>
            <p:ph idx="1" type="body"/>
          </p:nvPr>
        </p:nvSpPr>
        <p:spPr>
          <a:xfrm>
            <a:off x="457200" y="1203480"/>
            <a:ext cx="8229240" cy="2982960"/>
          </a:xfrm>
          <a:prstGeom prst="rect">
            <a:avLst/>
          </a:prstGeom>
          <a:noFill/>
          <a:ln>
            <a:noFill/>
          </a:ln>
        </p:spPr>
        <p:txBody>
          <a:bodyPr anchorCtr="0" anchor="t" bIns="0" lIns="0" spcFirstLastPara="1" rIns="0" wrap="square" tIns="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4_1">
  <p:cSld name="CUSTOM_4_1">
    <p:bg>
      <p:bgPr>
        <a:solidFill>
          <a:schemeClr val="lt1"/>
        </a:solidFill>
      </p:bgPr>
    </p:bg>
    <p:spTree>
      <p:nvGrpSpPr>
        <p:cNvPr id="116" name="Shape 116"/>
        <p:cNvGrpSpPr/>
        <p:nvPr/>
      </p:nvGrpSpPr>
      <p:grpSpPr>
        <a:xfrm>
          <a:off x="0" y="0"/>
          <a:ext cx="0" cy="0"/>
          <a:chOff x="0" y="0"/>
          <a:chExt cx="0" cy="0"/>
        </a:xfrm>
      </p:grpSpPr>
      <p:sp>
        <p:nvSpPr>
          <p:cNvPr id="117" name="Google Shape;117;p17"/>
          <p:cNvSpPr txBox="1"/>
          <p:nvPr>
            <p:ph type="title"/>
          </p:nvPr>
        </p:nvSpPr>
        <p:spPr>
          <a:xfrm>
            <a:off x="3621600" y="599400"/>
            <a:ext cx="4808880" cy="843120"/>
          </a:xfrm>
          <a:prstGeom prst="rect">
            <a:avLst/>
          </a:prstGeom>
          <a:noFill/>
          <a:ln>
            <a:noFill/>
          </a:ln>
        </p:spPr>
        <p:txBody>
          <a:bodyPr anchorCtr="0" anchor="b"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118" name="Google Shape;118;p17"/>
          <p:cNvGrpSpPr/>
          <p:nvPr/>
        </p:nvGrpSpPr>
        <p:grpSpPr>
          <a:xfrm>
            <a:off x="316080" y="192600"/>
            <a:ext cx="8567640" cy="4755600"/>
            <a:chOff x="316080" y="192600"/>
            <a:chExt cx="8567640" cy="4755600"/>
          </a:xfrm>
        </p:grpSpPr>
        <p:sp>
          <p:nvSpPr>
            <p:cNvPr id="119" name="Google Shape;119;p17"/>
            <p:cNvSpPr/>
            <p:nvPr/>
          </p:nvSpPr>
          <p:spPr>
            <a:xfrm flipH="1" rot="10800000">
              <a:off x="355320" y="78408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0" name="Google Shape;120;p17"/>
            <p:cNvSpPr/>
            <p:nvPr/>
          </p:nvSpPr>
          <p:spPr>
            <a:xfrm flipH="1" rot="10800000">
              <a:off x="5371560" y="1926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21" name="Google Shape;121;p17"/>
            <p:cNvSpPr/>
            <p:nvPr/>
          </p:nvSpPr>
          <p:spPr>
            <a:xfrm flipH="1" rot="10800000">
              <a:off x="2988720" y="478476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2" name="Google Shape;122;p17"/>
            <p:cNvSpPr/>
            <p:nvPr/>
          </p:nvSpPr>
          <p:spPr>
            <a:xfrm flipH="1" rot="10800000">
              <a:off x="8489160" y="47307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23" name="Google Shape;123;p17"/>
            <p:cNvGrpSpPr/>
            <p:nvPr/>
          </p:nvGrpSpPr>
          <p:grpSpPr>
            <a:xfrm>
              <a:off x="505800" y="4730040"/>
              <a:ext cx="163440" cy="163440"/>
              <a:chOff x="505800" y="4730040"/>
              <a:chExt cx="163440" cy="163440"/>
            </a:xfrm>
          </p:grpSpPr>
          <p:sp>
            <p:nvSpPr>
              <p:cNvPr id="124" name="Google Shape;124;p17"/>
              <p:cNvSpPr/>
              <p:nvPr/>
            </p:nvSpPr>
            <p:spPr>
              <a:xfrm flipH="1" rot="10800000">
                <a:off x="587880" y="484560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5" name="Google Shape;125;p17"/>
              <p:cNvSpPr/>
              <p:nvPr/>
            </p:nvSpPr>
            <p:spPr>
              <a:xfrm flipH="1" rot="10800000">
                <a:off x="587880" y="484560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6" name="Google Shape;126;p17"/>
              <p:cNvSpPr/>
              <p:nvPr/>
            </p:nvSpPr>
            <p:spPr>
              <a:xfrm flipH="1" rot="10800000">
                <a:off x="621360" y="481212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7" name="Google Shape;127;p17"/>
              <p:cNvSpPr/>
              <p:nvPr/>
            </p:nvSpPr>
            <p:spPr>
              <a:xfrm flipH="1" rot="10800000">
                <a:off x="621360" y="481212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8" name="Google Shape;128;p17"/>
              <p:cNvSpPr/>
              <p:nvPr/>
            </p:nvSpPr>
            <p:spPr>
              <a:xfrm flipH="1" rot="10800000">
                <a:off x="611640" y="483660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29" name="Google Shape;129;p17"/>
              <p:cNvSpPr/>
              <p:nvPr/>
            </p:nvSpPr>
            <p:spPr>
              <a:xfrm flipH="1" rot="10800000">
                <a:off x="611640" y="483660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0" name="Google Shape;130;p17"/>
              <p:cNvSpPr/>
              <p:nvPr/>
            </p:nvSpPr>
            <p:spPr>
              <a:xfrm flipH="1" rot="10800000">
                <a:off x="587880" y="47300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1" name="Google Shape;131;p17"/>
              <p:cNvSpPr/>
              <p:nvPr/>
            </p:nvSpPr>
            <p:spPr>
              <a:xfrm flipH="1" rot="10800000">
                <a:off x="587880" y="47300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2" name="Google Shape;132;p17"/>
              <p:cNvSpPr/>
              <p:nvPr/>
            </p:nvSpPr>
            <p:spPr>
              <a:xfrm flipH="1" rot="10800000">
                <a:off x="611640" y="476532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3" name="Google Shape;133;p17"/>
              <p:cNvSpPr/>
              <p:nvPr/>
            </p:nvSpPr>
            <p:spPr>
              <a:xfrm flipH="1" rot="10800000">
                <a:off x="611640" y="476532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4" name="Google Shape;134;p17"/>
              <p:cNvSpPr/>
              <p:nvPr/>
            </p:nvSpPr>
            <p:spPr>
              <a:xfrm flipH="1" rot="10800000">
                <a:off x="505800" y="481212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5" name="Google Shape;135;p17"/>
              <p:cNvSpPr/>
              <p:nvPr/>
            </p:nvSpPr>
            <p:spPr>
              <a:xfrm flipH="1" rot="10800000">
                <a:off x="505800" y="481212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6" name="Google Shape;136;p17"/>
              <p:cNvSpPr/>
              <p:nvPr/>
            </p:nvSpPr>
            <p:spPr>
              <a:xfrm flipH="1" rot="10800000">
                <a:off x="540360" y="476532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7" name="Google Shape;137;p17"/>
              <p:cNvSpPr/>
              <p:nvPr/>
            </p:nvSpPr>
            <p:spPr>
              <a:xfrm flipH="1" rot="10800000">
                <a:off x="540360" y="476532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8" name="Google Shape;138;p17"/>
              <p:cNvSpPr/>
              <p:nvPr/>
            </p:nvSpPr>
            <p:spPr>
              <a:xfrm flipH="1" rot="10800000">
                <a:off x="540360" y="483660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39" name="Google Shape;139;p17"/>
              <p:cNvSpPr/>
              <p:nvPr/>
            </p:nvSpPr>
            <p:spPr>
              <a:xfrm flipH="1" rot="10800000">
                <a:off x="540360" y="483660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40" name="Google Shape;140;p17"/>
            <p:cNvSpPr/>
            <p:nvPr/>
          </p:nvSpPr>
          <p:spPr>
            <a:xfrm flipH="1" rot="10800000">
              <a:off x="5643000" y="478476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1" name="Google Shape;141;p17"/>
            <p:cNvSpPr/>
            <p:nvPr/>
          </p:nvSpPr>
          <p:spPr>
            <a:xfrm flipH="1" rot="10800000">
              <a:off x="426240" y="26748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2" name="Google Shape;142;p17"/>
            <p:cNvSpPr/>
            <p:nvPr/>
          </p:nvSpPr>
          <p:spPr>
            <a:xfrm flipH="1" rot="10800000">
              <a:off x="8680680" y="8787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3" name="Google Shape;143;p17"/>
            <p:cNvSpPr/>
            <p:nvPr/>
          </p:nvSpPr>
          <p:spPr>
            <a:xfrm flipH="1" rot="10800000">
              <a:off x="316080" y="26668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4" name="Google Shape;144;p17"/>
            <p:cNvSpPr/>
            <p:nvPr/>
          </p:nvSpPr>
          <p:spPr>
            <a:xfrm flipH="1" rot="10800000">
              <a:off x="6732360" y="47307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45" name="Google Shape;145;p17"/>
            <p:cNvSpPr/>
            <p:nvPr/>
          </p:nvSpPr>
          <p:spPr>
            <a:xfrm flipH="1" rot="10800000">
              <a:off x="8742960" y="2278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46" name="Google Shape;146;p17"/>
            <p:cNvGrpSpPr/>
            <p:nvPr/>
          </p:nvGrpSpPr>
          <p:grpSpPr>
            <a:xfrm>
              <a:off x="2730960" y="197280"/>
              <a:ext cx="163440" cy="163440"/>
              <a:chOff x="2730960" y="197280"/>
              <a:chExt cx="163440" cy="163440"/>
            </a:xfrm>
          </p:grpSpPr>
          <p:sp>
            <p:nvSpPr>
              <p:cNvPr id="147" name="Google Shape;147;p17"/>
              <p:cNvSpPr/>
              <p:nvPr/>
            </p:nvSpPr>
            <p:spPr>
              <a:xfrm flipH="1" rot="10800000">
                <a:off x="2812680" y="31284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8" name="Google Shape;148;p17"/>
              <p:cNvSpPr/>
              <p:nvPr/>
            </p:nvSpPr>
            <p:spPr>
              <a:xfrm flipH="1" rot="10800000">
                <a:off x="2812680" y="31284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49" name="Google Shape;149;p17"/>
              <p:cNvSpPr/>
              <p:nvPr/>
            </p:nvSpPr>
            <p:spPr>
              <a:xfrm flipH="1" rot="10800000">
                <a:off x="2846520" y="27936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0" name="Google Shape;150;p17"/>
              <p:cNvSpPr/>
              <p:nvPr/>
            </p:nvSpPr>
            <p:spPr>
              <a:xfrm flipH="1" rot="10800000">
                <a:off x="2846520" y="27936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1" name="Google Shape;151;p17"/>
              <p:cNvSpPr/>
              <p:nvPr/>
            </p:nvSpPr>
            <p:spPr>
              <a:xfrm flipH="1" rot="10800000">
                <a:off x="2836440" y="3038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2" name="Google Shape;152;p17"/>
              <p:cNvSpPr/>
              <p:nvPr/>
            </p:nvSpPr>
            <p:spPr>
              <a:xfrm flipH="1" rot="10800000">
                <a:off x="2836440" y="3038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3" name="Google Shape;153;p17"/>
              <p:cNvSpPr/>
              <p:nvPr/>
            </p:nvSpPr>
            <p:spPr>
              <a:xfrm flipH="1" rot="10800000">
                <a:off x="2812680" y="19728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4" name="Google Shape;154;p17"/>
              <p:cNvSpPr/>
              <p:nvPr/>
            </p:nvSpPr>
            <p:spPr>
              <a:xfrm flipH="1" rot="10800000">
                <a:off x="2812680" y="19728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5" name="Google Shape;155;p17"/>
              <p:cNvSpPr/>
              <p:nvPr/>
            </p:nvSpPr>
            <p:spPr>
              <a:xfrm flipH="1" rot="10800000">
                <a:off x="2836440" y="2325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6" name="Google Shape;156;p17"/>
              <p:cNvSpPr/>
              <p:nvPr/>
            </p:nvSpPr>
            <p:spPr>
              <a:xfrm flipH="1" rot="10800000">
                <a:off x="2836440" y="2325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7" name="Google Shape;157;p17"/>
              <p:cNvSpPr/>
              <p:nvPr/>
            </p:nvSpPr>
            <p:spPr>
              <a:xfrm flipH="1" rot="10800000">
                <a:off x="2730960" y="27936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8" name="Google Shape;158;p17"/>
              <p:cNvSpPr/>
              <p:nvPr/>
            </p:nvSpPr>
            <p:spPr>
              <a:xfrm flipH="1" rot="10800000">
                <a:off x="2730960" y="27936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59" name="Google Shape;159;p17"/>
              <p:cNvSpPr/>
              <p:nvPr/>
            </p:nvSpPr>
            <p:spPr>
              <a:xfrm flipH="1" rot="10800000">
                <a:off x="2765520" y="2325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0" name="Google Shape;160;p17"/>
              <p:cNvSpPr/>
              <p:nvPr/>
            </p:nvSpPr>
            <p:spPr>
              <a:xfrm flipH="1" rot="10800000">
                <a:off x="2765520" y="2325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1" name="Google Shape;161;p17"/>
              <p:cNvSpPr/>
              <p:nvPr/>
            </p:nvSpPr>
            <p:spPr>
              <a:xfrm flipH="1" rot="10800000">
                <a:off x="2765520" y="3038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2" name="Google Shape;162;p17"/>
              <p:cNvSpPr/>
              <p:nvPr/>
            </p:nvSpPr>
            <p:spPr>
              <a:xfrm flipH="1" rot="10800000">
                <a:off x="2765520" y="3038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63" name="Google Shape;163;p17"/>
            <p:cNvSpPr/>
            <p:nvPr/>
          </p:nvSpPr>
          <p:spPr>
            <a:xfrm flipH="1" rot="10800000">
              <a:off x="8844480" y="349920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164" name="Google Shape;164;p17"/>
          <p:cNvSpPr txBox="1"/>
          <p:nvPr>
            <p:ph idx="1" type="body"/>
          </p:nvPr>
        </p:nvSpPr>
        <p:spPr>
          <a:xfrm>
            <a:off x="721800" y="599400"/>
            <a:ext cx="2740320" cy="3944520"/>
          </a:xfrm>
          <a:prstGeom prst="rect">
            <a:avLst/>
          </a:prstGeom>
          <a:noFill/>
          <a:ln>
            <a:noFill/>
          </a:ln>
        </p:spPr>
        <p:txBody>
          <a:bodyPr anchorCtr="0" anchor="t" bIns="45000" lIns="90000" spcFirstLastPara="1" rIns="90000" wrap="square" tIns="450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3_1">
  <p:cSld name="CUSTOM_3_1">
    <p:bg>
      <p:bgPr>
        <a:solidFill>
          <a:schemeClr val="lt1"/>
        </a:solidFill>
      </p:bgPr>
    </p:bg>
    <p:spTree>
      <p:nvGrpSpPr>
        <p:cNvPr id="165" name="Shape 165"/>
        <p:cNvGrpSpPr/>
        <p:nvPr/>
      </p:nvGrpSpPr>
      <p:grpSpPr>
        <a:xfrm>
          <a:off x="0" y="0"/>
          <a:ext cx="0" cy="0"/>
          <a:chOff x="0" y="0"/>
          <a:chExt cx="0" cy="0"/>
        </a:xfrm>
      </p:grpSpPr>
      <p:grpSp>
        <p:nvGrpSpPr>
          <p:cNvPr id="166" name="Google Shape;166;p18"/>
          <p:cNvGrpSpPr/>
          <p:nvPr/>
        </p:nvGrpSpPr>
        <p:grpSpPr>
          <a:xfrm>
            <a:off x="0" y="272880"/>
            <a:ext cx="9140760" cy="4669920"/>
            <a:chOff x="0" y="272880"/>
            <a:chExt cx="9140760" cy="4669920"/>
          </a:xfrm>
        </p:grpSpPr>
        <p:sp>
          <p:nvSpPr>
            <p:cNvPr id="167" name="Google Shape;167;p18"/>
            <p:cNvSpPr/>
            <p:nvPr/>
          </p:nvSpPr>
          <p:spPr>
            <a:xfrm>
              <a:off x="500040" y="47325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8" name="Google Shape;168;p18"/>
            <p:cNvSpPr/>
            <p:nvPr/>
          </p:nvSpPr>
          <p:spPr>
            <a:xfrm>
              <a:off x="472320" y="3358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69" name="Google Shape;169;p18"/>
            <p:cNvSpPr/>
            <p:nvPr/>
          </p:nvSpPr>
          <p:spPr>
            <a:xfrm>
              <a:off x="8977320" y="1602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170" name="Google Shape;170;p18"/>
            <p:cNvGrpSpPr/>
            <p:nvPr/>
          </p:nvGrpSpPr>
          <p:grpSpPr>
            <a:xfrm>
              <a:off x="4139280" y="272880"/>
              <a:ext cx="163440" cy="163440"/>
              <a:chOff x="4139280" y="272880"/>
              <a:chExt cx="163440" cy="163440"/>
            </a:xfrm>
          </p:grpSpPr>
          <p:sp>
            <p:nvSpPr>
              <p:cNvPr id="171" name="Google Shape;171;p18"/>
              <p:cNvSpPr/>
              <p:nvPr/>
            </p:nvSpPr>
            <p:spPr>
              <a:xfrm>
                <a:off x="4221000" y="2728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2" name="Google Shape;172;p18"/>
              <p:cNvSpPr/>
              <p:nvPr/>
            </p:nvSpPr>
            <p:spPr>
              <a:xfrm>
                <a:off x="4221000" y="2728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3" name="Google Shape;173;p18"/>
              <p:cNvSpPr/>
              <p:nvPr/>
            </p:nvSpPr>
            <p:spPr>
              <a:xfrm>
                <a:off x="4254840" y="35460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4" name="Google Shape;174;p18"/>
              <p:cNvSpPr/>
              <p:nvPr/>
            </p:nvSpPr>
            <p:spPr>
              <a:xfrm>
                <a:off x="4254840" y="35460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5" name="Google Shape;175;p18"/>
              <p:cNvSpPr/>
              <p:nvPr/>
            </p:nvSpPr>
            <p:spPr>
              <a:xfrm>
                <a:off x="4244760" y="3074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6" name="Google Shape;176;p18"/>
              <p:cNvSpPr/>
              <p:nvPr/>
            </p:nvSpPr>
            <p:spPr>
              <a:xfrm>
                <a:off x="4244760" y="3074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7" name="Google Shape;177;p18"/>
              <p:cNvSpPr/>
              <p:nvPr/>
            </p:nvSpPr>
            <p:spPr>
              <a:xfrm>
                <a:off x="4221000" y="3884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8" name="Google Shape;178;p18"/>
              <p:cNvSpPr/>
              <p:nvPr/>
            </p:nvSpPr>
            <p:spPr>
              <a:xfrm>
                <a:off x="4221000" y="3884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79" name="Google Shape;179;p18"/>
              <p:cNvSpPr/>
              <p:nvPr/>
            </p:nvSpPr>
            <p:spPr>
              <a:xfrm>
                <a:off x="4244760" y="3783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0" name="Google Shape;180;p18"/>
              <p:cNvSpPr/>
              <p:nvPr/>
            </p:nvSpPr>
            <p:spPr>
              <a:xfrm>
                <a:off x="4244760" y="3783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1" name="Google Shape;181;p18"/>
              <p:cNvSpPr/>
              <p:nvPr/>
            </p:nvSpPr>
            <p:spPr>
              <a:xfrm>
                <a:off x="4139280" y="35460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2" name="Google Shape;182;p18"/>
              <p:cNvSpPr/>
              <p:nvPr/>
            </p:nvSpPr>
            <p:spPr>
              <a:xfrm>
                <a:off x="4139280" y="35460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3" name="Google Shape;183;p18"/>
              <p:cNvSpPr/>
              <p:nvPr/>
            </p:nvSpPr>
            <p:spPr>
              <a:xfrm>
                <a:off x="4173840" y="3783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4" name="Google Shape;184;p18"/>
              <p:cNvSpPr/>
              <p:nvPr/>
            </p:nvSpPr>
            <p:spPr>
              <a:xfrm>
                <a:off x="4173840" y="3783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5" name="Google Shape;185;p18"/>
              <p:cNvSpPr/>
              <p:nvPr/>
            </p:nvSpPr>
            <p:spPr>
              <a:xfrm>
                <a:off x="4173840" y="3074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6" name="Google Shape;186;p18"/>
              <p:cNvSpPr/>
              <p:nvPr/>
            </p:nvSpPr>
            <p:spPr>
              <a:xfrm>
                <a:off x="4173840" y="3074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187" name="Google Shape;187;p18"/>
            <p:cNvSpPr/>
            <p:nvPr/>
          </p:nvSpPr>
          <p:spPr>
            <a:xfrm>
              <a:off x="8008200" y="30888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88" name="Google Shape;188;p18"/>
            <p:cNvSpPr/>
            <p:nvPr/>
          </p:nvSpPr>
          <p:spPr>
            <a:xfrm>
              <a:off x="0" y="19483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89" name="Google Shape;189;p18"/>
            <p:cNvSpPr/>
            <p:nvPr/>
          </p:nvSpPr>
          <p:spPr>
            <a:xfrm>
              <a:off x="4614480" y="47793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0" name="Google Shape;190;p18"/>
            <p:cNvSpPr/>
            <p:nvPr/>
          </p:nvSpPr>
          <p:spPr>
            <a:xfrm>
              <a:off x="433080" y="36586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1" name="Google Shape;191;p18"/>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92" name="Google Shape;192;p18"/>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93" name="Google Shape;193;p18"/>
            <p:cNvGrpSpPr/>
            <p:nvPr/>
          </p:nvGrpSpPr>
          <p:grpSpPr>
            <a:xfrm>
              <a:off x="2730960" y="4779360"/>
              <a:ext cx="163440" cy="163440"/>
              <a:chOff x="2730960" y="4779360"/>
              <a:chExt cx="163440" cy="163440"/>
            </a:xfrm>
          </p:grpSpPr>
          <p:sp>
            <p:nvSpPr>
              <p:cNvPr id="194" name="Google Shape;194;p18"/>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5" name="Google Shape;195;p18"/>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6" name="Google Shape;196;p18"/>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7" name="Google Shape;197;p18"/>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8" name="Google Shape;198;p18"/>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99" name="Google Shape;199;p18"/>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0" name="Google Shape;200;p18"/>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1" name="Google Shape;201;p18"/>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2" name="Google Shape;202;p18"/>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3" name="Google Shape;203;p18"/>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4" name="Google Shape;204;p18"/>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5" name="Google Shape;205;p18"/>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6" name="Google Shape;206;p18"/>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7" name="Google Shape;207;p18"/>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8" name="Google Shape;208;p18"/>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09" name="Google Shape;209;p18"/>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10" name="Google Shape;210;p18"/>
            <p:cNvSpPr/>
            <p:nvPr/>
          </p:nvSpPr>
          <p:spPr>
            <a:xfrm>
              <a:off x="8977320" y="519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211" name="Google Shape;211;p18"/>
          <p:cNvSpPr/>
          <p:nvPr/>
        </p:nvSpPr>
        <p:spPr>
          <a:xfrm>
            <a:off x="713160" y="3787560"/>
            <a:ext cx="4945320" cy="55584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1" lang="en-US" sz="1200" u="none" strike="noStrike">
                <a:solidFill>
                  <a:schemeClr val="dk1"/>
                </a:solidFill>
                <a:latin typeface="Raleway"/>
                <a:ea typeface="Raleway"/>
                <a:cs typeface="Raleway"/>
                <a:sym typeface="Raleway"/>
              </a:rPr>
              <a:t>CREDITS:</a:t>
            </a:r>
            <a:r>
              <a:rPr b="0" lang="en-US" sz="1200" u="none" strike="noStrike">
                <a:solidFill>
                  <a:schemeClr val="dk1"/>
                </a:solidFill>
                <a:latin typeface="Raleway"/>
                <a:ea typeface="Raleway"/>
                <a:cs typeface="Raleway"/>
                <a:sym typeface="Raleway"/>
              </a:rPr>
              <a:t> This presentation template was created by </a:t>
            </a:r>
            <a:r>
              <a:rPr b="1" lang="en-US" sz="1200" u="sng" strike="noStrike">
                <a:solidFill>
                  <a:schemeClr val="dk1"/>
                </a:solidFill>
                <a:latin typeface="Raleway"/>
                <a:ea typeface="Raleway"/>
                <a:cs typeface="Raleway"/>
                <a:sym typeface="Raleway"/>
                <a:hlinkClick r:id="rId2">
                  <a:extLst>
                    <a:ext uri="{A12FA001-AC4F-418D-AE19-62706E023703}">
                      <ahyp:hlinkClr val="tx"/>
                    </a:ext>
                  </a:extLst>
                </a:hlinkClick>
              </a:rPr>
              <a:t>Slidesgo</a:t>
            </a:r>
            <a:r>
              <a:rPr b="0" lang="en-US" sz="1200" u="none" strike="noStrike">
                <a:solidFill>
                  <a:schemeClr val="dk1"/>
                </a:solidFill>
                <a:latin typeface="Raleway"/>
                <a:ea typeface="Raleway"/>
                <a:cs typeface="Raleway"/>
                <a:sym typeface="Raleway"/>
              </a:rPr>
              <a:t>, and includes icons, infographics &amp; images by </a:t>
            </a:r>
            <a:r>
              <a:rPr b="1" lang="en-US" sz="1200" u="sng" strike="noStrike">
                <a:solidFill>
                  <a:schemeClr val="dk1"/>
                </a:solidFill>
                <a:latin typeface="Raleway"/>
                <a:ea typeface="Raleway"/>
                <a:cs typeface="Raleway"/>
                <a:sym typeface="Raleway"/>
                <a:hlinkClick r:id="rId3">
                  <a:extLst>
                    <a:ext uri="{A12FA001-AC4F-418D-AE19-62706E023703}">
                      <ahyp:hlinkClr val="tx"/>
                    </a:ext>
                  </a:extLst>
                </a:hlinkClick>
              </a:rPr>
              <a:t>Freepik</a:t>
            </a:r>
            <a:r>
              <a:rPr b="0" lang="en-US" sz="1200" u="none" strike="noStrike">
                <a:solidFill>
                  <a:schemeClr val="dk1"/>
                </a:solidFill>
                <a:latin typeface="Raleway"/>
                <a:ea typeface="Raleway"/>
                <a:cs typeface="Raleway"/>
                <a:sym typeface="Raleway"/>
              </a:rPr>
              <a:t> </a:t>
            </a:r>
            <a:endParaRPr b="0" sz="1200" u="none" strike="noStrike">
              <a:solidFill>
                <a:srgbClr val="000000"/>
              </a:solidFill>
              <a:latin typeface="Noto Sans Symbols"/>
              <a:ea typeface="Noto Sans Symbols"/>
              <a:cs typeface="Noto Sans Symbols"/>
              <a:sym typeface="Noto Sans Symbols"/>
            </a:endParaRPr>
          </a:p>
        </p:txBody>
      </p:sp>
      <p:sp>
        <p:nvSpPr>
          <p:cNvPr id="212" name="Google Shape;212;p18"/>
          <p:cNvSpPr txBox="1"/>
          <p:nvPr>
            <p:ph type="title"/>
          </p:nvPr>
        </p:nvSpPr>
        <p:spPr>
          <a:xfrm>
            <a:off x="713160" y="539640"/>
            <a:ext cx="4617720" cy="12618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_NUMBER">
  <p:cSld name="BIG_NUMBER">
    <p:bg>
      <p:bgPr>
        <a:solidFill>
          <a:schemeClr val="lt1"/>
        </a:solidFill>
      </p:bgPr>
    </p:bg>
    <p:spTree>
      <p:nvGrpSpPr>
        <p:cNvPr id="213" name="Shape 213"/>
        <p:cNvGrpSpPr/>
        <p:nvPr/>
      </p:nvGrpSpPr>
      <p:grpSpPr>
        <a:xfrm>
          <a:off x="0" y="0"/>
          <a:ext cx="0" cy="0"/>
          <a:chOff x="0" y="0"/>
          <a:chExt cx="0" cy="0"/>
        </a:xfrm>
      </p:grpSpPr>
      <p:sp>
        <p:nvSpPr>
          <p:cNvPr id="214" name="Google Shape;214;p19"/>
          <p:cNvSpPr txBox="1"/>
          <p:nvPr>
            <p:ph hasCustomPrompt="1" type="title"/>
          </p:nvPr>
        </p:nvSpPr>
        <p:spPr>
          <a:xfrm>
            <a:off x="713160" y="539640"/>
            <a:ext cx="5105880" cy="116820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r>
              <a:t>xx%</a:t>
            </a:r>
          </a:p>
        </p:txBody>
      </p:sp>
      <p:grpSp>
        <p:nvGrpSpPr>
          <p:cNvPr id="215" name="Google Shape;215;p19"/>
          <p:cNvGrpSpPr/>
          <p:nvPr/>
        </p:nvGrpSpPr>
        <p:grpSpPr>
          <a:xfrm>
            <a:off x="0" y="272880"/>
            <a:ext cx="9140760" cy="4669920"/>
            <a:chOff x="0" y="272880"/>
            <a:chExt cx="9140760" cy="4669920"/>
          </a:xfrm>
        </p:grpSpPr>
        <p:sp>
          <p:nvSpPr>
            <p:cNvPr id="216" name="Google Shape;216;p19"/>
            <p:cNvSpPr/>
            <p:nvPr/>
          </p:nvSpPr>
          <p:spPr>
            <a:xfrm>
              <a:off x="500040" y="47325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7" name="Google Shape;217;p19"/>
            <p:cNvSpPr/>
            <p:nvPr/>
          </p:nvSpPr>
          <p:spPr>
            <a:xfrm>
              <a:off x="472320" y="3358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18" name="Google Shape;218;p19"/>
            <p:cNvSpPr/>
            <p:nvPr/>
          </p:nvSpPr>
          <p:spPr>
            <a:xfrm>
              <a:off x="8977320" y="1602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19" name="Google Shape;219;p19"/>
            <p:cNvGrpSpPr/>
            <p:nvPr/>
          </p:nvGrpSpPr>
          <p:grpSpPr>
            <a:xfrm>
              <a:off x="4139280" y="272880"/>
              <a:ext cx="163440" cy="163440"/>
              <a:chOff x="4139280" y="272880"/>
              <a:chExt cx="163440" cy="163440"/>
            </a:xfrm>
          </p:grpSpPr>
          <p:sp>
            <p:nvSpPr>
              <p:cNvPr id="220" name="Google Shape;220;p19"/>
              <p:cNvSpPr/>
              <p:nvPr/>
            </p:nvSpPr>
            <p:spPr>
              <a:xfrm>
                <a:off x="4221000" y="2728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1" name="Google Shape;221;p19"/>
              <p:cNvSpPr/>
              <p:nvPr/>
            </p:nvSpPr>
            <p:spPr>
              <a:xfrm>
                <a:off x="4221000" y="2728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2" name="Google Shape;222;p19"/>
              <p:cNvSpPr/>
              <p:nvPr/>
            </p:nvSpPr>
            <p:spPr>
              <a:xfrm>
                <a:off x="4254840" y="35460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3" name="Google Shape;223;p19"/>
              <p:cNvSpPr/>
              <p:nvPr/>
            </p:nvSpPr>
            <p:spPr>
              <a:xfrm>
                <a:off x="4254840" y="35460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4" name="Google Shape;224;p19"/>
              <p:cNvSpPr/>
              <p:nvPr/>
            </p:nvSpPr>
            <p:spPr>
              <a:xfrm>
                <a:off x="4244760" y="3074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5" name="Google Shape;225;p19"/>
              <p:cNvSpPr/>
              <p:nvPr/>
            </p:nvSpPr>
            <p:spPr>
              <a:xfrm>
                <a:off x="4244760" y="3074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6" name="Google Shape;226;p19"/>
              <p:cNvSpPr/>
              <p:nvPr/>
            </p:nvSpPr>
            <p:spPr>
              <a:xfrm>
                <a:off x="4221000" y="3884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7" name="Google Shape;227;p19"/>
              <p:cNvSpPr/>
              <p:nvPr/>
            </p:nvSpPr>
            <p:spPr>
              <a:xfrm>
                <a:off x="4221000" y="3884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8" name="Google Shape;228;p19"/>
              <p:cNvSpPr/>
              <p:nvPr/>
            </p:nvSpPr>
            <p:spPr>
              <a:xfrm>
                <a:off x="4244760" y="3783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29" name="Google Shape;229;p19"/>
              <p:cNvSpPr/>
              <p:nvPr/>
            </p:nvSpPr>
            <p:spPr>
              <a:xfrm>
                <a:off x="4244760" y="3783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0" name="Google Shape;230;p19"/>
              <p:cNvSpPr/>
              <p:nvPr/>
            </p:nvSpPr>
            <p:spPr>
              <a:xfrm>
                <a:off x="4139280" y="35460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1" name="Google Shape;231;p19"/>
              <p:cNvSpPr/>
              <p:nvPr/>
            </p:nvSpPr>
            <p:spPr>
              <a:xfrm>
                <a:off x="4139280" y="35460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2" name="Google Shape;232;p19"/>
              <p:cNvSpPr/>
              <p:nvPr/>
            </p:nvSpPr>
            <p:spPr>
              <a:xfrm>
                <a:off x="4173840" y="3783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3" name="Google Shape;233;p19"/>
              <p:cNvSpPr/>
              <p:nvPr/>
            </p:nvSpPr>
            <p:spPr>
              <a:xfrm>
                <a:off x="4173840" y="3783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4" name="Google Shape;234;p19"/>
              <p:cNvSpPr/>
              <p:nvPr/>
            </p:nvSpPr>
            <p:spPr>
              <a:xfrm>
                <a:off x="4173840" y="3074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5" name="Google Shape;235;p19"/>
              <p:cNvSpPr/>
              <p:nvPr/>
            </p:nvSpPr>
            <p:spPr>
              <a:xfrm>
                <a:off x="4173840" y="3074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36" name="Google Shape;236;p19"/>
            <p:cNvSpPr/>
            <p:nvPr/>
          </p:nvSpPr>
          <p:spPr>
            <a:xfrm>
              <a:off x="8008200" y="30888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37" name="Google Shape;237;p19"/>
            <p:cNvSpPr/>
            <p:nvPr/>
          </p:nvSpPr>
          <p:spPr>
            <a:xfrm>
              <a:off x="0" y="19483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8" name="Google Shape;238;p19"/>
            <p:cNvSpPr/>
            <p:nvPr/>
          </p:nvSpPr>
          <p:spPr>
            <a:xfrm>
              <a:off x="4614480" y="47793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39" name="Google Shape;239;p19"/>
            <p:cNvSpPr/>
            <p:nvPr/>
          </p:nvSpPr>
          <p:spPr>
            <a:xfrm>
              <a:off x="433080" y="36586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0" name="Google Shape;240;p19"/>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41" name="Google Shape;241;p19"/>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42" name="Google Shape;242;p19"/>
            <p:cNvGrpSpPr/>
            <p:nvPr/>
          </p:nvGrpSpPr>
          <p:grpSpPr>
            <a:xfrm>
              <a:off x="2730960" y="4779360"/>
              <a:ext cx="163440" cy="163440"/>
              <a:chOff x="2730960" y="4779360"/>
              <a:chExt cx="163440" cy="163440"/>
            </a:xfrm>
          </p:grpSpPr>
          <p:sp>
            <p:nvSpPr>
              <p:cNvPr id="243" name="Google Shape;243;p19"/>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4" name="Google Shape;244;p19"/>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5" name="Google Shape;245;p19"/>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6" name="Google Shape;246;p19"/>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7" name="Google Shape;247;p19"/>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8" name="Google Shape;248;p19"/>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49" name="Google Shape;249;p19"/>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0" name="Google Shape;250;p19"/>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1" name="Google Shape;251;p19"/>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2" name="Google Shape;252;p19"/>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3" name="Google Shape;253;p19"/>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4" name="Google Shape;254;p19"/>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5" name="Google Shape;255;p19"/>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6" name="Google Shape;256;p19"/>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7" name="Google Shape;257;p19"/>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58" name="Google Shape;258;p19"/>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59" name="Google Shape;259;p19"/>
            <p:cNvSpPr/>
            <p:nvPr/>
          </p:nvSpPr>
          <p:spPr>
            <a:xfrm>
              <a:off x="8977320" y="519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_1">
  <p:cSld name="TITLE_ONLY_1">
    <p:bg>
      <p:bgPr>
        <a:solidFill>
          <a:schemeClr val="lt1"/>
        </a:solidFill>
      </p:bgPr>
    </p:bg>
    <p:spTree>
      <p:nvGrpSpPr>
        <p:cNvPr id="260" name="Shape 260"/>
        <p:cNvGrpSpPr/>
        <p:nvPr/>
      </p:nvGrpSpPr>
      <p:grpSpPr>
        <a:xfrm>
          <a:off x="0" y="0"/>
          <a:ext cx="0" cy="0"/>
          <a:chOff x="0" y="0"/>
          <a:chExt cx="0" cy="0"/>
        </a:xfrm>
      </p:grpSpPr>
      <p:grpSp>
        <p:nvGrpSpPr>
          <p:cNvPr id="261" name="Google Shape;261;p20"/>
          <p:cNvGrpSpPr/>
          <p:nvPr/>
        </p:nvGrpSpPr>
        <p:grpSpPr>
          <a:xfrm>
            <a:off x="360" y="117720"/>
            <a:ext cx="9140760" cy="4949640"/>
            <a:chOff x="360" y="117720"/>
            <a:chExt cx="9140760" cy="4949640"/>
          </a:xfrm>
        </p:grpSpPr>
        <p:sp>
          <p:nvSpPr>
            <p:cNvPr id="262" name="Google Shape;262;p20"/>
            <p:cNvSpPr/>
            <p:nvPr/>
          </p:nvSpPr>
          <p:spPr>
            <a:xfrm flipH="1" rot="10800000">
              <a:off x="499320" y="3477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3" name="Google Shape;263;p20"/>
            <p:cNvSpPr/>
            <p:nvPr/>
          </p:nvSpPr>
          <p:spPr>
            <a:xfrm flipH="1" rot="10800000">
              <a:off x="8837280" y="19170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64" name="Google Shape;264;p20"/>
            <p:cNvSpPr/>
            <p:nvPr/>
          </p:nvSpPr>
          <p:spPr>
            <a:xfrm flipH="1" rot="10800000">
              <a:off x="472680" y="481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5" name="Google Shape;265;p20"/>
            <p:cNvSpPr/>
            <p:nvPr/>
          </p:nvSpPr>
          <p:spPr>
            <a:xfrm flipH="1" rot="10800000">
              <a:off x="8977680" y="349488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266" name="Google Shape;266;p20"/>
            <p:cNvGrpSpPr/>
            <p:nvPr/>
          </p:nvGrpSpPr>
          <p:grpSpPr>
            <a:xfrm>
              <a:off x="4139280" y="4823640"/>
              <a:ext cx="163440" cy="163440"/>
              <a:chOff x="4139280" y="4823640"/>
              <a:chExt cx="163440" cy="163440"/>
            </a:xfrm>
          </p:grpSpPr>
          <p:sp>
            <p:nvSpPr>
              <p:cNvPr id="267" name="Google Shape;267;p20"/>
              <p:cNvSpPr/>
              <p:nvPr/>
            </p:nvSpPr>
            <p:spPr>
              <a:xfrm flipH="1" rot="10800000">
                <a:off x="4221000" y="493920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8" name="Google Shape;268;p20"/>
              <p:cNvSpPr/>
              <p:nvPr/>
            </p:nvSpPr>
            <p:spPr>
              <a:xfrm flipH="1" rot="10800000">
                <a:off x="4221000" y="493920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69" name="Google Shape;269;p20"/>
              <p:cNvSpPr/>
              <p:nvPr/>
            </p:nvSpPr>
            <p:spPr>
              <a:xfrm flipH="1" rot="10800000">
                <a:off x="4254840" y="490536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0" name="Google Shape;270;p20"/>
              <p:cNvSpPr/>
              <p:nvPr/>
            </p:nvSpPr>
            <p:spPr>
              <a:xfrm flipH="1" rot="10800000">
                <a:off x="4254840" y="490536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1" name="Google Shape;271;p20"/>
              <p:cNvSpPr/>
              <p:nvPr/>
            </p:nvSpPr>
            <p:spPr>
              <a:xfrm flipH="1" rot="10800000">
                <a:off x="4244760" y="49298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2" name="Google Shape;272;p20"/>
              <p:cNvSpPr/>
              <p:nvPr/>
            </p:nvSpPr>
            <p:spPr>
              <a:xfrm flipH="1" rot="10800000">
                <a:off x="4244760" y="49298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3" name="Google Shape;273;p20"/>
              <p:cNvSpPr/>
              <p:nvPr/>
            </p:nvSpPr>
            <p:spPr>
              <a:xfrm flipH="1" rot="10800000">
                <a:off x="4221000" y="48236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4" name="Google Shape;274;p20"/>
              <p:cNvSpPr/>
              <p:nvPr/>
            </p:nvSpPr>
            <p:spPr>
              <a:xfrm flipH="1" rot="10800000">
                <a:off x="4221000" y="48236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5" name="Google Shape;275;p20"/>
              <p:cNvSpPr/>
              <p:nvPr/>
            </p:nvSpPr>
            <p:spPr>
              <a:xfrm flipH="1" rot="10800000">
                <a:off x="4244760" y="485892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6" name="Google Shape;276;p20"/>
              <p:cNvSpPr/>
              <p:nvPr/>
            </p:nvSpPr>
            <p:spPr>
              <a:xfrm flipH="1" rot="10800000">
                <a:off x="4244760" y="485892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7" name="Google Shape;277;p20"/>
              <p:cNvSpPr/>
              <p:nvPr/>
            </p:nvSpPr>
            <p:spPr>
              <a:xfrm flipH="1" rot="10800000">
                <a:off x="4139280" y="490536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8" name="Google Shape;278;p20"/>
              <p:cNvSpPr/>
              <p:nvPr/>
            </p:nvSpPr>
            <p:spPr>
              <a:xfrm flipH="1" rot="10800000">
                <a:off x="4139280" y="490536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79" name="Google Shape;279;p20"/>
              <p:cNvSpPr/>
              <p:nvPr/>
            </p:nvSpPr>
            <p:spPr>
              <a:xfrm flipH="1" rot="10800000">
                <a:off x="4173840" y="485892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0" name="Google Shape;280;p20"/>
              <p:cNvSpPr/>
              <p:nvPr/>
            </p:nvSpPr>
            <p:spPr>
              <a:xfrm flipH="1" rot="10800000">
                <a:off x="4173840" y="485892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1" name="Google Shape;281;p20"/>
              <p:cNvSpPr/>
              <p:nvPr/>
            </p:nvSpPr>
            <p:spPr>
              <a:xfrm flipH="1" rot="10800000">
                <a:off x="4173840" y="49298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2" name="Google Shape;282;p20"/>
              <p:cNvSpPr/>
              <p:nvPr/>
            </p:nvSpPr>
            <p:spPr>
              <a:xfrm flipH="1" rot="10800000">
                <a:off x="4173840" y="49298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283" name="Google Shape;283;p20"/>
            <p:cNvSpPr/>
            <p:nvPr/>
          </p:nvSpPr>
          <p:spPr>
            <a:xfrm flipH="1" rot="10800000">
              <a:off x="8008560" y="478872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84" name="Google Shape;284;p20"/>
            <p:cNvSpPr/>
            <p:nvPr/>
          </p:nvSpPr>
          <p:spPr>
            <a:xfrm flipH="1" rot="10800000">
              <a:off x="360" y="31489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5" name="Google Shape;285;p20"/>
            <p:cNvSpPr/>
            <p:nvPr/>
          </p:nvSpPr>
          <p:spPr>
            <a:xfrm flipH="1" rot="10800000">
              <a:off x="4746240" y="117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6" name="Google Shape;286;p20"/>
            <p:cNvSpPr/>
            <p:nvPr/>
          </p:nvSpPr>
          <p:spPr>
            <a:xfrm flipH="1" rot="10800000">
              <a:off x="432360" y="1563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7" name="Google Shape;287;p20"/>
            <p:cNvSpPr/>
            <p:nvPr/>
          </p:nvSpPr>
          <p:spPr>
            <a:xfrm flipH="1" rot="10800000">
              <a:off x="6609960" y="5028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288" name="Google Shape;288;p20"/>
            <p:cNvSpPr/>
            <p:nvPr/>
          </p:nvSpPr>
          <p:spPr>
            <a:xfrm flipH="1" rot="10800000">
              <a:off x="8742240" y="3481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289" name="Google Shape;289;p20"/>
            <p:cNvGrpSpPr/>
            <p:nvPr/>
          </p:nvGrpSpPr>
          <p:grpSpPr>
            <a:xfrm>
              <a:off x="2730960" y="316800"/>
              <a:ext cx="163440" cy="163440"/>
              <a:chOff x="2730960" y="316800"/>
              <a:chExt cx="163440" cy="163440"/>
            </a:xfrm>
          </p:grpSpPr>
          <p:sp>
            <p:nvSpPr>
              <p:cNvPr id="290" name="Google Shape;290;p20"/>
              <p:cNvSpPr/>
              <p:nvPr/>
            </p:nvSpPr>
            <p:spPr>
              <a:xfrm flipH="1" rot="10800000">
                <a:off x="2812680" y="432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1" name="Google Shape;291;p20"/>
              <p:cNvSpPr/>
              <p:nvPr/>
            </p:nvSpPr>
            <p:spPr>
              <a:xfrm flipH="1" rot="10800000">
                <a:off x="2812680" y="432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2" name="Google Shape;292;p20"/>
              <p:cNvSpPr/>
              <p:nvPr/>
            </p:nvSpPr>
            <p:spPr>
              <a:xfrm flipH="1" rot="10800000">
                <a:off x="2846520" y="39888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3" name="Google Shape;293;p20"/>
              <p:cNvSpPr/>
              <p:nvPr/>
            </p:nvSpPr>
            <p:spPr>
              <a:xfrm flipH="1" rot="10800000">
                <a:off x="2846520" y="39888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4" name="Google Shape;294;p20"/>
              <p:cNvSpPr/>
              <p:nvPr/>
            </p:nvSpPr>
            <p:spPr>
              <a:xfrm flipH="1" rot="10800000">
                <a:off x="2836440" y="42336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5" name="Google Shape;295;p20"/>
              <p:cNvSpPr/>
              <p:nvPr/>
            </p:nvSpPr>
            <p:spPr>
              <a:xfrm flipH="1" rot="10800000">
                <a:off x="2836440" y="42336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6" name="Google Shape;296;p20"/>
              <p:cNvSpPr/>
              <p:nvPr/>
            </p:nvSpPr>
            <p:spPr>
              <a:xfrm flipH="1" rot="10800000">
                <a:off x="2812680" y="31680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7" name="Google Shape;297;p20"/>
              <p:cNvSpPr/>
              <p:nvPr/>
            </p:nvSpPr>
            <p:spPr>
              <a:xfrm flipH="1" rot="10800000">
                <a:off x="2812680" y="31680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8" name="Google Shape;298;p20"/>
              <p:cNvSpPr/>
              <p:nvPr/>
            </p:nvSpPr>
            <p:spPr>
              <a:xfrm flipH="1" rot="10800000">
                <a:off x="2836440" y="35244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299" name="Google Shape;299;p20"/>
              <p:cNvSpPr/>
              <p:nvPr/>
            </p:nvSpPr>
            <p:spPr>
              <a:xfrm flipH="1" rot="10800000">
                <a:off x="2836440" y="35244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0" name="Google Shape;300;p20"/>
              <p:cNvSpPr/>
              <p:nvPr/>
            </p:nvSpPr>
            <p:spPr>
              <a:xfrm flipH="1" rot="10800000">
                <a:off x="2730960" y="39888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1" name="Google Shape;301;p20"/>
              <p:cNvSpPr/>
              <p:nvPr/>
            </p:nvSpPr>
            <p:spPr>
              <a:xfrm flipH="1" rot="10800000">
                <a:off x="2730960" y="39888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2" name="Google Shape;302;p20"/>
              <p:cNvSpPr/>
              <p:nvPr/>
            </p:nvSpPr>
            <p:spPr>
              <a:xfrm flipH="1" rot="10800000">
                <a:off x="2765520" y="35244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3" name="Google Shape;303;p20"/>
              <p:cNvSpPr/>
              <p:nvPr/>
            </p:nvSpPr>
            <p:spPr>
              <a:xfrm flipH="1" rot="10800000">
                <a:off x="2765520" y="35244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4" name="Google Shape;304;p20"/>
              <p:cNvSpPr/>
              <p:nvPr/>
            </p:nvSpPr>
            <p:spPr>
              <a:xfrm flipH="1" rot="10800000">
                <a:off x="2765520" y="42336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05" name="Google Shape;305;p20"/>
              <p:cNvSpPr/>
              <p:nvPr/>
            </p:nvSpPr>
            <p:spPr>
              <a:xfrm flipH="1" rot="10800000">
                <a:off x="2765520" y="42336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06" name="Google Shape;306;p20"/>
            <p:cNvSpPr/>
            <p:nvPr/>
          </p:nvSpPr>
          <p:spPr>
            <a:xfrm flipH="1" rot="10800000">
              <a:off x="8976600" y="47023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307" name="Google Shape;307;p20"/>
          <p:cNvSpPr txBox="1"/>
          <p:nvPr>
            <p:ph type="title"/>
          </p:nvPr>
        </p:nvSpPr>
        <p:spPr>
          <a:xfrm>
            <a:off x="726840" y="53964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_1_1_1_1">
  <p:cSld name="BLANK_1_1_1_1_1_1">
    <p:bg>
      <p:bgPr>
        <a:solidFill>
          <a:schemeClr val="lt1"/>
        </a:solidFill>
      </p:bgPr>
    </p:bg>
    <p:spTree>
      <p:nvGrpSpPr>
        <p:cNvPr id="308" name="Shape 308"/>
        <p:cNvGrpSpPr/>
        <p:nvPr/>
      </p:nvGrpSpPr>
      <p:grpSpPr>
        <a:xfrm>
          <a:off x="0" y="0"/>
          <a:ext cx="0" cy="0"/>
          <a:chOff x="0" y="0"/>
          <a:chExt cx="0" cy="0"/>
        </a:xfrm>
      </p:grpSpPr>
      <p:sp>
        <p:nvSpPr>
          <p:cNvPr id="309" name="Google Shape;309;p21"/>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0" name="Google Shape;310;p21"/>
          <p:cNvSpPr txBox="1"/>
          <p:nvPr>
            <p:ph idx="2" type="title"/>
          </p:nvPr>
        </p:nvSpPr>
        <p:spPr>
          <a:xfrm>
            <a:off x="923400" y="2032920"/>
            <a:ext cx="734400" cy="44712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1" name="Google Shape;311;p21"/>
          <p:cNvSpPr txBox="1"/>
          <p:nvPr>
            <p:ph idx="3" type="title"/>
          </p:nvPr>
        </p:nvSpPr>
        <p:spPr>
          <a:xfrm>
            <a:off x="923400" y="3549960"/>
            <a:ext cx="734400" cy="44712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2" name="Google Shape;312;p21"/>
          <p:cNvSpPr txBox="1"/>
          <p:nvPr>
            <p:ph idx="4" type="title"/>
          </p:nvPr>
        </p:nvSpPr>
        <p:spPr>
          <a:xfrm>
            <a:off x="4395600" y="2032920"/>
            <a:ext cx="734400" cy="44712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13" name="Google Shape;313;p21"/>
          <p:cNvSpPr txBox="1"/>
          <p:nvPr>
            <p:ph idx="5" type="title"/>
          </p:nvPr>
        </p:nvSpPr>
        <p:spPr>
          <a:xfrm>
            <a:off x="4395600" y="3544560"/>
            <a:ext cx="734400" cy="44712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314" name="Google Shape;314;p21"/>
          <p:cNvGrpSpPr/>
          <p:nvPr/>
        </p:nvGrpSpPr>
        <p:grpSpPr>
          <a:xfrm>
            <a:off x="0" y="272880"/>
            <a:ext cx="9140760" cy="4669920"/>
            <a:chOff x="0" y="272880"/>
            <a:chExt cx="9140760" cy="4669920"/>
          </a:xfrm>
        </p:grpSpPr>
        <p:sp>
          <p:nvSpPr>
            <p:cNvPr id="315" name="Google Shape;315;p21"/>
            <p:cNvSpPr/>
            <p:nvPr/>
          </p:nvSpPr>
          <p:spPr>
            <a:xfrm>
              <a:off x="500040" y="47325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6" name="Google Shape;316;p21"/>
            <p:cNvSpPr/>
            <p:nvPr/>
          </p:nvSpPr>
          <p:spPr>
            <a:xfrm>
              <a:off x="8836920" y="32346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17" name="Google Shape;317;p21"/>
            <p:cNvSpPr/>
            <p:nvPr/>
          </p:nvSpPr>
          <p:spPr>
            <a:xfrm>
              <a:off x="472320" y="3358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18" name="Google Shape;318;p21"/>
            <p:cNvSpPr/>
            <p:nvPr/>
          </p:nvSpPr>
          <p:spPr>
            <a:xfrm>
              <a:off x="8977320" y="1602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19" name="Google Shape;319;p21"/>
            <p:cNvGrpSpPr/>
            <p:nvPr/>
          </p:nvGrpSpPr>
          <p:grpSpPr>
            <a:xfrm>
              <a:off x="4139280" y="272880"/>
              <a:ext cx="163440" cy="163440"/>
              <a:chOff x="4139280" y="272880"/>
              <a:chExt cx="163440" cy="163440"/>
            </a:xfrm>
          </p:grpSpPr>
          <p:sp>
            <p:nvSpPr>
              <p:cNvPr id="320" name="Google Shape;320;p21"/>
              <p:cNvSpPr/>
              <p:nvPr/>
            </p:nvSpPr>
            <p:spPr>
              <a:xfrm>
                <a:off x="4221000" y="2728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1" name="Google Shape;321;p21"/>
              <p:cNvSpPr/>
              <p:nvPr/>
            </p:nvSpPr>
            <p:spPr>
              <a:xfrm>
                <a:off x="4221000" y="2728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2" name="Google Shape;322;p21"/>
              <p:cNvSpPr/>
              <p:nvPr/>
            </p:nvSpPr>
            <p:spPr>
              <a:xfrm>
                <a:off x="4254840" y="35460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3" name="Google Shape;323;p21"/>
              <p:cNvSpPr/>
              <p:nvPr/>
            </p:nvSpPr>
            <p:spPr>
              <a:xfrm>
                <a:off x="4254840" y="35460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4" name="Google Shape;324;p21"/>
              <p:cNvSpPr/>
              <p:nvPr/>
            </p:nvSpPr>
            <p:spPr>
              <a:xfrm>
                <a:off x="4244760" y="3074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5" name="Google Shape;325;p21"/>
              <p:cNvSpPr/>
              <p:nvPr/>
            </p:nvSpPr>
            <p:spPr>
              <a:xfrm>
                <a:off x="4244760" y="3074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6" name="Google Shape;326;p21"/>
              <p:cNvSpPr/>
              <p:nvPr/>
            </p:nvSpPr>
            <p:spPr>
              <a:xfrm>
                <a:off x="4221000" y="3884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7" name="Google Shape;327;p21"/>
              <p:cNvSpPr/>
              <p:nvPr/>
            </p:nvSpPr>
            <p:spPr>
              <a:xfrm>
                <a:off x="4221000" y="3884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8" name="Google Shape;328;p21"/>
              <p:cNvSpPr/>
              <p:nvPr/>
            </p:nvSpPr>
            <p:spPr>
              <a:xfrm>
                <a:off x="4244760" y="3783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29" name="Google Shape;329;p21"/>
              <p:cNvSpPr/>
              <p:nvPr/>
            </p:nvSpPr>
            <p:spPr>
              <a:xfrm>
                <a:off x="4244760" y="3783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0" name="Google Shape;330;p21"/>
              <p:cNvSpPr/>
              <p:nvPr/>
            </p:nvSpPr>
            <p:spPr>
              <a:xfrm>
                <a:off x="4139280" y="35460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1" name="Google Shape;331;p21"/>
              <p:cNvSpPr/>
              <p:nvPr/>
            </p:nvSpPr>
            <p:spPr>
              <a:xfrm>
                <a:off x="4139280" y="35460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2" name="Google Shape;332;p21"/>
              <p:cNvSpPr/>
              <p:nvPr/>
            </p:nvSpPr>
            <p:spPr>
              <a:xfrm>
                <a:off x="4173840" y="3783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3" name="Google Shape;333;p21"/>
              <p:cNvSpPr/>
              <p:nvPr/>
            </p:nvSpPr>
            <p:spPr>
              <a:xfrm>
                <a:off x="4173840" y="3783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4" name="Google Shape;334;p21"/>
              <p:cNvSpPr/>
              <p:nvPr/>
            </p:nvSpPr>
            <p:spPr>
              <a:xfrm>
                <a:off x="4173840" y="3074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5" name="Google Shape;335;p21"/>
              <p:cNvSpPr/>
              <p:nvPr/>
            </p:nvSpPr>
            <p:spPr>
              <a:xfrm>
                <a:off x="4173840" y="3074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36" name="Google Shape;336;p21"/>
            <p:cNvSpPr/>
            <p:nvPr/>
          </p:nvSpPr>
          <p:spPr>
            <a:xfrm>
              <a:off x="8008200" y="30888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37" name="Google Shape;337;p21"/>
            <p:cNvSpPr/>
            <p:nvPr/>
          </p:nvSpPr>
          <p:spPr>
            <a:xfrm>
              <a:off x="0" y="19483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8" name="Google Shape;338;p21"/>
            <p:cNvSpPr/>
            <p:nvPr/>
          </p:nvSpPr>
          <p:spPr>
            <a:xfrm>
              <a:off x="4614480" y="47793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39" name="Google Shape;339;p21"/>
            <p:cNvSpPr/>
            <p:nvPr/>
          </p:nvSpPr>
          <p:spPr>
            <a:xfrm>
              <a:off x="433080" y="36586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0" name="Google Shape;340;p21"/>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41" name="Google Shape;341;p21"/>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342" name="Google Shape;342;p21"/>
            <p:cNvGrpSpPr/>
            <p:nvPr/>
          </p:nvGrpSpPr>
          <p:grpSpPr>
            <a:xfrm>
              <a:off x="2730960" y="4779360"/>
              <a:ext cx="163440" cy="163440"/>
              <a:chOff x="2730960" y="4779360"/>
              <a:chExt cx="163440" cy="163440"/>
            </a:xfrm>
          </p:grpSpPr>
          <p:sp>
            <p:nvSpPr>
              <p:cNvPr id="343" name="Google Shape;343;p21"/>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4" name="Google Shape;344;p21"/>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5" name="Google Shape;345;p21"/>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6" name="Google Shape;346;p21"/>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7" name="Google Shape;347;p21"/>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8" name="Google Shape;348;p21"/>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49" name="Google Shape;349;p21"/>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0" name="Google Shape;350;p21"/>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1" name="Google Shape;351;p21"/>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2" name="Google Shape;352;p21"/>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3" name="Google Shape;353;p21"/>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4" name="Google Shape;354;p21"/>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5" name="Google Shape;355;p21"/>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6" name="Google Shape;356;p21"/>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7" name="Google Shape;357;p21"/>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58" name="Google Shape;358;p21"/>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59" name="Google Shape;359;p21"/>
            <p:cNvSpPr/>
            <p:nvPr/>
          </p:nvSpPr>
          <p:spPr>
            <a:xfrm>
              <a:off x="8977320" y="519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_1_1">
  <p:cSld name="BLANK_1_1">
    <p:bg>
      <p:bgPr>
        <a:solidFill>
          <a:schemeClr val="lt1"/>
        </a:solidFill>
      </p:bgPr>
    </p:bg>
    <p:spTree>
      <p:nvGrpSpPr>
        <p:cNvPr id="360" name="Shape 360"/>
        <p:cNvGrpSpPr/>
        <p:nvPr/>
      </p:nvGrpSpPr>
      <p:grpSpPr>
        <a:xfrm>
          <a:off x="0" y="0"/>
          <a:ext cx="0" cy="0"/>
          <a:chOff x="0" y="0"/>
          <a:chExt cx="0" cy="0"/>
        </a:xfrm>
      </p:grpSpPr>
      <p:sp>
        <p:nvSpPr>
          <p:cNvPr id="361" name="Google Shape;361;p22"/>
          <p:cNvSpPr txBox="1"/>
          <p:nvPr>
            <p:ph type="title"/>
          </p:nvPr>
        </p:nvSpPr>
        <p:spPr>
          <a:xfrm>
            <a:off x="1707480" y="2576160"/>
            <a:ext cx="6690960" cy="53172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362" name="Google Shape;362;p22"/>
          <p:cNvGrpSpPr/>
          <p:nvPr/>
        </p:nvGrpSpPr>
        <p:grpSpPr>
          <a:xfrm>
            <a:off x="0" y="272880"/>
            <a:ext cx="9140760" cy="4669920"/>
            <a:chOff x="0" y="272880"/>
            <a:chExt cx="9140760" cy="4669920"/>
          </a:xfrm>
        </p:grpSpPr>
        <p:sp>
          <p:nvSpPr>
            <p:cNvPr id="363" name="Google Shape;363;p22"/>
            <p:cNvSpPr/>
            <p:nvPr/>
          </p:nvSpPr>
          <p:spPr>
            <a:xfrm>
              <a:off x="500040" y="47325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4" name="Google Shape;364;p22"/>
            <p:cNvSpPr/>
            <p:nvPr/>
          </p:nvSpPr>
          <p:spPr>
            <a:xfrm>
              <a:off x="8836920" y="32346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65" name="Google Shape;365;p22"/>
            <p:cNvSpPr/>
            <p:nvPr/>
          </p:nvSpPr>
          <p:spPr>
            <a:xfrm>
              <a:off x="472320" y="3358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6" name="Google Shape;366;p22"/>
            <p:cNvSpPr/>
            <p:nvPr/>
          </p:nvSpPr>
          <p:spPr>
            <a:xfrm>
              <a:off x="8977320" y="1602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367" name="Google Shape;367;p22"/>
            <p:cNvGrpSpPr/>
            <p:nvPr/>
          </p:nvGrpSpPr>
          <p:grpSpPr>
            <a:xfrm>
              <a:off x="4139280" y="272880"/>
              <a:ext cx="163440" cy="163440"/>
              <a:chOff x="4139280" y="272880"/>
              <a:chExt cx="163440" cy="163440"/>
            </a:xfrm>
          </p:grpSpPr>
          <p:sp>
            <p:nvSpPr>
              <p:cNvPr id="368" name="Google Shape;368;p22"/>
              <p:cNvSpPr/>
              <p:nvPr/>
            </p:nvSpPr>
            <p:spPr>
              <a:xfrm>
                <a:off x="4221000" y="2728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69" name="Google Shape;369;p22"/>
              <p:cNvSpPr/>
              <p:nvPr/>
            </p:nvSpPr>
            <p:spPr>
              <a:xfrm>
                <a:off x="4221000" y="2728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0" name="Google Shape;370;p22"/>
              <p:cNvSpPr/>
              <p:nvPr/>
            </p:nvSpPr>
            <p:spPr>
              <a:xfrm>
                <a:off x="4254840" y="35460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1" name="Google Shape;371;p22"/>
              <p:cNvSpPr/>
              <p:nvPr/>
            </p:nvSpPr>
            <p:spPr>
              <a:xfrm>
                <a:off x="4254840" y="35460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2" name="Google Shape;372;p22"/>
              <p:cNvSpPr/>
              <p:nvPr/>
            </p:nvSpPr>
            <p:spPr>
              <a:xfrm>
                <a:off x="4244760" y="3074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3" name="Google Shape;373;p22"/>
              <p:cNvSpPr/>
              <p:nvPr/>
            </p:nvSpPr>
            <p:spPr>
              <a:xfrm>
                <a:off x="4244760" y="3074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4" name="Google Shape;374;p22"/>
              <p:cNvSpPr/>
              <p:nvPr/>
            </p:nvSpPr>
            <p:spPr>
              <a:xfrm>
                <a:off x="4221000" y="3884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5" name="Google Shape;375;p22"/>
              <p:cNvSpPr/>
              <p:nvPr/>
            </p:nvSpPr>
            <p:spPr>
              <a:xfrm>
                <a:off x="4221000" y="3884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6" name="Google Shape;376;p22"/>
              <p:cNvSpPr/>
              <p:nvPr/>
            </p:nvSpPr>
            <p:spPr>
              <a:xfrm>
                <a:off x="4244760" y="3783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7" name="Google Shape;377;p22"/>
              <p:cNvSpPr/>
              <p:nvPr/>
            </p:nvSpPr>
            <p:spPr>
              <a:xfrm>
                <a:off x="4244760" y="3783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8" name="Google Shape;378;p22"/>
              <p:cNvSpPr/>
              <p:nvPr/>
            </p:nvSpPr>
            <p:spPr>
              <a:xfrm>
                <a:off x="4139280" y="35460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79" name="Google Shape;379;p22"/>
              <p:cNvSpPr/>
              <p:nvPr/>
            </p:nvSpPr>
            <p:spPr>
              <a:xfrm>
                <a:off x="4139280" y="35460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0" name="Google Shape;380;p22"/>
              <p:cNvSpPr/>
              <p:nvPr/>
            </p:nvSpPr>
            <p:spPr>
              <a:xfrm>
                <a:off x="4173840" y="3783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1" name="Google Shape;381;p22"/>
              <p:cNvSpPr/>
              <p:nvPr/>
            </p:nvSpPr>
            <p:spPr>
              <a:xfrm>
                <a:off x="4173840" y="3783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2" name="Google Shape;382;p22"/>
              <p:cNvSpPr/>
              <p:nvPr/>
            </p:nvSpPr>
            <p:spPr>
              <a:xfrm>
                <a:off x="4173840" y="3074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3" name="Google Shape;383;p22"/>
              <p:cNvSpPr/>
              <p:nvPr/>
            </p:nvSpPr>
            <p:spPr>
              <a:xfrm>
                <a:off x="4173840" y="3074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384" name="Google Shape;384;p22"/>
            <p:cNvSpPr/>
            <p:nvPr/>
          </p:nvSpPr>
          <p:spPr>
            <a:xfrm>
              <a:off x="8008200" y="30888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85" name="Google Shape;385;p22"/>
            <p:cNvSpPr/>
            <p:nvPr/>
          </p:nvSpPr>
          <p:spPr>
            <a:xfrm>
              <a:off x="0" y="19483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6" name="Google Shape;386;p22"/>
            <p:cNvSpPr/>
            <p:nvPr/>
          </p:nvSpPr>
          <p:spPr>
            <a:xfrm>
              <a:off x="4614480" y="47793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7" name="Google Shape;387;p22"/>
            <p:cNvSpPr/>
            <p:nvPr/>
          </p:nvSpPr>
          <p:spPr>
            <a:xfrm>
              <a:off x="433080" y="36586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8" name="Google Shape;388;p22"/>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389" name="Google Shape;389;p22"/>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390" name="Google Shape;390;p22"/>
            <p:cNvGrpSpPr/>
            <p:nvPr/>
          </p:nvGrpSpPr>
          <p:grpSpPr>
            <a:xfrm>
              <a:off x="2730960" y="4779360"/>
              <a:ext cx="163440" cy="163440"/>
              <a:chOff x="2730960" y="4779360"/>
              <a:chExt cx="163440" cy="163440"/>
            </a:xfrm>
          </p:grpSpPr>
          <p:sp>
            <p:nvSpPr>
              <p:cNvPr id="391" name="Google Shape;391;p22"/>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2" name="Google Shape;392;p22"/>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3" name="Google Shape;393;p22"/>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4" name="Google Shape;394;p22"/>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5" name="Google Shape;395;p22"/>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6" name="Google Shape;396;p22"/>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7" name="Google Shape;397;p22"/>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8" name="Google Shape;398;p22"/>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399" name="Google Shape;399;p22"/>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0" name="Google Shape;400;p22"/>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1" name="Google Shape;401;p22"/>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2" name="Google Shape;402;p22"/>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3" name="Google Shape;403;p22"/>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4" name="Google Shape;404;p22"/>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5" name="Google Shape;405;p22"/>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06" name="Google Shape;406;p22"/>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07" name="Google Shape;407;p22"/>
            <p:cNvSpPr/>
            <p:nvPr/>
          </p:nvSpPr>
          <p:spPr>
            <a:xfrm>
              <a:off x="8977320" y="519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6">
  <p:cSld name="CUSTOM_6">
    <p:bg>
      <p:bgPr>
        <a:solidFill>
          <a:schemeClr val="lt1"/>
        </a:solidFill>
      </p:bgPr>
    </p:bg>
    <p:spTree>
      <p:nvGrpSpPr>
        <p:cNvPr id="408" name="Shape 408"/>
        <p:cNvGrpSpPr/>
        <p:nvPr/>
      </p:nvGrpSpPr>
      <p:grpSpPr>
        <a:xfrm>
          <a:off x="0" y="0"/>
          <a:ext cx="0" cy="0"/>
          <a:chOff x="0" y="0"/>
          <a:chExt cx="0" cy="0"/>
        </a:xfrm>
      </p:grpSpPr>
      <p:grpSp>
        <p:nvGrpSpPr>
          <p:cNvPr id="409" name="Google Shape;409;p23"/>
          <p:cNvGrpSpPr/>
          <p:nvPr/>
        </p:nvGrpSpPr>
        <p:grpSpPr>
          <a:xfrm>
            <a:off x="99000" y="117720"/>
            <a:ext cx="9042120" cy="4949640"/>
            <a:chOff x="99000" y="117720"/>
            <a:chExt cx="9042120" cy="4949640"/>
          </a:xfrm>
        </p:grpSpPr>
        <p:grpSp>
          <p:nvGrpSpPr>
            <p:cNvPr id="410" name="Google Shape;410;p23"/>
            <p:cNvGrpSpPr/>
            <p:nvPr/>
          </p:nvGrpSpPr>
          <p:grpSpPr>
            <a:xfrm>
              <a:off x="3453840" y="4487040"/>
              <a:ext cx="163440" cy="163440"/>
              <a:chOff x="3453840" y="4487040"/>
              <a:chExt cx="163440" cy="163440"/>
            </a:xfrm>
          </p:grpSpPr>
          <p:sp>
            <p:nvSpPr>
              <p:cNvPr id="411" name="Google Shape;411;p23"/>
              <p:cNvSpPr/>
              <p:nvPr/>
            </p:nvSpPr>
            <p:spPr>
              <a:xfrm>
                <a:off x="3535920" y="448704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2" name="Google Shape;412;p23"/>
              <p:cNvSpPr/>
              <p:nvPr/>
            </p:nvSpPr>
            <p:spPr>
              <a:xfrm>
                <a:off x="3535920" y="448704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3" name="Google Shape;413;p23"/>
              <p:cNvSpPr/>
              <p:nvPr/>
            </p:nvSpPr>
            <p:spPr>
              <a:xfrm>
                <a:off x="3569400" y="456912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4" name="Google Shape;414;p23"/>
              <p:cNvSpPr/>
              <p:nvPr/>
            </p:nvSpPr>
            <p:spPr>
              <a:xfrm>
                <a:off x="3569400" y="456912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5" name="Google Shape;415;p23"/>
              <p:cNvSpPr/>
              <p:nvPr/>
            </p:nvSpPr>
            <p:spPr>
              <a:xfrm>
                <a:off x="3559680" y="452160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6" name="Google Shape;416;p23"/>
              <p:cNvSpPr/>
              <p:nvPr/>
            </p:nvSpPr>
            <p:spPr>
              <a:xfrm>
                <a:off x="3559680" y="452160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7" name="Google Shape;417;p23"/>
              <p:cNvSpPr/>
              <p:nvPr/>
            </p:nvSpPr>
            <p:spPr>
              <a:xfrm>
                <a:off x="3535920" y="460260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8" name="Google Shape;418;p23"/>
              <p:cNvSpPr/>
              <p:nvPr/>
            </p:nvSpPr>
            <p:spPr>
              <a:xfrm>
                <a:off x="3535920" y="460260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19" name="Google Shape;419;p23"/>
              <p:cNvSpPr/>
              <p:nvPr/>
            </p:nvSpPr>
            <p:spPr>
              <a:xfrm>
                <a:off x="3559680" y="459288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0" name="Google Shape;420;p23"/>
              <p:cNvSpPr/>
              <p:nvPr/>
            </p:nvSpPr>
            <p:spPr>
              <a:xfrm>
                <a:off x="3559680" y="459288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1" name="Google Shape;421;p23"/>
              <p:cNvSpPr/>
              <p:nvPr/>
            </p:nvSpPr>
            <p:spPr>
              <a:xfrm>
                <a:off x="3453840" y="456912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2" name="Google Shape;422;p23"/>
              <p:cNvSpPr/>
              <p:nvPr/>
            </p:nvSpPr>
            <p:spPr>
              <a:xfrm>
                <a:off x="3453840" y="456912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3" name="Google Shape;423;p23"/>
              <p:cNvSpPr/>
              <p:nvPr/>
            </p:nvSpPr>
            <p:spPr>
              <a:xfrm>
                <a:off x="3488400" y="459288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4" name="Google Shape;424;p23"/>
              <p:cNvSpPr/>
              <p:nvPr/>
            </p:nvSpPr>
            <p:spPr>
              <a:xfrm>
                <a:off x="3488400" y="459288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5" name="Google Shape;425;p23"/>
              <p:cNvSpPr/>
              <p:nvPr/>
            </p:nvSpPr>
            <p:spPr>
              <a:xfrm>
                <a:off x="3488400" y="452160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6" name="Google Shape;426;p23"/>
              <p:cNvSpPr/>
              <p:nvPr/>
            </p:nvSpPr>
            <p:spPr>
              <a:xfrm>
                <a:off x="3488400" y="452160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27" name="Google Shape;427;p23"/>
            <p:cNvSpPr/>
            <p:nvPr/>
          </p:nvSpPr>
          <p:spPr>
            <a:xfrm rot="10800000">
              <a:off x="8280720" y="4917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28" name="Google Shape;428;p23"/>
            <p:cNvSpPr/>
            <p:nvPr/>
          </p:nvSpPr>
          <p:spPr>
            <a:xfrm rot="10800000">
              <a:off x="99000" y="19170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29" name="Google Shape;429;p23"/>
            <p:cNvSpPr/>
            <p:nvPr/>
          </p:nvSpPr>
          <p:spPr>
            <a:xfrm rot="10800000">
              <a:off x="8463600" y="481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0" name="Google Shape;430;p23"/>
            <p:cNvSpPr/>
            <p:nvPr/>
          </p:nvSpPr>
          <p:spPr>
            <a:xfrm rot="10800000">
              <a:off x="5351040" y="478872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31" name="Google Shape;431;p23"/>
            <p:cNvSpPr/>
            <p:nvPr/>
          </p:nvSpPr>
          <p:spPr>
            <a:xfrm rot="10800000">
              <a:off x="8977680" y="31489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2" name="Google Shape;432;p23"/>
            <p:cNvSpPr/>
            <p:nvPr/>
          </p:nvSpPr>
          <p:spPr>
            <a:xfrm rot="10800000">
              <a:off x="4231800" y="117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3" name="Google Shape;433;p23"/>
            <p:cNvSpPr/>
            <p:nvPr/>
          </p:nvSpPr>
          <p:spPr>
            <a:xfrm rot="10800000">
              <a:off x="2491200" y="5028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4" name="Google Shape;434;p23"/>
            <p:cNvSpPr/>
            <p:nvPr/>
          </p:nvSpPr>
          <p:spPr>
            <a:xfrm rot="10800000">
              <a:off x="358920" y="3481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35" name="Google Shape;435;p23"/>
            <p:cNvSpPr/>
            <p:nvPr/>
          </p:nvSpPr>
          <p:spPr>
            <a:xfrm rot="10800000">
              <a:off x="507960" y="470556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436" name="Google Shape;436;p23"/>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5">
  <p:cSld name="CUSTOM_5">
    <p:bg>
      <p:bgPr>
        <a:solidFill>
          <a:schemeClr val="lt1"/>
        </a:solidFill>
      </p:bgPr>
    </p:bg>
    <p:spTree>
      <p:nvGrpSpPr>
        <p:cNvPr id="437" name="Shape 437"/>
        <p:cNvGrpSpPr/>
        <p:nvPr/>
      </p:nvGrpSpPr>
      <p:grpSpPr>
        <a:xfrm>
          <a:off x="0" y="0"/>
          <a:ext cx="0" cy="0"/>
          <a:chOff x="0" y="0"/>
          <a:chExt cx="0" cy="0"/>
        </a:xfrm>
      </p:grpSpPr>
      <p:sp>
        <p:nvSpPr>
          <p:cNvPr id="438" name="Google Shape;438;p24"/>
          <p:cNvSpPr txBox="1"/>
          <p:nvPr>
            <p:ph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439" name="Google Shape;439;p24"/>
          <p:cNvGrpSpPr/>
          <p:nvPr/>
        </p:nvGrpSpPr>
        <p:grpSpPr>
          <a:xfrm>
            <a:off x="0" y="272880"/>
            <a:ext cx="9140760" cy="4669920"/>
            <a:chOff x="0" y="272880"/>
            <a:chExt cx="9140760" cy="4669920"/>
          </a:xfrm>
        </p:grpSpPr>
        <p:sp>
          <p:nvSpPr>
            <p:cNvPr id="440" name="Google Shape;440;p24"/>
            <p:cNvSpPr/>
            <p:nvPr/>
          </p:nvSpPr>
          <p:spPr>
            <a:xfrm>
              <a:off x="500040" y="47325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1" name="Google Shape;441;p24"/>
            <p:cNvSpPr/>
            <p:nvPr/>
          </p:nvSpPr>
          <p:spPr>
            <a:xfrm>
              <a:off x="8836920" y="32346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42" name="Google Shape;442;p24"/>
            <p:cNvSpPr/>
            <p:nvPr/>
          </p:nvSpPr>
          <p:spPr>
            <a:xfrm>
              <a:off x="472320" y="3358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3" name="Google Shape;443;p24"/>
            <p:cNvSpPr/>
            <p:nvPr/>
          </p:nvSpPr>
          <p:spPr>
            <a:xfrm>
              <a:off x="8977320" y="1602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444" name="Google Shape;444;p24"/>
            <p:cNvGrpSpPr/>
            <p:nvPr/>
          </p:nvGrpSpPr>
          <p:grpSpPr>
            <a:xfrm>
              <a:off x="4139280" y="272880"/>
              <a:ext cx="163440" cy="163440"/>
              <a:chOff x="4139280" y="272880"/>
              <a:chExt cx="163440" cy="163440"/>
            </a:xfrm>
          </p:grpSpPr>
          <p:sp>
            <p:nvSpPr>
              <p:cNvPr id="445" name="Google Shape;445;p24"/>
              <p:cNvSpPr/>
              <p:nvPr/>
            </p:nvSpPr>
            <p:spPr>
              <a:xfrm>
                <a:off x="4221000" y="2728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6" name="Google Shape;446;p24"/>
              <p:cNvSpPr/>
              <p:nvPr/>
            </p:nvSpPr>
            <p:spPr>
              <a:xfrm>
                <a:off x="4221000" y="2728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7" name="Google Shape;447;p24"/>
              <p:cNvSpPr/>
              <p:nvPr/>
            </p:nvSpPr>
            <p:spPr>
              <a:xfrm>
                <a:off x="4254840" y="35460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8" name="Google Shape;448;p24"/>
              <p:cNvSpPr/>
              <p:nvPr/>
            </p:nvSpPr>
            <p:spPr>
              <a:xfrm>
                <a:off x="4254840" y="35460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49" name="Google Shape;449;p24"/>
              <p:cNvSpPr/>
              <p:nvPr/>
            </p:nvSpPr>
            <p:spPr>
              <a:xfrm>
                <a:off x="4244760" y="3074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0" name="Google Shape;450;p24"/>
              <p:cNvSpPr/>
              <p:nvPr/>
            </p:nvSpPr>
            <p:spPr>
              <a:xfrm>
                <a:off x="4244760" y="3074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1" name="Google Shape;451;p24"/>
              <p:cNvSpPr/>
              <p:nvPr/>
            </p:nvSpPr>
            <p:spPr>
              <a:xfrm>
                <a:off x="4221000" y="3884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2" name="Google Shape;452;p24"/>
              <p:cNvSpPr/>
              <p:nvPr/>
            </p:nvSpPr>
            <p:spPr>
              <a:xfrm>
                <a:off x="4221000" y="3884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3" name="Google Shape;453;p24"/>
              <p:cNvSpPr/>
              <p:nvPr/>
            </p:nvSpPr>
            <p:spPr>
              <a:xfrm>
                <a:off x="4244760" y="3783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4" name="Google Shape;454;p24"/>
              <p:cNvSpPr/>
              <p:nvPr/>
            </p:nvSpPr>
            <p:spPr>
              <a:xfrm>
                <a:off x="4244760" y="3783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5" name="Google Shape;455;p24"/>
              <p:cNvSpPr/>
              <p:nvPr/>
            </p:nvSpPr>
            <p:spPr>
              <a:xfrm>
                <a:off x="4139280" y="35460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6" name="Google Shape;456;p24"/>
              <p:cNvSpPr/>
              <p:nvPr/>
            </p:nvSpPr>
            <p:spPr>
              <a:xfrm>
                <a:off x="4139280" y="35460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7" name="Google Shape;457;p24"/>
              <p:cNvSpPr/>
              <p:nvPr/>
            </p:nvSpPr>
            <p:spPr>
              <a:xfrm>
                <a:off x="4173840" y="3783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8" name="Google Shape;458;p24"/>
              <p:cNvSpPr/>
              <p:nvPr/>
            </p:nvSpPr>
            <p:spPr>
              <a:xfrm>
                <a:off x="4173840" y="3783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59" name="Google Shape;459;p24"/>
              <p:cNvSpPr/>
              <p:nvPr/>
            </p:nvSpPr>
            <p:spPr>
              <a:xfrm>
                <a:off x="4173840" y="3074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0" name="Google Shape;460;p24"/>
              <p:cNvSpPr/>
              <p:nvPr/>
            </p:nvSpPr>
            <p:spPr>
              <a:xfrm>
                <a:off x="4173840" y="3074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61" name="Google Shape;461;p24"/>
            <p:cNvSpPr/>
            <p:nvPr/>
          </p:nvSpPr>
          <p:spPr>
            <a:xfrm>
              <a:off x="8008200" y="30888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2" name="Google Shape;462;p24"/>
            <p:cNvSpPr/>
            <p:nvPr/>
          </p:nvSpPr>
          <p:spPr>
            <a:xfrm>
              <a:off x="0" y="19483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3" name="Google Shape;463;p24"/>
            <p:cNvSpPr/>
            <p:nvPr/>
          </p:nvSpPr>
          <p:spPr>
            <a:xfrm>
              <a:off x="4614480" y="47793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4" name="Google Shape;464;p24"/>
            <p:cNvSpPr/>
            <p:nvPr/>
          </p:nvSpPr>
          <p:spPr>
            <a:xfrm>
              <a:off x="433080" y="36586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5" name="Google Shape;465;p24"/>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66" name="Google Shape;466;p24"/>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467" name="Google Shape;467;p24"/>
            <p:cNvGrpSpPr/>
            <p:nvPr/>
          </p:nvGrpSpPr>
          <p:grpSpPr>
            <a:xfrm>
              <a:off x="2730960" y="4779360"/>
              <a:ext cx="163440" cy="163440"/>
              <a:chOff x="2730960" y="4779360"/>
              <a:chExt cx="163440" cy="163440"/>
            </a:xfrm>
          </p:grpSpPr>
          <p:sp>
            <p:nvSpPr>
              <p:cNvPr id="468" name="Google Shape;468;p24"/>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69" name="Google Shape;469;p24"/>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0" name="Google Shape;470;p24"/>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1" name="Google Shape;471;p24"/>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2" name="Google Shape;472;p24"/>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3" name="Google Shape;473;p24"/>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4" name="Google Shape;474;p24"/>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5" name="Google Shape;475;p24"/>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6" name="Google Shape;476;p24"/>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7" name="Google Shape;477;p24"/>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8" name="Google Shape;478;p24"/>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79" name="Google Shape;479;p24"/>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0" name="Google Shape;480;p24"/>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1" name="Google Shape;481;p24"/>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2" name="Google Shape;482;p24"/>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3" name="Google Shape;483;p24"/>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484" name="Google Shape;484;p24"/>
            <p:cNvSpPr/>
            <p:nvPr/>
          </p:nvSpPr>
          <p:spPr>
            <a:xfrm>
              <a:off x="8977320" y="519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7">
  <p:cSld name="CUSTOM_7">
    <p:bg>
      <p:bgPr>
        <a:solidFill>
          <a:schemeClr val="lt1"/>
        </a:solidFill>
      </p:bgPr>
    </p:bg>
    <p:spTree>
      <p:nvGrpSpPr>
        <p:cNvPr id="485" name="Shape 485"/>
        <p:cNvGrpSpPr/>
        <p:nvPr/>
      </p:nvGrpSpPr>
      <p:grpSpPr>
        <a:xfrm>
          <a:off x="0" y="0"/>
          <a:ext cx="0" cy="0"/>
          <a:chOff x="0" y="0"/>
          <a:chExt cx="0" cy="0"/>
        </a:xfrm>
      </p:grpSpPr>
      <p:grpSp>
        <p:nvGrpSpPr>
          <p:cNvPr id="486" name="Google Shape;486;p25"/>
          <p:cNvGrpSpPr/>
          <p:nvPr/>
        </p:nvGrpSpPr>
        <p:grpSpPr>
          <a:xfrm>
            <a:off x="245160" y="198720"/>
            <a:ext cx="8595360" cy="4797360"/>
            <a:chOff x="245160" y="198720"/>
            <a:chExt cx="8595360" cy="4797360"/>
          </a:xfrm>
        </p:grpSpPr>
        <p:sp>
          <p:nvSpPr>
            <p:cNvPr id="487" name="Google Shape;487;p25"/>
            <p:cNvSpPr/>
            <p:nvPr/>
          </p:nvSpPr>
          <p:spPr>
            <a:xfrm>
              <a:off x="4804920" y="22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88" name="Google Shape;488;p25"/>
            <p:cNvSpPr/>
            <p:nvPr/>
          </p:nvSpPr>
          <p:spPr>
            <a:xfrm>
              <a:off x="8106480" y="198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89" name="Google Shape;489;p25"/>
            <p:cNvSpPr/>
            <p:nvPr/>
          </p:nvSpPr>
          <p:spPr>
            <a:xfrm>
              <a:off x="6929280" y="26100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0" name="Google Shape;490;p25"/>
            <p:cNvSpPr/>
            <p:nvPr/>
          </p:nvSpPr>
          <p:spPr>
            <a:xfrm>
              <a:off x="3000240" y="3358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491" name="Google Shape;491;p25"/>
            <p:cNvGrpSpPr/>
            <p:nvPr/>
          </p:nvGrpSpPr>
          <p:grpSpPr>
            <a:xfrm>
              <a:off x="245160" y="2045160"/>
              <a:ext cx="8595360" cy="2950920"/>
              <a:chOff x="245160" y="2045160"/>
              <a:chExt cx="8595360" cy="2950920"/>
            </a:xfrm>
          </p:grpSpPr>
          <p:sp>
            <p:nvSpPr>
              <p:cNvPr id="492" name="Google Shape;492;p25"/>
              <p:cNvSpPr/>
              <p:nvPr/>
            </p:nvSpPr>
            <p:spPr>
              <a:xfrm>
                <a:off x="266040" y="460404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493" name="Google Shape;493;p25"/>
              <p:cNvSpPr/>
              <p:nvPr/>
            </p:nvSpPr>
            <p:spPr>
              <a:xfrm>
                <a:off x="245160" y="22006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4" name="Google Shape;494;p25"/>
              <p:cNvSpPr/>
              <p:nvPr/>
            </p:nvSpPr>
            <p:spPr>
              <a:xfrm>
                <a:off x="8635320" y="34120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5" name="Google Shape;495;p25"/>
              <p:cNvSpPr/>
              <p:nvPr/>
            </p:nvSpPr>
            <p:spPr>
              <a:xfrm>
                <a:off x="8764200" y="2045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6" name="Google Shape;496;p25"/>
              <p:cNvSpPr/>
              <p:nvPr/>
            </p:nvSpPr>
            <p:spPr>
              <a:xfrm>
                <a:off x="1171080" y="48643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7" name="Google Shape;497;p25"/>
              <p:cNvSpPr/>
              <p:nvPr/>
            </p:nvSpPr>
            <p:spPr>
              <a:xfrm>
                <a:off x="8596080" y="4767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498" name="Google Shape;498;p25"/>
              <p:cNvSpPr/>
              <p:nvPr/>
            </p:nvSpPr>
            <p:spPr>
              <a:xfrm>
                <a:off x="4720680" y="483264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499" name="Google Shape;499;p25"/>
            <p:cNvSpPr/>
            <p:nvPr/>
          </p:nvSpPr>
          <p:spPr>
            <a:xfrm rot="5076600">
              <a:off x="1655280" y="2782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500" name="Google Shape;500;p25"/>
            <p:cNvGrpSpPr/>
            <p:nvPr/>
          </p:nvGrpSpPr>
          <p:grpSpPr>
            <a:xfrm>
              <a:off x="308880" y="457560"/>
              <a:ext cx="163440" cy="163440"/>
              <a:chOff x="308880" y="457560"/>
              <a:chExt cx="163440" cy="163440"/>
            </a:xfrm>
          </p:grpSpPr>
          <p:sp>
            <p:nvSpPr>
              <p:cNvPr id="501" name="Google Shape;501;p25"/>
              <p:cNvSpPr/>
              <p:nvPr/>
            </p:nvSpPr>
            <p:spPr>
              <a:xfrm>
                <a:off x="390960" y="4575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2" name="Google Shape;502;p25"/>
              <p:cNvSpPr/>
              <p:nvPr/>
            </p:nvSpPr>
            <p:spPr>
              <a:xfrm>
                <a:off x="390960" y="4575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3" name="Google Shape;503;p25"/>
              <p:cNvSpPr/>
              <p:nvPr/>
            </p:nvSpPr>
            <p:spPr>
              <a:xfrm>
                <a:off x="424440" y="5396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4" name="Google Shape;504;p25"/>
              <p:cNvSpPr/>
              <p:nvPr/>
            </p:nvSpPr>
            <p:spPr>
              <a:xfrm>
                <a:off x="424440" y="5396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5" name="Google Shape;505;p25"/>
              <p:cNvSpPr/>
              <p:nvPr/>
            </p:nvSpPr>
            <p:spPr>
              <a:xfrm>
                <a:off x="414720" y="4921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6" name="Google Shape;506;p25"/>
              <p:cNvSpPr/>
              <p:nvPr/>
            </p:nvSpPr>
            <p:spPr>
              <a:xfrm>
                <a:off x="414720" y="4921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7" name="Google Shape;507;p25"/>
              <p:cNvSpPr/>
              <p:nvPr/>
            </p:nvSpPr>
            <p:spPr>
              <a:xfrm>
                <a:off x="390960" y="5731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8" name="Google Shape;508;p25"/>
              <p:cNvSpPr/>
              <p:nvPr/>
            </p:nvSpPr>
            <p:spPr>
              <a:xfrm>
                <a:off x="390960" y="5731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09" name="Google Shape;509;p25"/>
              <p:cNvSpPr/>
              <p:nvPr/>
            </p:nvSpPr>
            <p:spPr>
              <a:xfrm>
                <a:off x="414720" y="5634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0" name="Google Shape;510;p25"/>
              <p:cNvSpPr/>
              <p:nvPr/>
            </p:nvSpPr>
            <p:spPr>
              <a:xfrm>
                <a:off x="414720" y="5634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1" name="Google Shape;511;p25"/>
              <p:cNvSpPr/>
              <p:nvPr/>
            </p:nvSpPr>
            <p:spPr>
              <a:xfrm>
                <a:off x="308880" y="5396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2" name="Google Shape;512;p25"/>
              <p:cNvSpPr/>
              <p:nvPr/>
            </p:nvSpPr>
            <p:spPr>
              <a:xfrm>
                <a:off x="308880" y="5396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3" name="Google Shape;513;p25"/>
              <p:cNvSpPr/>
              <p:nvPr/>
            </p:nvSpPr>
            <p:spPr>
              <a:xfrm>
                <a:off x="343800" y="5634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4" name="Google Shape;514;p25"/>
              <p:cNvSpPr/>
              <p:nvPr/>
            </p:nvSpPr>
            <p:spPr>
              <a:xfrm>
                <a:off x="343800" y="5634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5" name="Google Shape;515;p25"/>
              <p:cNvSpPr/>
              <p:nvPr/>
            </p:nvSpPr>
            <p:spPr>
              <a:xfrm>
                <a:off x="343800" y="4921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16" name="Google Shape;516;p25"/>
              <p:cNvSpPr/>
              <p:nvPr/>
            </p:nvSpPr>
            <p:spPr>
              <a:xfrm>
                <a:off x="343800" y="4921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sp>
        <p:nvSpPr>
          <p:cNvPr id="517" name="Google Shape;517;p25"/>
          <p:cNvSpPr txBox="1"/>
          <p:nvPr>
            <p:ph type="title"/>
          </p:nvPr>
        </p:nvSpPr>
        <p:spPr>
          <a:xfrm>
            <a:off x="726840" y="53964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8_1">
  <p:cSld name="CUSTOM_8_1">
    <p:bg>
      <p:bgPr>
        <a:solidFill>
          <a:schemeClr val="lt1"/>
        </a:solidFill>
      </p:bgPr>
    </p:bg>
    <p:spTree>
      <p:nvGrpSpPr>
        <p:cNvPr id="518" name="Shape 518"/>
        <p:cNvGrpSpPr/>
        <p:nvPr/>
      </p:nvGrpSpPr>
      <p:grpSpPr>
        <a:xfrm>
          <a:off x="0" y="0"/>
          <a:ext cx="0" cy="0"/>
          <a:chOff x="0" y="0"/>
          <a:chExt cx="0" cy="0"/>
        </a:xfrm>
      </p:grpSpPr>
      <p:sp>
        <p:nvSpPr>
          <p:cNvPr id="519" name="Google Shape;519;p26"/>
          <p:cNvSpPr txBox="1"/>
          <p:nvPr>
            <p:ph type="title"/>
          </p:nvPr>
        </p:nvSpPr>
        <p:spPr>
          <a:xfrm>
            <a:off x="890280" y="3764880"/>
            <a:ext cx="2257560" cy="40644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0" name="Google Shape;520;p26"/>
          <p:cNvSpPr txBox="1"/>
          <p:nvPr>
            <p:ph idx="2" type="title"/>
          </p:nvPr>
        </p:nvSpPr>
        <p:spPr>
          <a:xfrm>
            <a:off x="3443040" y="3764880"/>
            <a:ext cx="2257560" cy="40644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1" name="Google Shape;521;p26"/>
          <p:cNvSpPr txBox="1"/>
          <p:nvPr>
            <p:ph idx="3" type="title"/>
          </p:nvPr>
        </p:nvSpPr>
        <p:spPr>
          <a:xfrm>
            <a:off x="5995800" y="3764880"/>
            <a:ext cx="2257560" cy="406440"/>
          </a:xfrm>
          <a:prstGeom prst="rect">
            <a:avLst/>
          </a:prstGeom>
          <a:noFill/>
          <a:ln>
            <a:noFill/>
          </a:ln>
        </p:spPr>
        <p:txBody>
          <a:bodyPr anchorCtr="0" anchor="ctr"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522" name="Google Shape;522;p26"/>
          <p:cNvSpPr txBox="1"/>
          <p:nvPr>
            <p:ph idx="4" type="title"/>
          </p:nvPr>
        </p:nvSpPr>
        <p:spPr>
          <a:xfrm>
            <a:off x="720000" y="53964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523" name="Google Shape;523;p26"/>
          <p:cNvGrpSpPr/>
          <p:nvPr/>
        </p:nvGrpSpPr>
        <p:grpSpPr>
          <a:xfrm>
            <a:off x="99000" y="117720"/>
            <a:ext cx="9042120" cy="4949640"/>
            <a:chOff x="99000" y="117720"/>
            <a:chExt cx="9042120" cy="4949640"/>
          </a:xfrm>
        </p:grpSpPr>
        <p:grpSp>
          <p:nvGrpSpPr>
            <p:cNvPr id="524" name="Google Shape;524;p26"/>
            <p:cNvGrpSpPr/>
            <p:nvPr/>
          </p:nvGrpSpPr>
          <p:grpSpPr>
            <a:xfrm>
              <a:off x="5621400" y="4487040"/>
              <a:ext cx="163440" cy="163440"/>
              <a:chOff x="5621400" y="4487040"/>
              <a:chExt cx="163440" cy="163440"/>
            </a:xfrm>
          </p:grpSpPr>
          <p:sp>
            <p:nvSpPr>
              <p:cNvPr id="525" name="Google Shape;525;p26"/>
              <p:cNvSpPr/>
              <p:nvPr/>
            </p:nvSpPr>
            <p:spPr>
              <a:xfrm flipH="1">
                <a:off x="5703120" y="448704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6" name="Google Shape;526;p26"/>
              <p:cNvSpPr/>
              <p:nvPr/>
            </p:nvSpPr>
            <p:spPr>
              <a:xfrm flipH="1">
                <a:off x="5703120" y="448704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7" name="Google Shape;527;p26"/>
              <p:cNvSpPr/>
              <p:nvPr/>
            </p:nvSpPr>
            <p:spPr>
              <a:xfrm flipH="1">
                <a:off x="5621400" y="456912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8" name="Google Shape;528;p26"/>
              <p:cNvSpPr/>
              <p:nvPr/>
            </p:nvSpPr>
            <p:spPr>
              <a:xfrm flipH="1">
                <a:off x="5621400" y="456912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29" name="Google Shape;529;p26"/>
              <p:cNvSpPr/>
              <p:nvPr/>
            </p:nvSpPr>
            <p:spPr>
              <a:xfrm flipH="1">
                <a:off x="5656680" y="452160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0" name="Google Shape;530;p26"/>
              <p:cNvSpPr/>
              <p:nvPr/>
            </p:nvSpPr>
            <p:spPr>
              <a:xfrm flipH="1">
                <a:off x="5656680" y="452160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1" name="Google Shape;531;p26"/>
              <p:cNvSpPr/>
              <p:nvPr/>
            </p:nvSpPr>
            <p:spPr>
              <a:xfrm flipH="1">
                <a:off x="5703120" y="460260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2" name="Google Shape;532;p26"/>
              <p:cNvSpPr/>
              <p:nvPr/>
            </p:nvSpPr>
            <p:spPr>
              <a:xfrm flipH="1">
                <a:off x="5703120" y="460260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3" name="Google Shape;533;p26"/>
              <p:cNvSpPr/>
              <p:nvPr/>
            </p:nvSpPr>
            <p:spPr>
              <a:xfrm flipH="1">
                <a:off x="5656680" y="459288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4" name="Google Shape;534;p26"/>
              <p:cNvSpPr/>
              <p:nvPr/>
            </p:nvSpPr>
            <p:spPr>
              <a:xfrm flipH="1">
                <a:off x="5656680" y="459288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5" name="Google Shape;535;p26"/>
              <p:cNvSpPr/>
              <p:nvPr/>
            </p:nvSpPr>
            <p:spPr>
              <a:xfrm flipH="1">
                <a:off x="5736960" y="456912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6" name="Google Shape;536;p26"/>
              <p:cNvSpPr/>
              <p:nvPr/>
            </p:nvSpPr>
            <p:spPr>
              <a:xfrm flipH="1">
                <a:off x="5736960" y="456912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7" name="Google Shape;537;p26"/>
              <p:cNvSpPr/>
              <p:nvPr/>
            </p:nvSpPr>
            <p:spPr>
              <a:xfrm flipH="1">
                <a:off x="5727600" y="459288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8" name="Google Shape;538;p26"/>
              <p:cNvSpPr/>
              <p:nvPr/>
            </p:nvSpPr>
            <p:spPr>
              <a:xfrm flipH="1">
                <a:off x="5727600" y="459288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39" name="Google Shape;539;p26"/>
              <p:cNvSpPr/>
              <p:nvPr/>
            </p:nvSpPr>
            <p:spPr>
              <a:xfrm flipH="1">
                <a:off x="5727600" y="452160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40" name="Google Shape;540;p26"/>
              <p:cNvSpPr/>
              <p:nvPr/>
            </p:nvSpPr>
            <p:spPr>
              <a:xfrm flipH="1">
                <a:off x="5727600" y="452160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41" name="Google Shape;541;p26"/>
            <p:cNvSpPr/>
            <p:nvPr/>
          </p:nvSpPr>
          <p:spPr>
            <a:xfrm flipH="1" rot="10800000">
              <a:off x="357480" y="38700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42" name="Google Shape;542;p26"/>
            <p:cNvSpPr/>
            <p:nvPr/>
          </p:nvSpPr>
          <p:spPr>
            <a:xfrm flipH="1" rot="10800000">
              <a:off x="8935920" y="19170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3" name="Google Shape;543;p26"/>
            <p:cNvSpPr/>
            <p:nvPr/>
          </p:nvSpPr>
          <p:spPr>
            <a:xfrm flipH="1" rot="10800000">
              <a:off x="571320" y="481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44" name="Google Shape;544;p26"/>
            <p:cNvSpPr/>
            <p:nvPr/>
          </p:nvSpPr>
          <p:spPr>
            <a:xfrm flipH="1" rot="10800000">
              <a:off x="3725640" y="478872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45" name="Google Shape;545;p26"/>
            <p:cNvSpPr/>
            <p:nvPr/>
          </p:nvSpPr>
          <p:spPr>
            <a:xfrm flipH="1" rot="10800000">
              <a:off x="99000" y="31489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6" name="Google Shape;546;p26"/>
            <p:cNvSpPr/>
            <p:nvPr/>
          </p:nvSpPr>
          <p:spPr>
            <a:xfrm flipH="1" rot="10800000">
              <a:off x="4844880" y="117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7" name="Google Shape;547;p26"/>
            <p:cNvSpPr/>
            <p:nvPr/>
          </p:nvSpPr>
          <p:spPr>
            <a:xfrm flipH="1" rot="10800000">
              <a:off x="6708960" y="5028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8" name="Google Shape;548;p26"/>
            <p:cNvSpPr/>
            <p:nvPr/>
          </p:nvSpPr>
          <p:spPr>
            <a:xfrm flipH="1" rot="10800000">
              <a:off x="8840880" y="3481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49" name="Google Shape;549;p26"/>
            <p:cNvSpPr/>
            <p:nvPr/>
          </p:nvSpPr>
          <p:spPr>
            <a:xfrm flipH="1" rot="10800000">
              <a:off x="8526960" y="470556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
  <p:cSld name="CUSTOM_9">
    <p:bg>
      <p:bgPr>
        <a:solidFill>
          <a:schemeClr val="lt1"/>
        </a:solidFill>
      </p:bgPr>
    </p:bg>
    <p:spTree>
      <p:nvGrpSpPr>
        <p:cNvPr id="550" name="Shape 550"/>
        <p:cNvGrpSpPr/>
        <p:nvPr/>
      </p:nvGrpSpPr>
      <p:grpSpPr>
        <a:xfrm>
          <a:off x="0" y="0"/>
          <a:ext cx="0" cy="0"/>
          <a:chOff x="0" y="0"/>
          <a:chExt cx="0" cy="0"/>
        </a:xfrm>
      </p:grpSpPr>
      <p:grpSp>
        <p:nvGrpSpPr>
          <p:cNvPr id="551" name="Google Shape;551;p27"/>
          <p:cNvGrpSpPr/>
          <p:nvPr/>
        </p:nvGrpSpPr>
        <p:grpSpPr>
          <a:xfrm>
            <a:off x="316080" y="192600"/>
            <a:ext cx="8567640" cy="4755600"/>
            <a:chOff x="316080" y="192600"/>
            <a:chExt cx="8567640" cy="4755600"/>
          </a:xfrm>
        </p:grpSpPr>
        <p:sp>
          <p:nvSpPr>
            <p:cNvPr id="552" name="Google Shape;552;p27"/>
            <p:cNvSpPr/>
            <p:nvPr/>
          </p:nvSpPr>
          <p:spPr>
            <a:xfrm>
              <a:off x="355320" y="417600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3" name="Google Shape;553;p27"/>
            <p:cNvSpPr/>
            <p:nvPr/>
          </p:nvSpPr>
          <p:spPr>
            <a:xfrm>
              <a:off x="5371560" y="483876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54" name="Google Shape;554;p27"/>
            <p:cNvSpPr/>
            <p:nvPr/>
          </p:nvSpPr>
          <p:spPr>
            <a:xfrm>
              <a:off x="2988720" y="24660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5" name="Google Shape;555;p27"/>
            <p:cNvSpPr/>
            <p:nvPr/>
          </p:nvSpPr>
          <p:spPr>
            <a:xfrm>
              <a:off x="8489160" y="24660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556" name="Google Shape;556;p27"/>
            <p:cNvGrpSpPr/>
            <p:nvPr/>
          </p:nvGrpSpPr>
          <p:grpSpPr>
            <a:xfrm>
              <a:off x="505800" y="246600"/>
              <a:ext cx="163440" cy="163440"/>
              <a:chOff x="505800" y="246600"/>
              <a:chExt cx="163440" cy="163440"/>
            </a:xfrm>
          </p:grpSpPr>
          <p:sp>
            <p:nvSpPr>
              <p:cNvPr id="557" name="Google Shape;557;p27"/>
              <p:cNvSpPr/>
              <p:nvPr/>
            </p:nvSpPr>
            <p:spPr>
              <a:xfrm>
                <a:off x="587880" y="24660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8" name="Google Shape;558;p27"/>
              <p:cNvSpPr/>
              <p:nvPr/>
            </p:nvSpPr>
            <p:spPr>
              <a:xfrm>
                <a:off x="587880" y="24660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59" name="Google Shape;559;p27"/>
              <p:cNvSpPr/>
              <p:nvPr/>
            </p:nvSpPr>
            <p:spPr>
              <a:xfrm>
                <a:off x="621360" y="32868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0" name="Google Shape;560;p27"/>
              <p:cNvSpPr/>
              <p:nvPr/>
            </p:nvSpPr>
            <p:spPr>
              <a:xfrm>
                <a:off x="621360" y="32868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1" name="Google Shape;561;p27"/>
              <p:cNvSpPr/>
              <p:nvPr/>
            </p:nvSpPr>
            <p:spPr>
              <a:xfrm>
                <a:off x="611640" y="28116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2" name="Google Shape;562;p27"/>
              <p:cNvSpPr/>
              <p:nvPr/>
            </p:nvSpPr>
            <p:spPr>
              <a:xfrm>
                <a:off x="611640" y="28116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3" name="Google Shape;563;p27"/>
              <p:cNvSpPr/>
              <p:nvPr/>
            </p:nvSpPr>
            <p:spPr>
              <a:xfrm>
                <a:off x="587880" y="36216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4" name="Google Shape;564;p27"/>
              <p:cNvSpPr/>
              <p:nvPr/>
            </p:nvSpPr>
            <p:spPr>
              <a:xfrm>
                <a:off x="587880" y="36216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5" name="Google Shape;565;p27"/>
              <p:cNvSpPr/>
              <p:nvPr/>
            </p:nvSpPr>
            <p:spPr>
              <a:xfrm>
                <a:off x="611640" y="35244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6" name="Google Shape;566;p27"/>
              <p:cNvSpPr/>
              <p:nvPr/>
            </p:nvSpPr>
            <p:spPr>
              <a:xfrm>
                <a:off x="611640" y="35244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7" name="Google Shape;567;p27"/>
              <p:cNvSpPr/>
              <p:nvPr/>
            </p:nvSpPr>
            <p:spPr>
              <a:xfrm>
                <a:off x="505800" y="32868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8" name="Google Shape;568;p27"/>
              <p:cNvSpPr/>
              <p:nvPr/>
            </p:nvSpPr>
            <p:spPr>
              <a:xfrm>
                <a:off x="505800" y="32868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69" name="Google Shape;569;p27"/>
              <p:cNvSpPr/>
              <p:nvPr/>
            </p:nvSpPr>
            <p:spPr>
              <a:xfrm>
                <a:off x="540360" y="35244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0" name="Google Shape;570;p27"/>
              <p:cNvSpPr/>
              <p:nvPr/>
            </p:nvSpPr>
            <p:spPr>
              <a:xfrm>
                <a:off x="540360" y="35244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1" name="Google Shape;571;p27"/>
              <p:cNvSpPr/>
              <p:nvPr/>
            </p:nvSpPr>
            <p:spPr>
              <a:xfrm>
                <a:off x="540360" y="28116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2" name="Google Shape;572;p27"/>
              <p:cNvSpPr/>
              <p:nvPr/>
            </p:nvSpPr>
            <p:spPr>
              <a:xfrm>
                <a:off x="540360" y="28116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73" name="Google Shape;573;p27"/>
            <p:cNvSpPr/>
            <p:nvPr/>
          </p:nvSpPr>
          <p:spPr>
            <a:xfrm>
              <a:off x="5643000" y="19260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74" name="Google Shape;574;p27"/>
            <p:cNvSpPr/>
            <p:nvPr/>
          </p:nvSpPr>
          <p:spPr>
            <a:xfrm>
              <a:off x="426240" y="470988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5" name="Google Shape;575;p27"/>
            <p:cNvSpPr/>
            <p:nvPr/>
          </p:nvSpPr>
          <p:spPr>
            <a:xfrm>
              <a:off x="8680680" y="409860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6" name="Google Shape;576;p27"/>
            <p:cNvSpPr/>
            <p:nvPr/>
          </p:nvSpPr>
          <p:spPr>
            <a:xfrm>
              <a:off x="316080" y="2435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7" name="Google Shape;577;p27"/>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578" name="Google Shape;578;p27"/>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579" name="Google Shape;579;p27"/>
            <p:cNvGrpSpPr/>
            <p:nvPr/>
          </p:nvGrpSpPr>
          <p:grpSpPr>
            <a:xfrm>
              <a:off x="2730960" y="4779360"/>
              <a:ext cx="163440" cy="163440"/>
              <a:chOff x="2730960" y="4779360"/>
              <a:chExt cx="163440" cy="163440"/>
            </a:xfrm>
          </p:grpSpPr>
          <p:sp>
            <p:nvSpPr>
              <p:cNvPr id="580" name="Google Shape;580;p27"/>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1" name="Google Shape;581;p27"/>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2" name="Google Shape;582;p27"/>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3" name="Google Shape;583;p27"/>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4" name="Google Shape;584;p27"/>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5" name="Google Shape;585;p27"/>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6" name="Google Shape;586;p27"/>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7" name="Google Shape;587;p27"/>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8" name="Google Shape;588;p27"/>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89" name="Google Shape;589;p27"/>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0" name="Google Shape;590;p27"/>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1" name="Google Shape;591;p27"/>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2" name="Google Shape;592;p27"/>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3" name="Google Shape;593;p27"/>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4" name="Google Shape;594;p27"/>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595" name="Google Shape;595;p27"/>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596" name="Google Shape;596;p27"/>
            <p:cNvSpPr/>
            <p:nvPr/>
          </p:nvSpPr>
          <p:spPr>
            <a:xfrm>
              <a:off x="8844480" y="16027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_9_1">
  <p:cSld name="CUSTOM_9_1">
    <p:bg>
      <p:bgPr>
        <a:solidFill>
          <a:schemeClr val="lt1"/>
        </a:solidFill>
      </p:bgPr>
    </p:bg>
    <p:spTree>
      <p:nvGrpSpPr>
        <p:cNvPr id="597" name="Shape 597"/>
        <p:cNvGrpSpPr/>
        <p:nvPr/>
      </p:nvGrpSpPr>
      <p:grpSpPr>
        <a:xfrm>
          <a:off x="0" y="0"/>
          <a:ext cx="0" cy="0"/>
          <a:chOff x="0" y="0"/>
          <a:chExt cx="0" cy="0"/>
        </a:xfrm>
      </p:grpSpPr>
      <p:grpSp>
        <p:nvGrpSpPr>
          <p:cNvPr id="598" name="Google Shape;598;p28"/>
          <p:cNvGrpSpPr/>
          <p:nvPr/>
        </p:nvGrpSpPr>
        <p:grpSpPr>
          <a:xfrm>
            <a:off x="315360" y="192600"/>
            <a:ext cx="8567640" cy="4755600"/>
            <a:chOff x="315360" y="192600"/>
            <a:chExt cx="8567640" cy="4755600"/>
          </a:xfrm>
        </p:grpSpPr>
        <p:sp>
          <p:nvSpPr>
            <p:cNvPr id="599" name="Google Shape;599;p28"/>
            <p:cNvSpPr/>
            <p:nvPr/>
          </p:nvSpPr>
          <p:spPr>
            <a:xfrm flipH="1">
              <a:off x="8693280" y="417600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0" name="Google Shape;600;p28"/>
            <p:cNvSpPr/>
            <p:nvPr/>
          </p:nvSpPr>
          <p:spPr>
            <a:xfrm flipH="1">
              <a:off x="3622680" y="483876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01" name="Google Shape;601;p28"/>
            <p:cNvSpPr/>
            <p:nvPr/>
          </p:nvSpPr>
          <p:spPr>
            <a:xfrm flipH="1">
              <a:off x="6005880" y="24660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2" name="Google Shape;602;p28"/>
            <p:cNvSpPr/>
            <p:nvPr/>
          </p:nvSpPr>
          <p:spPr>
            <a:xfrm flipH="1">
              <a:off x="547200" y="24660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03" name="Google Shape;603;p28"/>
            <p:cNvGrpSpPr/>
            <p:nvPr/>
          </p:nvGrpSpPr>
          <p:grpSpPr>
            <a:xfrm>
              <a:off x="8529480" y="246600"/>
              <a:ext cx="163440" cy="163440"/>
              <a:chOff x="8529480" y="246600"/>
              <a:chExt cx="163440" cy="163440"/>
            </a:xfrm>
          </p:grpSpPr>
          <p:sp>
            <p:nvSpPr>
              <p:cNvPr id="604" name="Google Shape;604;p28"/>
              <p:cNvSpPr/>
              <p:nvPr/>
            </p:nvSpPr>
            <p:spPr>
              <a:xfrm flipH="1">
                <a:off x="8611560" y="24660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5" name="Google Shape;605;p28"/>
              <p:cNvSpPr/>
              <p:nvPr/>
            </p:nvSpPr>
            <p:spPr>
              <a:xfrm flipH="1">
                <a:off x="8611560" y="24660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6" name="Google Shape;606;p28"/>
              <p:cNvSpPr/>
              <p:nvPr/>
            </p:nvSpPr>
            <p:spPr>
              <a:xfrm flipH="1">
                <a:off x="8529480" y="32868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7" name="Google Shape;607;p28"/>
              <p:cNvSpPr/>
              <p:nvPr/>
            </p:nvSpPr>
            <p:spPr>
              <a:xfrm flipH="1">
                <a:off x="8529480" y="32868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8" name="Google Shape;608;p28"/>
              <p:cNvSpPr/>
              <p:nvPr/>
            </p:nvSpPr>
            <p:spPr>
              <a:xfrm flipH="1">
                <a:off x="8564760" y="28116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09" name="Google Shape;609;p28"/>
              <p:cNvSpPr/>
              <p:nvPr/>
            </p:nvSpPr>
            <p:spPr>
              <a:xfrm flipH="1">
                <a:off x="8564760" y="28116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0" name="Google Shape;610;p28"/>
              <p:cNvSpPr/>
              <p:nvPr/>
            </p:nvSpPr>
            <p:spPr>
              <a:xfrm flipH="1">
                <a:off x="8611560" y="36216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1" name="Google Shape;611;p28"/>
              <p:cNvSpPr/>
              <p:nvPr/>
            </p:nvSpPr>
            <p:spPr>
              <a:xfrm flipH="1">
                <a:off x="8611560" y="36216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2" name="Google Shape;612;p28"/>
              <p:cNvSpPr/>
              <p:nvPr/>
            </p:nvSpPr>
            <p:spPr>
              <a:xfrm flipH="1">
                <a:off x="8564760" y="35244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3" name="Google Shape;613;p28"/>
              <p:cNvSpPr/>
              <p:nvPr/>
            </p:nvSpPr>
            <p:spPr>
              <a:xfrm flipH="1">
                <a:off x="8564760" y="35244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4" name="Google Shape;614;p28"/>
              <p:cNvSpPr/>
              <p:nvPr/>
            </p:nvSpPr>
            <p:spPr>
              <a:xfrm flipH="1">
                <a:off x="8645040" y="32868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5" name="Google Shape;615;p28"/>
              <p:cNvSpPr/>
              <p:nvPr/>
            </p:nvSpPr>
            <p:spPr>
              <a:xfrm flipH="1">
                <a:off x="8645040" y="32868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6" name="Google Shape;616;p28"/>
              <p:cNvSpPr/>
              <p:nvPr/>
            </p:nvSpPr>
            <p:spPr>
              <a:xfrm flipH="1">
                <a:off x="8636040" y="35244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7" name="Google Shape;617;p28"/>
              <p:cNvSpPr/>
              <p:nvPr/>
            </p:nvSpPr>
            <p:spPr>
              <a:xfrm flipH="1">
                <a:off x="8636040" y="35244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8" name="Google Shape;618;p28"/>
              <p:cNvSpPr/>
              <p:nvPr/>
            </p:nvSpPr>
            <p:spPr>
              <a:xfrm flipH="1">
                <a:off x="8636040" y="28116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19" name="Google Shape;619;p28"/>
              <p:cNvSpPr/>
              <p:nvPr/>
            </p:nvSpPr>
            <p:spPr>
              <a:xfrm flipH="1">
                <a:off x="8636040" y="28116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20" name="Google Shape;620;p28"/>
            <p:cNvSpPr/>
            <p:nvPr/>
          </p:nvSpPr>
          <p:spPr>
            <a:xfrm flipH="1">
              <a:off x="3393000" y="19260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1" name="Google Shape;621;p28"/>
            <p:cNvSpPr/>
            <p:nvPr/>
          </p:nvSpPr>
          <p:spPr>
            <a:xfrm flipH="1">
              <a:off x="8609760" y="470988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2" name="Google Shape;622;p28"/>
            <p:cNvSpPr/>
            <p:nvPr/>
          </p:nvSpPr>
          <p:spPr>
            <a:xfrm flipH="1">
              <a:off x="355320" y="409860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3" name="Google Shape;623;p28"/>
            <p:cNvSpPr/>
            <p:nvPr/>
          </p:nvSpPr>
          <p:spPr>
            <a:xfrm flipH="1">
              <a:off x="8843760" y="2435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4" name="Google Shape;624;p28"/>
            <p:cNvSpPr/>
            <p:nvPr/>
          </p:nvSpPr>
          <p:spPr>
            <a:xfrm flipH="1">
              <a:off x="242748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25" name="Google Shape;625;p28"/>
            <p:cNvSpPr/>
            <p:nvPr/>
          </p:nvSpPr>
          <p:spPr>
            <a:xfrm flipH="1">
              <a:off x="41688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626" name="Google Shape;626;p28"/>
            <p:cNvGrpSpPr/>
            <p:nvPr/>
          </p:nvGrpSpPr>
          <p:grpSpPr>
            <a:xfrm>
              <a:off x="6304680" y="4779360"/>
              <a:ext cx="163080" cy="163440"/>
              <a:chOff x="6304680" y="4779360"/>
              <a:chExt cx="163080" cy="163440"/>
            </a:xfrm>
          </p:grpSpPr>
          <p:sp>
            <p:nvSpPr>
              <p:cNvPr id="627" name="Google Shape;627;p28"/>
              <p:cNvSpPr/>
              <p:nvPr/>
            </p:nvSpPr>
            <p:spPr>
              <a:xfrm flipH="1">
                <a:off x="638640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8" name="Google Shape;628;p28"/>
              <p:cNvSpPr/>
              <p:nvPr/>
            </p:nvSpPr>
            <p:spPr>
              <a:xfrm flipH="1">
                <a:off x="638640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29" name="Google Shape;629;p28"/>
              <p:cNvSpPr/>
              <p:nvPr/>
            </p:nvSpPr>
            <p:spPr>
              <a:xfrm flipH="1">
                <a:off x="630468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0" name="Google Shape;630;p28"/>
              <p:cNvSpPr/>
              <p:nvPr/>
            </p:nvSpPr>
            <p:spPr>
              <a:xfrm flipH="1">
                <a:off x="630468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1" name="Google Shape;631;p28"/>
              <p:cNvSpPr/>
              <p:nvPr/>
            </p:nvSpPr>
            <p:spPr>
              <a:xfrm flipH="1">
                <a:off x="633996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2" name="Google Shape;632;p28"/>
              <p:cNvSpPr/>
              <p:nvPr/>
            </p:nvSpPr>
            <p:spPr>
              <a:xfrm flipH="1">
                <a:off x="633996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3" name="Google Shape;633;p28"/>
              <p:cNvSpPr/>
              <p:nvPr/>
            </p:nvSpPr>
            <p:spPr>
              <a:xfrm flipH="1">
                <a:off x="638640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4" name="Google Shape;634;p28"/>
              <p:cNvSpPr/>
              <p:nvPr/>
            </p:nvSpPr>
            <p:spPr>
              <a:xfrm flipH="1">
                <a:off x="638640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5" name="Google Shape;635;p28"/>
              <p:cNvSpPr/>
              <p:nvPr/>
            </p:nvSpPr>
            <p:spPr>
              <a:xfrm flipH="1">
                <a:off x="633996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6" name="Google Shape;636;p28"/>
              <p:cNvSpPr/>
              <p:nvPr/>
            </p:nvSpPr>
            <p:spPr>
              <a:xfrm flipH="1">
                <a:off x="633996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7" name="Google Shape;637;p28"/>
              <p:cNvSpPr/>
              <p:nvPr/>
            </p:nvSpPr>
            <p:spPr>
              <a:xfrm flipH="1">
                <a:off x="641988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8" name="Google Shape;638;p28"/>
              <p:cNvSpPr/>
              <p:nvPr/>
            </p:nvSpPr>
            <p:spPr>
              <a:xfrm flipH="1">
                <a:off x="641988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39" name="Google Shape;639;p28"/>
              <p:cNvSpPr/>
              <p:nvPr/>
            </p:nvSpPr>
            <p:spPr>
              <a:xfrm flipH="1">
                <a:off x="641088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0" name="Google Shape;640;p28"/>
              <p:cNvSpPr/>
              <p:nvPr/>
            </p:nvSpPr>
            <p:spPr>
              <a:xfrm flipH="1">
                <a:off x="641088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1" name="Google Shape;641;p28"/>
              <p:cNvSpPr/>
              <p:nvPr/>
            </p:nvSpPr>
            <p:spPr>
              <a:xfrm flipH="1">
                <a:off x="641088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2" name="Google Shape;642;p28"/>
              <p:cNvSpPr/>
              <p:nvPr/>
            </p:nvSpPr>
            <p:spPr>
              <a:xfrm flipH="1">
                <a:off x="641088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43" name="Google Shape;643;p28"/>
            <p:cNvSpPr/>
            <p:nvPr/>
          </p:nvSpPr>
          <p:spPr>
            <a:xfrm flipH="1">
              <a:off x="315360" y="16027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AND_TWO_COLUMNS" type="twoObj">
  <p:cSld name="TWO_OBJECTS">
    <p:bg>
      <p:bgPr>
        <a:solidFill>
          <a:schemeClr val="lt1"/>
        </a:solidFill>
      </p:bgPr>
    </p:bg>
    <p:spTree>
      <p:nvGrpSpPr>
        <p:cNvPr id="644" name="Shape 644"/>
        <p:cNvGrpSpPr/>
        <p:nvPr/>
      </p:nvGrpSpPr>
      <p:grpSpPr>
        <a:xfrm>
          <a:off x="0" y="0"/>
          <a:ext cx="0" cy="0"/>
          <a:chOff x="0" y="0"/>
          <a:chExt cx="0" cy="0"/>
        </a:xfrm>
      </p:grpSpPr>
      <p:grpSp>
        <p:nvGrpSpPr>
          <p:cNvPr id="645" name="Google Shape;645;p29"/>
          <p:cNvGrpSpPr/>
          <p:nvPr/>
        </p:nvGrpSpPr>
        <p:grpSpPr>
          <a:xfrm>
            <a:off x="99000" y="117720"/>
            <a:ext cx="9042120" cy="4949640"/>
            <a:chOff x="99000" y="117720"/>
            <a:chExt cx="9042120" cy="4949640"/>
          </a:xfrm>
        </p:grpSpPr>
        <p:grpSp>
          <p:nvGrpSpPr>
            <p:cNvPr id="646" name="Google Shape;646;p29"/>
            <p:cNvGrpSpPr/>
            <p:nvPr/>
          </p:nvGrpSpPr>
          <p:grpSpPr>
            <a:xfrm>
              <a:off x="3453840" y="4487040"/>
              <a:ext cx="163440" cy="163440"/>
              <a:chOff x="3453840" y="4487040"/>
              <a:chExt cx="163440" cy="163440"/>
            </a:xfrm>
          </p:grpSpPr>
          <p:sp>
            <p:nvSpPr>
              <p:cNvPr id="647" name="Google Shape;647;p29"/>
              <p:cNvSpPr/>
              <p:nvPr/>
            </p:nvSpPr>
            <p:spPr>
              <a:xfrm>
                <a:off x="3535920" y="448704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8" name="Google Shape;648;p29"/>
              <p:cNvSpPr/>
              <p:nvPr/>
            </p:nvSpPr>
            <p:spPr>
              <a:xfrm>
                <a:off x="3535920" y="448704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49" name="Google Shape;649;p29"/>
              <p:cNvSpPr/>
              <p:nvPr/>
            </p:nvSpPr>
            <p:spPr>
              <a:xfrm>
                <a:off x="3569400" y="456912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0" name="Google Shape;650;p29"/>
              <p:cNvSpPr/>
              <p:nvPr/>
            </p:nvSpPr>
            <p:spPr>
              <a:xfrm>
                <a:off x="3569400" y="456912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1" name="Google Shape;651;p29"/>
              <p:cNvSpPr/>
              <p:nvPr/>
            </p:nvSpPr>
            <p:spPr>
              <a:xfrm>
                <a:off x="3559680" y="452160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2" name="Google Shape;652;p29"/>
              <p:cNvSpPr/>
              <p:nvPr/>
            </p:nvSpPr>
            <p:spPr>
              <a:xfrm>
                <a:off x="3559680" y="452160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3" name="Google Shape;653;p29"/>
              <p:cNvSpPr/>
              <p:nvPr/>
            </p:nvSpPr>
            <p:spPr>
              <a:xfrm>
                <a:off x="3535920" y="460260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4" name="Google Shape;654;p29"/>
              <p:cNvSpPr/>
              <p:nvPr/>
            </p:nvSpPr>
            <p:spPr>
              <a:xfrm>
                <a:off x="3535920" y="460260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5" name="Google Shape;655;p29"/>
              <p:cNvSpPr/>
              <p:nvPr/>
            </p:nvSpPr>
            <p:spPr>
              <a:xfrm>
                <a:off x="3559680" y="459288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6" name="Google Shape;656;p29"/>
              <p:cNvSpPr/>
              <p:nvPr/>
            </p:nvSpPr>
            <p:spPr>
              <a:xfrm>
                <a:off x="3559680" y="459288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7" name="Google Shape;657;p29"/>
              <p:cNvSpPr/>
              <p:nvPr/>
            </p:nvSpPr>
            <p:spPr>
              <a:xfrm>
                <a:off x="3453840" y="456912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8" name="Google Shape;658;p29"/>
              <p:cNvSpPr/>
              <p:nvPr/>
            </p:nvSpPr>
            <p:spPr>
              <a:xfrm>
                <a:off x="3453840" y="456912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59" name="Google Shape;659;p29"/>
              <p:cNvSpPr/>
              <p:nvPr/>
            </p:nvSpPr>
            <p:spPr>
              <a:xfrm>
                <a:off x="3488400" y="459288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0" name="Google Shape;660;p29"/>
              <p:cNvSpPr/>
              <p:nvPr/>
            </p:nvSpPr>
            <p:spPr>
              <a:xfrm>
                <a:off x="3488400" y="459288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1" name="Google Shape;661;p29"/>
              <p:cNvSpPr/>
              <p:nvPr/>
            </p:nvSpPr>
            <p:spPr>
              <a:xfrm>
                <a:off x="3488400" y="452160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2" name="Google Shape;662;p29"/>
              <p:cNvSpPr/>
              <p:nvPr/>
            </p:nvSpPr>
            <p:spPr>
              <a:xfrm>
                <a:off x="3488400" y="452160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63" name="Google Shape;663;p29"/>
            <p:cNvSpPr/>
            <p:nvPr/>
          </p:nvSpPr>
          <p:spPr>
            <a:xfrm rot="10800000">
              <a:off x="8280720" y="4917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4" name="Google Shape;664;p29"/>
            <p:cNvSpPr/>
            <p:nvPr/>
          </p:nvSpPr>
          <p:spPr>
            <a:xfrm rot="10800000">
              <a:off x="99000" y="19170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5" name="Google Shape;665;p29"/>
            <p:cNvSpPr/>
            <p:nvPr/>
          </p:nvSpPr>
          <p:spPr>
            <a:xfrm rot="10800000">
              <a:off x="8463600" y="481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6" name="Google Shape;666;p29"/>
            <p:cNvSpPr/>
            <p:nvPr/>
          </p:nvSpPr>
          <p:spPr>
            <a:xfrm rot="10800000">
              <a:off x="5351040" y="478872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67" name="Google Shape;667;p29"/>
            <p:cNvSpPr/>
            <p:nvPr/>
          </p:nvSpPr>
          <p:spPr>
            <a:xfrm rot="10800000">
              <a:off x="8977680" y="31489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8" name="Google Shape;668;p29"/>
            <p:cNvSpPr/>
            <p:nvPr/>
          </p:nvSpPr>
          <p:spPr>
            <a:xfrm rot="10800000">
              <a:off x="4231800" y="117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69" name="Google Shape;669;p29"/>
            <p:cNvSpPr/>
            <p:nvPr/>
          </p:nvSpPr>
          <p:spPr>
            <a:xfrm rot="10800000">
              <a:off x="2491200" y="5028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70" name="Google Shape;670;p29"/>
            <p:cNvSpPr/>
            <p:nvPr/>
          </p:nvSpPr>
          <p:spPr>
            <a:xfrm rot="10800000">
              <a:off x="358920" y="3481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71" name="Google Shape;671;p29"/>
            <p:cNvSpPr/>
            <p:nvPr/>
          </p:nvSpPr>
          <p:spPr>
            <a:xfrm rot="10800000">
              <a:off x="507960" y="470556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bg>
      <p:bgPr>
        <a:solidFill>
          <a:schemeClr val="lt1"/>
        </a:solidFill>
      </p:bgPr>
    </p:bg>
    <p:spTree>
      <p:nvGrpSpPr>
        <p:cNvPr id="672" name="Shape 672"/>
        <p:cNvGrpSpPr/>
        <p:nvPr/>
      </p:nvGrpSpPr>
      <p:grpSpPr>
        <a:xfrm>
          <a:off x="0" y="0"/>
          <a:ext cx="0" cy="0"/>
          <a:chOff x="0" y="0"/>
          <a:chExt cx="0" cy="0"/>
        </a:xfrm>
      </p:grpSpPr>
      <p:grpSp>
        <p:nvGrpSpPr>
          <p:cNvPr id="673" name="Google Shape;673;p30"/>
          <p:cNvGrpSpPr/>
          <p:nvPr/>
        </p:nvGrpSpPr>
        <p:grpSpPr>
          <a:xfrm>
            <a:off x="360" y="117720"/>
            <a:ext cx="9140760" cy="4949640"/>
            <a:chOff x="360" y="117720"/>
            <a:chExt cx="9140760" cy="4949640"/>
          </a:xfrm>
        </p:grpSpPr>
        <p:sp>
          <p:nvSpPr>
            <p:cNvPr id="674" name="Google Shape;674;p30"/>
            <p:cNvSpPr/>
            <p:nvPr/>
          </p:nvSpPr>
          <p:spPr>
            <a:xfrm rot="10800000">
              <a:off x="8490960" y="3477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5" name="Google Shape;675;p30"/>
            <p:cNvSpPr/>
            <p:nvPr/>
          </p:nvSpPr>
          <p:spPr>
            <a:xfrm rot="10800000">
              <a:off x="99000" y="19170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76" name="Google Shape;676;p30"/>
            <p:cNvSpPr/>
            <p:nvPr/>
          </p:nvSpPr>
          <p:spPr>
            <a:xfrm rot="10800000">
              <a:off x="8463600" y="481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77" name="Google Shape;677;p30"/>
            <p:cNvSpPr/>
            <p:nvPr/>
          </p:nvSpPr>
          <p:spPr>
            <a:xfrm rot="10800000">
              <a:off x="360" y="349488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678" name="Google Shape;678;p30"/>
            <p:cNvGrpSpPr/>
            <p:nvPr/>
          </p:nvGrpSpPr>
          <p:grpSpPr>
            <a:xfrm>
              <a:off x="4838400" y="4824720"/>
              <a:ext cx="163440" cy="163440"/>
              <a:chOff x="4838400" y="4824720"/>
              <a:chExt cx="163440" cy="163440"/>
            </a:xfrm>
          </p:grpSpPr>
          <p:sp>
            <p:nvSpPr>
              <p:cNvPr id="679" name="Google Shape;679;p30"/>
              <p:cNvSpPr/>
              <p:nvPr/>
            </p:nvSpPr>
            <p:spPr>
              <a:xfrm rot="10800000">
                <a:off x="4919760" y="49402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0" name="Google Shape;680;p30"/>
              <p:cNvSpPr/>
              <p:nvPr/>
            </p:nvSpPr>
            <p:spPr>
              <a:xfrm rot="10800000">
                <a:off x="4919760" y="49402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1" name="Google Shape;681;p30"/>
              <p:cNvSpPr/>
              <p:nvPr/>
            </p:nvSpPr>
            <p:spPr>
              <a:xfrm rot="10800000">
                <a:off x="4838400" y="490572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2" name="Google Shape;682;p30"/>
              <p:cNvSpPr/>
              <p:nvPr/>
            </p:nvSpPr>
            <p:spPr>
              <a:xfrm rot="10800000">
                <a:off x="4838400" y="490572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3" name="Google Shape;683;p30"/>
              <p:cNvSpPr/>
              <p:nvPr/>
            </p:nvSpPr>
            <p:spPr>
              <a:xfrm rot="10800000">
                <a:off x="4873320" y="493056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4" name="Google Shape;684;p30"/>
              <p:cNvSpPr/>
              <p:nvPr/>
            </p:nvSpPr>
            <p:spPr>
              <a:xfrm rot="10800000">
                <a:off x="4873320" y="493056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5" name="Google Shape;685;p30"/>
              <p:cNvSpPr/>
              <p:nvPr/>
            </p:nvSpPr>
            <p:spPr>
              <a:xfrm rot="10800000">
                <a:off x="4919760" y="48247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6" name="Google Shape;686;p30"/>
              <p:cNvSpPr/>
              <p:nvPr/>
            </p:nvSpPr>
            <p:spPr>
              <a:xfrm rot="10800000">
                <a:off x="4919760" y="48247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7" name="Google Shape;687;p30"/>
              <p:cNvSpPr/>
              <p:nvPr/>
            </p:nvSpPr>
            <p:spPr>
              <a:xfrm rot="10800000">
                <a:off x="4873320" y="485928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8" name="Google Shape;688;p30"/>
              <p:cNvSpPr/>
              <p:nvPr/>
            </p:nvSpPr>
            <p:spPr>
              <a:xfrm rot="10800000">
                <a:off x="4873320" y="485928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89" name="Google Shape;689;p30"/>
              <p:cNvSpPr/>
              <p:nvPr/>
            </p:nvSpPr>
            <p:spPr>
              <a:xfrm rot="10800000">
                <a:off x="4953960" y="490572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0" name="Google Shape;690;p30"/>
              <p:cNvSpPr/>
              <p:nvPr/>
            </p:nvSpPr>
            <p:spPr>
              <a:xfrm rot="10800000">
                <a:off x="4953960" y="490572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1" name="Google Shape;691;p30"/>
              <p:cNvSpPr/>
              <p:nvPr/>
            </p:nvSpPr>
            <p:spPr>
              <a:xfrm rot="10800000">
                <a:off x="4944240" y="485928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2" name="Google Shape;692;p30"/>
              <p:cNvSpPr/>
              <p:nvPr/>
            </p:nvSpPr>
            <p:spPr>
              <a:xfrm rot="10800000">
                <a:off x="4944240" y="485928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3" name="Google Shape;693;p30"/>
              <p:cNvSpPr/>
              <p:nvPr/>
            </p:nvSpPr>
            <p:spPr>
              <a:xfrm rot="10800000">
                <a:off x="4944240" y="493056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4" name="Google Shape;694;p30"/>
              <p:cNvSpPr/>
              <p:nvPr/>
            </p:nvSpPr>
            <p:spPr>
              <a:xfrm rot="10800000">
                <a:off x="4944240" y="493056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695" name="Google Shape;695;p30"/>
            <p:cNvSpPr/>
            <p:nvPr/>
          </p:nvSpPr>
          <p:spPr>
            <a:xfrm rot="10800000">
              <a:off x="969480" y="478872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696" name="Google Shape;696;p30"/>
            <p:cNvSpPr/>
            <p:nvPr/>
          </p:nvSpPr>
          <p:spPr>
            <a:xfrm rot="10800000">
              <a:off x="8977680" y="31489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97" name="Google Shape;697;p30"/>
            <p:cNvSpPr/>
            <p:nvPr/>
          </p:nvSpPr>
          <p:spPr>
            <a:xfrm rot="10800000">
              <a:off x="4231800" y="117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98" name="Google Shape;698;p30"/>
            <p:cNvSpPr/>
            <p:nvPr/>
          </p:nvSpPr>
          <p:spPr>
            <a:xfrm rot="10800000">
              <a:off x="8668800" y="1563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699" name="Google Shape;699;p30"/>
            <p:cNvSpPr/>
            <p:nvPr/>
          </p:nvSpPr>
          <p:spPr>
            <a:xfrm rot="10800000">
              <a:off x="2491200" y="5028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00" name="Google Shape;700;p30"/>
            <p:cNvSpPr/>
            <p:nvPr/>
          </p:nvSpPr>
          <p:spPr>
            <a:xfrm rot="10800000">
              <a:off x="358920" y="3481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701" name="Google Shape;701;p30"/>
            <p:cNvGrpSpPr/>
            <p:nvPr/>
          </p:nvGrpSpPr>
          <p:grpSpPr>
            <a:xfrm>
              <a:off x="6246720" y="318240"/>
              <a:ext cx="163440" cy="163440"/>
              <a:chOff x="6246720" y="318240"/>
              <a:chExt cx="163440" cy="163440"/>
            </a:xfrm>
          </p:grpSpPr>
          <p:sp>
            <p:nvSpPr>
              <p:cNvPr id="702" name="Google Shape;702;p30"/>
              <p:cNvSpPr/>
              <p:nvPr/>
            </p:nvSpPr>
            <p:spPr>
              <a:xfrm rot="10800000">
                <a:off x="6327720" y="43380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3" name="Google Shape;703;p30"/>
              <p:cNvSpPr/>
              <p:nvPr/>
            </p:nvSpPr>
            <p:spPr>
              <a:xfrm rot="10800000">
                <a:off x="6327720" y="43380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4" name="Google Shape;704;p30"/>
              <p:cNvSpPr/>
              <p:nvPr/>
            </p:nvSpPr>
            <p:spPr>
              <a:xfrm rot="10800000">
                <a:off x="6246720" y="3992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5" name="Google Shape;705;p30"/>
              <p:cNvSpPr/>
              <p:nvPr/>
            </p:nvSpPr>
            <p:spPr>
              <a:xfrm rot="10800000">
                <a:off x="6246720" y="3992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6" name="Google Shape;706;p30"/>
              <p:cNvSpPr/>
              <p:nvPr/>
            </p:nvSpPr>
            <p:spPr>
              <a:xfrm rot="10800000">
                <a:off x="6281280" y="4237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7" name="Google Shape;707;p30"/>
              <p:cNvSpPr/>
              <p:nvPr/>
            </p:nvSpPr>
            <p:spPr>
              <a:xfrm rot="10800000">
                <a:off x="6281280" y="4237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8" name="Google Shape;708;p30"/>
              <p:cNvSpPr/>
              <p:nvPr/>
            </p:nvSpPr>
            <p:spPr>
              <a:xfrm rot="10800000">
                <a:off x="6327720" y="3182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09" name="Google Shape;709;p30"/>
              <p:cNvSpPr/>
              <p:nvPr/>
            </p:nvSpPr>
            <p:spPr>
              <a:xfrm rot="10800000">
                <a:off x="6327720" y="3182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0" name="Google Shape;710;p30"/>
              <p:cNvSpPr/>
              <p:nvPr/>
            </p:nvSpPr>
            <p:spPr>
              <a:xfrm rot="10800000">
                <a:off x="6281280" y="3528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1" name="Google Shape;711;p30"/>
              <p:cNvSpPr/>
              <p:nvPr/>
            </p:nvSpPr>
            <p:spPr>
              <a:xfrm rot="10800000">
                <a:off x="6281280" y="3528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2" name="Google Shape;712;p30"/>
              <p:cNvSpPr/>
              <p:nvPr/>
            </p:nvSpPr>
            <p:spPr>
              <a:xfrm rot="10800000">
                <a:off x="6362280" y="3992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3" name="Google Shape;713;p30"/>
              <p:cNvSpPr/>
              <p:nvPr/>
            </p:nvSpPr>
            <p:spPr>
              <a:xfrm rot="10800000">
                <a:off x="6362280" y="3992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4" name="Google Shape;714;p30"/>
              <p:cNvSpPr/>
              <p:nvPr/>
            </p:nvSpPr>
            <p:spPr>
              <a:xfrm rot="10800000">
                <a:off x="6352560" y="3528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5" name="Google Shape;715;p30"/>
              <p:cNvSpPr/>
              <p:nvPr/>
            </p:nvSpPr>
            <p:spPr>
              <a:xfrm rot="10800000">
                <a:off x="6352560" y="3528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6" name="Google Shape;716;p30"/>
              <p:cNvSpPr/>
              <p:nvPr/>
            </p:nvSpPr>
            <p:spPr>
              <a:xfrm rot="10800000">
                <a:off x="6352560" y="4237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17" name="Google Shape;717;p30"/>
              <p:cNvSpPr/>
              <p:nvPr/>
            </p:nvSpPr>
            <p:spPr>
              <a:xfrm rot="10800000">
                <a:off x="6352560" y="4237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18" name="Google Shape;718;p30"/>
            <p:cNvSpPr/>
            <p:nvPr/>
          </p:nvSpPr>
          <p:spPr>
            <a:xfrm rot="10800000">
              <a:off x="124560" y="47023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
        <p:nvSpPr>
          <p:cNvPr id="719" name="Google Shape;719;p30"/>
          <p:cNvSpPr txBox="1"/>
          <p:nvPr>
            <p:ph type="title"/>
          </p:nvPr>
        </p:nvSpPr>
        <p:spPr>
          <a:xfrm>
            <a:off x="726840" y="539640"/>
            <a:ext cx="770364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_COLUMN_TEXT">
  <p:cSld name="ONE_COLUMN_TEXT">
    <p:bg>
      <p:bgPr>
        <a:solidFill>
          <a:schemeClr val="lt1"/>
        </a:solidFill>
      </p:bgPr>
    </p:bg>
    <p:spTree>
      <p:nvGrpSpPr>
        <p:cNvPr id="720" name="Shape 720"/>
        <p:cNvGrpSpPr/>
        <p:nvPr/>
      </p:nvGrpSpPr>
      <p:grpSpPr>
        <a:xfrm>
          <a:off x="0" y="0"/>
          <a:ext cx="0" cy="0"/>
          <a:chOff x="0" y="0"/>
          <a:chExt cx="0" cy="0"/>
        </a:xfrm>
      </p:grpSpPr>
      <p:sp>
        <p:nvSpPr>
          <p:cNvPr id="721" name="Google Shape;721;p31"/>
          <p:cNvSpPr txBox="1"/>
          <p:nvPr>
            <p:ph type="title"/>
          </p:nvPr>
        </p:nvSpPr>
        <p:spPr>
          <a:xfrm>
            <a:off x="720000" y="1021320"/>
            <a:ext cx="4358520" cy="57240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722" name="Google Shape;722;p31"/>
          <p:cNvGrpSpPr/>
          <p:nvPr/>
        </p:nvGrpSpPr>
        <p:grpSpPr>
          <a:xfrm>
            <a:off x="99000" y="117720"/>
            <a:ext cx="9042120" cy="4949640"/>
            <a:chOff x="99000" y="117720"/>
            <a:chExt cx="9042120" cy="4949640"/>
          </a:xfrm>
        </p:grpSpPr>
        <p:grpSp>
          <p:nvGrpSpPr>
            <p:cNvPr id="723" name="Google Shape;723;p31"/>
            <p:cNvGrpSpPr/>
            <p:nvPr/>
          </p:nvGrpSpPr>
          <p:grpSpPr>
            <a:xfrm>
              <a:off x="3453840" y="4487040"/>
              <a:ext cx="163440" cy="163440"/>
              <a:chOff x="3453840" y="4487040"/>
              <a:chExt cx="163440" cy="163440"/>
            </a:xfrm>
          </p:grpSpPr>
          <p:sp>
            <p:nvSpPr>
              <p:cNvPr id="724" name="Google Shape;724;p31"/>
              <p:cNvSpPr/>
              <p:nvPr/>
            </p:nvSpPr>
            <p:spPr>
              <a:xfrm>
                <a:off x="3535920" y="448704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5" name="Google Shape;725;p31"/>
              <p:cNvSpPr/>
              <p:nvPr/>
            </p:nvSpPr>
            <p:spPr>
              <a:xfrm>
                <a:off x="3535920" y="448704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6" name="Google Shape;726;p31"/>
              <p:cNvSpPr/>
              <p:nvPr/>
            </p:nvSpPr>
            <p:spPr>
              <a:xfrm>
                <a:off x="3569400" y="456912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7" name="Google Shape;727;p31"/>
              <p:cNvSpPr/>
              <p:nvPr/>
            </p:nvSpPr>
            <p:spPr>
              <a:xfrm>
                <a:off x="3569400" y="456912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8" name="Google Shape;728;p31"/>
              <p:cNvSpPr/>
              <p:nvPr/>
            </p:nvSpPr>
            <p:spPr>
              <a:xfrm>
                <a:off x="3559680" y="452160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29" name="Google Shape;729;p31"/>
              <p:cNvSpPr/>
              <p:nvPr/>
            </p:nvSpPr>
            <p:spPr>
              <a:xfrm>
                <a:off x="3559680" y="452160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0" name="Google Shape;730;p31"/>
              <p:cNvSpPr/>
              <p:nvPr/>
            </p:nvSpPr>
            <p:spPr>
              <a:xfrm>
                <a:off x="3535920" y="460260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1" name="Google Shape;731;p31"/>
              <p:cNvSpPr/>
              <p:nvPr/>
            </p:nvSpPr>
            <p:spPr>
              <a:xfrm>
                <a:off x="3535920" y="460260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2" name="Google Shape;732;p31"/>
              <p:cNvSpPr/>
              <p:nvPr/>
            </p:nvSpPr>
            <p:spPr>
              <a:xfrm>
                <a:off x="3559680" y="459288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3" name="Google Shape;733;p31"/>
              <p:cNvSpPr/>
              <p:nvPr/>
            </p:nvSpPr>
            <p:spPr>
              <a:xfrm>
                <a:off x="3559680" y="459288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4" name="Google Shape;734;p31"/>
              <p:cNvSpPr/>
              <p:nvPr/>
            </p:nvSpPr>
            <p:spPr>
              <a:xfrm>
                <a:off x="3453840" y="456912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5" name="Google Shape;735;p31"/>
              <p:cNvSpPr/>
              <p:nvPr/>
            </p:nvSpPr>
            <p:spPr>
              <a:xfrm>
                <a:off x="3453840" y="456912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6" name="Google Shape;736;p31"/>
              <p:cNvSpPr/>
              <p:nvPr/>
            </p:nvSpPr>
            <p:spPr>
              <a:xfrm>
                <a:off x="3488400" y="459288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7" name="Google Shape;737;p31"/>
              <p:cNvSpPr/>
              <p:nvPr/>
            </p:nvSpPr>
            <p:spPr>
              <a:xfrm>
                <a:off x="3488400" y="459288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8" name="Google Shape;738;p31"/>
              <p:cNvSpPr/>
              <p:nvPr/>
            </p:nvSpPr>
            <p:spPr>
              <a:xfrm>
                <a:off x="3488400" y="452160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39" name="Google Shape;739;p31"/>
              <p:cNvSpPr/>
              <p:nvPr/>
            </p:nvSpPr>
            <p:spPr>
              <a:xfrm>
                <a:off x="3488400" y="452160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40" name="Google Shape;740;p31"/>
            <p:cNvSpPr/>
            <p:nvPr/>
          </p:nvSpPr>
          <p:spPr>
            <a:xfrm rot="10800000">
              <a:off x="8731800" y="38700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1" name="Google Shape;741;p31"/>
            <p:cNvSpPr/>
            <p:nvPr/>
          </p:nvSpPr>
          <p:spPr>
            <a:xfrm rot="10800000">
              <a:off x="99000" y="19170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42" name="Google Shape;742;p31"/>
            <p:cNvSpPr/>
            <p:nvPr/>
          </p:nvSpPr>
          <p:spPr>
            <a:xfrm rot="10800000">
              <a:off x="8463600" y="481572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3" name="Google Shape;743;p31"/>
            <p:cNvSpPr/>
            <p:nvPr/>
          </p:nvSpPr>
          <p:spPr>
            <a:xfrm rot="10800000">
              <a:off x="5351040" y="478872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44" name="Google Shape;744;p31"/>
            <p:cNvSpPr/>
            <p:nvPr/>
          </p:nvSpPr>
          <p:spPr>
            <a:xfrm rot="10800000">
              <a:off x="8977680" y="31489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45" name="Google Shape;745;p31"/>
            <p:cNvSpPr/>
            <p:nvPr/>
          </p:nvSpPr>
          <p:spPr>
            <a:xfrm rot="10800000">
              <a:off x="4231800" y="117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46" name="Google Shape;746;p31"/>
            <p:cNvSpPr/>
            <p:nvPr/>
          </p:nvSpPr>
          <p:spPr>
            <a:xfrm rot="10800000">
              <a:off x="2491200" y="50284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47" name="Google Shape;747;p31"/>
            <p:cNvSpPr/>
            <p:nvPr/>
          </p:nvSpPr>
          <p:spPr>
            <a:xfrm rot="10800000">
              <a:off x="358920" y="34812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48" name="Google Shape;748;p31"/>
            <p:cNvSpPr/>
            <p:nvPr/>
          </p:nvSpPr>
          <p:spPr>
            <a:xfrm rot="10800000">
              <a:off x="507960" y="470556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_POINT">
  <p:cSld name="MAIN_POINT">
    <p:bg>
      <p:bgPr>
        <a:solidFill>
          <a:schemeClr val="lt1"/>
        </a:solidFill>
      </p:bgPr>
    </p:bg>
    <p:spTree>
      <p:nvGrpSpPr>
        <p:cNvPr id="749" name="Shape 749"/>
        <p:cNvGrpSpPr/>
        <p:nvPr/>
      </p:nvGrpSpPr>
      <p:grpSpPr>
        <a:xfrm>
          <a:off x="0" y="0"/>
          <a:ext cx="0" cy="0"/>
          <a:chOff x="0" y="0"/>
          <a:chExt cx="0" cy="0"/>
        </a:xfrm>
      </p:grpSpPr>
      <p:sp>
        <p:nvSpPr>
          <p:cNvPr id="750" name="Google Shape;750;p32"/>
          <p:cNvSpPr txBox="1"/>
          <p:nvPr>
            <p:ph type="title"/>
          </p:nvPr>
        </p:nvSpPr>
        <p:spPr>
          <a:xfrm>
            <a:off x="721800" y="539640"/>
            <a:ext cx="5727960" cy="2262240"/>
          </a:xfrm>
          <a:prstGeom prst="rect">
            <a:avLst/>
          </a:prstGeom>
          <a:noFill/>
          <a:ln>
            <a:noFill/>
          </a:ln>
        </p:spPr>
        <p:txBody>
          <a:bodyPr anchorCtr="0" anchor="t" bIns="91425" lIns="91425" spcFirstLastPara="1" rIns="91425" wrap="square" tIns="91425">
            <a:no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grpSp>
        <p:nvGrpSpPr>
          <p:cNvPr id="751" name="Google Shape;751;p32"/>
          <p:cNvGrpSpPr/>
          <p:nvPr/>
        </p:nvGrpSpPr>
        <p:grpSpPr>
          <a:xfrm>
            <a:off x="0" y="272880"/>
            <a:ext cx="9140760" cy="4669920"/>
            <a:chOff x="0" y="272880"/>
            <a:chExt cx="9140760" cy="4669920"/>
          </a:xfrm>
        </p:grpSpPr>
        <p:sp>
          <p:nvSpPr>
            <p:cNvPr id="752" name="Google Shape;752;p32"/>
            <p:cNvSpPr/>
            <p:nvPr/>
          </p:nvSpPr>
          <p:spPr>
            <a:xfrm>
              <a:off x="500040" y="4732560"/>
              <a:ext cx="150120" cy="180360"/>
            </a:xfrm>
            <a:custGeom>
              <a:rect b="b" l="l" r="r" t="t"/>
              <a:pathLst>
                <a:path extrusionOk="0" h="7223" w="6013">
                  <a:moveTo>
                    <a:pt x="780" y="1"/>
                  </a:moveTo>
                  <a:cubicBezTo>
                    <a:pt x="541" y="1"/>
                    <a:pt x="309" y="127"/>
                    <a:pt x="184" y="350"/>
                  </a:cubicBezTo>
                  <a:cubicBezTo>
                    <a:pt x="1" y="680"/>
                    <a:pt x="119" y="1095"/>
                    <a:pt x="448" y="1278"/>
                  </a:cubicBezTo>
                  <a:lnTo>
                    <a:pt x="2394" y="2362"/>
                  </a:lnTo>
                  <a:lnTo>
                    <a:pt x="1263" y="4310"/>
                  </a:lnTo>
                  <a:cubicBezTo>
                    <a:pt x="1171" y="4468"/>
                    <a:pt x="1147" y="4657"/>
                    <a:pt x="1195" y="4834"/>
                  </a:cubicBezTo>
                  <a:cubicBezTo>
                    <a:pt x="1201" y="4850"/>
                    <a:pt x="1206" y="4866"/>
                    <a:pt x="1211" y="4883"/>
                  </a:cubicBezTo>
                  <a:lnTo>
                    <a:pt x="1211" y="4882"/>
                  </a:lnTo>
                  <a:cubicBezTo>
                    <a:pt x="1266" y="5037"/>
                    <a:pt x="1376" y="5167"/>
                    <a:pt x="1521" y="5248"/>
                  </a:cubicBezTo>
                  <a:lnTo>
                    <a:pt x="4900" y="7137"/>
                  </a:lnTo>
                  <a:cubicBezTo>
                    <a:pt x="5005" y="7195"/>
                    <a:pt x="5119" y="7223"/>
                    <a:pt x="5231" y="7223"/>
                  </a:cubicBezTo>
                  <a:cubicBezTo>
                    <a:pt x="5471" y="7223"/>
                    <a:pt x="5703" y="7097"/>
                    <a:pt x="5829" y="6874"/>
                  </a:cubicBezTo>
                  <a:cubicBezTo>
                    <a:pt x="6012" y="6544"/>
                    <a:pt x="5894" y="6129"/>
                    <a:pt x="5566" y="5946"/>
                  </a:cubicBezTo>
                  <a:lnTo>
                    <a:pt x="2791" y="4395"/>
                  </a:lnTo>
                  <a:lnTo>
                    <a:pt x="3921" y="2446"/>
                  </a:lnTo>
                  <a:cubicBezTo>
                    <a:pt x="4012" y="2288"/>
                    <a:pt x="4037" y="2100"/>
                    <a:pt x="3988" y="1924"/>
                  </a:cubicBezTo>
                  <a:cubicBezTo>
                    <a:pt x="3940" y="1747"/>
                    <a:pt x="3822" y="1598"/>
                    <a:pt x="3663" y="1509"/>
                  </a:cubicBezTo>
                  <a:lnTo>
                    <a:pt x="1111" y="87"/>
                  </a:lnTo>
                  <a:cubicBezTo>
                    <a:pt x="1007" y="29"/>
                    <a:pt x="893" y="1"/>
                    <a:pt x="780" y="1"/>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90350" lIns="91425" spcFirstLastPara="1" rIns="91425" wrap="square" tIns="90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3" name="Google Shape;753;p32"/>
            <p:cNvSpPr/>
            <p:nvPr/>
          </p:nvSpPr>
          <p:spPr>
            <a:xfrm>
              <a:off x="8836920" y="3234600"/>
              <a:ext cx="205200" cy="109440"/>
            </a:xfrm>
            <a:custGeom>
              <a:rect b="b" l="l" r="r" t="t"/>
              <a:pathLst>
                <a:path extrusionOk="0" h="4398" w="8222">
                  <a:moveTo>
                    <a:pt x="7464" y="0"/>
                  </a:moveTo>
                  <a:cubicBezTo>
                    <a:pt x="7278" y="0"/>
                    <a:pt x="7092" y="76"/>
                    <a:pt x="6958" y="226"/>
                  </a:cubicBezTo>
                  <a:lnTo>
                    <a:pt x="4828" y="2584"/>
                  </a:lnTo>
                  <a:lnTo>
                    <a:pt x="3180" y="1047"/>
                  </a:lnTo>
                  <a:cubicBezTo>
                    <a:pt x="3053" y="929"/>
                    <a:pt x="2887" y="864"/>
                    <a:pt x="2716" y="864"/>
                  </a:cubicBezTo>
                  <a:cubicBezTo>
                    <a:pt x="2706" y="864"/>
                    <a:pt x="2696" y="864"/>
                    <a:pt x="2686" y="865"/>
                  </a:cubicBezTo>
                  <a:cubicBezTo>
                    <a:pt x="2502" y="873"/>
                    <a:pt x="2331" y="954"/>
                    <a:pt x="2209" y="1089"/>
                  </a:cubicBezTo>
                  <a:lnTo>
                    <a:pt x="253" y="3259"/>
                  </a:lnTo>
                  <a:cubicBezTo>
                    <a:pt x="0" y="3538"/>
                    <a:pt x="23" y="3970"/>
                    <a:pt x="303" y="4223"/>
                  </a:cubicBezTo>
                  <a:cubicBezTo>
                    <a:pt x="433" y="4340"/>
                    <a:pt x="597" y="4398"/>
                    <a:pt x="759" y="4398"/>
                  </a:cubicBezTo>
                  <a:cubicBezTo>
                    <a:pt x="946" y="4398"/>
                    <a:pt x="1131" y="4322"/>
                    <a:pt x="1265" y="4172"/>
                  </a:cubicBezTo>
                  <a:lnTo>
                    <a:pt x="2756" y="2518"/>
                  </a:lnTo>
                  <a:lnTo>
                    <a:pt x="4404" y="4054"/>
                  </a:lnTo>
                  <a:cubicBezTo>
                    <a:pt x="4530" y="4172"/>
                    <a:pt x="4695" y="4237"/>
                    <a:pt x="4868" y="4237"/>
                  </a:cubicBezTo>
                  <a:cubicBezTo>
                    <a:pt x="4878" y="4237"/>
                    <a:pt x="4888" y="4236"/>
                    <a:pt x="4898" y="4236"/>
                  </a:cubicBezTo>
                  <a:cubicBezTo>
                    <a:pt x="4916" y="4236"/>
                    <a:pt x="4933" y="4235"/>
                    <a:pt x="4949" y="4232"/>
                  </a:cubicBezTo>
                  <a:cubicBezTo>
                    <a:pt x="5112" y="4213"/>
                    <a:pt x="5264" y="4135"/>
                    <a:pt x="5375" y="4013"/>
                  </a:cubicBezTo>
                  <a:lnTo>
                    <a:pt x="7969" y="1140"/>
                  </a:lnTo>
                  <a:cubicBezTo>
                    <a:pt x="8222" y="860"/>
                    <a:pt x="8200" y="429"/>
                    <a:pt x="7921" y="177"/>
                  </a:cubicBezTo>
                  <a:cubicBezTo>
                    <a:pt x="7790" y="59"/>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54" name="Google Shape;754;p32"/>
            <p:cNvSpPr/>
            <p:nvPr/>
          </p:nvSpPr>
          <p:spPr>
            <a:xfrm>
              <a:off x="472320" y="335880"/>
              <a:ext cx="205200" cy="109440"/>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5" name="Google Shape;755;p32"/>
            <p:cNvSpPr/>
            <p:nvPr/>
          </p:nvSpPr>
          <p:spPr>
            <a:xfrm>
              <a:off x="8977320" y="160272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accent1"/>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nvGrpSpPr>
            <p:cNvPr id="756" name="Google Shape;756;p32"/>
            <p:cNvGrpSpPr/>
            <p:nvPr/>
          </p:nvGrpSpPr>
          <p:grpSpPr>
            <a:xfrm>
              <a:off x="4139280" y="272880"/>
              <a:ext cx="163440" cy="163440"/>
              <a:chOff x="4139280" y="272880"/>
              <a:chExt cx="163440" cy="163440"/>
            </a:xfrm>
          </p:grpSpPr>
          <p:sp>
            <p:nvSpPr>
              <p:cNvPr id="757" name="Google Shape;757;p32"/>
              <p:cNvSpPr/>
              <p:nvPr/>
            </p:nvSpPr>
            <p:spPr>
              <a:xfrm>
                <a:off x="4221000" y="27288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8" name="Google Shape;758;p32"/>
              <p:cNvSpPr/>
              <p:nvPr/>
            </p:nvSpPr>
            <p:spPr>
              <a:xfrm>
                <a:off x="4221000" y="27288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59" name="Google Shape;759;p32"/>
              <p:cNvSpPr/>
              <p:nvPr/>
            </p:nvSpPr>
            <p:spPr>
              <a:xfrm>
                <a:off x="4254840" y="35460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0" name="Google Shape;760;p32"/>
              <p:cNvSpPr/>
              <p:nvPr/>
            </p:nvSpPr>
            <p:spPr>
              <a:xfrm>
                <a:off x="4254840" y="35460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1" name="Google Shape;761;p32"/>
              <p:cNvSpPr/>
              <p:nvPr/>
            </p:nvSpPr>
            <p:spPr>
              <a:xfrm>
                <a:off x="4244760" y="30744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2" name="Google Shape;762;p32"/>
              <p:cNvSpPr/>
              <p:nvPr/>
            </p:nvSpPr>
            <p:spPr>
              <a:xfrm>
                <a:off x="4244760" y="30744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3" name="Google Shape;763;p32"/>
              <p:cNvSpPr/>
              <p:nvPr/>
            </p:nvSpPr>
            <p:spPr>
              <a:xfrm>
                <a:off x="4221000" y="38844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4" name="Google Shape;764;p32"/>
              <p:cNvSpPr/>
              <p:nvPr/>
            </p:nvSpPr>
            <p:spPr>
              <a:xfrm>
                <a:off x="4221000" y="38844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5" name="Google Shape;765;p32"/>
              <p:cNvSpPr/>
              <p:nvPr/>
            </p:nvSpPr>
            <p:spPr>
              <a:xfrm>
                <a:off x="4244760" y="37836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6" name="Google Shape;766;p32"/>
              <p:cNvSpPr/>
              <p:nvPr/>
            </p:nvSpPr>
            <p:spPr>
              <a:xfrm>
                <a:off x="4244760" y="37836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7" name="Google Shape;767;p32"/>
              <p:cNvSpPr/>
              <p:nvPr/>
            </p:nvSpPr>
            <p:spPr>
              <a:xfrm>
                <a:off x="4139280" y="35460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8" name="Google Shape;768;p32"/>
              <p:cNvSpPr/>
              <p:nvPr/>
            </p:nvSpPr>
            <p:spPr>
              <a:xfrm>
                <a:off x="4139280" y="35460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69" name="Google Shape;769;p32"/>
              <p:cNvSpPr/>
              <p:nvPr/>
            </p:nvSpPr>
            <p:spPr>
              <a:xfrm>
                <a:off x="4173840" y="37836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0" name="Google Shape;770;p32"/>
              <p:cNvSpPr/>
              <p:nvPr/>
            </p:nvSpPr>
            <p:spPr>
              <a:xfrm>
                <a:off x="4173840" y="37836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1" name="Google Shape;771;p32"/>
              <p:cNvSpPr/>
              <p:nvPr/>
            </p:nvSpPr>
            <p:spPr>
              <a:xfrm>
                <a:off x="4173840" y="30744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2" name="Google Shape;772;p32"/>
              <p:cNvSpPr/>
              <p:nvPr/>
            </p:nvSpPr>
            <p:spPr>
              <a:xfrm>
                <a:off x="4173840" y="30744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73" name="Google Shape;773;p32"/>
            <p:cNvSpPr/>
            <p:nvPr/>
          </p:nvSpPr>
          <p:spPr>
            <a:xfrm>
              <a:off x="8008200" y="308880"/>
              <a:ext cx="163440" cy="163440"/>
            </a:xfrm>
            <a:custGeom>
              <a:rect b="b" l="l" r="r" t="t"/>
              <a:pathLst>
                <a:path extrusionOk="0" h="6554" w="6555">
                  <a:moveTo>
                    <a:pt x="3278" y="1931"/>
                  </a:moveTo>
                  <a:cubicBezTo>
                    <a:pt x="4020" y="1931"/>
                    <a:pt x="4624" y="2534"/>
                    <a:pt x="4624" y="3277"/>
                  </a:cubicBezTo>
                  <a:cubicBezTo>
                    <a:pt x="4624" y="4020"/>
                    <a:pt x="4020" y="4623"/>
                    <a:pt x="3278" y="4623"/>
                  </a:cubicBezTo>
                  <a:cubicBezTo>
                    <a:pt x="2535" y="4623"/>
                    <a:pt x="1932" y="4020"/>
                    <a:pt x="1932" y="3277"/>
                  </a:cubicBezTo>
                  <a:cubicBezTo>
                    <a:pt x="1932" y="2534"/>
                    <a:pt x="2535"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rgbClr val="FFFFFF"/>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74" name="Google Shape;774;p32"/>
            <p:cNvSpPr/>
            <p:nvPr/>
          </p:nvSpPr>
          <p:spPr>
            <a:xfrm>
              <a:off x="0" y="1948320"/>
              <a:ext cx="163440" cy="163440"/>
            </a:xfrm>
            <a:custGeom>
              <a:rect b="b" l="l" r="r" t="t"/>
              <a:pathLst>
                <a:path extrusionOk="0" h="6555" w="6554">
                  <a:moveTo>
                    <a:pt x="3277" y="1932"/>
                  </a:moveTo>
                  <a:cubicBezTo>
                    <a:pt x="4020" y="1932"/>
                    <a:pt x="4622" y="2534"/>
                    <a:pt x="4622" y="3278"/>
                  </a:cubicBezTo>
                  <a:cubicBezTo>
                    <a:pt x="4622" y="4020"/>
                    <a:pt x="4020" y="4622"/>
                    <a:pt x="3277" y="4622"/>
                  </a:cubicBezTo>
                  <a:cubicBezTo>
                    <a:pt x="2534" y="4622"/>
                    <a:pt x="1931" y="4020"/>
                    <a:pt x="1931" y="3278"/>
                  </a:cubicBezTo>
                  <a:cubicBezTo>
                    <a:pt x="1931" y="2534"/>
                    <a:pt x="2534" y="1932"/>
                    <a:pt x="3277" y="1932"/>
                  </a:cubicBezTo>
                  <a:close/>
                  <a:moveTo>
                    <a:pt x="3277" y="1"/>
                  </a:moveTo>
                  <a:cubicBezTo>
                    <a:pt x="1467" y="1"/>
                    <a:pt x="0" y="1468"/>
                    <a:pt x="0" y="3278"/>
                  </a:cubicBezTo>
                  <a:cubicBezTo>
                    <a:pt x="0" y="5088"/>
                    <a:pt x="1467" y="6554"/>
                    <a:pt x="3277" y="6554"/>
                  </a:cubicBezTo>
                  <a:cubicBezTo>
                    <a:pt x="5087" y="6554"/>
                    <a:pt x="6554" y="5088"/>
                    <a:pt x="6554" y="3278"/>
                  </a:cubicBezTo>
                  <a:cubicBezTo>
                    <a:pt x="6554" y="1468"/>
                    <a:pt x="5087" y="1"/>
                    <a:pt x="3277" y="1"/>
                  </a:cubicBezTo>
                  <a:close/>
                </a:path>
              </a:pathLst>
            </a:custGeom>
            <a:solidFill>
              <a:schemeClr val="lt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5" name="Google Shape;775;p32"/>
            <p:cNvSpPr/>
            <p:nvPr/>
          </p:nvSpPr>
          <p:spPr>
            <a:xfrm>
              <a:off x="4614480" y="4779360"/>
              <a:ext cx="163440" cy="163440"/>
            </a:xfrm>
            <a:custGeom>
              <a:rect b="b" l="l" r="r" t="t"/>
              <a:pathLst>
                <a:path extrusionOk="0" h="6554" w="6555">
                  <a:moveTo>
                    <a:pt x="3278" y="1931"/>
                  </a:moveTo>
                  <a:cubicBezTo>
                    <a:pt x="4020" y="1931"/>
                    <a:pt x="4622" y="2534"/>
                    <a:pt x="4622" y="3277"/>
                  </a:cubicBezTo>
                  <a:cubicBezTo>
                    <a:pt x="4622" y="4020"/>
                    <a:pt x="4020" y="4623"/>
                    <a:pt x="3278" y="4623"/>
                  </a:cubicBezTo>
                  <a:cubicBezTo>
                    <a:pt x="2533" y="4623"/>
                    <a:pt x="1931" y="4020"/>
                    <a:pt x="1931" y="3277"/>
                  </a:cubicBezTo>
                  <a:cubicBezTo>
                    <a:pt x="1931" y="2534"/>
                    <a:pt x="2533" y="1931"/>
                    <a:pt x="3278" y="1931"/>
                  </a:cubicBezTo>
                  <a:close/>
                  <a:moveTo>
                    <a:pt x="3278" y="0"/>
                  </a:moveTo>
                  <a:cubicBezTo>
                    <a:pt x="1468" y="0"/>
                    <a:pt x="1" y="1467"/>
                    <a:pt x="1" y="3277"/>
                  </a:cubicBezTo>
                  <a:cubicBezTo>
                    <a:pt x="1" y="5087"/>
                    <a:pt x="1468" y="6554"/>
                    <a:pt x="3278" y="6554"/>
                  </a:cubicBezTo>
                  <a:cubicBezTo>
                    <a:pt x="5087" y="6554"/>
                    <a:pt x="6554" y="5087"/>
                    <a:pt x="6554" y="3277"/>
                  </a:cubicBezTo>
                  <a:cubicBezTo>
                    <a:pt x="6554" y="1467"/>
                    <a:pt x="5087" y="0"/>
                    <a:pt x="3278"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81700" lIns="91425" spcFirstLastPara="1" rIns="91425" wrap="square" tIns="81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6" name="Google Shape;776;p32"/>
            <p:cNvSpPr/>
            <p:nvPr/>
          </p:nvSpPr>
          <p:spPr>
            <a:xfrm>
              <a:off x="433080" y="365868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7" name="Google Shape;777;p32"/>
            <p:cNvSpPr/>
            <p:nvPr/>
          </p:nvSpPr>
          <p:spPr>
            <a:xfrm>
              <a:off x="6732360" y="37116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778" name="Google Shape;778;p32"/>
            <p:cNvSpPr/>
            <p:nvPr/>
          </p:nvSpPr>
          <p:spPr>
            <a:xfrm>
              <a:off x="8742960" y="48740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779" name="Google Shape;779;p32"/>
            <p:cNvGrpSpPr/>
            <p:nvPr/>
          </p:nvGrpSpPr>
          <p:grpSpPr>
            <a:xfrm>
              <a:off x="2730960" y="4779360"/>
              <a:ext cx="163440" cy="163440"/>
              <a:chOff x="2730960" y="4779360"/>
              <a:chExt cx="163440" cy="163440"/>
            </a:xfrm>
          </p:grpSpPr>
          <p:sp>
            <p:nvSpPr>
              <p:cNvPr id="780" name="Google Shape;780;p32"/>
              <p:cNvSpPr/>
              <p:nvPr/>
            </p:nvSpPr>
            <p:spPr>
              <a:xfrm>
                <a:off x="2812680" y="4779360"/>
                <a:ext cx="360" cy="47880"/>
              </a:xfrm>
              <a:custGeom>
                <a:rect b="b" l="l" r="r" t="t"/>
                <a:pathLst>
                  <a:path extrusionOk="0" h="1932" w="1">
                    <a:moveTo>
                      <a:pt x="0" y="1931"/>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1" name="Google Shape;781;p32"/>
              <p:cNvSpPr/>
              <p:nvPr/>
            </p:nvSpPr>
            <p:spPr>
              <a:xfrm>
                <a:off x="2812680" y="4779360"/>
                <a:ext cx="360" cy="47880"/>
              </a:xfrm>
              <a:custGeom>
                <a:rect b="b" l="l" r="r" t="t"/>
                <a:pathLst>
                  <a:path extrusionOk="0" fill="none" h="1932" w="1">
                    <a:moveTo>
                      <a:pt x="0" y="1931"/>
                    </a:moveTo>
                    <a:lnTo>
                      <a:pt x="0" y="0"/>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2" name="Google Shape;782;p32"/>
              <p:cNvSpPr/>
              <p:nvPr/>
            </p:nvSpPr>
            <p:spPr>
              <a:xfrm>
                <a:off x="2846520" y="4861440"/>
                <a:ext cx="47880" cy="360"/>
              </a:xfrm>
              <a:custGeom>
                <a:rect b="b" l="l" r="r" t="t"/>
                <a:pathLst>
                  <a:path extrusionOk="0" h="1" w="1933">
                    <a:moveTo>
                      <a:pt x="1" y="0"/>
                    </a:moveTo>
                    <a:lnTo>
                      <a:pt x="1933"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3" name="Google Shape;783;p32"/>
              <p:cNvSpPr/>
              <p:nvPr/>
            </p:nvSpPr>
            <p:spPr>
              <a:xfrm>
                <a:off x="2846520" y="4861440"/>
                <a:ext cx="47880" cy="360"/>
              </a:xfrm>
              <a:custGeom>
                <a:rect b="b" l="l" r="r" t="t"/>
                <a:pathLst>
                  <a:path extrusionOk="0" fill="none" h="1" w="1933">
                    <a:moveTo>
                      <a:pt x="1" y="0"/>
                    </a:moveTo>
                    <a:lnTo>
                      <a:pt x="1933"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4" name="Google Shape;784;p32"/>
              <p:cNvSpPr/>
              <p:nvPr/>
            </p:nvSpPr>
            <p:spPr>
              <a:xfrm>
                <a:off x="2836440" y="4813920"/>
                <a:ext cx="23040" cy="23040"/>
              </a:xfrm>
              <a:custGeom>
                <a:rect b="b" l="l" r="r" t="t"/>
                <a:pathLst>
                  <a:path extrusionOk="0" h="943" w="942">
                    <a:moveTo>
                      <a:pt x="1" y="943"/>
                    </a:moveTo>
                    <a:lnTo>
                      <a:pt x="94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5" name="Google Shape;785;p32"/>
              <p:cNvSpPr/>
              <p:nvPr/>
            </p:nvSpPr>
            <p:spPr>
              <a:xfrm>
                <a:off x="2836440" y="4813920"/>
                <a:ext cx="23040" cy="23040"/>
              </a:xfrm>
              <a:custGeom>
                <a:rect b="b" l="l" r="r" t="t"/>
                <a:pathLst>
                  <a:path extrusionOk="0" fill="none" h="943" w="942">
                    <a:moveTo>
                      <a:pt x="1" y="943"/>
                    </a:moveTo>
                    <a:lnTo>
                      <a:pt x="94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6" name="Google Shape;786;p32"/>
              <p:cNvSpPr/>
              <p:nvPr/>
            </p:nvSpPr>
            <p:spPr>
              <a:xfrm>
                <a:off x="2812680" y="4894920"/>
                <a:ext cx="360" cy="47880"/>
              </a:xfrm>
              <a:custGeom>
                <a:rect b="b" l="l" r="r" t="t"/>
                <a:pathLst>
                  <a:path extrusionOk="0" h="1933" w="1">
                    <a:moveTo>
                      <a:pt x="0" y="1"/>
                    </a:moveTo>
                    <a:lnTo>
                      <a:pt x="0" y="1933"/>
                    </a:lnTo>
                  </a:path>
                </a:pathLst>
              </a:custGeom>
              <a:solidFill>
                <a:srgbClr val="E0E9F7"/>
              </a:solidFill>
              <a:ln cap="flat" cmpd="sng" w="9525">
                <a:solidFill>
                  <a:srgbClr val="000000"/>
                </a:solidFill>
                <a:prstDash val="solid"/>
                <a:round/>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7" name="Google Shape;787;p32"/>
              <p:cNvSpPr/>
              <p:nvPr/>
            </p:nvSpPr>
            <p:spPr>
              <a:xfrm>
                <a:off x="2812680" y="4894920"/>
                <a:ext cx="360" cy="47880"/>
              </a:xfrm>
              <a:custGeom>
                <a:rect b="b" l="l" r="r" t="t"/>
                <a:pathLst>
                  <a:path extrusionOk="0" fill="none" h="1933" w="1">
                    <a:moveTo>
                      <a:pt x="0" y="1"/>
                    </a:moveTo>
                    <a:lnTo>
                      <a:pt x="0" y="1933"/>
                    </a:lnTo>
                  </a:path>
                </a:pathLst>
              </a:custGeom>
              <a:noFill/>
              <a:ln cap="flat" cmpd="sng" w="9525">
                <a:solidFill>
                  <a:srgbClr val="000000"/>
                </a:solidFill>
                <a:prstDash val="solid"/>
                <a:miter lim="8000"/>
                <a:headEnd len="sm" w="sm" type="none"/>
                <a:tailEnd len="sm" w="sm" type="none"/>
              </a:ln>
            </p:spPr>
            <p:txBody>
              <a:bodyPr anchorCtr="0" anchor="ctr" bIns="24100" lIns="91425" spcFirstLastPara="1" rIns="91425" wrap="square" tIns="241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8" name="Google Shape;788;p32"/>
              <p:cNvSpPr/>
              <p:nvPr/>
            </p:nvSpPr>
            <p:spPr>
              <a:xfrm>
                <a:off x="2836440" y="4885200"/>
                <a:ext cx="23040" cy="23040"/>
              </a:xfrm>
              <a:custGeom>
                <a:rect b="b" l="l" r="r" t="t"/>
                <a:pathLst>
                  <a:path extrusionOk="0" h="942" w="942">
                    <a:moveTo>
                      <a:pt x="1" y="1"/>
                    </a:moveTo>
                    <a:lnTo>
                      <a:pt x="94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89" name="Google Shape;789;p32"/>
              <p:cNvSpPr/>
              <p:nvPr/>
            </p:nvSpPr>
            <p:spPr>
              <a:xfrm>
                <a:off x="2836440" y="4885200"/>
                <a:ext cx="23040" cy="23040"/>
              </a:xfrm>
              <a:custGeom>
                <a:rect b="b" l="l" r="r" t="t"/>
                <a:pathLst>
                  <a:path extrusionOk="0" fill="none" h="942" w="942">
                    <a:moveTo>
                      <a:pt x="1" y="1"/>
                    </a:moveTo>
                    <a:lnTo>
                      <a:pt x="94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0" name="Google Shape;790;p32"/>
              <p:cNvSpPr/>
              <p:nvPr/>
            </p:nvSpPr>
            <p:spPr>
              <a:xfrm>
                <a:off x="2730960" y="4861440"/>
                <a:ext cx="47880" cy="360"/>
              </a:xfrm>
              <a:custGeom>
                <a:rect b="b" l="l" r="r" t="t"/>
                <a:pathLst>
                  <a:path extrusionOk="0" h="1" w="1932">
                    <a:moveTo>
                      <a:pt x="1931" y="0"/>
                    </a:moveTo>
                    <a:lnTo>
                      <a:pt x="0" y="0"/>
                    </a:lnTo>
                  </a:path>
                </a:pathLst>
              </a:custGeom>
              <a:solidFill>
                <a:srgbClr val="E0E9F7"/>
              </a:solidFill>
              <a:ln cap="flat" cmpd="sng" w="9525">
                <a:solidFill>
                  <a:srgbClr val="000000"/>
                </a:solidFill>
                <a:prstDash val="solid"/>
                <a:round/>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1" name="Google Shape;791;p32"/>
              <p:cNvSpPr/>
              <p:nvPr/>
            </p:nvSpPr>
            <p:spPr>
              <a:xfrm>
                <a:off x="2730960" y="4861440"/>
                <a:ext cx="47880" cy="360"/>
              </a:xfrm>
              <a:custGeom>
                <a:rect b="b" l="l" r="r" t="t"/>
                <a:pathLst>
                  <a:path extrusionOk="0" fill="none" h="1" w="1932">
                    <a:moveTo>
                      <a:pt x="1931" y="0"/>
                    </a:moveTo>
                    <a:lnTo>
                      <a:pt x="0" y="0"/>
                    </a:lnTo>
                  </a:path>
                </a:pathLst>
              </a:custGeom>
              <a:noFill/>
              <a:ln cap="flat" cmpd="sng" w="9525">
                <a:solidFill>
                  <a:srgbClr val="000000"/>
                </a:solidFill>
                <a:prstDash val="solid"/>
                <a:miter lim="8000"/>
                <a:headEnd len="sm" w="sm" type="none"/>
                <a:tailEnd len="sm" w="sm" type="none"/>
              </a:ln>
            </p:spPr>
            <p:txBody>
              <a:bodyPr anchorCtr="0" anchor="ctr" bIns="350" lIns="91425" spcFirstLastPara="1" rIns="91425" wrap="square" tIns="3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2" name="Google Shape;792;p32"/>
              <p:cNvSpPr/>
              <p:nvPr/>
            </p:nvSpPr>
            <p:spPr>
              <a:xfrm>
                <a:off x="2765520" y="4885200"/>
                <a:ext cx="23040" cy="23040"/>
              </a:xfrm>
              <a:custGeom>
                <a:rect b="b" l="l" r="r" t="t"/>
                <a:pathLst>
                  <a:path extrusionOk="0" h="942" w="943">
                    <a:moveTo>
                      <a:pt x="943" y="1"/>
                    </a:moveTo>
                    <a:lnTo>
                      <a:pt x="1" y="94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3" name="Google Shape;793;p32"/>
              <p:cNvSpPr/>
              <p:nvPr/>
            </p:nvSpPr>
            <p:spPr>
              <a:xfrm>
                <a:off x="2765520" y="4885200"/>
                <a:ext cx="23040" cy="23040"/>
              </a:xfrm>
              <a:custGeom>
                <a:rect b="b" l="l" r="r" t="t"/>
                <a:pathLst>
                  <a:path extrusionOk="0" fill="none" h="942" w="943">
                    <a:moveTo>
                      <a:pt x="943" y="1"/>
                    </a:moveTo>
                    <a:lnTo>
                      <a:pt x="1" y="94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4" name="Google Shape;794;p32"/>
              <p:cNvSpPr/>
              <p:nvPr/>
            </p:nvSpPr>
            <p:spPr>
              <a:xfrm>
                <a:off x="2765520" y="4813920"/>
                <a:ext cx="23040" cy="23040"/>
              </a:xfrm>
              <a:custGeom>
                <a:rect b="b" l="l" r="r" t="t"/>
                <a:pathLst>
                  <a:path extrusionOk="0" h="943" w="943">
                    <a:moveTo>
                      <a:pt x="943" y="943"/>
                    </a:moveTo>
                    <a:lnTo>
                      <a:pt x="1" y="1"/>
                    </a:lnTo>
                  </a:path>
                </a:pathLst>
              </a:custGeom>
              <a:solidFill>
                <a:srgbClr val="E0E9F7"/>
              </a:solidFill>
              <a:ln cap="flat" cmpd="sng" w="9525">
                <a:solidFill>
                  <a:srgbClr val="000000"/>
                </a:solidFill>
                <a:prstDash val="solid"/>
                <a:round/>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795" name="Google Shape;795;p32"/>
              <p:cNvSpPr/>
              <p:nvPr/>
            </p:nvSpPr>
            <p:spPr>
              <a:xfrm>
                <a:off x="2765520" y="4813920"/>
                <a:ext cx="23040" cy="23040"/>
              </a:xfrm>
              <a:custGeom>
                <a:rect b="b" l="l" r="r" t="t"/>
                <a:pathLst>
                  <a:path extrusionOk="0" fill="none" h="943" w="943">
                    <a:moveTo>
                      <a:pt x="943" y="943"/>
                    </a:moveTo>
                    <a:lnTo>
                      <a:pt x="1" y="1"/>
                    </a:lnTo>
                  </a:path>
                </a:pathLst>
              </a:custGeom>
              <a:noFill/>
              <a:ln cap="flat" cmpd="sng" w="9525">
                <a:solidFill>
                  <a:srgbClr val="000000"/>
                </a:solidFill>
                <a:prstDash val="solid"/>
                <a:miter lim="8000"/>
                <a:headEnd len="sm" w="sm" type="none"/>
                <a:tailEnd len="sm" w="sm" type="none"/>
              </a:ln>
            </p:spPr>
            <p:txBody>
              <a:bodyPr anchorCtr="0" anchor="ctr" bIns="11500" lIns="91425" spcFirstLastPara="1" rIns="91425" wrap="square" tIns="115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sp>
          <p:nvSpPr>
            <p:cNvPr id="796" name="Google Shape;796;p32"/>
            <p:cNvSpPr/>
            <p:nvPr/>
          </p:nvSpPr>
          <p:spPr>
            <a:xfrm>
              <a:off x="8977320" y="519840"/>
              <a:ext cx="39240" cy="38880"/>
            </a:xfrm>
            <a:custGeom>
              <a:rect b="b" l="l" r="r" t="t"/>
              <a:pathLst>
                <a:path extrusionOk="0" h="811" w="812">
                  <a:moveTo>
                    <a:pt x="406" y="0"/>
                  </a:moveTo>
                  <a:cubicBezTo>
                    <a:pt x="183" y="0"/>
                    <a:pt x="1" y="181"/>
                    <a:pt x="1" y="405"/>
                  </a:cubicBezTo>
                  <a:cubicBezTo>
                    <a:pt x="1" y="629"/>
                    <a:pt x="183" y="811"/>
                    <a:pt x="406" y="811"/>
                  </a:cubicBezTo>
                  <a:cubicBezTo>
                    <a:pt x="630" y="811"/>
                    <a:pt x="811" y="629"/>
                    <a:pt x="811" y="405"/>
                  </a:cubicBezTo>
                  <a:cubicBezTo>
                    <a:pt x="811" y="181"/>
                    <a:pt x="630" y="0"/>
                    <a:pt x="406" y="0"/>
                  </a:cubicBezTo>
                  <a:close/>
                </a:path>
              </a:pathLst>
            </a:custGeom>
            <a:solidFill>
              <a:schemeClr val="dk1"/>
            </a:solidFill>
            <a:ln>
              <a:noFill/>
            </a:ln>
          </p:spPr>
          <p:txBody>
            <a:bodyPr anchorCtr="0" anchor="ctr" bIns="19425" lIns="91425" spcFirstLastPara="1" rIns="91425" wrap="square" tIns="19425">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png"/><Relationship Id="rId4" Type="http://schemas.openxmlformats.org/officeDocument/2006/relationships/hyperlink" Target="http://www.linkedin.com/in/mikhaelputraiswanto" TargetMode="External"/><Relationship Id="rId5" Type="http://schemas.openxmlformats.org/officeDocument/2006/relationships/image" Target="../media/image1.png"/><Relationship Id="rId6" Type="http://schemas.openxmlformats.org/officeDocument/2006/relationships/image" Target="../media/image4.png"/><Relationship Id="rId7" Type="http://schemas.openxmlformats.org/officeDocument/2006/relationships/hyperlink" Target="http://www.linkedin.com/in/mikhaelputraiswant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19.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15.png"/><Relationship Id="rId5"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34.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12.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14.png"/><Relationship Id="rId5"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4.png"/><Relationship Id="rId4" Type="http://schemas.openxmlformats.org/officeDocument/2006/relationships/image" Target="../media/image13.png"/><Relationship Id="rId5"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 Id="rId4"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4.png"/><Relationship Id="rId4" Type="http://schemas.openxmlformats.org/officeDocument/2006/relationships/image" Target="../media/image31.png"/><Relationship Id="rId5" Type="http://schemas.openxmlformats.org/officeDocument/2006/relationships/image" Target="../media/image33.png"/></Relationships>
</file>

<file path=ppt/slides/_rels/slide23.xml.rels><?xml version="1.0" encoding="UTF-8" standalone="yes"?><Relationships xmlns="http://schemas.openxmlformats.org/package/2006/relationships"><Relationship Id="rId11" Type="http://schemas.openxmlformats.org/officeDocument/2006/relationships/image" Target="../media/image30.png"/><Relationship Id="rId10" Type="http://schemas.openxmlformats.org/officeDocument/2006/relationships/image" Target="../media/image27.png"/><Relationship Id="rId12" Type="http://schemas.openxmlformats.org/officeDocument/2006/relationships/image" Target="../media/image16.png"/><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8.png"/><Relationship Id="rId9"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32.png"/><Relationship Id="rId7" Type="http://schemas.openxmlformats.org/officeDocument/2006/relationships/image" Target="../media/image9.png"/><Relationship Id="rId8" Type="http://schemas.openxmlformats.org/officeDocument/2006/relationships/image" Target="../media/image3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hyperlink" Target="https://www.instagram.com/mikhael_iswanto/" TargetMode="External"/><Relationship Id="rId4" Type="http://schemas.openxmlformats.org/officeDocument/2006/relationships/hyperlink" Target="http://www.linkedin.com/in/mikhaelputraiswanto" TargetMode="External"/><Relationship Id="rId5" Type="http://schemas.openxmlformats.org/officeDocument/2006/relationships/image" Target="../media/image36.png"/><Relationship Id="rId6" Type="http://schemas.openxmlformats.org/officeDocument/2006/relationships/image" Target="../media/image4.png"/><Relationship Id="rId7" Type="http://schemas.openxmlformats.org/officeDocument/2006/relationships/hyperlink" Target="http://www.linkedin.com/in/mikhaelputraiswanto"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7.png"/><Relationship Id="rId4" Type="http://schemas.openxmlformats.org/officeDocument/2006/relationships/image" Target="../media/image24.png"/><Relationship Id="rId9" Type="http://schemas.openxmlformats.org/officeDocument/2006/relationships/image" Target="../media/image18.png"/><Relationship Id="rId5" Type="http://schemas.openxmlformats.org/officeDocument/2006/relationships/image" Target="../media/image4.png"/><Relationship Id="rId6" Type="http://schemas.openxmlformats.org/officeDocument/2006/relationships/hyperlink" Target="https://colab.research.google.com/drive/1DURv1KmEVAqXYv-2H0BsJvmW5DtMcRpt?usp=sharing" TargetMode="External"/><Relationship Id="rId7" Type="http://schemas.openxmlformats.org/officeDocument/2006/relationships/hyperlink" Target="https://docs.google.com/presentation/d/194YkKX8MXnT96ulyO0eVAi-HSVP1OuXw/edit?usp=sharing&amp;ouid=115418691021923671307&amp;rtpof=true&amp;sd=true" TargetMode="External"/><Relationship Id="rId8" Type="http://schemas.openxmlformats.org/officeDocument/2006/relationships/hyperlink" Target="http://drive.google.com/file/d/16lb4oTd_Od6XSq_fkLEZ90gPmdasMvGf/view"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pic>
        <p:nvPicPr>
          <p:cNvPr id="801" name="Google Shape;801;p1"/>
          <p:cNvPicPr preferRelativeResize="0"/>
          <p:nvPr/>
        </p:nvPicPr>
        <p:blipFill rotWithShape="1">
          <a:blip r:embed="rId3">
            <a:alphaModFix/>
          </a:blip>
          <a:srcRect b="14697" l="6084" r="5740" t="0"/>
          <a:stretch/>
        </p:blipFill>
        <p:spPr>
          <a:xfrm>
            <a:off x="5193175" y="1256450"/>
            <a:ext cx="3595676" cy="2319050"/>
          </a:xfrm>
          <a:prstGeom prst="rect">
            <a:avLst/>
          </a:prstGeom>
          <a:noFill/>
          <a:ln>
            <a:noFill/>
          </a:ln>
        </p:spPr>
      </p:pic>
      <p:sp>
        <p:nvSpPr>
          <p:cNvPr id="802" name="Google Shape;802;p1"/>
          <p:cNvSpPr/>
          <p:nvPr/>
        </p:nvSpPr>
        <p:spPr>
          <a:xfrm>
            <a:off x="0" y="3390900"/>
            <a:ext cx="5295900" cy="65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Arial"/>
              <a:ea typeface="Arial"/>
              <a:cs typeface="Arial"/>
              <a:sym typeface="Arial"/>
            </a:endParaRPr>
          </a:p>
        </p:txBody>
      </p:sp>
      <p:cxnSp>
        <p:nvCxnSpPr>
          <p:cNvPr id="803" name="Google Shape;803;p1"/>
          <p:cNvCxnSpPr/>
          <p:nvPr/>
        </p:nvCxnSpPr>
        <p:spPr>
          <a:xfrm>
            <a:off x="721800" y="4603680"/>
            <a:ext cx="7709400" cy="360"/>
          </a:xfrm>
          <a:prstGeom prst="straightConnector1">
            <a:avLst/>
          </a:prstGeom>
          <a:noFill/>
          <a:ln cap="flat" cmpd="sng" w="9525">
            <a:solidFill>
              <a:srgbClr val="000000"/>
            </a:solidFill>
            <a:prstDash val="solid"/>
            <a:round/>
            <a:headEnd len="sm" w="sm" type="none"/>
            <a:tailEnd len="sm" w="sm" type="none"/>
          </a:ln>
        </p:spPr>
      </p:cxnSp>
      <p:sp>
        <p:nvSpPr>
          <p:cNvPr id="804" name="Google Shape;804;p1"/>
          <p:cNvSpPr txBox="1"/>
          <p:nvPr>
            <p:ph type="title"/>
          </p:nvPr>
        </p:nvSpPr>
        <p:spPr>
          <a:xfrm>
            <a:off x="505000" y="1616249"/>
            <a:ext cx="4791000" cy="12189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80000"/>
              </a:lnSpc>
              <a:spcBef>
                <a:spcPts val="0"/>
              </a:spcBef>
              <a:spcAft>
                <a:spcPts val="0"/>
              </a:spcAft>
              <a:buClr>
                <a:schemeClr val="dk1"/>
              </a:buClr>
              <a:buSzPct val="100000"/>
              <a:buFont typeface="Manrope ExtraBold"/>
              <a:buNone/>
            </a:pPr>
            <a:r>
              <a:rPr lang="en-US" sz="3600" u="none" strike="noStrike">
                <a:solidFill>
                  <a:schemeClr val="dk1"/>
                </a:solidFill>
                <a:latin typeface="Roboto ExtraBold"/>
                <a:ea typeface="Roboto ExtraBold"/>
                <a:cs typeface="Roboto ExtraBold"/>
                <a:sym typeface="Roboto ExtraBold"/>
              </a:rPr>
              <a:t>Active User B</a:t>
            </a:r>
            <a:r>
              <a:rPr lang="en-US" sz="3600">
                <a:latin typeface="Roboto ExtraBold"/>
                <a:ea typeface="Roboto ExtraBold"/>
                <a:cs typeface="Roboto ExtraBold"/>
                <a:sym typeface="Roboto ExtraBold"/>
              </a:rPr>
              <a:t>eha</a:t>
            </a:r>
            <a:r>
              <a:rPr lang="en-US" sz="3600" u="none" strike="noStrike">
                <a:solidFill>
                  <a:schemeClr val="dk1"/>
                </a:solidFill>
                <a:latin typeface="Roboto ExtraBold"/>
                <a:ea typeface="Roboto ExtraBold"/>
                <a:cs typeface="Roboto ExtraBold"/>
                <a:sym typeface="Roboto ExtraBold"/>
              </a:rPr>
              <a:t>vior </a:t>
            </a:r>
            <a:br>
              <a:rPr lang="en-US" sz="3600" u="none" strike="noStrike">
                <a:solidFill>
                  <a:schemeClr val="dk1"/>
                </a:solidFill>
                <a:latin typeface="Roboto ExtraBold"/>
                <a:ea typeface="Roboto ExtraBold"/>
                <a:cs typeface="Roboto ExtraBold"/>
                <a:sym typeface="Roboto ExtraBold"/>
              </a:rPr>
            </a:br>
            <a:r>
              <a:rPr lang="en-US" sz="3600" u="none" strike="noStrike">
                <a:solidFill>
                  <a:schemeClr val="dk1"/>
                </a:solidFill>
                <a:latin typeface="Roboto ExtraBold"/>
                <a:ea typeface="Roboto ExtraBold"/>
                <a:cs typeface="Roboto ExtraBold"/>
                <a:sym typeface="Roboto ExtraBold"/>
              </a:rPr>
              <a:t>&amp; Segmentation</a:t>
            </a:r>
            <a:br>
              <a:rPr lang="en-US" sz="3600" u="none" strike="noStrike">
                <a:solidFill>
                  <a:schemeClr val="dk1"/>
                </a:solidFill>
                <a:latin typeface="Roboto ExtraBold"/>
                <a:ea typeface="Roboto ExtraBold"/>
                <a:cs typeface="Roboto ExtraBold"/>
                <a:sym typeface="Roboto ExtraBold"/>
              </a:rPr>
            </a:br>
            <a:r>
              <a:rPr lang="en-US" sz="2400" u="none" strike="noStrike">
                <a:solidFill>
                  <a:schemeClr val="dk1"/>
                </a:solidFill>
                <a:latin typeface="Roboto"/>
                <a:ea typeface="Roboto"/>
                <a:cs typeface="Roboto"/>
                <a:sym typeface="Roboto"/>
              </a:rPr>
              <a:t>Analyst Insight – OCA Indonesia</a:t>
            </a:r>
            <a:endParaRPr sz="3600" u="none" strike="noStrike">
              <a:solidFill>
                <a:schemeClr val="dk1"/>
              </a:solidFill>
              <a:latin typeface="Roboto"/>
              <a:ea typeface="Roboto"/>
              <a:cs typeface="Roboto"/>
              <a:sym typeface="Roboto"/>
            </a:endParaRPr>
          </a:p>
        </p:txBody>
      </p:sp>
      <p:sp>
        <p:nvSpPr>
          <p:cNvPr id="805" name="Google Shape;805;p1"/>
          <p:cNvSpPr txBox="1"/>
          <p:nvPr>
            <p:ph idx="1" type="subTitle"/>
          </p:nvPr>
        </p:nvSpPr>
        <p:spPr>
          <a:xfrm>
            <a:off x="505000" y="3412413"/>
            <a:ext cx="4791000" cy="6141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lt1"/>
              </a:buClr>
              <a:buSzPts val="1400"/>
              <a:buFont typeface="Raleway"/>
              <a:buNone/>
            </a:pPr>
            <a:r>
              <a:rPr b="1" i="0" lang="en-US" sz="1400" u="none" cap="none" strike="noStrike">
                <a:solidFill>
                  <a:schemeClr val="lt1"/>
                </a:solidFill>
                <a:latin typeface="Roboto"/>
                <a:ea typeface="Roboto"/>
                <a:cs typeface="Roboto"/>
                <a:sym typeface="Roboto"/>
              </a:rPr>
              <a:t>Virtual Internship Program RevoU &amp; Telkom Indonesia</a:t>
            </a:r>
            <a:endParaRPr b="1">
              <a:latin typeface="Roboto"/>
              <a:ea typeface="Roboto"/>
              <a:cs typeface="Roboto"/>
              <a:sym typeface="Roboto"/>
            </a:endParaRPr>
          </a:p>
          <a:p>
            <a:pPr indent="0" lvl="0" marL="0" marR="0" rtl="0" algn="l">
              <a:lnSpc>
                <a:spcPct val="115000"/>
              </a:lnSpc>
              <a:spcBef>
                <a:spcPts val="0"/>
              </a:spcBef>
              <a:spcAft>
                <a:spcPts val="0"/>
              </a:spcAft>
              <a:buClr>
                <a:schemeClr val="lt1"/>
              </a:buClr>
              <a:buSzPts val="1200"/>
              <a:buFont typeface="Arial"/>
              <a:buNone/>
            </a:pPr>
            <a:r>
              <a:rPr i="0" lang="en-US" sz="1200" u="none" cap="none" strike="noStrike">
                <a:solidFill>
                  <a:schemeClr val="lt1"/>
                </a:solidFill>
                <a:latin typeface="Roboto"/>
                <a:ea typeface="Roboto"/>
                <a:cs typeface="Roboto"/>
                <a:sym typeface="Roboto"/>
              </a:rPr>
              <a:t>       </a:t>
            </a:r>
            <a:r>
              <a:rPr i="0" lang="en-US" sz="1200" cap="none" strike="noStrike">
                <a:solidFill>
                  <a:schemeClr val="lt1"/>
                </a:solidFill>
                <a:uFill>
                  <a:noFill/>
                </a:uFill>
                <a:latin typeface="Roboto"/>
                <a:ea typeface="Roboto"/>
                <a:cs typeface="Roboto"/>
                <a:sym typeface="Roboto"/>
                <a:hlinkClick r:id="rId4">
                  <a:extLst>
                    <a:ext uri="{A12FA001-AC4F-418D-AE19-62706E023703}">
                      <ahyp:hlinkClr val="tx"/>
                    </a:ext>
                  </a:extLst>
                </a:hlinkClick>
              </a:rPr>
              <a:t>MikhaelPutraIswanto</a:t>
            </a:r>
            <a:br>
              <a:rPr i="0" lang="en-US" sz="1200" u="none" cap="none" strike="noStrike">
                <a:solidFill>
                  <a:schemeClr val="lt1"/>
                </a:solidFill>
                <a:latin typeface="Roboto"/>
                <a:ea typeface="Roboto"/>
                <a:cs typeface="Roboto"/>
                <a:sym typeface="Roboto"/>
              </a:rPr>
            </a:br>
            <a:r>
              <a:rPr i="0" lang="en-US" sz="1200" u="none" cap="none" strike="noStrike">
                <a:solidFill>
                  <a:schemeClr val="lt1"/>
                </a:solidFill>
                <a:latin typeface="Roboto"/>
                <a:ea typeface="Roboto"/>
                <a:cs typeface="Roboto"/>
                <a:sym typeface="Roboto"/>
              </a:rPr>
              <a:t> </a:t>
            </a:r>
            <a:endParaRPr i="0" sz="1200" u="none" cap="none" strike="noStrike">
              <a:solidFill>
                <a:schemeClr val="lt1"/>
              </a:solidFill>
              <a:latin typeface="Roboto"/>
              <a:ea typeface="Roboto"/>
              <a:cs typeface="Roboto"/>
              <a:sym typeface="Roboto"/>
            </a:endParaRPr>
          </a:p>
        </p:txBody>
      </p:sp>
      <p:pic>
        <p:nvPicPr>
          <p:cNvPr id="806" name="Google Shape;806;p1"/>
          <p:cNvPicPr preferRelativeResize="0"/>
          <p:nvPr/>
        </p:nvPicPr>
        <p:blipFill rotWithShape="1">
          <a:blip r:embed="rId5">
            <a:alphaModFix/>
          </a:blip>
          <a:srcRect b="0" l="0" r="0" t="0"/>
          <a:stretch/>
        </p:blipFill>
        <p:spPr>
          <a:xfrm>
            <a:off x="531633" y="3665420"/>
            <a:ext cx="361613" cy="361613"/>
          </a:xfrm>
          <a:prstGeom prst="rect">
            <a:avLst/>
          </a:prstGeom>
          <a:noFill/>
          <a:ln>
            <a:noFill/>
          </a:ln>
        </p:spPr>
      </p:pic>
      <p:pic>
        <p:nvPicPr>
          <p:cNvPr id="807" name="Google Shape;807;p1"/>
          <p:cNvPicPr preferRelativeResize="0"/>
          <p:nvPr/>
        </p:nvPicPr>
        <p:blipFill rotWithShape="1">
          <a:blip r:embed="rId6">
            <a:alphaModFix/>
          </a:blip>
          <a:srcRect b="0" l="0" r="0" t="0"/>
          <a:stretch/>
        </p:blipFill>
        <p:spPr>
          <a:xfrm>
            <a:off x="0" y="-63500"/>
            <a:ext cx="4014016" cy="1486440"/>
          </a:xfrm>
          <a:prstGeom prst="rect">
            <a:avLst/>
          </a:prstGeom>
          <a:noFill/>
          <a:ln>
            <a:noFill/>
          </a:ln>
        </p:spPr>
      </p:pic>
      <p:sp>
        <p:nvSpPr>
          <p:cNvPr id="808" name="Google Shape;808;p1"/>
          <p:cNvSpPr/>
          <p:nvPr/>
        </p:nvSpPr>
        <p:spPr>
          <a:xfrm>
            <a:off x="2075" y="4644075"/>
            <a:ext cx="9144000" cy="49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09" name="Google Shape;809;p1"/>
          <p:cNvSpPr txBox="1"/>
          <p:nvPr/>
        </p:nvSpPr>
        <p:spPr>
          <a:xfrm>
            <a:off x="721800" y="4274775"/>
            <a:ext cx="6172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1200">
                <a:latin typeface="Roboto"/>
                <a:ea typeface="Roboto"/>
                <a:cs typeface="Roboto"/>
                <a:sym typeface="Roboto"/>
              </a:rPr>
              <a:t>Tuesday</a:t>
            </a:r>
            <a:r>
              <a:rPr b="1" lang="en-US" sz="1200">
                <a:latin typeface="Roboto"/>
                <a:ea typeface="Roboto"/>
                <a:cs typeface="Roboto"/>
                <a:sym typeface="Roboto"/>
              </a:rPr>
              <a:t>, 27 Januari 2026</a:t>
            </a:r>
            <a:endParaRPr b="1" sz="1200">
              <a:latin typeface="Roboto"/>
              <a:ea typeface="Roboto"/>
              <a:cs typeface="Roboto"/>
              <a:sym typeface="Roboto"/>
            </a:endParaRPr>
          </a:p>
        </p:txBody>
      </p:sp>
      <p:sp>
        <p:nvSpPr>
          <p:cNvPr id="810" name="Google Shape;810;p1">
            <a:hlinkClick r:id="rId7"/>
          </p:cNvPr>
          <p:cNvSpPr/>
          <p:nvPr/>
        </p:nvSpPr>
        <p:spPr>
          <a:xfrm>
            <a:off x="603100" y="3730050"/>
            <a:ext cx="231000" cy="2307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4" name="Shape 814"/>
        <p:cNvGrpSpPr/>
        <p:nvPr/>
      </p:nvGrpSpPr>
      <p:grpSpPr>
        <a:xfrm>
          <a:off x="0" y="0"/>
          <a:ext cx="0" cy="0"/>
          <a:chOff x="0" y="0"/>
          <a:chExt cx="0" cy="0"/>
        </a:xfrm>
      </p:grpSpPr>
      <p:sp>
        <p:nvSpPr>
          <p:cNvPr id="815" name="Google Shape;815;g3b8af0a3789_0_21"/>
          <p:cNvSpPr/>
          <p:nvPr/>
        </p:nvSpPr>
        <p:spPr>
          <a:xfrm>
            <a:off x="5198625" y="0"/>
            <a:ext cx="3945300" cy="104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16" name="Google Shape;816;g3b8af0a3789_0_21"/>
          <p:cNvSpPr txBox="1"/>
          <p:nvPr/>
        </p:nvSpPr>
        <p:spPr>
          <a:xfrm>
            <a:off x="566075" y="1107450"/>
            <a:ext cx="4911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u="sng">
                <a:solidFill>
                  <a:schemeClr val="dk2"/>
                </a:solidFill>
                <a:latin typeface="Roboto"/>
                <a:ea typeface="Roboto"/>
                <a:cs typeface="Roboto"/>
                <a:sym typeface="Roboto"/>
              </a:rPr>
              <a:t>Background &amp; Business Problem</a:t>
            </a:r>
            <a:endParaRPr b="1" sz="2400" u="sng">
              <a:solidFill>
                <a:schemeClr val="dk2"/>
              </a:solidFill>
              <a:latin typeface="Roboto"/>
              <a:ea typeface="Roboto"/>
              <a:cs typeface="Roboto"/>
              <a:sym typeface="Roboto"/>
            </a:endParaRPr>
          </a:p>
        </p:txBody>
      </p:sp>
      <p:sp>
        <p:nvSpPr>
          <p:cNvPr id="817" name="Google Shape;817;g3b8af0a3789_0_21"/>
          <p:cNvSpPr txBox="1"/>
          <p:nvPr/>
        </p:nvSpPr>
        <p:spPr>
          <a:xfrm>
            <a:off x="612100" y="2388150"/>
            <a:ext cx="4185600" cy="1962900"/>
          </a:xfrm>
          <a:prstGeom prst="rect">
            <a:avLst/>
          </a:prstGeom>
          <a:noFill/>
          <a:ln>
            <a:noFill/>
          </a:ln>
        </p:spPr>
        <p:txBody>
          <a:bodyPr anchorCtr="0" anchor="t" bIns="79125" lIns="79125" spcFirstLastPara="1" rIns="79125" wrap="square" tIns="79125">
            <a:noAutofit/>
          </a:bodyPr>
          <a:lstStyle/>
          <a:p>
            <a:pPr indent="0" lvl="0" marL="0" rtl="0" algn="just">
              <a:lnSpc>
                <a:spcPct val="115000"/>
              </a:lnSpc>
              <a:spcBef>
                <a:spcPts val="0"/>
              </a:spcBef>
              <a:spcAft>
                <a:spcPts val="0"/>
              </a:spcAft>
              <a:buNone/>
            </a:pPr>
            <a:r>
              <a:rPr b="1" lang="en-US" sz="1000">
                <a:solidFill>
                  <a:schemeClr val="dk1"/>
                </a:solidFill>
                <a:latin typeface="Roboto"/>
                <a:ea typeface="Roboto"/>
                <a:cs typeface="Roboto"/>
                <a:sym typeface="Roboto"/>
              </a:rPr>
              <a:t>OCA Indonesia</a:t>
            </a:r>
            <a:r>
              <a:rPr lang="en-US" sz="1000">
                <a:solidFill>
                  <a:schemeClr val="dk1"/>
                </a:solidFill>
                <a:latin typeface="Roboto"/>
                <a:ea typeface="Roboto"/>
                <a:cs typeface="Roboto"/>
                <a:sym typeface="Roboto"/>
              </a:rPr>
              <a:t>, a Communications Platform as a Service solution solution by </a:t>
            </a:r>
            <a:r>
              <a:rPr b="1" lang="en-US" sz="1000">
                <a:solidFill>
                  <a:schemeClr val="dk1"/>
                </a:solidFill>
                <a:latin typeface="Roboto"/>
                <a:ea typeface="Roboto"/>
                <a:cs typeface="Roboto"/>
                <a:sym typeface="Roboto"/>
              </a:rPr>
              <a:t>Telkom Indonesia</a:t>
            </a:r>
            <a:r>
              <a:rPr lang="en-US" sz="1000">
                <a:solidFill>
                  <a:schemeClr val="dk1"/>
                </a:solidFill>
                <a:latin typeface="Roboto"/>
                <a:ea typeface="Roboto"/>
                <a:cs typeface="Roboto"/>
                <a:sym typeface="Roboto"/>
              </a:rPr>
              <a:t>, supports large-scale omnichannel messaging across multiple channels and clients. </a:t>
            </a:r>
            <a:r>
              <a:rPr lang="en-US" sz="1000">
                <a:solidFill>
                  <a:srgbClr val="294C85"/>
                </a:solidFill>
                <a:latin typeface="Roboto"/>
                <a:ea typeface="Roboto"/>
                <a:cs typeface="Roboto"/>
                <a:sym typeface="Roboto"/>
              </a:rPr>
              <a:t> </a:t>
            </a:r>
            <a:r>
              <a:rPr lang="en-US" sz="1000">
                <a:solidFill>
                  <a:schemeClr val="dk1"/>
                </a:solidFill>
                <a:latin typeface="Roboto"/>
                <a:ea typeface="Roboto"/>
                <a:cs typeface="Roboto"/>
                <a:sym typeface="Roboto"/>
              </a:rPr>
              <a:t>enables customer engagement through </a:t>
            </a:r>
            <a:r>
              <a:rPr b="1" lang="en-US" sz="1000">
                <a:solidFill>
                  <a:schemeClr val="dk1"/>
                </a:solidFill>
                <a:latin typeface="Roboto"/>
                <a:ea typeface="Roboto"/>
                <a:cs typeface="Roboto"/>
                <a:sym typeface="Roboto"/>
              </a:rPr>
              <a:t>WhatsApp, SMS, Email, and Voice Call</a:t>
            </a:r>
            <a:r>
              <a:rPr lang="en-US" sz="1000">
                <a:solidFill>
                  <a:schemeClr val="dk1"/>
                </a:solidFill>
                <a:latin typeface="Roboto"/>
                <a:ea typeface="Roboto"/>
                <a:cs typeface="Roboto"/>
                <a:sym typeface="Roboto"/>
              </a:rPr>
              <a:t>. However, growing usage complexity makes it </a:t>
            </a:r>
            <a:r>
              <a:rPr b="1" lang="en-US" sz="1000">
                <a:solidFill>
                  <a:schemeClr val="dk1"/>
                </a:solidFill>
                <a:latin typeface="Roboto"/>
                <a:ea typeface="Roboto"/>
                <a:cs typeface="Roboto"/>
                <a:sym typeface="Roboto"/>
              </a:rPr>
              <a:t>challenging </a:t>
            </a:r>
            <a:r>
              <a:rPr lang="en-US" sz="1000">
                <a:solidFill>
                  <a:schemeClr val="dk1"/>
                </a:solidFill>
                <a:latin typeface="Roboto"/>
                <a:ea typeface="Roboto"/>
                <a:cs typeface="Roboto"/>
                <a:sym typeface="Roboto"/>
              </a:rPr>
              <a:t>to </a:t>
            </a:r>
            <a:r>
              <a:rPr b="1" lang="en-US" sz="1000">
                <a:solidFill>
                  <a:schemeClr val="dk1"/>
                </a:solidFill>
                <a:latin typeface="Roboto"/>
                <a:ea typeface="Roboto"/>
                <a:cs typeface="Roboto"/>
                <a:sym typeface="Roboto"/>
              </a:rPr>
              <a:t>identify user behavior differences and channel effectiveness</a:t>
            </a:r>
            <a:r>
              <a:rPr lang="en-US" sz="1000">
                <a:solidFill>
                  <a:schemeClr val="dk1"/>
                </a:solidFill>
                <a:latin typeface="Roboto"/>
                <a:ea typeface="Roboto"/>
                <a:cs typeface="Roboto"/>
                <a:sym typeface="Roboto"/>
              </a:rPr>
              <a:t>. Clustering-based segmentation enables clearer insights into behavioral patterns, channel performance, and optimization opportunities.</a:t>
            </a:r>
            <a:endParaRPr sz="1000">
              <a:solidFill>
                <a:schemeClr val="dk1"/>
              </a:solidFill>
              <a:latin typeface="Roboto"/>
              <a:ea typeface="Roboto"/>
              <a:cs typeface="Roboto"/>
              <a:sym typeface="Roboto"/>
            </a:endParaRPr>
          </a:p>
        </p:txBody>
      </p:sp>
      <p:pic>
        <p:nvPicPr>
          <p:cNvPr id="818" name="Google Shape;818;g3b8af0a3789_0_21"/>
          <p:cNvPicPr preferRelativeResize="0"/>
          <p:nvPr/>
        </p:nvPicPr>
        <p:blipFill rotWithShape="1">
          <a:blip r:embed="rId3">
            <a:alphaModFix/>
          </a:blip>
          <a:srcRect b="0" l="0" r="0" t="0"/>
          <a:stretch/>
        </p:blipFill>
        <p:spPr>
          <a:xfrm>
            <a:off x="5264125" y="-146325"/>
            <a:ext cx="3601424" cy="1333650"/>
          </a:xfrm>
          <a:prstGeom prst="rect">
            <a:avLst/>
          </a:prstGeom>
          <a:noFill/>
          <a:ln>
            <a:noFill/>
          </a:ln>
        </p:spPr>
      </p:pic>
      <p:pic>
        <p:nvPicPr>
          <p:cNvPr id="819" name="Google Shape;819;g3b8af0a3789_0_21"/>
          <p:cNvPicPr preferRelativeResize="0"/>
          <p:nvPr/>
        </p:nvPicPr>
        <p:blipFill>
          <a:blip r:embed="rId4">
            <a:alphaModFix/>
          </a:blip>
          <a:stretch>
            <a:fillRect/>
          </a:stretch>
        </p:blipFill>
        <p:spPr>
          <a:xfrm>
            <a:off x="4997726" y="2054325"/>
            <a:ext cx="3660450" cy="2049850"/>
          </a:xfrm>
          <a:prstGeom prst="rect">
            <a:avLst/>
          </a:prstGeom>
          <a:noFill/>
          <a:ln>
            <a:noFill/>
          </a:ln>
        </p:spPr>
      </p:pic>
      <p:sp>
        <p:nvSpPr>
          <p:cNvPr id="820" name="Google Shape;820;g3b8af0a3789_0_21"/>
          <p:cNvSpPr txBox="1"/>
          <p:nvPr/>
        </p:nvSpPr>
        <p:spPr>
          <a:xfrm>
            <a:off x="668150" y="1842000"/>
            <a:ext cx="2082000" cy="365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500">
                <a:solidFill>
                  <a:srgbClr val="FFFFFF"/>
                </a:solidFill>
                <a:latin typeface="Roboto"/>
                <a:ea typeface="Roboto"/>
                <a:cs typeface="Roboto"/>
                <a:sym typeface="Roboto"/>
              </a:rPr>
              <a:t>Business </a:t>
            </a:r>
            <a:r>
              <a:rPr b="1" lang="en-US" sz="1500">
                <a:solidFill>
                  <a:srgbClr val="FFFFFF"/>
                </a:solidFill>
                <a:latin typeface="Roboto"/>
                <a:ea typeface="Roboto"/>
                <a:cs typeface="Roboto"/>
                <a:sym typeface="Roboto"/>
              </a:rPr>
              <a:t>Background</a:t>
            </a:r>
            <a:endParaRPr b="1" sz="1500">
              <a:solidFill>
                <a:srgbClr val="FFFFFF"/>
              </a:solidFill>
              <a:latin typeface="Roboto"/>
              <a:ea typeface="Roboto"/>
              <a:cs typeface="Roboto"/>
              <a:sym typeface="Roboto"/>
            </a:endParaRPr>
          </a:p>
        </p:txBody>
      </p:sp>
      <p:sp>
        <p:nvSpPr>
          <p:cNvPr id="821" name="Google Shape;821;g3b8af0a3789_0_21"/>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22" name="Google Shape;822;g3b8af0a3789_0_21"/>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g3b8af0a3789_0_70"/>
          <p:cNvSpPr/>
          <p:nvPr/>
        </p:nvSpPr>
        <p:spPr>
          <a:xfrm>
            <a:off x="226350" y="3479225"/>
            <a:ext cx="4102800" cy="4995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28" name="Google Shape;828;g3b8af0a3789_0_70"/>
          <p:cNvSpPr/>
          <p:nvPr/>
        </p:nvSpPr>
        <p:spPr>
          <a:xfrm>
            <a:off x="5198625" y="0"/>
            <a:ext cx="3945300" cy="104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29" name="Google Shape;829;g3b8af0a3789_0_70"/>
          <p:cNvSpPr txBox="1"/>
          <p:nvPr/>
        </p:nvSpPr>
        <p:spPr>
          <a:xfrm>
            <a:off x="566075" y="1107450"/>
            <a:ext cx="49113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2400" u="sng">
                <a:solidFill>
                  <a:schemeClr val="dk2"/>
                </a:solidFill>
                <a:latin typeface="Roboto"/>
                <a:ea typeface="Roboto"/>
                <a:cs typeface="Roboto"/>
                <a:sym typeface="Roboto"/>
              </a:rPr>
              <a:t>Background &amp; Business Problem</a:t>
            </a:r>
            <a:endParaRPr b="1" sz="2400" u="sng">
              <a:solidFill>
                <a:schemeClr val="dk2"/>
              </a:solidFill>
              <a:latin typeface="Roboto"/>
              <a:ea typeface="Roboto"/>
              <a:cs typeface="Roboto"/>
              <a:sym typeface="Roboto"/>
            </a:endParaRPr>
          </a:p>
        </p:txBody>
      </p:sp>
      <p:sp>
        <p:nvSpPr>
          <p:cNvPr id="830" name="Google Shape;830;g3b8af0a3789_0_70"/>
          <p:cNvSpPr txBox="1"/>
          <p:nvPr/>
        </p:nvSpPr>
        <p:spPr>
          <a:xfrm>
            <a:off x="346650" y="2534200"/>
            <a:ext cx="3792600" cy="1263000"/>
          </a:xfrm>
          <a:prstGeom prst="rect">
            <a:avLst/>
          </a:prstGeom>
          <a:noFill/>
          <a:ln>
            <a:noFill/>
          </a:ln>
        </p:spPr>
        <p:txBody>
          <a:bodyPr anchorCtr="0" anchor="t" bIns="79125" lIns="79125" spcFirstLastPara="1" rIns="79125" wrap="square" tIns="79125">
            <a:noAutofit/>
          </a:bodyPr>
          <a:lstStyle/>
          <a:p>
            <a:pPr indent="0" lvl="0" marL="0" rtl="0" algn="just">
              <a:lnSpc>
                <a:spcPct val="115000"/>
              </a:lnSpc>
              <a:spcBef>
                <a:spcPts val="0"/>
              </a:spcBef>
              <a:spcAft>
                <a:spcPts val="0"/>
              </a:spcAft>
              <a:buNone/>
            </a:pPr>
            <a:r>
              <a:rPr lang="en-US" sz="1100">
                <a:solidFill>
                  <a:schemeClr val="dk1"/>
                </a:solidFill>
                <a:latin typeface="Roboto"/>
                <a:ea typeface="Roboto"/>
                <a:cs typeface="Roboto"/>
                <a:sym typeface="Roboto"/>
              </a:rPr>
              <a:t>How can OCA Indonesia leverage user behavior clustering to identify </a:t>
            </a:r>
            <a:r>
              <a:rPr b="1" lang="en-US" sz="1100">
                <a:solidFill>
                  <a:schemeClr val="dk1"/>
                </a:solidFill>
                <a:latin typeface="Roboto"/>
                <a:ea typeface="Roboto"/>
                <a:cs typeface="Roboto"/>
                <a:sym typeface="Roboto"/>
              </a:rPr>
              <a:t>distinct customer segments</a:t>
            </a:r>
            <a:r>
              <a:rPr lang="en-US" sz="1100">
                <a:solidFill>
                  <a:schemeClr val="dk1"/>
                </a:solidFill>
                <a:latin typeface="Roboto"/>
                <a:ea typeface="Roboto"/>
                <a:cs typeface="Roboto"/>
                <a:sym typeface="Roboto"/>
              </a:rPr>
              <a:t>, enable more relevant and </a:t>
            </a:r>
            <a:r>
              <a:rPr b="1" lang="en-US" sz="1100">
                <a:solidFill>
                  <a:schemeClr val="dk1"/>
                </a:solidFill>
                <a:latin typeface="Roboto"/>
                <a:ea typeface="Roboto"/>
                <a:cs typeface="Roboto"/>
                <a:sym typeface="Roboto"/>
              </a:rPr>
              <a:t>personalized </a:t>
            </a:r>
            <a:r>
              <a:rPr lang="en-US" sz="1100">
                <a:solidFill>
                  <a:schemeClr val="dk1"/>
                </a:solidFill>
                <a:latin typeface="Roboto"/>
                <a:ea typeface="Roboto"/>
                <a:cs typeface="Roboto"/>
                <a:sym typeface="Roboto"/>
              </a:rPr>
              <a:t>messaging, detect </a:t>
            </a:r>
            <a:r>
              <a:rPr b="1" lang="en-US" sz="1100">
                <a:solidFill>
                  <a:schemeClr val="dk1"/>
                </a:solidFill>
                <a:latin typeface="Roboto"/>
                <a:ea typeface="Roboto"/>
                <a:cs typeface="Roboto"/>
                <a:sym typeface="Roboto"/>
              </a:rPr>
              <a:t>early signals</a:t>
            </a:r>
            <a:r>
              <a:rPr lang="en-US" sz="1100">
                <a:solidFill>
                  <a:schemeClr val="dk1"/>
                </a:solidFill>
                <a:latin typeface="Roboto"/>
                <a:ea typeface="Roboto"/>
                <a:cs typeface="Roboto"/>
                <a:sym typeface="Roboto"/>
              </a:rPr>
              <a:t> of </a:t>
            </a:r>
            <a:r>
              <a:rPr b="1" lang="en-US" sz="1100">
                <a:solidFill>
                  <a:schemeClr val="dk1"/>
                </a:solidFill>
                <a:latin typeface="Roboto"/>
                <a:ea typeface="Roboto"/>
                <a:cs typeface="Roboto"/>
                <a:sym typeface="Roboto"/>
              </a:rPr>
              <a:t>potential churn</a:t>
            </a:r>
            <a:r>
              <a:rPr lang="en-US" sz="1100">
                <a:solidFill>
                  <a:schemeClr val="dk1"/>
                </a:solidFill>
                <a:latin typeface="Roboto"/>
                <a:ea typeface="Roboto"/>
                <a:cs typeface="Roboto"/>
                <a:sym typeface="Roboto"/>
              </a:rPr>
              <a:t>, and uncover </a:t>
            </a:r>
            <a:r>
              <a:rPr b="1" lang="en-US" sz="1100">
                <a:solidFill>
                  <a:schemeClr val="dk1"/>
                </a:solidFill>
                <a:latin typeface="Roboto"/>
                <a:ea typeface="Roboto"/>
                <a:cs typeface="Roboto"/>
                <a:sym typeface="Roboto"/>
              </a:rPr>
              <a:t>upsell opportunities</a:t>
            </a:r>
            <a:r>
              <a:rPr lang="en-US" sz="1100">
                <a:solidFill>
                  <a:schemeClr val="dk1"/>
                </a:solidFill>
                <a:latin typeface="Roboto"/>
                <a:ea typeface="Roboto"/>
                <a:cs typeface="Roboto"/>
                <a:sym typeface="Roboto"/>
              </a:rPr>
              <a:t> to improve delivery success and engagement in the next quarter?</a:t>
            </a:r>
            <a:endParaRPr sz="1000">
              <a:solidFill>
                <a:schemeClr val="dk1"/>
              </a:solidFill>
              <a:latin typeface="Roboto"/>
              <a:ea typeface="Roboto"/>
              <a:cs typeface="Roboto"/>
              <a:sym typeface="Roboto"/>
            </a:endParaRPr>
          </a:p>
        </p:txBody>
      </p:sp>
      <p:sp>
        <p:nvSpPr>
          <p:cNvPr id="831" name="Google Shape;831;g3b8af0a3789_0_70"/>
          <p:cNvSpPr txBox="1"/>
          <p:nvPr/>
        </p:nvSpPr>
        <p:spPr>
          <a:xfrm>
            <a:off x="402700" y="2073938"/>
            <a:ext cx="2082000" cy="365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500">
                <a:solidFill>
                  <a:schemeClr val="lt1"/>
                </a:solidFill>
                <a:latin typeface="Roboto"/>
                <a:ea typeface="Roboto"/>
                <a:cs typeface="Roboto"/>
                <a:sym typeface="Roboto"/>
              </a:rPr>
              <a:t>Business Problem</a:t>
            </a:r>
            <a:endParaRPr b="1" sz="1500">
              <a:solidFill>
                <a:srgbClr val="FFFFFF"/>
              </a:solidFill>
              <a:latin typeface="Roboto"/>
              <a:ea typeface="Roboto"/>
              <a:cs typeface="Roboto"/>
              <a:sym typeface="Roboto"/>
            </a:endParaRPr>
          </a:p>
        </p:txBody>
      </p:sp>
      <p:sp>
        <p:nvSpPr>
          <p:cNvPr id="832" name="Google Shape;832;g3b8af0a3789_0_70"/>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33" name="Google Shape;833;g3b8af0a3789_0_70"/>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834" name="Google Shape;834;g3b8af0a3789_0_70"/>
          <p:cNvSpPr txBox="1"/>
          <p:nvPr/>
        </p:nvSpPr>
        <p:spPr>
          <a:xfrm>
            <a:off x="5586675" y="2514088"/>
            <a:ext cx="3198000" cy="1411800"/>
          </a:xfrm>
          <a:prstGeom prst="rect">
            <a:avLst/>
          </a:prstGeom>
          <a:noFill/>
          <a:ln>
            <a:noFill/>
          </a:ln>
        </p:spPr>
        <p:txBody>
          <a:bodyPr anchorCtr="0" anchor="t" bIns="79125" lIns="79125" spcFirstLastPara="1" rIns="79125" wrap="square" tIns="79125">
            <a:noAutofit/>
          </a:bodyPr>
          <a:lstStyle/>
          <a:p>
            <a:pPr indent="0" lvl="0" marL="0" rtl="0" algn="just">
              <a:lnSpc>
                <a:spcPct val="115000"/>
              </a:lnSpc>
              <a:spcBef>
                <a:spcPts val="0"/>
              </a:spcBef>
              <a:spcAft>
                <a:spcPts val="0"/>
              </a:spcAft>
              <a:buNone/>
            </a:pPr>
            <a:r>
              <a:rPr b="1" lang="en-US" sz="1100">
                <a:solidFill>
                  <a:schemeClr val="dk1"/>
                </a:solidFill>
                <a:latin typeface="Roboto"/>
                <a:ea typeface="Roboto"/>
                <a:cs typeface="Roboto"/>
                <a:sym typeface="Roboto"/>
              </a:rPr>
              <a:t>Decision 	: </a:t>
            </a:r>
            <a:r>
              <a:rPr lang="en-US" sz="1100">
                <a:solidFill>
                  <a:schemeClr val="dk1"/>
                </a:solidFill>
                <a:latin typeface="Roboto"/>
                <a:ea typeface="Roboto"/>
                <a:cs typeface="Roboto"/>
                <a:sym typeface="Roboto"/>
              </a:rPr>
              <a:t>C-Level Executive</a:t>
            </a:r>
            <a:endParaRPr sz="1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b="1" lang="en-US" sz="1100">
                <a:solidFill>
                  <a:schemeClr val="dk1"/>
                </a:solidFill>
                <a:latin typeface="Roboto"/>
                <a:ea typeface="Roboto"/>
                <a:cs typeface="Roboto"/>
                <a:sym typeface="Roboto"/>
              </a:rPr>
              <a:t>Approver	: </a:t>
            </a:r>
            <a:r>
              <a:rPr lang="en-US" sz="1100">
                <a:solidFill>
                  <a:schemeClr val="dk1"/>
                </a:solidFill>
                <a:latin typeface="Roboto"/>
                <a:ea typeface="Roboto"/>
                <a:cs typeface="Roboto"/>
                <a:sym typeface="Roboto"/>
              </a:rPr>
              <a:t>Head of Business</a:t>
            </a:r>
            <a:r>
              <a:rPr b="1" lang="en-US" sz="1100">
                <a:solidFill>
                  <a:schemeClr val="dk1"/>
                </a:solidFill>
                <a:latin typeface="Roboto"/>
                <a:ea typeface="Roboto"/>
                <a:cs typeface="Roboto"/>
                <a:sym typeface="Roboto"/>
              </a:rPr>
              <a:t>	</a:t>
            </a:r>
            <a:endParaRPr b="1" sz="1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b="1" lang="en-US" sz="1100">
                <a:solidFill>
                  <a:schemeClr val="dk1"/>
                </a:solidFill>
                <a:latin typeface="Roboto"/>
                <a:ea typeface="Roboto"/>
                <a:cs typeface="Roboto"/>
                <a:sym typeface="Roboto"/>
              </a:rPr>
              <a:t>Responsible	: </a:t>
            </a:r>
            <a:r>
              <a:rPr lang="en-US" sz="1100">
                <a:solidFill>
                  <a:schemeClr val="dk1"/>
                </a:solidFill>
                <a:latin typeface="Roboto"/>
                <a:ea typeface="Roboto"/>
                <a:cs typeface="Roboto"/>
                <a:sym typeface="Roboto"/>
              </a:rPr>
              <a:t>Data Analyst</a:t>
            </a:r>
            <a:endParaRPr sz="1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b="1" lang="en-US" sz="1100">
                <a:solidFill>
                  <a:schemeClr val="dk1"/>
                </a:solidFill>
                <a:latin typeface="Roboto"/>
                <a:ea typeface="Roboto"/>
                <a:cs typeface="Roboto"/>
                <a:sym typeface="Roboto"/>
              </a:rPr>
              <a:t>Consulted	: </a:t>
            </a:r>
            <a:r>
              <a:rPr lang="en-US" sz="1100">
                <a:solidFill>
                  <a:schemeClr val="dk1"/>
                </a:solidFill>
                <a:latin typeface="Roboto"/>
                <a:ea typeface="Roboto"/>
                <a:cs typeface="Roboto"/>
                <a:sym typeface="Roboto"/>
              </a:rPr>
              <a:t>Product Managers</a:t>
            </a:r>
            <a:endParaRPr sz="1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lang="en-US" sz="1100">
                <a:solidFill>
                  <a:schemeClr val="dk1"/>
                </a:solidFill>
                <a:latin typeface="Roboto"/>
                <a:ea typeface="Roboto"/>
                <a:cs typeface="Roboto"/>
                <a:sym typeface="Roboto"/>
              </a:rPr>
              <a:t>		  Marketing &amp; Campaign</a:t>
            </a:r>
            <a:endParaRPr sz="1100">
              <a:solidFill>
                <a:schemeClr val="dk1"/>
              </a:solidFill>
              <a:latin typeface="Roboto"/>
              <a:ea typeface="Roboto"/>
              <a:cs typeface="Roboto"/>
              <a:sym typeface="Roboto"/>
            </a:endParaRPr>
          </a:p>
          <a:p>
            <a:pPr indent="0" lvl="0" marL="0" rtl="0" algn="just">
              <a:lnSpc>
                <a:spcPct val="115000"/>
              </a:lnSpc>
              <a:spcBef>
                <a:spcPts val="0"/>
              </a:spcBef>
              <a:spcAft>
                <a:spcPts val="0"/>
              </a:spcAft>
              <a:buNone/>
            </a:pPr>
            <a:r>
              <a:rPr b="1" lang="en-US" sz="1100">
                <a:solidFill>
                  <a:schemeClr val="dk1"/>
                </a:solidFill>
                <a:latin typeface="Roboto"/>
                <a:ea typeface="Roboto"/>
                <a:cs typeface="Roboto"/>
                <a:sym typeface="Roboto"/>
              </a:rPr>
              <a:t>Informed	: </a:t>
            </a:r>
            <a:r>
              <a:rPr lang="en-US" sz="1100">
                <a:solidFill>
                  <a:schemeClr val="dk1"/>
                </a:solidFill>
                <a:latin typeface="Roboto"/>
                <a:ea typeface="Roboto"/>
                <a:cs typeface="Roboto"/>
                <a:sym typeface="Roboto"/>
              </a:rPr>
              <a:t>Operational Teams &amp; </a:t>
            </a:r>
            <a:endParaRPr sz="1100">
              <a:solidFill>
                <a:schemeClr val="dk1"/>
              </a:solidFill>
              <a:latin typeface="Roboto"/>
              <a:ea typeface="Roboto"/>
              <a:cs typeface="Roboto"/>
              <a:sym typeface="Roboto"/>
            </a:endParaRPr>
          </a:p>
          <a:p>
            <a:pPr indent="457200" lvl="0" marL="457200" rtl="0" algn="just">
              <a:lnSpc>
                <a:spcPct val="115000"/>
              </a:lnSpc>
              <a:spcBef>
                <a:spcPts val="0"/>
              </a:spcBef>
              <a:spcAft>
                <a:spcPts val="0"/>
              </a:spcAft>
              <a:buNone/>
            </a:pPr>
            <a:r>
              <a:rPr lang="en-US" sz="1100">
                <a:solidFill>
                  <a:schemeClr val="dk1"/>
                </a:solidFill>
                <a:latin typeface="Roboto"/>
                <a:ea typeface="Roboto"/>
                <a:cs typeface="Roboto"/>
                <a:sym typeface="Roboto"/>
              </a:rPr>
              <a:t>  Management</a:t>
            </a:r>
            <a:endParaRPr sz="1100">
              <a:solidFill>
                <a:schemeClr val="dk1"/>
              </a:solidFill>
              <a:latin typeface="Roboto"/>
              <a:ea typeface="Roboto"/>
              <a:cs typeface="Roboto"/>
              <a:sym typeface="Roboto"/>
            </a:endParaRPr>
          </a:p>
        </p:txBody>
      </p:sp>
      <p:sp>
        <p:nvSpPr>
          <p:cNvPr id="835" name="Google Shape;835;g3b8af0a3789_0_70"/>
          <p:cNvSpPr txBox="1"/>
          <p:nvPr/>
        </p:nvSpPr>
        <p:spPr>
          <a:xfrm>
            <a:off x="4681300" y="2053838"/>
            <a:ext cx="855000" cy="3657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US" sz="1500">
                <a:solidFill>
                  <a:schemeClr val="lt1"/>
                </a:solidFill>
                <a:latin typeface="Roboto"/>
                <a:ea typeface="Roboto"/>
                <a:cs typeface="Roboto"/>
                <a:sym typeface="Roboto"/>
              </a:rPr>
              <a:t>DARCI</a:t>
            </a:r>
            <a:endParaRPr b="1" sz="1500">
              <a:solidFill>
                <a:srgbClr val="FFFFFF"/>
              </a:solidFill>
              <a:latin typeface="Roboto"/>
              <a:ea typeface="Roboto"/>
              <a:cs typeface="Roboto"/>
              <a:sym typeface="Roboto"/>
            </a:endParaRPr>
          </a:p>
        </p:txBody>
      </p:sp>
      <p:pic>
        <p:nvPicPr>
          <p:cNvPr id="836" name="Google Shape;836;g3b8af0a3789_0_70" title="watching_17990795.png"/>
          <p:cNvPicPr preferRelativeResize="0"/>
          <p:nvPr/>
        </p:nvPicPr>
        <p:blipFill>
          <a:blip r:embed="rId3">
            <a:alphaModFix/>
          </a:blip>
          <a:stretch>
            <a:fillRect/>
          </a:stretch>
        </p:blipFill>
        <p:spPr>
          <a:xfrm>
            <a:off x="4681300" y="2612350"/>
            <a:ext cx="905375" cy="905375"/>
          </a:xfrm>
          <a:prstGeom prst="rect">
            <a:avLst/>
          </a:prstGeom>
          <a:noFill/>
          <a:ln>
            <a:noFill/>
          </a:ln>
        </p:spPr>
      </p:pic>
      <p:pic>
        <p:nvPicPr>
          <p:cNvPr id="837" name="Google Shape;837;g3b8af0a3789_0_70"/>
          <p:cNvPicPr preferRelativeResize="0"/>
          <p:nvPr/>
        </p:nvPicPr>
        <p:blipFill rotWithShape="1">
          <a:blip r:embed="rId4">
            <a:alphaModFix/>
          </a:blip>
          <a:srcRect b="0" l="0" r="0" t="0"/>
          <a:stretch/>
        </p:blipFill>
        <p:spPr>
          <a:xfrm>
            <a:off x="5264125" y="-146325"/>
            <a:ext cx="3601424" cy="13336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1" name="Shape 841"/>
        <p:cNvGrpSpPr/>
        <p:nvPr/>
      </p:nvGrpSpPr>
      <p:grpSpPr>
        <a:xfrm>
          <a:off x="0" y="0"/>
          <a:ext cx="0" cy="0"/>
          <a:chOff x="0" y="0"/>
          <a:chExt cx="0" cy="0"/>
        </a:xfrm>
      </p:grpSpPr>
      <p:sp>
        <p:nvSpPr>
          <p:cNvPr id="842" name="Google Shape;842;g3b8af0a3789_0_1"/>
          <p:cNvSpPr/>
          <p:nvPr/>
        </p:nvSpPr>
        <p:spPr>
          <a:xfrm>
            <a:off x="2280850" y="1176925"/>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43" name="Google Shape;843;g3b8af0a3789_0_1"/>
          <p:cNvSpPr txBox="1"/>
          <p:nvPr/>
        </p:nvSpPr>
        <p:spPr>
          <a:xfrm>
            <a:off x="2624850" y="1149625"/>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EXECUTIVE SUMMARY</a:t>
            </a:r>
            <a:endParaRPr b="1" sz="2400">
              <a:solidFill>
                <a:schemeClr val="lt1"/>
              </a:solidFill>
              <a:latin typeface="Roboto"/>
              <a:ea typeface="Roboto"/>
              <a:cs typeface="Roboto"/>
              <a:sym typeface="Roboto"/>
            </a:endParaRPr>
          </a:p>
        </p:txBody>
      </p:sp>
      <p:sp>
        <p:nvSpPr>
          <p:cNvPr id="844" name="Google Shape;844;g3b8af0a3789_0_1"/>
          <p:cNvSpPr txBox="1"/>
          <p:nvPr/>
        </p:nvSpPr>
        <p:spPr>
          <a:xfrm>
            <a:off x="809326" y="1830475"/>
            <a:ext cx="2603400" cy="316500"/>
          </a:xfrm>
          <a:prstGeom prst="rect">
            <a:avLst/>
          </a:prstGeom>
          <a:noFill/>
          <a:ln>
            <a:noFill/>
          </a:ln>
        </p:spPr>
        <p:txBody>
          <a:bodyPr anchorCtr="0" anchor="t" bIns="79125" lIns="79125" spcFirstLastPara="1" rIns="79125" wrap="square" tIns="79125">
            <a:noAutofit/>
          </a:bodyPr>
          <a:lstStyle/>
          <a:p>
            <a:pPr indent="0" lvl="0" marL="0" rtl="0" algn="l">
              <a:spcBef>
                <a:spcPts val="0"/>
              </a:spcBef>
              <a:spcAft>
                <a:spcPts val="0"/>
              </a:spcAft>
              <a:buNone/>
            </a:pPr>
            <a:r>
              <a:rPr b="1" lang="en-US" sz="1804" u="sng">
                <a:solidFill>
                  <a:schemeClr val="dk2"/>
                </a:solidFill>
                <a:latin typeface="Roboto"/>
                <a:ea typeface="Roboto"/>
                <a:cs typeface="Roboto"/>
                <a:sym typeface="Roboto"/>
              </a:rPr>
              <a:t>Problem</a:t>
            </a:r>
            <a:endParaRPr b="1" sz="1804" u="sng">
              <a:solidFill>
                <a:schemeClr val="dk2"/>
              </a:solidFill>
              <a:latin typeface="Roboto"/>
              <a:ea typeface="Roboto"/>
              <a:cs typeface="Roboto"/>
              <a:sym typeface="Roboto"/>
            </a:endParaRPr>
          </a:p>
        </p:txBody>
      </p:sp>
      <p:sp>
        <p:nvSpPr>
          <p:cNvPr id="845" name="Google Shape;845;g3b8af0a3789_0_1"/>
          <p:cNvSpPr txBox="1"/>
          <p:nvPr/>
        </p:nvSpPr>
        <p:spPr>
          <a:xfrm>
            <a:off x="825247" y="2174910"/>
            <a:ext cx="3435000" cy="1137000"/>
          </a:xfrm>
          <a:prstGeom prst="rect">
            <a:avLst/>
          </a:prstGeom>
          <a:noFill/>
          <a:ln>
            <a:noFill/>
          </a:ln>
        </p:spPr>
        <p:txBody>
          <a:bodyPr anchorCtr="0" anchor="t" bIns="79125" lIns="79125" spcFirstLastPara="1" rIns="79125" wrap="square" tIns="79125">
            <a:noAutofit/>
          </a:bodyPr>
          <a:lstStyle/>
          <a:p>
            <a:pPr indent="0" lvl="0" marL="0" rtl="0" algn="just">
              <a:lnSpc>
                <a:spcPct val="100000"/>
              </a:lnSpc>
              <a:spcBef>
                <a:spcPts val="0"/>
              </a:spcBef>
              <a:spcAft>
                <a:spcPts val="0"/>
              </a:spcAft>
              <a:buNone/>
            </a:pPr>
            <a:r>
              <a:rPr lang="en-US" sz="1000">
                <a:solidFill>
                  <a:schemeClr val="dk1"/>
                </a:solidFill>
                <a:latin typeface="Roboto"/>
                <a:ea typeface="Roboto"/>
                <a:cs typeface="Roboto"/>
                <a:sym typeface="Roboto"/>
              </a:rPr>
              <a:t>How can OCA Indonesia leverage user behavior clustering to identify distinct customer segments, enable more relevant and personalized messaging, detect early signals of potential churn, and uncover upsell opportunities to improve delivery success and engagement in the next quarter?</a:t>
            </a:r>
            <a:endParaRPr sz="1000">
              <a:solidFill>
                <a:schemeClr val="dk1"/>
              </a:solidFill>
              <a:latin typeface="Roboto"/>
              <a:ea typeface="Roboto"/>
              <a:cs typeface="Roboto"/>
              <a:sym typeface="Roboto"/>
            </a:endParaRPr>
          </a:p>
          <a:p>
            <a:pPr indent="0" lvl="0" marL="0" rtl="0" algn="just">
              <a:lnSpc>
                <a:spcPct val="100000"/>
              </a:lnSpc>
              <a:spcBef>
                <a:spcPts val="0"/>
              </a:spcBef>
              <a:spcAft>
                <a:spcPts val="0"/>
              </a:spcAft>
              <a:buNone/>
            </a:pPr>
            <a:r>
              <a:t/>
            </a:r>
            <a:endParaRPr sz="1000">
              <a:solidFill>
                <a:schemeClr val="dk1"/>
              </a:solidFill>
              <a:latin typeface="Roboto"/>
              <a:ea typeface="Roboto"/>
              <a:cs typeface="Roboto"/>
              <a:sym typeface="Roboto"/>
            </a:endParaRPr>
          </a:p>
        </p:txBody>
      </p:sp>
      <p:sp>
        <p:nvSpPr>
          <p:cNvPr id="846" name="Google Shape;846;g3b8af0a3789_0_1"/>
          <p:cNvSpPr txBox="1"/>
          <p:nvPr/>
        </p:nvSpPr>
        <p:spPr>
          <a:xfrm>
            <a:off x="4796813" y="1889975"/>
            <a:ext cx="2668800" cy="316500"/>
          </a:xfrm>
          <a:prstGeom prst="rect">
            <a:avLst/>
          </a:prstGeom>
          <a:noFill/>
          <a:ln>
            <a:noFill/>
          </a:ln>
        </p:spPr>
        <p:txBody>
          <a:bodyPr anchorCtr="0" anchor="t" bIns="79125" lIns="79125" spcFirstLastPara="1" rIns="79125" wrap="square" tIns="79125">
            <a:noAutofit/>
          </a:bodyPr>
          <a:lstStyle/>
          <a:p>
            <a:pPr indent="0" lvl="0" marL="0" rtl="0" algn="l">
              <a:spcBef>
                <a:spcPts val="0"/>
              </a:spcBef>
              <a:spcAft>
                <a:spcPts val="0"/>
              </a:spcAft>
              <a:buNone/>
            </a:pPr>
            <a:r>
              <a:rPr b="1" lang="en-US" sz="1804" u="sng">
                <a:solidFill>
                  <a:schemeClr val="dk2"/>
                </a:solidFill>
                <a:latin typeface="Roboto"/>
                <a:ea typeface="Roboto"/>
                <a:cs typeface="Roboto"/>
                <a:sym typeface="Roboto"/>
              </a:rPr>
              <a:t>Objective</a:t>
            </a:r>
            <a:endParaRPr b="1" sz="1804" u="sng">
              <a:solidFill>
                <a:schemeClr val="dk2"/>
              </a:solidFill>
              <a:latin typeface="Roboto"/>
              <a:ea typeface="Roboto"/>
              <a:cs typeface="Roboto"/>
              <a:sym typeface="Roboto"/>
            </a:endParaRPr>
          </a:p>
        </p:txBody>
      </p:sp>
      <p:sp>
        <p:nvSpPr>
          <p:cNvPr id="847" name="Google Shape;847;g3b8af0a3789_0_1"/>
          <p:cNvSpPr txBox="1"/>
          <p:nvPr/>
        </p:nvSpPr>
        <p:spPr>
          <a:xfrm>
            <a:off x="4813135" y="2234421"/>
            <a:ext cx="3521400" cy="1137000"/>
          </a:xfrm>
          <a:prstGeom prst="rect">
            <a:avLst/>
          </a:prstGeom>
          <a:noFill/>
          <a:ln>
            <a:noFill/>
          </a:ln>
        </p:spPr>
        <p:txBody>
          <a:bodyPr anchorCtr="0" anchor="t" bIns="79125" lIns="79125" spcFirstLastPara="1" rIns="79125" wrap="square" tIns="79125">
            <a:noAutofit/>
          </a:bodyPr>
          <a:lstStyle/>
          <a:p>
            <a:pPr indent="0" lvl="0" marL="0" rtl="0" algn="just">
              <a:spcBef>
                <a:spcPts val="0"/>
              </a:spcBef>
              <a:spcAft>
                <a:spcPts val="0"/>
              </a:spcAft>
              <a:buNone/>
            </a:pPr>
            <a:r>
              <a:rPr lang="en-US" sz="1000">
                <a:solidFill>
                  <a:schemeClr val="dk1"/>
                </a:solidFill>
                <a:latin typeface="Roboto"/>
                <a:ea typeface="Roboto"/>
                <a:cs typeface="Roboto"/>
                <a:sym typeface="Roboto"/>
              </a:rPr>
              <a:t>To understand and segment OCA Indonesia users based on behavioral patterns in order to enable personalization, early churn detection, and targeted upsell strategies that improve delivery success and customer engagement.</a:t>
            </a:r>
            <a:endParaRPr sz="1111">
              <a:solidFill>
                <a:schemeClr val="dk1"/>
              </a:solidFill>
              <a:latin typeface="Roboto"/>
              <a:ea typeface="Roboto"/>
              <a:cs typeface="Roboto"/>
              <a:sym typeface="Roboto"/>
            </a:endParaRPr>
          </a:p>
        </p:txBody>
      </p:sp>
      <p:sp>
        <p:nvSpPr>
          <p:cNvPr id="848" name="Google Shape;848;g3b8af0a3789_0_1"/>
          <p:cNvSpPr txBox="1"/>
          <p:nvPr/>
        </p:nvSpPr>
        <p:spPr>
          <a:xfrm>
            <a:off x="809313" y="3339845"/>
            <a:ext cx="2603400" cy="316500"/>
          </a:xfrm>
          <a:prstGeom prst="rect">
            <a:avLst/>
          </a:prstGeom>
          <a:noFill/>
          <a:ln>
            <a:noFill/>
          </a:ln>
        </p:spPr>
        <p:txBody>
          <a:bodyPr anchorCtr="0" anchor="t" bIns="79125" lIns="79125" spcFirstLastPara="1" rIns="79125" wrap="square" tIns="79125">
            <a:noAutofit/>
          </a:bodyPr>
          <a:lstStyle/>
          <a:p>
            <a:pPr indent="0" lvl="0" marL="0" rtl="0" algn="l">
              <a:spcBef>
                <a:spcPts val="0"/>
              </a:spcBef>
              <a:spcAft>
                <a:spcPts val="0"/>
              </a:spcAft>
              <a:buNone/>
            </a:pPr>
            <a:r>
              <a:rPr b="1" lang="en-US" sz="1804">
                <a:solidFill>
                  <a:schemeClr val="dk2"/>
                </a:solidFill>
                <a:latin typeface="Roboto"/>
                <a:ea typeface="Roboto"/>
                <a:cs typeface="Roboto"/>
                <a:sym typeface="Roboto"/>
              </a:rPr>
              <a:t>Findings</a:t>
            </a:r>
            <a:endParaRPr b="1" sz="1804">
              <a:solidFill>
                <a:schemeClr val="dk2"/>
              </a:solidFill>
              <a:latin typeface="Roboto"/>
              <a:ea typeface="Roboto"/>
              <a:cs typeface="Roboto"/>
              <a:sym typeface="Roboto"/>
            </a:endParaRPr>
          </a:p>
        </p:txBody>
      </p:sp>
      <p:sp>
        <p:nvSpPr>
          <p:cNvPr id="849" name="Google Shape;849;g3b8af0a3789_0_1"/>
          <p:cNvSpPr txBox="1"/>
          <p:nvPr/>
        </p:nvSpPr>
        <p:spPr>
          <a:xfrm>
            <a:off x="825234" y="3678528"/>
            <a:ext cx="3435000" cy="1137000"/>
          </a:xfrm>
          <a:prstGeom prst="rect">
            <a:avLst/>
          </a:prstGeom>
          <a:noFill/>
          <a:ln>
            <a:noFill/>
          </a:ln>
        </p:spPr>
        <p:txBody>
          <a:bodyPr anchorCtr="0" anchor="t" bIns="79125" lIns="79125" spcFirstLastPara="1" rIns="79125" wrap="square" tIns="79125">
            <a:noAutofit/>
          </a:bodyPr>
          <a:lstStyle/>
          <a:p>
            <a:pPr indent="0" lvl="0" marL="0" rtl="0" algn="just">
              <a:spcBef>
                <a:spcPts val="0"/>
              </a:spcBef>
              <a:spcAft>
                <a:spcPts val="0"/>
              </a:spcAft>
              <a:buNone/>
            </a:pPr>
            <a:r>
              <a:rPr lang="en-US" sz="1000">
                <a:solidFill>
                  <a:schemeClr val="dk1"/>
                </a:solidFill>
                <a:latin typeface="Roboto"/>
                <a:ea typeface="Roboto"/>
                <a:cs typeface="Roboto"/>
                <a:sym typeface="Roboto"/>
              </a:rPr>
              <a:t>Growth depends on WhatsApp and Email, revenue concentrated in few Power Users, while quality-driven silent churn and missing mid-tier threaten scalability despite uniform engagement patterns.</a:t>
            </a:r>
            <a:endParaRPr sz="1111">
              <a:solidFill>
                <a:schemeClr val="dk1"/>
              </a:solidFill>
              <a:latin typeface="Roboto"/>
              <a:ea typeface="Roboto"/>
              <a:cs typeface="Roboto"/>
              <a:sym typeface="Roboto"/>
            </a:endParaRPr>
          </a:p>
        </p:txBody>
      </p:sp>
      <p:sp>
        <p:nvSpPr>
          <p:cNvPr id="850" name="Google Shape;850;g3b8af0a3789_0_1"/>
          <p:cNvSpPr txBox="1"/>
          <p:nvPr/>
        </p:nvSpPr>
        <p:spPr>
          <a:xfrm>
            <a:off x="4796799" y="3399339"/>
            <a:ext cx="2668800" cy="316500"/>
          </a:xfrm>
          <a:prstGeom prst="rect">
            <a:avLst/>
          </a:prstGeom>
          <a:noFill/>
          <a:ln>
            <a:noFill/>
          </a:ln>
        </p:spPr>
        <p:txBody>
          <a:bodyPr anchorCtr="0" anchor="t" bIns="79125" lIns="79125" spcFirstLastPara="1" rIns="79125" wrap="square" tIns="79125">
            <a:noAutofit/>
          </a:bodyPr>
          <a:lstStyle/>
          <a:p>
            <a:pPr indent="0" lvl="0" marL="0" rtl="0" algn="l">
              <a:spcBef>
                <a:spcPts val="0"/>
              </a:spcBef>
              <a:spcAft>
                <a:spcPts val="0"/>
              </a:spcAft>
              <a:buNone/>
            </a:pPr>
            <a:r>
              <a:rPr b="1" lang="en-US" sz="1804">
                <a:solidFill>
                  <a:schemeClr val="dk2"/>
                </a:solidFill>
                <a:latin typeface="Roboto"/>
                <a:ea typeface="Roboto"/>
                <a:cs typeface="Roboto"/>
                <a:sym typeface="Roboto"/>
              </a:rPr>
              <a:t>Recommendations</a:t>
            </a:r>
            <a:endParaRPr b="1" sz="1804">
              <a:solidFill>
                <a:schemeClr val="dk2"/>
              </a:solidFill>
              <a:latin typeface="Roboto"/>
              <a:ea typeface="Roboto"/>
              <a:cs typeface="Roboto"/>
              <a:sym typeface="Roboto"/>
            </a:endParaRPr>
          </a:p>
        </p:txBody>
      </p:sp>
      <p:sp>
        <p:nvSpPr>
          <p:cNvPr id="851" name="Google Shape;851;g3b8af0a3789_0_1"/>
          <p:cNvSpPr txBox="1"/>
          <p:nvPr/>
        </p:nvSpPr>
        <p:spPr>
          <a:xfrm>
            <a:off x="4813121" y="3738033"/>
            <a:ext cx="3521400" cy="1137000"/>
          </a:xfrm>
          <a:prstGeom prst="rect">
            <a:avLst/>
          </a:prstGeom>
          <a:noFill/>
          <a:ln>
            <a:noFill/>
          </a:ln>
        </p:spPr>
        <p:txBody>
          <a:bodyPr anchorCtr="0" anchor="t" bIns="79125" lIns="79125" spcFirstLastPara="1" rIns="79125" wrap="square" tIns="79125">
            <a:noAutofit/>
          </a:bodyPr>
          <a:lstStyle/>
          <a:p>
            <a:pPr indent="0" lvl="0" marL="0" rtl="0" algn="just">
              <a:spcBef>
                <a:spcPts val="0"/>
              </a:spcBef>
              <a:spcAft>
                <a:spcPts val="0"/>
              </a:spcAft>
              <a:buNone/>
            </a:pPr>
            <a:r>
              <a:rPr lang="en-US" sz="1000">
                <a:solidFill>
                  <a:schemeClr val="dk1"/>
                </a:solidFill>
                <a:latin typeface="Roboto"/>
                <a:ea typeface="Roboto"/>
                <a:cs typeface="Roboto"/>
                <a:sym typeface="Roboto"/>
              </a:rPr>
              <a:t>Prioritize quality fixes for Power Users, focus on WhatsApp and Email, activate mid-tier via value-based upsell, and embed behavior-driven lifecycle management to reduce churn and revenue concentration.</a:t>
            </a:r>
            <a:endParaRPr sz="1111">
              <a:solidFill>
                <a:schemeClr val="dk1"/>
              </a:solidFill>
              <a:latin typeface="Roboto"/>
              <a:ea typeface="Roboto"/>
              <a:cs typeface="Roboto"/>
              <a:sym typeface="Roboto"/>
            </a:endParaRPr>
          </a:p>
        </p:txBody>
      </p:sp>
      <p:sp>
        <p:nvSpPr>
          <p:cNvPr id="852" name="Google Shape;852;g3b8af0a3789_0_1"/>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53" name="Google Shape;853;g3b8af0a3789_0_1"/>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pic>
        <p:nvPicPr>
          <p:cNvPr id="854" name="Google Shape;854;g3b8af0a3789_0_1"/>
          <p:cNvPicPr preferRelativeResize="0"/>
          <p:nvPr/>
        </p:nvPicPr>
        <p:blipFill rotWithShape="1">
          <a:blip r:embed="rId3">
            <a:alphaModFix/>
          </a:blip>
          <a:srcRect b="0" l="0" r="0" t="0"/>
          <a:stretch/>
        </p:blipFill>
        <p:spPr>
          <a:xfrm>
            <a:off x="-12" y="-146325"/>
            <a:ext cx="3601424" cy="13336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pic>
        <p:nvPicPr>
          <p:cNvPr id="859" name="Google Shape;859;g3b8af0a3789_0_99"/>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860" name="Google Shape;860;g3b8af0a3789_0_99"/>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61" name="Google Shape;861;g3b8af0a3789_0_99"/>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Root Cause Analyze</a:t>
            </a:r>
            <a:endParaRPr b="1" sz="2400">
              <a:solidFill>
                <a:schemeClr val="lt1"/>
              </a:solidFill>
              <a:latin typeface="Roboto"/>
              <a:ea typeface="Roboto"/>
              <a:cs typeface="Roboto"/>
              <a:sym typeface="Roboto"/>
            </a:endParaRPr>
          </a:p>
        </p:txBody>
      </p:sp>
      <p:sp>
        <p:nvSpPr>
          <p:cNvPr id="862" name="Google Shape;862;g3b8af0a3789_0_99"/>
          <p:cNvSpPr/>
          <p:nvPr/>
        </p:nvSpPr>
        <p:spPr>
          <a:xfrm>
            <a:off x="0" y="1551500"/>
            <a:ext cx="9144000" cy="359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863" name="Google Shape;863;g3b8af0a3789_0_99"/>
          <p:cNvPicPr preferRelativeResize="0"/>
          <p:nvPr/>
        </p:nvPicPr>
        <p:blipFill>
          <a:blip r:embed="rId4">
            <a:alphaModFix/>
          </a:blip>
          <a:stretch>
            <a:fillRect/>
          </a:stretch>
        </p:blipFill>
        <p:spPr>
          <a:xfrm>
            <a:off x="845825" y="1703625"/>
            <a:ext cx="7451650" cy="3287650"/>
          </a:xfrm>
          <a:prstGeom prst="rect">
            <a:avLst/>
          </a:prstGeom>
          <a:solidFill>
            <a:schemeClr val="lt1"/>
          </a:solid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7" name="Shape 867"/>
        <p:cNvGrpSpPr/>
        <p:nvPr/>
      </p:nvGrpSpPr>
      <p:grpSpPr>
        <a:xfrm>
          <a:off x="0" y="0"/>
          <a:ext cx="0" cy="0"/>
          <a:chOff x="0" y="0"/>
          <a:chExt cx="0" cy="0"/>
        </a:xfrm>
      </p:grpSpPr>
      <p:pic>
        <p:nvPicPr>
          <p:cNvPr id="868" name="Google Shape;868;g3b8af0a3789_0_47"/>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869" name="Google Shape;869;g3b8af0a3789_0_47"/>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70" name="Google Shape;870;g3b8af0a3789_0_47"/>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Project Objective</a:t>
            </a:r>
            <a:endParaRPr b="1" sz="2400">
              <a:solidFill>
                <a:schemeClr val="lt1"/>
              </a:solidFill>
              <a:latin typeface="Roboto"/>
              <a:ea typeface="Roboto"/>
              <a:cs typeface="Roboto"/>
              <a:sym typeface="Roboto"/>
            </a:endParaRPr>
          </a:p>
        </p:txBody>
      </p:sp>
      <p:sp>
        <p:nvSpPr>
          <p:cNvPr id="871" name="Google Shape;871;g3b8af0a3789_0_47"/>
          <p:cNvSpPr/>
          <p:nvPr/>
        </p:nvSpPr>
        <p:spPr>
          <a:xfrm>
            <a:off x="-313125" y="1578800"/>
            <a:ext cx="9640500" cy="36888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72" name="Google Shape;872;g3b8af0a3789_0_47"/>
          <p:cNvSpPr txBox="1"/>
          <p:nvPr/>
        </p:nvSpPr>
        <p:spPr>
          <a:xfrm>
            <a:off x="668663" y="1853738"/>
            <a:ext cx="2264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2"/>
                </a:solidFill>
                <a:latin typeface="Roboto"/>
                <a:ea typeface="Roboto"/>
                <a:cs typeface="Roboto"/>
                <a:sym typeface="Roboto"/>
              </a:rPr>
              <a:t>Behavioral Understanding Objective</a:t>
            </a:r>
            <a:endParaRPr b="1" sz="1100">
              <a:solidFill>
                <a:schemeClr val="dk2"/>
              </a:solidFill>
              <a:latin typeface="Roboto"/>
              <a:ea typeface="Roboto"/>
              <a:cs typeface="Roboto"/>
              <a:sym typeface="Roboto"/>
            </a:endParaRPr>
          </a:p>
        </p:txBody>
      </p:sp>
      <p:sp>
        <p:nvSpPr>
          <p:cNvPr id="873" name="Google Shape;873;g3b8af0a3789_0_47"/>
          <p:cNvSpPr txBox="1"/>
          <p:nvPr/>
        </p:nvSpPr>
        <p:spPr>
          <a:xfrm>
            <a:off x="3375063" y="1853738"/>
            <a:ext cx="2264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2"/>
                </a:solidFill>
                <a:latin typeface="Roboto"/>
                <a:ea typeface="Roboto"/>
                <a:cs typeface="Roboto"/>
                <a:sym typeface="Roboto"/>
              </a:rPr>
              <a:t>Segmentation Objective </a:t>
            </a:r>
            <a:br>
              <a:rPr b="1" lang="en-US" sz="1100">
                <a:solidFill>
                  <a:schemeClr val="dk2"/>
                </a:solidFill>
                <a:latin typeface="Roboto"/>
                <a:ea typeface="Roboto"/>
                <a:cs typeface="Roboto"/>
                <a:sym typeface="Roboto"/>
              </a:rPr>
            </a:br>
            <a:r>
              <a:rPr b="1" lang="en-US" sz="1100">
                <a:solidFill>
                  <a:schemeClr val="dk2"/>
                </a:solidFill>
                <a:latin typeface="Roboto"/>
                <a:ea typeface="Roboto"/>
                <a:cs typeface="Roboto"/>
                <a:sym typeface="Roboto"/>
              </a:rPr>
              <a:t>(RFM &amp; Clustering)</a:t>
            </a:r>
            <a:endParaRPr b="1" sz="1100">
              <a:solidFill>
                <a:schemeClr val="dk2"/>
              </a:solidFill>
              <a:latin typeface="Roboto"/>
              <a:ea typeface="Roboto"/>
              <a:cs typeface="Roboto"/>
              <a:sym typeface="Roboto"/>
            </a:endParaRPr>
          </a:p>
        </p:txBody>
      </p:sp>
      <p:sp>
        <p:nvSpPr>
          <p:cNvPr id="874" name="Google Shape;874;g3b8af0a3789_0_47"/>
          <p:cNvSpPr txBox="1"/>
          <p:nvPr/>
        </p:nvSpPr>
        <p:spPr>
          <a:xfrm>
            <a:off x="6081463" y="1853738"/>
            <a:ext cx="2264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2"/>
                </a:solidFill>
                <a:latin typeface="Roboto"/>
                <a:ea typeface="Roboto"/>
                <a:cs typeface="Roboto"/>
                <a:sym typeface="Roboto"/>
              </a:rPr>
              <a:t>Revenue &amp; Value Identification Objective</a:t>
            </a:r>
            <a:endParaRPr b="1" sz="1100">
              <a:solidFill>
                <a:schemeClr val="dk2"/>
              </a:solidFill>
              <a:latin typeface="Roboto"/>
              <a:ea typeface="Roboto"/>
              <a:cs typeface="Roboto"/>
              <a:sym typeface="Roboto"/>
            </a:endParaRPr>
          </a:p>
        </p:txBody>
      </p:sp>
      <p:sp>
        <p:nvSpPr>
          <p:cNvPr id="875" name="Google Shape;875;g3b8af0a3789_0_47"/>
          <p:cNvSpPr txBox="1"/>
          <p:nvPr/>
        </p:nvSpPr>
        <p:spPr>
          <a:xfrm>
            <a:off x="1337313" y="3355500"/>
            <a:ext cx="22641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2"/>
                </a:solidFill>
                <a:latin typeface="Roboto"/>
                <a:ea typeface="Roboto"/>
                <a:cs typeface="Roboto"/>
                <a:sym typeface="Roboto"/>
              </a:rPr>
              <a:t>Churn Risk Detection Objective</a:t>
            </a:r>
            <a:endParaRPr b="1" sz="1100">
              <a:solidFill>
                <a:schemeClr val="dk2"/>
              </a:solidFill>
              <a:latin typeface="Roboto"/>
              <a:ea typeface="Roboto"/>
              <a:cs typeface="Roboto"/>
              <a:sym typeface="Roboto"/>
            </a:endParaRPr>
          </a:p>
        </p:txBody>
      </p:sp>
      <p:sp>
        <p:nvSpPr>
          <p:cNvPr id="876" name="Google Shape;876;g3b8af0a3789_0_47"/>
          <p:cNvSpPr txBox="1"/>
          <p:nvPr/>
        </p:nvSpPr>
        <p:spPr>
          <a:xfrm>
            <a:off x="5639163" y="3270900"/>
            <a:ext cx="22641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a:solidFill>
                  <a:schemeClr val="dk2"/>
                </a:solidFill>
                <a:latin typeface="Roboto"/>
                <a:ea typeface="Roboto"/>
                <a:cs typeface="Roboto"/>
                <a:sym typeface="Roboto"/>
              </a:rPr>
              <a:t>Channel </a:t>
            </a:r>
            <a:r>
              <a:rPr b="1" lang="en-US" sz="1100">
                <a:solidFill>
                  <a:schemeClr val="dk2"/>
                </a:solidFill>
                <a:latin typeface="Roboto"/>
                <a:ea typeface="Roboto"/>
                <a:cs typeface="Roboto"/>
                <a:sym typeface="Roboto"/>
              </a:rPr>
              <a:t>&amp; Engagement Optimization Objective</a:t>
            </a:r>
            <a:endParaRPr b="1" sz="1100">
              <a:solidFill>
                <a:schemeClr val="dk2"/>
              </a:solidFill>
              <a:latin typeface="Roboto"/>
              <a:ea typeface="Roboto"/>
              <a:cs typeface="Roboto"/>
              <a:sym typeface="Roboto"/>
            </a:endParaRPr>
          </a:p>
        </p:txBody>
      </p:sp>
      <p:sp>
        <p:nvSpPr>
          <p:cNvPr id="877" name="Google Shape;877;g3b8af0a3789_0_47"/>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78" name="Google Shape;878;g3b8af0a3789_0_47"/>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879" name="Google Shape;879;g3b8af0a3789_0_47"/>
          <p:cNvSpPr txBox="1"/>
          <p:nvPr/>
        </p:nvSpPr>
        <p:spPr>
          <a:xfrm>
            <a:off x="668663" y="2299988"/>
            <a:ext cx="2264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Analyze user behavior across channels and time to identify distinct usage patterns.</a:t>
            </a:r>
            <a:endParaRPr sz="1000">
              <a:solidFill>
                <a:schemeClr val="dk1"/>
              </a:solidFill>
              <a:latin typeface="Roboto"/>
              <a:ea typeface="Roboto"/>
              <a:cs typeface="Roboto"/>
              <a:sym typeface="Roboto"/>
            </a:endParaRPr>
          </a:p>
        </p:txBody>
      </p:sp>
      <p:sp>
        <p:nvSpPr>
          <p:cNvPr id="880" name="Google Shape;880;g3b8af0a3789_0_47"/>
          <p:cNvSpPr txBox="1"/>
          <p:nvPr/>
        </p:nvSpPr>
        <p:spPr>
          <a:xfrm>
            <a:off x="3375063" y="2299988"/>
            <a:ext cx="2264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Create meaningful user segments using RFM and clustering techniques based on behavioral and transactional metrics.</a:t>
            </a:r>
            <a:endParaRPr sz="1000">
              <a:solidFill>
                <a:schemeClr val="dk1"/>
              </a:solidFill>
              <a:latin typeface="Roboto"/>
              <a:ea typeface="Roboto"/>
              <a:cs typeface="Roboto"/>
              <a:sym typeface="Roboto"/>
            </a:endParaRPr>
          </a:p>
        </p:txBody>
      </p:sp>
      <p:sp>
        <p:nvSpPr>
          <p:cNvPr id="881" name="Google Shape;881;g3b8af0a3789_0_47"/>
          <p:cNvSpPr txBox="1"/>
          <p:nvPr/>
        </p:nvSpPr>
        <p:spPr>
          <a:xfrm>
            <a:off x="6081463" y="2299975"/>
            <a:ext cx="2264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Identify high-value and high-potential user segments to optimize revenue contribution.</a:t>
            </a:r>
            <a:endParaRPr sz="1000">
              <a:solidFill>
                <a:schemeClr val="dk1"/>
              </a:solidFill>
              <a:latin typeface="Roboto"/>
              <a:ea typeface="Roboto"/>
              <a:cs typeface="Roboto"/>
              <a:sym typeface="Roboto"/>
            </a:endParaRPr>
          </a:p>
        </p:txBody>
      </p:sp>
      <p:sp>
        <p:nvSpPr>
          <p:cNvPr id="882" name="Google Shape;882;g3b8af0a3789_0_47"/>
          <p:cNvSpPr txBox="1"/>
          <p:nvPr/>
        </p:nvSpPr>
        <p:spPr>
          <a:xfrm>
            <a:off x="1337313" y="3716450"/>
            <a:ext cx="22641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Detect early behavioral signals of potential churn across user segments.</a:t>
            </a:r>
            <a:endParaRPr sz="1000">
              <a:solidFill>
                <a:schemeClr val="dk1"/>
              </a:solidFill>
              <a:latin typeface="Roboto"/>
              <a:ea typeface="Roboto"/>
              <a:cs typeface="Roboto"/>
              <a:sym typeface="Roboto"/>
            </a:endParaRPr>
          </a:p>
        </p:txBody>
      </p:sp>
      <p:sp>
        <p:nvSpPr>
          <p:cNvPr id="883" name="Google Shape;883;g3b8af0a3789_0_47"/>
          <p:cNvSpPr txBox="1"/>
          <p:nvPr/>
        </p:nvSpPr>
        <p:spPr>
          <a:xfrm>
            <a:off x="5639163" y="3766800"/>
            <a:ext cx="2264100" cy="8004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Evaluate channel effectiveness and engagement patterns across segments to improve delivery success.</a:t>
            </a:r>
            <a:endParaRPr sz="1000">
              <a:solidFill>
                <a:schemeClr val="dk1"/>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7" name="Shape 887"/>
        <p:cNvGrpSpPr/>
        <p:nvPr/>
      </p:nvGrpSpPr>
      <p:grpSpPr>
        <a:xfrm>
          <a:off x="0" y="0"/>
          <a:ext cx="0" cy="0"/>
          <a:chOff x="0" y="0"/>
          <a:chExt cx="0" cy="0"/>
        </a:xfrm>
      </p:grpSpPr>
      <p:pic>
        <p:nvPicPr>
          <p:cNvPr id="888" name="Google Shape;888;g3b8af0a3789_0_136"/>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889" name="Google Shape;889;g3b8af0a3789_0_136"/>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890" name="Google Shape;890;g3b8af0a3789_0_136"/>
          <p:cNvSpPr txBox="1"/>
          <p:nvPr/>
        </p:nvSpPr>
        <p:spPr>
          <a:xfrm>
            <a:off x="6081475" y="2840375"/>
            <a:ext cx="2264100" cy="17562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122.749 transactions</a:t>
            </a:r>
            <a:endParaRPr sz="1000">
              <a:solidFill>
                <a:schemeClr val="dk1"/>
              </a:solidFill>
              <a:latin typeface="Roboto"/>
              <a:ea typeface="Roboto"/>
              <a:cs typeface="Roboto"/>
              <a:sym typeface="Roboto"/>
            </a:endParaRPr>
          </a:p>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20 unique users</a:t>
            </a:r>
            <a:endParaRPr sz="1000">
              <a:solidFill>
                <a:schemeClr val="dk1"/>
              </a:solidFill>
              <a:latin typeface="Roboto"/>
              <a:ea typeface="Roboto"/>
              <a:cs typeface="Roboto"/>
              <a:sym typeface="Roboto"/>
            </a:endParaRPr>
          </a:p>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Main metric : user_id, channel_diversity, </a:t>
            </a:r>
            <a:r>
              <a:rPr lang="en-US" sz="1000">
                <a:solidFill>
                  <a:schemeClr val="dk1"/>
                </a:solidFill>
                <a:latin typeface="Roboto"/>
                <a:ea typeface="Roboto"/>
                <a:cs typeface="Roboto"/>
                <a:sym typeface="Roboto"/>
              </a:rPr>
              <a:t>message_volume, active_days_df</a:t>
            </a:r>
            <a:r>
              <a:rPr lang="en-US" sz="1000">
                <a:solidFill>
                  <a:schemeClr val="dk1"/>
                </a:solidFill>
                <a:latin typeface="Roboto"/>
                <a:ea typeface="Roboto"/>
                <a:cs typeface="Roboto"/>
                <a:sym typeface="Roboto"/>
              </a:rPr>
              <a:t>, tenure, </a:t>
            </a:r>
            <a:r>
              <a:rPr lang="en-US" sz="1000">
                <a:solidFill>
                  <a:schemeClr val="dk1"/>
                </a:solidFill>
                <a:latin typeface="Roboto"/>
                <a:ea typeface="Roboto"/>
                <a:cs typeface="Roboto"/>
                <a:sym typeface="Roboto"/>
              </a:rPr>
              <a:t>success_rate</a:t>
            </a:r>
            <a:r>
              <a:rPr lang="en-US" sz="1000">
                <a:solidFill>
                  <a:schemeClr val="dk1"/>
                </a:solidFill>
                <a:latin typeface="Roboto"/>
                <a:ea typeface="Roboto"/>
                <a:cs typeface="Roboto"/>
                <a:sym typeface="Roboto"/>
              </a:rPr>
              <a:t>, total_revenue, recency_days, is_dormant</a:t>
            </a:r>
            <a:endParaRPr sz="1000">
              <a:solidFill>
                <a:schemeClr val="dk1"/>
              </a:solidFill>
              <a:latin typeface="Roboto"/>
              <a:ea typeface="Roboto"/>
              <a:cs typeface="Roboto"/>
              <a:sym typeface="Roboto"/>
            </a:endParaRPr>
          </a:p>
        </p:txBody>
      </p:sp>
      <p:sp>
        <p:nvSpPr>
          <p:cNvPr id="891" name="Google Shape;891;g3b8af0a3789_0_136"/>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Project Scope &amp; Dataset</a:t>
            </a:r>
            <a:endParaRPr b="1" sz="2400">
              <a:solidFill>
                <a:schemeClr val="lt1"/>
              </a:solidFill>
              <a:latin typeface="Roboto"/>
              <a:ea typeface="Roboto"/>
              <a:cs typeface="Roboto"/>
              <a:sym typeface="Roboto"/>
            </a:endParaRPr>
          </a:p>
        </p:txBody>
      </p:sp>
      <p:sp>
        <p:nvSpPr>
          <p:cNvPr id="892" name="Google Shape;892;g3b8af0a3789_0_136"/>
          <p:cNvSpPr txBox="1"/>
          <p:nvPr/>
        </p:nvSpPr>
        <p:spPr>
          <a:xfrm>
            <a:off x="668663" y="2394138"/>
            <a:ext cx="226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u="sng">
                <a:solidFill>
                  <a:schemeClr val="dk2"/>
                </a:solidFill>
                <a:latin typeface="Roboto"/>
                <a:ea typeface="Roboto"/>
                <a:cs typeface="Roboto"/>
                <a:sym typeface="Roboto"/>
              </a:rPr>
              <a:t>Focus Area</a:t>
            </a:r>
            <a:endParaRPr b="1" u="sng">
              <a:solidFill>
                <a:schemeClr val="dk2"/>
              </a:solidFill>
              <a:latin typeface="Roboto"/>
              <a:ea typeface="Roboto"/>
              <a:cs typeface="Roboto"/>
              <a:sym typeface="Roboto"/>
            </a:endParaRPr>
          </a:p>
        </p:txBody>
      </p:sp>
      <p:sp>
        <p:nvSpPr>
          <p:cNvPr id="893" name="Google Shape;893;g3b8af0a3789_0_136"/>
          <p:cNvSpPr txBox="1"/>
          <p:nvPr/>
        </p:nvSpPr>
        <p:spPr>
          <a:xfrm>
            <a:off x="3375063" y="2394138"/>
            <a:ext cx="226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u="sng">
                <a:solidFill>
                  <a:schemeClr val="dk2"/>
                </a:solidFill>
                <a:latin typeface="Roboto"/>
                <a:ea typeface="Roboto"/>
                <a:cs typeface="Roboto"/>
                <a:sym typeface="Roboto"/>
              </a:rPr>
              <a:t>Exclusion</a:t>
            </a:r>
            <a:endParaRPr b="1" u="sng">
              <a:solidFill>
                <a:schemeClr val="dk2"/>
              </a:solidFill>
              <a:latin typeface="Roboto"/>
              <a:ea typeface="Roboto"/>
              <a:cs typeface="Roboto"/>
              <a:sym typeface="Roboto"/>
            </a:endParaRPr>
          </a:p>
        </p:txBody>
      </p:sp>
      <p:sp>
        <p:nvSpPr>
          <p:cNvPr id="894" name="Google Shape;894;g3b8af0a3789_0_136"/>
          <p:cNvSpPr txBox="1"/>
          <p:nvPr/>
        </p:nvSpPr>
        <p:spPr>
          <a:xfrm>
            <a:off x="6081463" y="2394138"/>
            <a:ext cx="22641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u="sng">
                <a:solidFill>
                  <a:schemeClr val="dk2"/>
                </a:solidFill>
                <a:latin typeface="Roboto"/>
                <a:ea typeface="Roboto"/>
                <a:cs typeface="Roboto"/>
                <a:sym typeface="Roboto"/>
              </a:rPr>
              <a:t>Dataset</a:t>
            </a:r>
            <a:endParaRPr b="1" u="sng">
              <a:solidFill>
                <a:schemeClr val="dk2"/>
              </a:solidFill>
              <a:latin typeface="Roboto"/>
              <a:ea typeface="Roboto"/>
              <a:cs typeface="Roboto"/>
              <a:sym typeface="Roboto"/>
            </a:endParaRPr>
          </a:p>
        </p:txBody>
      </p:sp>
      <p:sp>
        <p:nvSpPr>
          <p:cNvPr id="895" name="Google Shape;895;g3b8af0a3789_0_136"/>
          <p:cNvSpPr txBox="1"/>
          <p:nvPr/>
        </p:nvSpPr>
        <p:spPr>
          <a:xfrm>
            <a:off x="668675" y="2840412"/>
            <a:ext cx="2264100" cy="12705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User 360 &amp; Segmentation</a:t>
            </a:r>
            <a:endParaRPr sz="1000">
              <a:solidFill>
                <a:schemeClr val="dk1"/>
              </a:solidFill>
              <a:latin typeface="Roboto"/>
              <a:ea typeface="Roboto"/>
              <a:cs typeface="Roboto"/>
              <a:sym typeface="Roboto"/>
            </a:endParaRPr>
          </a:p>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Revenue &amp; Profitability Mapping</a:t>
            </a:r>
            <a:endParaRPr sz="1000">
              <a:solidFill>
                <a:schemeClr val="dk1"/>
              </a:solidFill>
              <a:latin typeface="Roboto"/>
              <a:ea typeface="Roboto"/>
              <a:cs typeface="Roboto"/>
              <a:sym typeface="Roboto"/>
            </a:endParaRPr>
          </a:p>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Risk &amp; Opportunity Detection</a:t>
            </a:r>
            <a:endParaRPr sz="1000">
              <a:solidFill>
                <a:schemeClr val="dk1"/>
              </a:solidFill>
              <a:latin typeface="Roboto"/>
              <a:ea typeface="Roboto"/>
              <a:cs typeface="Roboto"/>
              <a:sym typeface="Roboto"/>
            </a:endParaRPr>
          </a:p>
        </p:txBody>
      </p:sp>
      <p:sp>
        <p:nvSpPr>
          <p:cNvPr id="896" name="Google Shape;896;g3b8af0a3789_0_136"/>
          <p:cNvSpPr txBox="1"/>
          <p:nvPr/>
        </p:nvSpPr>
        <p:spPr>
          <a:xfrm>
            <a:off x="3375075" y="2840420"/>
            <a:ext cx="2264100" cy="960900"/>
          </a:xfrm>
          <a:prstGeom prst="rect">
            <a:avLst/>
          </a:prstGeom>
          <a:noFill/>
          <a:ln>
            <a:noFill/>
          </a:ln>
        </p:spPr>
        <p:txBody>
          <a:bodyPr anchorCtr="0" anchor="t" bIns="91425" lIns="91425" spcFirstLastPara="1" rIns="91425" wrap="square" tIns="91425">
            <a:noAutofit/>
          </a:bodyPr>
          <a:lstStyle/>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Net Profit , because we don’t have metric cost</a:t>
            </a:r>
            <a:endParaRPr sz="1000">
              <a:solidFill>
                <a:schemeClr val="dk1"/>
              </a:solidFill>
              <a:latin typeface="Roboto"/>
              <a:ea typeface="Roboto"/>
              <a:cs typeface="Roboto"/>
              <a:sym typeface="Roboto"/>
            </a:endParaRPr>
          </a:p>
          <a:p>
            <a:pPr indent="-292100" lvl="0" marL="457200" rtl="0" algn="l">
              <a:spcBef>
                <a:spcPts val="0"/>
              </a:spcBef>
              <a:spcAft>
                <a:spcPts val="0"/>
              </a:spcAft>
              <a:buClr>
                <a:schemeClr val="dk1"/>
              </a:buClr>
              <a:buSzPts val="1000"/>
              <a:buFont typeface="Roboto"/>
              <a:buChar char="●"/>
            </a:pPr>
            <a:r>
              <a:rPr lang="en-US" sz="1000">
                <a:solidFill>
                  <a:schemeClr val="dk1"/>
                </a:solidFill>
                <a:latin typeface="Roboto"/>
                <a:ea typeface="Roboto"/>
                <a:cs typeface="Roboto"/>
                <a:sym typeface="Roboto"/>
              </a:rPr>
              <a:t>Customer Sentiment, because we don’t have detail satisfied user</a:t>
            </a:r>
            <a:endParaRPr sz="1000">
              <a:solidFill>
                <a:schemeClr val="dk1"/>
              </a:solidFill>
              <a:latin typeface="Roboto"/>
              <a:ea typeface="Roboto"/>
              <a:cs typeface="Roboto"/>
              <a:sym typeface="Roboto"/>
            </a:endParaRPr>
          </a:p>
          <a:p>
            <a:pPr indent="0" lvl="0" marL="0" rtl="0" algn="l">
              <a:spcBef>
                <a:spcPts val="0"/>
              </a:spcBef>
              <a:spcAft>
                <a:spcPts val="0"/>
              </a:spcAft>
              <a:buNone/>
            </a:pPr>
            <a:r>
              <a:t/>
            </a:r>
            <a:endParaRPr sz="1000">
              <a:solidFill>
                <a:schemeClr val="dk1"/>
              </a:solidFill>
              <a:latin typeface="Roboto"/>
              <a:ea typeface="Roboto"/>
              <a:cs typeface="Roboto"/>
              <a:sym typeface="Roboto"/>
            </a:endParaRPr>
          </a:p>
        </p:txBody>
      </p:sp>
      <p:pic>
        <p:nvPicPr>
          <p:cNvPr id="897" name="Google Shape;897;g3b8af0a3789_0_136" title="target_11730129.png"/>
          <p:cNvPicPr preferRelativeResize="0"/>
          <p:nvPr/>
        </p:nvPicPr>
        <p:blipFill>
          <a:blip r:embed="rId4">
            <a:alphaModFix/>
          </a:blip>
          <a:stretch>
            <a:fillRect/>
          </a:stretch>
        </p:blipFill>
        <p:spPr>
          <a:xfrm>
            <a:off x="1550962" y="2034308"/>
            <a:ext cx="499500" cy="499500"/>
          </a:xfrm>
          <a:prstGeom prst="rect">
            <a:avLst/>
          </a:prstGeom>
          <a:noFill/>
          <a:ln>
            <a:noFill/>
          </a:ln>
        </p:spPr>
      </p:pic>
      <p:sp>
        <p:nvSpPr>
          <p:cNvPr id="898" name="Google Shape;898;g3b8af0a3789_0_136"/>
          <p:cNvSpPr txBox="1"/>
          <p:nvPr/>
        </p:nvSpPr>
        <p:spPr>
          <a:xfrm>
            <a:off x="4270125" y="1979700"/>
            <a:ext cx="474000" cy="646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3000">
                <a:solidFill>
                  <a:schemeClr val="dk2"/>
                </a:solidFill>
                <a:latin typeface="Roboto"/>
                <a:ea typeface="Roboto"/>
                <a:cs typeface="Roboto"/>
                <a:sym typeface="Roboto"/>
              </a:rPr>
              <a:t>X</a:t>
            </a:r>
            <a:endParaRPr sz="3000">
              <a:solidFill>
                <a:schemeClr val="dk2"/>
              </a:solidFill>
            </a:endParaRPr>
          </a:p>
        </p:txBody>
      </p:sp>
      <p:pic>
        <p:nvPicPr>
          <p:cNvPr id="899" name="Google Shape;899;g3b8af0a3789_0_136" title="computer_14771478.png"/>
          <p:cNvPicPr preferRelativeResize="0"/>
          <p:nvPr/>
        </p:nvPicPr>
        <p:blipFill>
          <a:blip r:embed="rId5">
            <a:alphaModFix/>
          </a:blip>
          <a:stretch>
            <a:fillRect/>
          </a:stretch>
        </p:blipFill>
        <p:spPr>
          <a:xfrm>
            <a:off x="6963775" y="2034300"/>
            <a:ext cx="499500" cy="499500"/>
          </a:xfrm>
          <a:prstGeom prst="rect">
            <a:avLst/>
          </a:prstGeom>
          <a:noFill/>
          <a:ln>
            <a:noFill/>
          </a:ln>
        </p:spPr>
      </p:pic>
      <p:sp>
        <p:nvSpPr>
          <p:cNvPr id="900" name="Google Shape;900;g3b8af0a3789_0_136"/>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01" name="Google Shape;901;g3b8af0a3789_0_136"/>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b8af0a3789_0_105"/>
          <p:cNvSpPr/>
          <p:nvPr/>
        </p:nvSpPr>
        <p:spPr>
          <a:xfrm>
            <a:off x="0" y="1551500"/>
            <a:ext cx="9144000" cy="359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907" name="Google Shape;907;g3b8af0a3789_0_105"/>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908" name="Google Shape;908;g3b8af0a3789_0_105"/>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09" name="Google Shape;909;g3b8af0a3789_0_105"/>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Metriks Used</a:t>
            </a:r>
            <a:endParaRPr b="1" sz="2400">
              <a:solidFill>
                <a:schemeClr val="lt1"/>
              </a:solidFill>
              <a:latin typeface="Roboto"/>
              <a:ea typeface="Roboto"/>
              <a:cs typeface="Roboto"/>
              <a:sym typeface="Roboto"/>
            </a:endParaRPr>
          </a:p>
        </p:txBody>
      </p:sp>
      <p:graphicFrame>
        <p:nvGraphicFramePr>
          <p:cNvPr id="910" name="Google Shape;910;g3b8af0a3789_0_105"/>
          <p:cNvGraphicFramePr/>
          <p:nvPr/>
        </p:nvGraphicFramePr>
        <p:xfrm>
          <a:off x="915600" y="1639275"/>
          <a:ext cx="3000000" cy="3000000"/>
        </p:xfrm>
        <a:graphic>
          <a:graphicData uri="http://schemas.openxmlformats.org/drawingml/2006/table">
            <a:tbl>
              <a:tblPr>
                <a:noFill/>
                <a:tableStyleId>{37D4DCAE-1861-4E6A-B2C0-FF0A4CF39091}</a:tableStyleId>
              </a:tblPr>
              <a:tblGrid>
                <a:gridCol w="1813975"/>
                <a:gridCol w="5520275"/>
              </a:tblGrid>
              <a:tr h="285925">
                <a:tc>
                  <a:txBody>
                    <a:bodyPr/>
                    <a:lstStyle/>
                    <a:p>
                      <a:pPr indent="0" lvl="0" marL="0" rtl="0" algn="ctr">
                        <a:lnSpc>
                          <a:spcPct val="115000"/>
                        </a:lnSpc>
                        <a:spcBef>
                          <a:spcPts val="0"/>
                        </a:spcBef>
                        <a:spcAft>
                          <a:spcPts val="0"/>
                        </a:spcAft>
                        <a:buNone/>
                      </a:pPr>
                      <a:r>
                        <a:rPr b="1" lang="en-US">
                          <a:latin typeface="Roboto"/>
                          <a:ea typeface="Roboto"/>
                          <a:cs typeface="Roboto"/>
                          <a:sym typeface="Roboto"/>
                        </a:rPr>
                        <a:t>Nama</a:t>
                      </a:r>
                      <a:endParaRPr b="1">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en-US">
                          <a:latin typeface="Roboto"/>
                          <a:ea typeface="Roboto"/>
                          <a:cs typeface="Roboto"/>
                          <a:sym typeface="Roboto"/>
                        </a:rPr>
                        <a:t>Detail</a:t>
                      </a:r>
                      <a:endParaRPr b="1">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r>
              <a:tr h="257375">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user_id</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Key points.</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30475">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channel_diversity</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Number of unique channels (1 = Mono, &gt;1 = Omni).</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635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message_volume</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Total transaction_id.</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5925">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usage_frequency</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daily engagement rate</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74725">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active_days_df</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Total unique transaction days (Consistency Indicator).</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9405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active_hours_df</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Total unique transaction hours (Consistency Indicator).</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9405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transaction_id</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count of transaction</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9405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total_price</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how much user paid to ger monetary</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9405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created_at</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date when user transaction</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
        <p:nvSpPr>
          <p:cNvPr id="911" name="Google Shape;911;g3b8af0a3789_0_105"/>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12" name="Google Shape;912;g3b8af0a3789_0_105"/>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6" name="Shape 916"/>
        <p:cNvGrpSpPr/>
        <p:nvPr/>
      </p:nvGrpSpPr>
      <p:grpSpPr>
        <a:xfrm>
          <a:off x="0" y="0"/>
          <a:ext cx="0" cy="0"/>
          <a:chOff x="0" y="0"/>
          <a:chExt cx="0" cy="0"/>
        </a:xfrm>
      </p:grpSpPr>
      <p:sp>
        <p:nvSpPr>
          <p:cNvPr id="917" name="Google Shape;917;g3b8af0a3789_0_169"/>
          <p:cNvSpPr/>
          <p:nvPr/>
        </p:nvSpPr>
        <p:spPr>
          <a:xfrm>
            <a:off x="0" y="1551500"/>
            <a:ext cx="9144000" cy="359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918" name="Google Shape;918;g3b8af0a3789_0_169"/>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919" name="Google Shape;919;g3b8af0a3789_0_169"/>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20" name="Google Shape;920;g3b8af0a3789_0_169"/>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Metriks Used</a:t>
            </a:r>
            <a:endParaRPr b="1" sz="2400">
              <a:solidFill>
                <a:schemeClr val="lt1"/>
              </a:solidFill>
              <a:latin typeface="Roboto"/>
              <a:ea typeface="Roboto"/>
              <a:cs typeface="Roboto"/>
              <a:sym typeface="Roboto"/>
            </a:endParaRPr>
          </a:p>
        </p:txBody>
      </p:sp>
      <p:graphicFrame>
        <p:nvGraphicFramePr>
          <p:cNvPr id="921" name="Google Shape;921;g3b8af0a3789_0_169"/>
          <p:cNvGraphicFramePr/>
          <p:nvPr/>
        </p:nvGraphicFramePr>
        <p:xfrm>
          <a:off x="893800" y="1624000"/>
          <a:ext cx="3000000" cy="3000000"/>
        </p:xfrm>
        <a:graphic>
          <a:graphicData uri="http://schemas.openxmlformats.org/drawingml/2006/table">
            <a:tbl>
              <a:tblPr>
                <a:noFill/>
                <a:tableStyleId>{37D4DCAE-1861-4E6A-B2C0-FF0A4CF39091}</a:tableStyleId>
              </a:tblPr>
              <a:tblGrid>
                <a:gridCol w="1871775"/>
                <a:gridCol w="5451400"/>
              </a:tblGrid>
              <a:tr h="292900">
                <a:tc>
                  <a:txBody>
                    <a:bodyPr/>
                    <a:lstStyle/>
                    <a:p>
                      <a:pPr indent="0" lvl="0" marL="0" rtl="0" algn="ctr">
                        <a:lnSpc>
                          <a:spcPct val="115000"/>
                        </a:lnSpc>
                        <a:spcBef>
                          <a:spcPts val="0"/>
                        </a:spcBef>
                        <a:spcAft>
                          <a:spcPts val="0"/>
                        </a:spcAft>
                        <a:buNone/>
                      </a:pPr>
                      <a:r>
                        <a:rPr b="1" lang="en-US">
                          <a:latin typeface="Roboto"/>
                          <a:ea typeface="Roboto"/>
                          <a:cs typeface="Roboto"/>
                          <a:sym typeface="Roboto"/>
                        </a:rPr>
                        <a:t>Nama</a:t>
                      </a:r>
                      <a:endParaRPr b="1">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ctr">
                        <a:lnSpc>
                          <a:spcPct val="115000"/>
                        </a:lnSpc>
                        <a:spcBef>
                          <a:spcPts val="0"/>
                        </a:spcBef>
                        <a:spcAft>
                          <a:spcPts val="0"/>
                        </a:spcAft>
                        <a:buNone/>
                      </a:pPr>
                      <a:r>
                        <a:rPr b="1" lang="en-US">
                          <a:latin typeface="Roboto"/>
                          <a:ea typeface="Roboto"/>
                          <a:cs typeface="Roboto"/>
                          <a:sym typeface="Roboto"/>
                        </a:rPr>
                        <a:t>Detail</a:t>
                      </a:r>
                      <a:endParaRPr b="1">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r>
              <a:tr h="2844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avg_daily_volume</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Average speed of messages sent by users per day</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44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usage_trend</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User performance indicators for the past week. Are they diligent (up) or lazy (down)</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6725">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failure_rate</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Percentage of messages that failed to send.</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44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risk_category</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User churn status</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44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success_rate</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Percentage of messages successfully delivered.</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44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segment_name</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User based on money and number of transactions.</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44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hourly_data</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Summary of transactions per hour</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84400">
                <a:tc>
                  <a:txBody>
                    <a:bodyPr/>
                    <a:lstStyle/>
                    <a:p>
                      <a:pPr indent="0" lvl="0" marL="0" rtl="0" algn="l">
                        <a:lnSpc>
                          <a:spcPct val="115000"/>
                        </a:lnSpc>
                        <a:spcBef>
                          <a:spcPts val="0"/>
                        </a:spcBef>
                        <a:spcAft>
                          <a:spcPts val="0"/>
                        </a:spcAft>
                        <a:buNone/>
                      </a:pPr>
                      <a:r>
                        <a:rPr b="1" lang="en-US" sz="1200">
                          <a:latin typeface="Roboto"/>
                          <a:ea typeface="Roboto"/>
                          <a:cs typeface="Roboto"/>
                          <a:sym typeface="Roboto"/>
                        </a:rPr>
                        <a:t>usage</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Percentage of usage of a particular channel.</a:t>
                      </a:r>
                      <a:endParaRPr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
        <p:nvSpPr>
          <p:cNvPr id="922" name="Google Shape;922;g3b8af0a3789_0_169"/>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23" name="Google Shape;923;g3b8af0a3789_0_169"/>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g3b8af0a3789_0_186"/>
          <p:cNvSpPr/>
          <p:nvPr/>
        </p:nvSpPr>
        <p:spPr>
          <a:xfrm>
            <a:off x="-61125" y="1516875"/>
            <a:ext cx="9214800" cy="35919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929" name="Google Shape;929;g3b8af0a3789_0_186"/>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930" name="Google Shape;930;g3b8af0a3789_0_186"/>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31" name="Google Shape;931;g3b8af0a3789_0_186"/>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METHODOLOGY</a:t>
            </a:r>
            <a:endParaRPr b="1" sz="2400">
              <a:solidFill>
                <a:schemeClr val="lt1"/>
              </a:solidFill>
              <a:latin typeface="Roboto"/>
              <a:ea typeface="Roboto"/>
              <a:cs typeface="Roboto"/>
              <a:sym typeface="Roboto"/>
            </a:endParaRPr>
          </a:p>
        </p:txBody>
      </p:sp>
      <p:sp>
        <p:nvSpPr>
          <p:cNvPr id="932" name="Google Shape;932;g3b8af0a3789_0_186"/>
          <p:cNvSpPr/>
          <p:nvPr/>
        </p:nvSpPr>
        <p:spPr>
          <a:xfrm>
            <a:off x="1412175" y="2070450"/>
            <a:ext cx="1838700" cy="93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33" name="Google Shape;933;g3b8af0a3789_0_186"/>
          <p:cNvSpPr txBox="1"/>
          <p:nvPr/>
        </p:nvSpPr>
        <p:spPr>
          <a:xfrm>
            <a:off x="1684575" y="1578800"/>
            <a:ext cx="1293900" cy="523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u="sng">
                <a:solidFill>
                  <a:schemeClr val="dk2"/>
                </a:solidFill>
                <a:latin typeface="Roboto"/>
                <a:ea typeface="Roboto"/>
                <a:cs typeface="Roboto"/>
                <a:sym typeface="Roboto"/>
              </a:rPr>
              <a:t>Business Understanding</a:t>
            </a:r>
            <a:endParaRPr b="1" sz="1100" u="sng">
              <a:solidFill>
                <a:schemeClr val="dk2"/>
              </a:solidFill>
              <a:latin typeface="Roboto"/>
              <a:ea typeface="Roboto"/>
              <a:cs typeface="Roboto"/>
              <a:sym typeface="Roboto"/>
            </a:endParaRPr>
          </a:p>
        </p:txBody>
      </p:sp>
      <p:sp>
        <p:nvSpPr>
          <p:cNvPr id="934" name="Google Shape;934;g3b8af0a3789_0_186"/>
          <p:cNvSpPr txBox="1"/>
          <p:nvPr/>
        </p:nvSpPr>
        <p:spPr>
          <a:xfrm>
            <a:off x="1412175" y="2070450"/>
            <a:ext cx="1838700" cy="93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Measure channel effectiveness </a:t>
            </a:r>
            <a:r>
              <a:rPr lang="en-US" sz="1000">
                <a:solidFill>
                  <a:schemeClr val="dk1"/>
                </a:solidFill>
                <a:latin typeface="Roboto"/>
                <a:ea typeface="Roboto"/>
                <a:cs typeface="Roboto"/>
                <a:sym typeface="Roboto"/>
              </a:rPr>
              <a:t>and</a:t>
            </a:r>
            <a:r>
              <a:rPr lang="en-US" sz="1000">
                <a:solidFill>
                  <a:schemeClr val="dk1"/>
                </a:solidFill>
                <a:latin typeface="Roboto"/>
                <a:ea typeface="Roboto"/>
                <a:cs typeface="Roboto"/>
                <a:sym typeface="Roboto"/>
              </a:rPr>
              <a:t> segment user to gain strategies that improve delivery success and customer engagement.</a:t>
            </a:r>
            <a:endParaRPr sz="1000">
              <a:solidFill>
                <a:schemeClr val="dk1"/>
              </a:solidFill>
              <a:latin typeface="Roboto"/>
              <a:ea typeface="Roboto"/>
              <a:cs typeface="Roboto"/>
              <a:sym typeface="Roboto"/>
            </a:endParaRPr>
          </a:p>
        </p:txBody>
      </p:sp>
      <p:sp>
        <p:nvSpPr>
          <p:cNvPr id="935" name="Google Shape;935;g3b8af0a3789_0_186"/>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36" name="Google Shape;936;g3b8af0a3789_0_186"/>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937" name="Google Shape;937;g3b8af0a3789_0_186"/>
          <p:cNvSpPr/>
          <p:nvPr/>
        </p:nvSpPr>
        <p:spPr>
          <a:xfrm>
            <a:off x="3652300" y="2070450"/>
            <a:ext cx="1838700" cy="93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38" name="Google Shape;938;g3b8af0a3789_0_186"/>
          <p:cNvSpPr txBox="1"/>
          <p:nvPr/>
        </p:nvSpPr>
        <p:spPr>
          <a:xfrm>
            <a:off x="3924700" y="1680300"/>
            <a:ext cx="1293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u="sng">
                <a:solidFill>
                  <a:schemeClr val="dk2"/>
                </a:solidFill>
                <a:latin typeface="Roboto"/>
                <a:ea typeface="Roboto"/>
                <a:cs typeface="Roboto"/>
                <a:sym typeface="Roboto"/>
              </a:rPr>
              <a:t>Data Collection</a:t>
            </a:r>
            <a:endParaRPr b="1" sz="1100" u="sng">
              <a:solidFill>
                <a:schemeClr val="dk2"/>
              </a:solidFill>
              <a:latin typeface="Roboto"/>
              <a:ea typeface="Roboto"/>
              <a:cs typeface="Roboto"/>
              <a:sym typeface="Roboto"/>
            </a:endParaRPr>
          </a:p>
        </p:txBody>
      </p:sp>
      <p:sp>
        <p:nvSpPr>
          <p:cNvPr id="939" name="Google Shape;939;g3b8af0a3789_0_186"/>
          <p:cNvSpPr txBox="1"/>
          <p:nvPr/>
        </p:nvSpPr>
        <p:spPr>
          <a:xfrm>
            <a:off x="3652300" y="2070450"/>
            <a:ext cx="1838700" cy="93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Message transactions of OCA Indonesia (Whatsapp, Email, SMS, Call) </a:t>
            </a:r>
            <a:br>
              <a:rPr lang="en-US" sz="1000">
                <a:solidFill>
                  <a:schemeClr val="dk1"/>
                </a:solidFill>
                <a:latin typeface="Roboto"/>
                <a:ea typeface="Roboto"/>
                <a:cs typeface="Roboto"/>
                <a:sym typeface="Roboto"/>
              </a:rPr>
            </a:br>
            <a:r>
              <a:rPr lang="en-US" sz="1000">
                <a:solidFill>
                  <a:schemeClr val="dk1"/>
                </a:solidFill>
                <a:latin typeface="Roboto"/>
                <a:ea typeface="Roboto"/>
                <a:cs typeface="Roboto"/>
                <a:sym typeface="Roboto"/>
              </a:rPr>
              <a:t>from January - March 2025</a:t>
            </a:r>
            <a:endParaRPr sz="1000">
              <a:solidFill>
                <a:schemeClr val="dk1"/>
              </a:solidFill>
              <a:latin typeface="Roboto"/>
              <a:ea typeface="Roboto"/>
              <a:cs typeface="Roboto"/>
              <a:sym typeface="Roboto"/>
            </a:endParaRPr>
          </a:p>
        </p:txBody>
      </p:sp>
      <p:sp>
        <p:nvSpPr>
          <p:cNvPr id="940" name="Google Shape;940;g3b8af0a3789_0_186"/>
          <p:cNvSpPr/>
          <p:nvPr/>
        </p:nvSpPr>
        <p:spPr>
          <a:xfrm>
            <a:off x="3341913" y="2431725"/>
            <a:ext cx="219000" cy="2109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41" name="Google Shape;941;g3b8af0a3789_0_186"/>
          <p:cNvSpPr/>
          <p:nvPr/>
        </p:nvSpPr>
        <p:spPr>
          <a:xfrm>
            <a:off x="5892425" y="2070450"/>
            <a:ext cx="1838700" cy="93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42" name="Google Shape;942;g3b8af0a3789_0_186"/>
          <p:cNvSpPr txBox="1"/>
          <p:nvPr/>
        </p:nvSpPr>
        <p:spPr>
          <a:xfrm>
            <a:off x="6164825" y="1680300"/>
            <a:ext cx="1293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u="sng">
                <a:solidFill>
                  <a:schemeClr val="dk2"/>
                </a:solidFill>
                <a:latin typeface="Roboto"/>
                <a:ea typeface="Roboto"/>
                <a:cs typeface="Roboto"/>
                <a:sym typeface="Roboto"/>
              </a:rPr>
              <a:t>Data Cleaning</a:t>
            </a:r>
            <a:endParaRPr b="1" sz="1100" u="sng">
              <a:solidFill>
                <a:schemeClr val="dk2"/>
              </a:solidFill>
              <a:latin typeface="Roboto"/>
              <a:ea typeface="Roboto"/>
              <a:cs typeface="Roboto"/>
              <a:sym typeface="Roboto"/>
            </a:endParaRPr>
          </a:p>
        </p:txBody>
      </p:sp>
      <p:sp>
        <p:nvSpPr>
          <p:cNvPr id="943" name="Google Shape;943;g3b8af0a3789_0_186"/>
          <p:cNvSpPr txBox="1"/>
          <p:nvPr/>
        </p:nvSpPr>
        <p:spPr>
          <a:xfrm>
            <a:off x="5892425" y="2070450"/>
            <a:ext cx="1838700" cy="93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Format datetime, remove duplicate, unified data, and calculated derived features (e.g., average transactions per day, </a:t>
            </a:r>
            <a:r>
              <a:rPr lang="en-US" sz="1000">
                <a:solidFill>
                  <a:schemeClr val="dk1"/>
                </a:solidFill>
                <a:latin typeface="Roboto"/>
                <a:ea typeface="Roboto"/>
                <a:cs typeface="Roboto"/>
                <a:sym typeface="Roboto"/>
              </a:rPr>
              <a:t>tenure</a:t>
            </a:r>
            <a:r>
              <a:rPr lang="en-US" sz="1000">
                <a:solidFill>
                  <a:schemeClr val="dk1"/>
                </a:solidFill>
                <a:latin typeface="Roboto"/>
                <a:ea typeface="Roboto"/>
                <a:cs typeface="Roboto"/>
                <a:sym typeface="Roboto"/>
              </a:rPr>
              <a:t>, ARPU)</a:t>
            </a:r>
            <a:endParaRPr sz="1000">
              <a:solidFill>
                <a:schemeClr val="dk1"/>
              </a:solidFill>
              <a:latin typeface="Roboto"/>
              <a:ea typeface="Roboto"/>
              <a:cs typeface="Roboto"/>
              <a:sym typeface="Roboto"/>
            </a:endParaRPr>
          </a:p>
        </p:txBody>
      </p:sp>
      <p:sp>
        <p:nvSpPr>
          <p:cNvPr id="944" name="Google Shape;944;g3b8af0a3789_0_186"/>
          <p:cNvSpPr/>
          <p:nvPr/>
        </p:nvSpPr>
        <p:spPr>
          <a:xfrm rot="5400000">
            <a:off x="7326725" y="3207375"/>
            <a:ext cx="219000" cy="2109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45" name="Google Shape;945;g3b8af0a3789_0_186"/>
          <p:cNvSpPr/>
          <p:nvPr/>
        </p:nvSpPr>
        <p:spPr>
          <a:xfrm>
            <a:off x="5582375" y="2431725"/>
            <a:ext cx="219000" cy="2109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46" name="Google Shape;946;g3b8af0a3789_0_186"/>
          <p:cNvSpPr/>
          <p:nvPr/>
        </p:nvSpPr>
        <p:spPr>
          <a:xfrm>
            <a:off x="5895375" y="3617400"/>
            <a:ext cx="1838700" cy="93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47" name="Google Shape;947;g3b8af0a3789_0_186"/>
          <p:cNvSpPr txBox="1"/>
          <p:nvPr/>
        </p:nvSpPr>
        <p:spPr>
          <a:xfrm>
            <a:off x="6167775" y="3263400"/>
            <a:ext cx="12939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u="sng">
                <a:solidFill>
                  <a:schemeClr val="dk2"/>
                </a:solidFill>
                <a:latin typeface="Roboto"/>
                <a:ea typeface="Roboto"/>
                <a:cs typeface="Roboto"/>
                <a:sym typeface="Roboto"/>
              </a:rPr>
              <a:t>Analyze</a:t>
            </a:r>
            <a:endParaRPr b="1" sz="1100" u="sng">
              <a:solidFill>
                <a:schemeClr val="dk2"/>
              </a:solidFill>
              <a:latin typeface="Roboto"/>
              <a:ea typeface="Roboto"/>
              <a:cs typeface="Roboto"/>
              <a:sym typeface="Roboto"/>
            </a:endParaRPr>
          </a:p>
        </p:txBody>
      </p:sp>
      <p:sp>
        <p:nvSpPr>
          <p:cNvPr id="948" name="Google Shape;948;g3b8af0a3789_0_186"/>
          <p:cNvSpPr txBox="1"/>
          <p:nvPr/>
        </p:nvSpPr>
        <p:spPr>
          <a:xfrm>
            <a:off x="5895375" y="3617400"/>
            <a:ext cx="1838700" cy="93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Exploratory data analysis (distribution by channel, time, status) and Clustering by K=3 combined score</a:t>
            </a:r>
            <a:endParaRPr sz="1000">
              <a:solidFill>
                <a:schemeClr val="dk1"/>
              </a:solidFill>
              <a:latin typeface="Roboto"/>
              <a:ea typeface="Roboto"/>
              <a:cs typeface="Roboto"/>
              <a:sym typeface="Roboto"/>
            </a:endParaRPr>
          </a:p>
        </p:txBody>
      </p:sp>
      <p:sp>
        <p:nvSpPr>
          <p:cNvPr id="949" name="Google Shape;949;g3b8af0a3789_0_186"/>
          <p:cNvSpPr/>
          <p:nvPr/>
        </p:nvSpPr>
        <p:spPr>
          <a:xfrm rot="10800000">
            <a:off x="5582375" y="3980850"/>
            <a:ext cx="219000" cy="2109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50" name="Google Shape;950;g3b8af0a3789_0_186"/>
          <p:cNvSpPr/>
          <p:nvPr/>
        </p:nvSpPr>
        <p:spPr>
          <a:xfrm>
            <a:off x="3649675" y="3617400"/>
            <a:ext cx="1838700" cy="93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51" name="Google Shape;951;g3b8af0a3789_0_186"/>
          <p:cNvSpPr txBox="1"/>
          <p:nvPr/>
        </p:nvSpPr>
        <p:spPr>
          <a:xfrm>
            <a:off x="3807975" y="3263400"/>
            <a:ext cx="15222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u="sng">
                <a:solidFill>
                  <a:schemeClr val="dk2"/>
                </a:solidFill>
                <a:latin typeface="Roboto"/>
                <a:ea typeface="Roboto"/>
                <a:cs typeface="Roboto"/>
                <a:sym typeface="Roboto"/>
              </a:rPr>
              <a:t>Data Visualization</a:t>
            </a:r>
            <a:endParaRPr b="1" sz="1100" u="sng">
              <a:solidFill>
                <a:schemeClr val="dk2"/>
              </a:solidFill>
              <a:latin typeface="Roboto"/>
              <a:ea typeface="Roboto"/>
              <a:cs typeface="Roboto"/>
              <a:sym typeface="Roboto"/>
            </a:endParaRPr>
          </a:p>
        </p:txBody>
      </p:sp>
      <p:sp>
        <p:nvSpPr>
          <p:cNvPr id="952" name="Google Shape;952;g3b8af0a3789_0_186"/>
          <p:cNvSpPr txBox="1"/>
          <p:nvPr/>
        </p:nvSpPr>
        <p:spPr>
          <a:xfrm>
            <a:off x="3649675" y="3617400"/>
            <a:ext cx="1838700" cy="937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Use Histogram, Bar chart, Scatterplots, amd cluster summaries</a:t>
            </a:r>
            <a:endParaRPr sz="1000">
              <a:solidFill>
                <a:schemeClr val="dk1"/>
              </a:solidFill>
              <a:latin typeface="Roboto"/>
              <a:ea typeface="Roboto"/>
              <a:cs typeface="Roboto"/>
              <a:sym typeface="Roboto"/>
            </a:endParaRPr>
          </a:p>
        </p:txBody>
      </p:sp>
      <p:sp>
        <p:nvSpPr>
          <p:cNvPr id="953" name="Google Shape;953;g3b8af0a3789_0_186"/>
          <p:cNvSpPr/>
          <p:nvPr/>
        </p:nvSpPr>
        <p:spPr>
          <a:xfrm rot="10800000">
            <a:off x="3340775" y="3980850"/>
            <a:ext cx="219000" cy="210900"/>
          </a:xfrm>
          <a:prstGeom prst="rightArrow">
            <a:avLst>
              <a:gd fmla="val 50000" name="adj1"/>
              <a:gd fmla="val 5000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54" name="Google Shape;954;g3b8af0a3789_0_186"/>
          <p:cNvSpPr/>
          <p:nvPr/>
        </p:nvSpPr>
        <p:spPr>
          <a:xfrm>
            <a:off x="1412175" y="3617400"/>
            <a:ext cx="1838700" cy="9378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55" name="Google Shape;955;g3b8af0a3789_0_186"/>
          <p:cNvSpPr txBox="1"/>
          <p:nvPr/>
        </p:nvSpPr>
        <p:spPr>
          <a:xfrm>
            <a:off x="1591975" y="3263400"/>
            <a:ext cx="14790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1100" u="sng">
                <a:solidFill>
                  <a:schemeClr val="dk2"/>
                </a:solidFill>
                <a:latin typeface="Roboto"/>
                <a:ea typeface="Roboto"/>
                <a:cs typeface="Roboto"/>
                <a:sym typeface="Roboto"/>
              </a:rPr>
              <a:t>Data Presentation</a:t>
            </a:r>
            <a:endParaRPr b="1" sz="1100" u="sng">
              <a:solidFill>
                <a:schemeClr val="dk2"/>
              </a:solidFill>
              <a:latin typeface="Roboto"/>
              <a:ea typeface="Roboto"/>
              <a:cs typeface="Roboto"/>
              <a:sym typeface="Roboto"/>
            </a:endParaRPr>
          </a:p>
        </p:txBody>
      </p:sp>
      <p:sp>
        <p:nvSpPr>
          <p:cNvPr id="956" name="Google Shape;956;g3b8af0a3789_0_186"/>
          <p:cNvSpPr txBox="1"/>
          <p:nvPr/>
        </p:nvSpPr>
        <p:spPr>
          <a:xfrm>
            <a:off x="1412175" y="3617400"/>
            <a:ext cx="1838700" cy="937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US" sz="1000">
                <a:solidFill>
                  <a:schemeClr val="dk1"/>
                </a:solidFill>
                <a:latin typeface="Roboto"/>
                <a:ea typeface="Roboto"/>
                <a:cs typeface="Roboto"/>
                <a:sym typeface="Roboto"/>
              </a:rPr>
              <a:t>Cluster insight (high, medium, and low users) and cluster recommendation with high, medium</a:t>
            </a:r>
            <a:endParaRPr sz="1000">
              <a:solidFill>
                <a:schemeClr val="dk1"/>
              </a:solidFill>
              <a:latin typeface="Roboto"/>
              <a:ea typeface="Roboto"/>
              <a:cs typeface="Roboto"/>
              <a:sym typeface="Robo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pic>
        <p:nvPicPr>
          <p:cNvPr id="961" name="Google Shape;961;g3b8af0a3789_0_249"/>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962" name="Google Shape;962;g3b8af0a3789_0_249"/>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63" name="Google Shape;963;g3b8af0a3789_0_249"/>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Exploratory Data Analysis</a:t>
            </a:r>
            <a:endParaRPr b="1" sz="2400">
              <a:solidFill>
                <a:schemeClr val="lt1"/>
              </a:solidFill>
              <a:latin typeface="Roboto"/>
              <a:ea typeface="Roboto"/>
              <a:cs typeface="Roboto"/>
              <a:sym typeface="Roboto"/>
            </a:endParaRPr>
          </a:p>
        </p:txBody>
      </p:sp>
      <p:sp>
        <p:nvSpPr>
          <p:cNvPr id="964" name="Google Shape;964;g3b8af0a3789_0_249"/>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65" name="Google Shape;965;g3b8af0a3789_0_249"/>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966" name="Google Shape;966;g3b8af0a3789_0_249"/>
          <p:cNvSpPr txBox="1"/>
          <p:nvPr/>
        </p:nvSpPr>
        <p:spPr>
          <a:xfrm>
            <a:off x="3759277" y="1957313"/>
            <a:ext cx="1653300" cy="400200"/>
          </a:xfrm>
          <a:prstGeom prst="rect">
            <a:avLst/>
          </a:prstGeom>
          <a:solidFill>
            <a:schemeClr val="dk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latin typeface="Roboto"/>
                <a:ea typeface="Roboto"/>
                <a:cs typeface="Roboto"/>
                <a:sym typeface="Roboto"/>
              </a:rPr>
              <a:t>Total Transaction</a:t>
            </a:r>
            <a:endParaRPr b="1">
              <a:solidFill>
                <a:schemeClr val="lt1"/>
              </a:solidFill>
              <a:latin typeface="Roboto"/>
              <a:ea typeface="Roboto"/>
              <a:cs typeface="Roboto"/>
              <a:sym typeface="Roboto"/>
            </a:endParaRPr>
          </a:p>
        </p:txBody>
      </p:sp>
      <p:sp>
        <p:nvSpPr>
          <p:cNvPr id="967" name="Google Shape;967;g3b8af0a3789_0_249"/>
          <p:cNvSpPr txBox="1"/>
          <p:nvPr/>
        </p:nvSpPr>
        <p:spPr>
          <a:xfrm>
            <a:off x="3759277" y="2466538"/>
            <a:ext cx="1653300" cy="400200"/>
          </a:xfrm>
          <a:prstGeom prst="rect">
            <a:avLst/>
          </a:prstGeom>
          <a:solidFill>
            <a:schemeClr val="dk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latin typeface="Roboto"/>
                <a:ea typeface="Roboto"/>
                <a:cs typeface="Roboto"/>
                <a:sym typeface="Roboto"/>
              </a:rPr>
              <a:t>Total Revenue</a:t>
            </a:r>
            <a:endParaRPr b="1">
              <a:solidFill>
                <a:schemeClr val="lt1"/>
              </a:solidFill>
              <a:latin typeface="Roboto"/>
              <a:ea typeface="Roboto"/>
              <a:cs typeface="Roboto"/>
              <a:sym typeface="Roboto"/>
            </a:endParaRPr>
          </a:p>
        </p:txBody>
      </p:sp>
      <p:sp>
        <p:nvSpPr>
          <p:cNvPr id="968" name="Google Shape;968;g3b8af0a3789_0_249"/>
          <p:cNvSpPr txBox="1"/>
          <p:nvPr/>
        </p:nvSpPr>
        <p:spPr>
          <a:xfrm>
            <a:off x="2105975" y="3288741"/>
            <a:ext cx="1653300" cy="605400"/>
          </a:xfrm>
          <a:prstGeom prst="rect">
            <a:avLst/>
          </a:prstGeom>
          <a:noFill/>
          <a:ln>
            <a:noFill/>
          </a:ln>
        </p:spPr>
        <p:txBody>
          <a:bodyPr anchorCtr="0" anchor="t" bIns="116825" lIns="116825" spcFirstLastPara="1" rIns="116825" wrap="square" tIns="116825">
            <a:spAutoFit/>
          </a:bodyPr>
          <a:lstStyle/>
          <a:p>
            <a:pPr indent="0" lvl="0" marL="0" rtl="0" algn="ctr">
              <a:spcBef>
                <a:spcPts val="0"/>
              </a:spcBef>
              <a:spcAft>
                <a:spcPts val="0"/>
              </a:spcAft>
              <a:buNone/>
            </a:pPr>
            <a:r>
              <a:rPr b="1" lang="en-US" sz="2400">
                <a:solidFill>
                  <a:schemeClr val="dk2"/>
                </a:solidFill>
                <a:latin typeface="Roboto"/>
                <a:ea typeface="Roboto"/>
                <a:cs typeface="Roboto"/>
                <a:sym typeface="Roboto"/>
              </a:rPr>
              <a:t>20 Users</a:t>
            </a:r>
            <a:endParaRPr b="1" sz="2400">
              <a:solidFill>
                <a:schemeClr val="dk2"/>
              </a:solidFill>
              <a:latin typeface="Roboto"/>
              <a:ea typeface="Roboto"/>
              <a:cs typeface="Roboto"/>
              <a:sym typeface="Roboto"/>
            </a:endParaRPr>
          </a:p>
        </p:txBody>
      </p:sp>
      <p:sp>
        <p:nvSpPr>
          <p:cNvPr id="969" name="Google Shape;969;g3b8af0a3789_0_249"/>
          <p:cNvSpPr txBox="1"/>
          <p:nvPr/>
        </p:nvSpPr>
        <p:spPr>
          <a:xfrm>
            <a:off x="5514527" y="1957325"/>
            <a:ext cx="1522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a:solidFill>
                  <a:schemeClr val="dk1"/>
                </a:solidFill>
                <a:latin typeface="Roboto"/>
                <a:ea typeface="Roboto"/>
                <a:cs typeface="Roboto"/>
                <a:sym typeface="Roboto"/>
              </a:rPr>
              <a:t>122.748</a:t>
            </a:r>
            <a:endParaRPr b="1">
              <a:solidFill>
                <a:schemeClr val="dk1"/>
              </a:solidFill>
              <a:latin typeface="Roboto"/>
              <a:ea typeface="Roboto"/>
              <a:cs typeface="Roboto"/>
              <a:sym typeface="Roboto"/>
            </a:endParaRPr>
          </a:p>
        </p:txBody>
      </p:sp>
      <p:sp>
        <p:nvSpPr>
          <p:cNvPr id="970" name="Google Shape;970;g3b8af0a3789_0_249"/>
          <p:cNvSpPr txBox="1"/>
          <p:nvPr/>
        </p:nvSpPr>
        <p:spPr>
          <a:xfrm>
            <a:off x="5514527" y="2467600"/>
            <a:ext cx="1522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a:solidFill>
                  <a:schemeClr val="dk1"/>
                </a:solidFill>
                <a:latin typeface="Roboto"/>
                <a:ea typeface="Roboto"/>
                <a:cs typeface="Roboto"/>
                <a:sym typeface="Roboto"/>
              </a:rPr>
              <a:t>Rp. 25.946.370</a:t>
            </a:r>
            <a:endParaRPr b="1">
              <a:solidFill>
                <a:schemeClr val="dk1"/>
              </a:solidFill>
              <a:latin typeface="Roboto"/>
              <a:ea typeface="Roboto"/>
              <a:cs typeface="Roboto"/>
              <a:sym typeface="Roboto"/>
            </a:endParaRPr>
          </a:p>
        </p:txBody>
      </p:sp>
      <p:sp>
        <p:nvSpPr>
          <p:cNvPr id="971" name="Google Shape;971;g3b8af0a3789_0_249"/>
          <p:cNvSpPr txBox="1"/>
          <p:nvPr/>
        </p:nvSpPr>
        <p:spPr>
          <a:xfrm>
            <a:off x="3759277" y="2977863"/>
            <a:ext cx="1653300" cy="400200"/>
          </a:xfrm>
          <a:prstGeom prst="rect">
            <a:avLst/>
          </a:prstGeom>
          <a:solidFill>
            <a:schemeClr val="dk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latin typeface="Roboto"/>
                <a:ea typeface="Roboto"/>
                <a:cs typeface="Roboto"/>
                <a:sym typeface="Roboto"/>
              </a:rPr>
              <a:t>Success </a:t>
            </a:r>
            <a:r>
              <a:rPr b="1" lang="en-US">
                <a:solidFill>
                  <a:schemeClr val="lt1"/>
                </a:solidFill>
                <a:latin typeface="Roboto"/>
                <a:ea typeface="Roboto"/>
                <a:cs typeface="Roboto"/>
                <a:sym typeface="Roboto"/>
              </a:rPr>
              <a:t>Rate</a:t>
            </a:r>
            <a:endParaRPr b="1">
              <a:solidFill>
                <a:schemeClr val="lt1"/>
              </a:solidFill>
              <a:latin typeface="Roboto"/>
              <a:ea typeface="Roboto"/>
              <a:cs typeface="Roboto"/>
              <a:sym typeface="Roboto"/>
            </a:endParaRPr>
          </a:p>
        </p:txBody>
      </p:sp>
      <p:sp>
        <p:nvSpPr>
          <p:cNvPr id="972" name="Google Shape;972;g3b8af0a3789_0_249"/>
          <p:cNvSpPr txBox="1"/>
          <p:nvPr/>
        </p:nvSpPr>
        <p:spPr>
          <a:xfrm>
            <a:off x="3759277" y="3487088"/>
            <a:ext cx="1653300" cy="400200"/>
          </a:xfrm>
          <a:prstGeom prst="rect">
            <a:avLst/>
          </a:prstGeom>
          <a:solidFill>
            <a:schemeClr val="dk2"/>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a:solidFill>
                  <a:schemeClr val="lt1"/>
                </a:solidFill>
                <a:latin typeface="Roboto"/>
                <a:ea typeface="Roboto"/>
                <a:cs typeface="Roboto"/>
                <a:sym typeface="Roboto"/>
              </a:rPr>
              <a:t>ARPU</a:t>
            </a:r>
            <a:endParaRPr b="1">
              <a:solidFill>
                <a:schemeClr val="lt1"/>
              </a:solidFill>
              <a:latin typeface="Roboto"/>
              <a:ea typeface="Roboto"/>
              <a:cs typeface="Roboto"/>
              <a:sym typeface="Roboto"/>
            </a:endParaRPr>
          </a:p>
        </p:txBody>
      </p:sp>
      <p:sp>
        <p:nvSpPr>
          <p:cNvPr id="973" name="Google Shape;973;g3b8af0a3789_0_249"/>
          <p:cNvSpPr txBox="1"/>
          <p:nvPr/>
        </p:nvSpPr>
        <p:spPr>
          <a:xfrm>
            <a:off x="5514527" y="2977875"/>
            <a:ext cx="1522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a:solidFill>
                  <a:schemeClr val="dk1"/>
                </a:solidFill>
                <a:latin typeface="Roboto"/>
                <a:ea typeface="Roboto"/>
                <a:cs typeface="Roboto"/>
                <a:sym typeface="Roboto"/>
              </a:rPr>
              <a:t>79.54%</a:t>
            </a:r>
            <a:endParaRPr b="1">
              <a:solidFill>
                <a:schemeClr val="dk1"/>
              </a:solidFill>
              <a:latin typeface="Roboto"/>
              <a:ea typeface="Roboto"/>
              <a:cs typeface="Roboto"/>
              <a:sym typeface="Roboto"/>
            </a:endParaRPr>
          </a:p>
        </p:txBody>
      </p:sp>
      <p:sp>
        <p:nvSpPr>
          <p:cNvPr id="974" name="Google Shape;974;g3b8af0a3789_0_249"/>
          <p:cNvSpPr txBox="1"/>
          <p:nvPr/>
        </p:nvSpPr>
        <p:spPr>
          <a:xfrm>
            <a:off x="5514527" y="3488150"/>
            <a:ext cx="15228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a:solidFill>
                  <a:schemeClr val="dk1"/>
                </a:solidFill>
                <a:latin typeface="Roboto"/>
                <a:ea typeface="Roboto"/>
                <a:cs typeface="Roboto"/>
                <a:sym typeface="Roboto"/>
              </a:rPr>
              <a:t>Rp. </a:t>
            </a:r>
            <a:r>
              <a:rPr b="1" lang="en-US">
                <a:solidFill>
                  <a:schemeClr val="dk1"/>
                </a:solidFill>
                <a:latin typeface="Roboto"/>
                <a:ea typeface="Roboto"/>
                <a:cs typeface="Roboto"/>
                <a:sym typeface="Roboto"/>
              </a:rPr>
              <a:t>1.297.321</a:t>
            </a:r>
            <a:endParaRPr b="1">
              <a:solidFill>
                <a:schemeClr val="dk1"/>
              </a:solidFill>
              <a:latin typeface="Roboto"/>
              <a:ea typeface="Roboto"/>
              <a:cs typeface="Roboto"/>
              <a:sym typeface="Roboto"/>
            </a:endParaRPr>
          </a:p>
        </p:txBody>
      </p:sp>
      <p:pic>
        <p:nvPicPr>
          <p:cNvPr id="975" name="Google Shape;975;g3b8af0a3789_0_249" title="group_7158872.png"/>
          <p:cNvPicPr preferRelativeResize="0"/>
          <p:nvPr/>
        </p:nvPicPr>
        <p:blipFill>
          <a:blip r:embed="rId4">
            <a:alphaModFix/>
          </a:blip>
          <a:stretch>
            <a:fillRect/>
          </a:stretch>
        </p:blipFill>
        <p:spPr>
          <a:xfrm>
            <a:off x="2322925" y="2056950"/>
            <a:ext cx="1219400" cy="1219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9" name="Shape 979"/>
        <p:cNvGrpSpPr/>
        <p:nvPr/>
      </p:nvGrpSpPr>
      <p:grpSpPr>
        <a:xfrm>
          <a:off x="0" y="0"/>
          <a:ext cx="0" cy="0"/>
          <a:chOff x="0" y="0"/>
          <a:chExt cx="0" cy="0"/>
        </a:xfrm>
      </p:grpSpPr>
      <p:pic>
        <p:nvPicPr>
          <p:cNvPr id="980" name="Google Shape;980;g3b8af0a3789_0_323"/>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981" name="Google Shape;981;g3b8af0a3789_0_323"/>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82" name="Google Shape;982;g3b8af0a3789_0_323"/>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983" name="Google Shape;983;g3b8af0a3789_0_323"/>
          <p:cNvSpPr txBox="1"/>
          <p:nvPr/>
        </p:nvSpPr>
        <p:spPr>
          <a:xfrm>
            <a:off x="465350" y="3337100"/>
            <a:ext cx="3646500" cy="775500"/>
          </a:xfrm>
          <a:prstGeom prst="rect">
            <a:avLst/>
          </a:prstGeom>
          <a:noFill/>
          <a:ln>
            <a:noFill/>
          </a:ln>
        </p:spPr>
        <p:txBody>
          <a:bodyPr anchorCtr="0" anchor="t" bIns="111925" lIns="628650"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WhatsApp and Email </a:t>
            </a:r>
            <a:r>
              <a:rPr b="1" lang="en-US" sz="1024">
                <a:solidFill>
                  <a:schemeClr val="dk1"/>
                </a:solidFill>
                <a:latin typeface="Roboto"/>
                <a:ea typeface="Roboto"/>
                <a:cs typeface="Roboto"/>
                <a:sym typeface="Roboto"/>
              </a:rPr>
              <a:t>dominate </a:t>
            </a:r>
            <a:r>
              <a:rPr lang="en-US" sz="1024">
                <a:solidFill>
                  <a:schemeClr val="dk1"/>
                </a:solidFill>
                <a:latin typeface="Roboto"/>
                <a:ea typeface="Roboto"/>
                <a:cs typeface="Roboto"/>
                <a:sym typeface="Roboto"/>
              </a:rPr>
              <a:t>overall transaction, while SMS and Call remain marginal channels, suggesting that </a:t>
            </a:r>
            <a:r>
              <a:rPr b="1" lang="en-US" sz="1024">
                <a:solidFill>
                  <a:schemeClr val="dk1"/>
                </a:solidFill>
                <a:latin typeface="Roboto"/>
                <a:ea typeface="Roboto"/>
                <a:cs typeface="Roboto"/>
                <a:sym typeface="Roboto"/>
              </a:rPr>
              <a:t>optimization efforts </a:t>
            </a:r>
            <a:r>
              <a:rPr lang="en-US" sz="1024">
                <a:solidFill>
                  <a:schemeClr val="dk1"/>
                </a:solidFill>
                <a:latin typeface="Roboto"/>
                <a:ea typeface="Roboto"/>
                <a:cs typeface="Roboto"/>
                <a:sym typeface="Roboto"/>
              </a:rPr>
              <a:t>should prioritize WA and Email as the </a:t>
            </a:r>
            <a:r>
              <a:rPr b="1" lang="en-US" sz="1024">
                <a:solidFill>
                  <a:schemeClr val="dk1"/>
                </a:solidFill>
                <a:latin typeface="Roboto"/>
                <a:ea typeface="Roboto"/>
                <a:cs typeface="Roboto"/>
                <a:sym typeface="Roboto"/>
              </a:rPr>
              <a:t>main drives</a:t>
            </a:r>
            <a:r>
              <a:rPr lang="en-US" sz="1024">
                <a:solidFill>
                  <a:schemeClr val="dk1"/>
                </a:solidFill>
                <a:latin typeface="Roboto"/>
                <a:ea typeface="Roboto"/>
                <a:cs typeface="Roboto"/>
                <a:sym typeface="Roboto"/>
              </a:rPr>
              <a:t> of user communication</a:t>
            </a:r>
            <a:endParaRPr sz="1024">
              <a:solidFill>
                <a:schemeClr val="dk1"/>
              </a:solidFill>
              <a:latin typeface="Roboto"/>
              <a:ea typeface="Roboto"/>
              <a:cs typeface="Roboto"/>
              <a:sym typeface="Roboto"/>
            </a:endParaRPr>
          </a:p>
        </p:txBody>
      </p:sp>
      <p:sp>
        <p:nvSpPr>
          <p:cNvPr id="984" name="Google Shape;984;g3b8af0a3789_0_323"/>
          <p:cNvSpPr txBox="1"/>
          <p:nvPr/>
        </p:nvSpPr>
        <p:spPr>
          <a:xfrm>
            <a:off x="4953250" y="3337100"/>
            <a:ext cx="3601500" cy="11520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Users are evenly distributed across all channels, indicating strong </a:t>
            </a:r>
            <a:r>
              <a:rPr b="1" lang="en-US" sz="1024">
                <a:solidFill>
                  <a:schemeClr val="dk1"/>
                </a:solidFill>
                <a:latin typeface="Roboto"/>
                <a:ea typeface="Roboto"/>
                <a:cs typeface="Roboto"/>
                <a:sym typeface="Roboto"/>
              </a:rPr>
              <a:t>omnichannel </a:t>
            </a:r>
            <a:r>
              <a:rPr lang="en-US" sz="1024">
                <a:solidFill>
                  <a:schemeClr val="dk1"/>
                </a:solidFill>
                <a:latin typeface="Roboto"/>
                <a:ea typeface="Roboto"/>
                <a:cs typeface="Roboto"/>
                <a:sym typeface="Roboto"/>
              </a:rPr>
              <a:t>adoption.</a:t>
            </a:r>
            <a:endParaRPr sz="1024">
              <a:solidFill>
                <a:schemeClr val="dk1"/>
              </a:solidFill>
              <a:latin typeface="Roboto"/>
              <a:ea typeface="Roboto"/>
              <a:cs typeface="Roboto"/>
              <a:sym typeface="Roboto"/>
            </a:endParaRPr>
          </a:p>
        </p:txBody>
      </p:sp>
      <p:pic>
        <p:nvPicPr>
          <p:cNvPr id="985" name="Google Shape;985;g3b8af0a3789_0_323"/>
          <p:cNvPicPr preferRelativeResize="0"/>
          <p:nvPr/>
        </p:nvPicPr>
        <p:blipFill>
          <a:blip r:embed="rId4">
            <a:alphaModFix/>
          </a:blip>
          <a:stretch>
            <a:fillRect/>
          </a:stretch>
        </p:blipFill>
        <p:spPr>
          <a:xfrm>
            <a:off x="443650" y="1179175"/>
            <a:ext cx="3601499" cy="2084900"/>
          </a:xfrm>
          <a:prstGeom prst="rect">
            <a:avLst/>
          </a:prstGeom>
          <a:noFill/>
          <a:ln>
            <a:noFill/>
          </a:ln>
        </p:spPr>
      </p:pic>
      <p:sp>
        <p:nvSpPr>
          <p:cNvPr id="986" name="Google Shape;986;g3b8af0a3789_0_323"/>
          <p:cNvSpPr txBox="1"/>
          <p:nvPr/>
        </p:nvSpPr>
        <p:spPr>
          <a:xfrm>
            <a:off x="4572000" y="552050"/>
            <a:ext cx="41067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Behavioral Understanding</a:t>
            </a:r>
            <a:endParaRPr b="1" sz="1800" u="sng">
              <a:solidFill>
                <a:schemeClr val="dk2"/>
              </a:solidFill>
              <a:latin typeface="Roboto"/>
              <a:ea typeface="Roboto"/>
              <a:cs typeface="Roboto"/>
              <a:sym typeface="Roboto"/>
            </a:endParaRPr>
          </a:p>
        </p:txBody>
      </p:sp>
      <p:pic>
        <p:nvPicPr>
          <p:cNvPr id="987" name="Google Shape;987;g3b8af0a3789_0_323"/>
          <p:cNvPicPr preferRelativeResize="0"/>
          <p:nvPr/>
        </p:nvPicPr>
        <p:blipFill>
          <a:blip r:embed="rId5">
            <a:alphaModFix/>
          </a:blip>
          <a:stretch>
            <a:fillRect/>
          </a:stretch>
        </p:blipFill>
        <p:spPr>
          <a:xfrm>
            <a:off x="4971450" y="1186375"/>
            <a:ext cx="3565089" cy="2084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1" name="Shape 991"/>
        <p:cNvGrpSpPr/>
        <p:nvPr/>
      </p:nvGrpSpPr>
      <p:grpSpPr>
        <a:xfrm>
          <a:off x="0" y="0"/>
          <a:ext cx="0" cy="0"/>
          <a:chOff x="0" y="0"/>
          <a:chExt cx="0" cy="0"/>
        </a:xfrm>
      </p:grpSpPr>
      <p:pic>
        <p:nvPicPr>
          <p:cNvPr id="992" name="Google Shape;992;g3b8af0a3789_0_367"/>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993" name="Google Shape;993;g3b8af0a3789_0_367"/>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994" name="Google Shape;994;g3b8af0a3789_0_367"/>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995" name="Google Shape;995;g3b8af0a3789_0_367"/>
          <p:cNvSpPr txBox="1"/>
          <p:nvPr/>
        </p:nvSpPr>
        <p:spPr>
          <a:xfrm>
            <a:off x="5032150" y="3337100"/>
            <a:ext cx="3646500" cy="1131300"/>
          </a:xfrm>
          <a:prstGeom prst="rect">
            <a:avLst/>
          </a:prstGeom>
          <a:noFill/>
          <a:ln>
            <a:noFill/>
          </a:ln>
        </p:spPr>
        <p:txBody>
          <a:bodyPr anchorCtr="0" anchor="t" bIns="111925" lIns="628650" spcFirstLastPara="1" rIns="111925" wrap="square" tIns="111925">
            <a:noAutofit/>
          </a:bodyPr>
          <a:lstStyle/>
          <a:p>
            <a:pPr indent="0" lvl="0" marL="0" rtl="0" algn="just">
              <a:spcBef>
                <a:spcPts val="0"/>
              </a:spcBef>
              <a:spcAft>
                <a:spcPts val="0"/>
              </a:spcAft>
              <a:buClr>
                <a:schemeClr val="dk1"/>
              </a:buClr>
              <a:buSzPts val="1100"/>
              <a:buFont typeface="Arial"/>
              <a:buNone/>
            </a:pPr>
            <a:r>
              <a:rPr lang="en-US" sz="924">
                <a:solidFill>
                  <a:schemeClr val="dk1"/>
                </a:solidFill>
                <a:latin typeface="Roboto"/>
                <a:ea typeface="Roboto"/>
                <a:cs typeface="Roboto"/>
                <a:sym typeface="Roboto"/>
              </a:rPr>
              <a:t>OCA’s usage is </a:t>
            </a:r>
            <a:r>
              <a:rPr b="1" lang="en-US" sz="924">
                <a:solidFill>
                  <a:schemeClr val="dk1"/>
                </a:solidFill>
                <a:latin typeface="Roboto"/>
                <a:ea typeface="Roboto"/>
                <a:cs typeface="Roboto"/>
                <a:sym typeface="Roboto"/>
              </a:rPr>
              <a:t>highly concentrated</a:t>
            </a:r>
            <a:r>
              <a:rPr lang="en-US" sz="924">
                <a:solidFill>
                  <a:schemeClr val="dk1"/>
                </a:solidFill>
                <a:latin typeface="Roboto"/>
                <a:ea typeface="Roboto"/>
                <a:cs typeface="Roboto"/>
                <a:sym typeface="Roboto"/>
              </a:rPr>
              <a:t> in the top three users generating over 24M transactions, creating </a:t>
            </a:r>
            <a:r>
              <a:rPr b="1" lang="en-US" sz="924">
                <a:solidFill>
                  <a:schemeClr val="dk1"/>
                </a:solidFill>
                <a:latin typeface="Roboto"/>
                <a:ea typeface="Roboto"/>
                <a:cs typeface="Roboto"/>
                <a:sym typeface="Roboto"/>
              </a:rPr>
              <a:t>high dependency risk.</a:t>
            </a:r>
            <a:r>
              <a:rPr lang="en-US" sz="924">
                <a:solidFill>
                  <a:schemeClr val="dk1"/>
                </a:solidFill>
                <a:latin typeface="Roboto"/>
                <a:ea typeface="Roboto"/>
                <a:cs typeface="Roboto"/>
                <a:sym typeface="Roboto"/>
              </a:rPr>
              <a:t> while mid-tier clients show growth constraints highlighting urgent retention needs and clear upsell opportunities.</a:t>
            </a:r>
            <a:endParaRPr sz="924">
              <a:solidFill>
                <a:schemeClr val="dk1"/>
              </a:solidFill>
              <a:latin typeface="Roboto"/>
              <a:ea typeface="Roboto"/>
              <a:cs typeface="Roboto"/>
              <a:sym typeface="Roboto"/>
            </a:endParaRPr>
          </a:p>
          <a:p>
            <a:pPr indent="0" lvl="0" marL="0" rtl="0" algn="just">
              <a:spcBef>
                <a:spcPts val="0"/>
              </a:spcBef>
              <a:spcAft>
                <a:spcPts val="0"/>
              </a:spcAft>
              <a:buClr>
                <a:schemeClr val="dk1"/>
              </a:buClr>
              <a:buSzPts val="1100"/>
              <a:buFont typeface="Arial"/>
              <a:buNone/>
            </a:pPr>
            <a:r>
              <a:t/>
            </a:r>
            <a:endParaRPr sz="924">
              <a:solidFill>
                <a:schemeClr val="dk1"/>
              </a:solidFill>
              <a:latin typeface="Roboto"/>
              <a:ea typeface="Roboto"/>
              <a:cs typeface="Roboto"/>
              <a:sym typeface="Roboto"/>
            </a:endParaRPr>
          </a:p>
          <a:p>
            <a:pPr indent="0" lvl="0" marL="0" rtl="0" algn="just">
              <a:spcBef>
                <a:spcPts val="0"/>
              </a:spcBef>
              <a:spcAft>
                <a:spcPts val="0"/>
              </a:spcAft>
              <a:buNone/>
            </a:pPr>
            <a:r>
              <a:t/>
            </a:r>
            <a:endParaRPr sz="924">
              <a:solidFill>
                <a:schemeClr val="dk1"/>
              </a:solidFill>
              <a:latin typeface="Roboto"/>
              <a:ea typeface="Roboto"/>
              <a:cs typeface="Roboto"/>
              <a:sym typeface="Roboto"/>
            </a:endParaRPr>
          </a:p>
        </p:txBody>
      </p:sp>
      <p:sp>
        <p:nvSpPr>
          <p:cNvPr id="996" name="Google Shape;996;g3b8af0a3789_0_367"/>
          <p:cNvSpPr txBox="1"/>
          <p:nvPr/>
        </p:nvSpPr>
        <p:spPr>
          <a:xfrm>
            <a:off x="488625" y="3337100"/>
            <a:ext cx="3601500" cy="11313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Clr>
                <a:schemeClr val="dk1"/>
              </a:buClr>
              <a:buSzPts val="1100"/>
              <a:buFont typeface="Arial"/>
              <a:buNone/>
            </a:pPr>
            <a:r>
              <a:rPr lang="en-US" sz="1024">
                <a:solidFill>
                  <a:schemeClr val="dk1"/>
                </a:solidFill>
                <a:latin typeface="Roboto"/>
                <a:ea typeface="Roboto"/>
                <a:cs typeface="Roboto"/>
                <a:sym typeface="Roboto"/>
              </a:rPr>
              <a:t>Most transactions reach the delivered and read stages, showing that the </a:t>
            </a:r>
            <a:r>
              <a:rPr b="1" lang="en-US" sz="1024">
                <a:solidFill>
                  <a:schemeClr val="dk1"/>
                </a:solidFill>
                <a:latin typeface="Roboto"/>
                <a:ea typeface="Roboto"/>
                <a:cs typeface="Roboto"/>
                <a:sym typeface="Roboto"/>
              </a:rPr>
              <a:t>majority of messages are successfully transmitted</a:t>
            </a:r>
            <a:r>
              <a:rPr lang="en-US" sz="1024">
                <a:solidFill>
                  <a:schemeClr val="dk1"/>
                </a:solidFill>
                <a:latin typeface="Roboto"/>
                <a:ea typeface="Roboto"/>
                <a:cs typeface="Roboto"/>
                <a:sym typeface="Roboto"/>
              </a:rPr>
              <a:t> and consumed, but the </a:t>
            </a:r>
            <a:r>
              <a:rPr b="1" lang="en-US" sz="1024">
                <a:solidFill>
                  <a:schemeClr val="dk1"/>
                </a:solidFill>
                <a:latin typeface="Roboto"/>
                <a:ea typeface="Roboto"/>
                <a:cs typeface="Roboto"/>
                <a:sym typeface="Roboto"/>
              </a:rPr>
              <a:t>relatively high</a:t>
            </a:r>
            <a:r>
              <a:rPr lang="en-US" sz="1024">
                <a:solidFill>
                  <a:schemeClr val="dk1"/>
                </a:solidFill>
                <a:latin typeface="Roboto"/>
                <a:ea typeface="Roboto"/>
                <a:cs typeface="Roboto"/>
                <a:sym typeface="Roboto"/>
              </a:rPr>
              <a:t> numbers in sent, opened, and RNA (Ring No Answer) </a:t>
            </a:r>
            <a:r>
              <a:rPr b="1" lang="en-US" sz="1024">
                <a:solidFill>
                  <a:schemeClr val="dk1"/>
                </a:solidFill>
                <a:latin typeface="Roboto"/>
                <a:ea typeface="Roboto"/>
                <a:cs typeface="Roboto"/>
                <a:sym typeface="Roboto"/>
              </a:rPr>
              <a:t>highlight delivery bottlenecks</a:t>
            </a:r>
            <a:r>
              <a:rPr lang="en-US" sz="1024">
                <a:solidFill>
                  <a:schemeClr val="dk1"/>
                </a:solidFill>
                <a:latin typeface="Roboto"/>
                <a:ea typeface="Roboto"/>
                <a:cs typeface="Roboto"/>
                <a:sym typeface="Roboto"/>
              </a:rPr>
              <a:t>, while the very low clicked rate indicates weak engagement</a:t>
            </a:r>
            <a:endParaRPr sz="1024">
              <a:solidFill>
                <a:schemeClr val="dk1"/>
              </a:solidFill>
              <a:latin typeface="Roboto"/>
              <a:ea typeface="Roboto"/>
              <a:cs typeface="Roboto"/>
              <a:sym typeface="Roboto"/>
            </a:endParaRPr>
          </a:p>
          <a:p>
            <a:pPr indent="0" lvl="0" marL="0" rtl="0" algn="just">
              <a:spcBef>
                <a:spcPts val="0"/>
              </a:spcBef>
              <a:spcAft>
                <a:spcPts val="0"/>
              </a:spcAft>
              <a:buNone/>
            </a:pPr>
            <a:r>
              <a:t/>
            </a:r>
            <a:endParaRPr sz="924">
              <a:solidFill>
                <a:schemeClr val="dk2"/>
              </a:solidFill>
              <a:latin typeface="Roboto"/>
              <a:ea typeface="Roboto"/>
              <a:cs typeface="Roboto"/>
              <a:sym typeface="Roboto"/>
            </a:endParaRPr>
          </a:p>
        </p:txBody>
      </p:sp>
      <p:pic>
        <p:nvPicPr>
          <p:cNvPr id="997" name="Google Shape;997;g3b8af0a3789_0_367"/>
          <p:cNvPicPr preferRelativeResize="0"/>
          <p:nvPr/>
        </p:nvPicPr>
        <p:blipFill rotWithShape="1">
          <a:blip r:embed="rId4">
            <a:alphaModFix/>
          </a:blip>
          <a:srcRect b="0" l="0" r="734" t="0"/>
          <a:stretch/>
        </p:blipFill>
        <p:spPr>
          <a:xfrm>
            <a:off x="5032150" y="968381"/>
            <a:ext cx="3646499" cy="2302894"/>
          </a:xfrm>
          <a:prstGeom prst="rect">
            <a:avLst/>
          </a:prstGeom>
          <a:noFill/>
          <a:ln>
            <a:noFill/>
          </a:ln>
        </p:spPr>
      </p:pic>
      <p:pic>
        <p:nvPicPr>
          <p:cNvPr id="998" name="Google Shape;998;g3b8af0a3789_0_367"/>
          <p:cNvPicPr preferRelativeResize="0"/>
          <p:nvPr/>
        </p:nvPicPr>
        <p:blipFill>
          <a:blip r:embed="rId5">
            <a:alphaModFix/>
          </a:blip>
          <a:stretch>
            <a:fillRect/>
          </a:stretch>
        </p:blipFill>
        <p:spPr>
          <a:xfrm>
            <a:off x="466138" y="1145035"/>
            <a:ext cx="3646474" cy="2119040"/>
          </a:xfrm>
          <a:prstGeom prst="rect">
            <a:avLst/>
          </a:prstGeom>
          <a:noFill/>
          <a:ln>
            <a:noFill/>
          </a:ln>
        </p:spPr>
      </p:pic>
      <p:sp>
        <p:nvSpPr>
          <p:cNvPr id="999" name="Google Shape;999;g3b8af0a3789_0_367"/>
          <p:cNvSpPr/>
          <p:nvPr/>
        </p:nvSpPr>
        <p:spPr>
          <a:xfrm>
            <a:off x="1383575" y="1930350"/>
            <a:ext cx="900900" cy="13335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3" name="Shape 1003"/>
        <p:cNvGrpSpPr/>
        <p:nvPr/>
      </p:nvGrpSpPr>
      <p:grpSpPr>
        <a:xfrm>
          <a:off x="0" y="0"/>
          <a:ext cx="0" cy="0"/>
          <a:chOff x="0" y="0"/>
          <a:chExt cx="0" cy="0"/>
        </a:xfrm>
      </p:grpSpPr>
      <p:pic>
        <p:nvPicPr>
          <p:cNvPr id="1004" name="Google Shape;1004;g3b8af0a3789_0_350"/>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05" name="Google Shape;1005;g3b8af0a3789_0_350"/>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06" name="Google Shape;1006;g3b8af0a3789_0_350"/>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07" name="Google Shape;1007;g3b8af0a3789_0_350"/>
          <p:cNvSpPr txBox="1"/>
          <p:nvPr/>
        </p:nvSpPr>
        <p:spPr>
          <a:xfrm>
            <a:off x="488625" y="3337100"/>
            <a:ext cx="3601500" cy="11313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Message traffic peaks from 17:00 to 00:00 and remains </a:t>
            </a:r>
            <a:r>
              <a:rPr b="1" lang="en-US" sz="1024">
                <a:solidFill>
                  <a:schemeClr val="dk1"/>
                </a:solidFill>
                <a:latin typeface="Roboto"/>
                <a:ea typeface="Roboto"/>
                <a:cs typeface="Roboto"/>
                <a:sym typeface="Roboto"/>
              </a:rPr>
              <a:t>active overnight</a:t>
            </a:r>
            <a:r>
              <a:rPr lang="en-US" sz="1024">
                <a:solidFill>
                  <a:schemeClr val="dk1"/>
                </a:solidFill>
                <a:latin typeface="Roboto"/>
                <a:ea typeface="Roboto"/>
                <a:cs typeface="Roboto"/>
                <a:sym typeface="Roboto"/>
              </a:rPr>
              <a:t>, creating </a:t>
            </a:r>
            <a:r>
              <a:rPr b="1" lang="en-US" sz="1024">
                <a:solidFill>
                  <a:schemeClr val="dk1"/>
                </a:solidFill>
                <a:latin typeface="Roboto"/>
                <a:ea typeface="Roboto"/>
                <a:cs typeface="Roboto"/>
                <a:sym typeface="Roboto"/>
              </a:rPr>
              <a:t>prolonged server load</a:t>
            </a:r>
            <a:r>
              <a:rPr lang="en-US" sz="1024">
                <a:solidFill>
                  <a:schemeClr val="dk1"/>
                </a:solidFill>
                <a:latin typeface="Roboto"/>
                <a:ea typeface="Roboto"/>
                <a:cs typeface="Roboto"/>
                <a:sym typeface="Roboto"/>
              </a:rPr>
              <a:t>. This opens opportunities for </a:t>
            </a:r>
            <a:r>
              <a:rPr b="1" lang="en-US" sz="1024">
                <a:solidFill>
                  <a:schemeClr val="dk1"/>
                </a:solidFill>
                <a:latin typeface="Roboto"/>
                <a:ea typeface="Roboto"/>
                <a:cs typeface="Roboto"/>
                <a:sym typeface="Roboto"/>
              </a:rPr>
              <a:t>premium priority routing</a:t>
            </a:r>
            <a:r>
              <a:rPr lang="en-US" sz="1024">
                <a:solidFill>
                  <a:schemeClr val="dk1"/>
                </a:solidFill>
                <a:latin typeface="Roboto"/>
                <a:ea typeface="Roboto"/>
                <a:cs typeface="Roboto"/>
                <a:sym typeface="Roboto"/>
              </a:rPr>
              <a:t> and off-peak traffic optimization.</a:t>
            </a:r>
            <a:endParaRPr sz="1024">
              <a:solidFill>
                <a:schemeClr val="dk1"/>
              </a:solidFill>
              <a:latin typeface="Roboto"/>
              <a:ea typeface="Roboto"/>
              <a:cs typeface="Roboto"/>
              <a:sym typeface="Roboto"/>
            </a:endParaRPr>
          </a:p>
        </p:txBody>
      </p:sp>
      <p:sp>
        <p:nvSpPr>
          <p:cNvPr id="1008" name="Google Shape;1008;g3b8af0a3789_0_350"/>
          <p:cNvSpPr txBox="1"/>
          <p:nvPr/>
        </p:nvSpPr>
        <p:spPr>
          <a:xfrm>
            <a:off x="5022850" y="3337100"/>
            <a:ext cx="3655800" cy="1131300"/>
          </a:xfrm>
          <a:prstGeom prst="rect">
            <a:avLst/>
          </a:prstGeom>
          <a:noFill/>
          <a:ln>
            <a:noFill/>
          </a:ln>
        </p:spPr>
        <p:txBody>
          <a:bodyPr anchorCtr="0" anchor="t" bIns="111925" lIns="628650"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While Friday shows the </a:t>
            </a:r>
            <a:r>
              <a:rPr b="1" lang="en-US" sz="1024">
                <a:solidFill>
                  <a:schemeClr val="dk1"/>
                </a:solidFill>
                <a:latin typeface="Roboto"/>
                <a:ea typeface="Roboto"/>
                <a:cs typeface="Roboto"/>
                <a:sym typeface="Roboto"/>
              </a:rPr>
              <a:t>highest transaction</a:t>
            </a:r>
            <a:r>
              <a:rPr lang="en-US" sz="1024">
                <a:solidFill>
                  <a:schemeClr val="dk1"/>
                </a:solidFill>
                <a:latin typeface="Roboto"/>
                <a:ea typeface="Roboto"/>
                <a:cs typeface="Roboto"/>
                <a:sym typeface="Roboto"/>
              </a:rPr>
              <a:t> volume, weekday to weekend variation remains moderate 1.372 transactions (~7%), requiring </a:t>
            </a:r>
            <a:r>
              <a:rPr b="1" lang="en-US" sz="1024">
                <a:solidFill>
                  <a:schemeClr val="dk1"/>
                </a:solidFill>
                <a:latin typeface="Roboto"/>
                <a:ea typeface="Roboto"/>
                <a:cs typeface="Roboto"/>
                <a:sym typeface="Roboto"/>
              </a:rPr>
              <a:t>full infrastructure readiness daily</a:t>
            </a:r>
            <a:r>
              <a:rPr lang="en-US" sz="1024">
                <a:solidFill>
                  <a:schemeClr val="dk1"/>
                </a:solidFill>
                <a:latin typeface="Roboto"/>
                <a:ea typeface="Roboto"/>
                <a:cs typeface="Roboto"/>
                <a:sym typeface="Roboto"/>
              </a:rPr>
              <a:t>. Maintenance is best scheduled during low-traffic early Tuesday hours.</a:t>
            </a:r>
            <a:endParaRPr sz="1024">
              <a:solidFill>
                <a:schemeClr val="dk1"/>
              </a:solidFill>
              <a:latin typeface="Roboto"/>
              <a:ea typeface="Roboto"/>
              <a:cs typeface="Roboto"/>
              <a:sym typeface="Roboto"/>
            </a:endParaRPr>
          </a:p>
        </p:txBody>
      </p:sp>
      <p:pic>
        <p:nvPicPr>
          <p:cNvPr id="1009" name="Google Shape;1009;g3b8af0a3789_0_350"/>
          <p:cNvPicPr preferRelativeResize="0"/>
          <p:nvPr/>
        </p:nvPicPr>
        <p:blipFill>
          <a:blip r:embed="rId4">
            <a:alphaModFix/>
          </a:blip>
          <a:stretch>
            <a:fillRect/>
          </a:stretch>
        </p:blipFill>
        <p:spPr>
          <a:xfrm>
            <a:off x="332838" y="1000512"/>
            <a:ext cx="3913063" cy="2263575"/>
          </a:xfrm>
          <a:prstGeom prst="rect">
            <a:avLst/>
          </a:prstGeom>
          <a:noFill/>
          <a:ln>
            <a:noFill/>
          </a:ln>
        </p:spPr>
      </p:pic>
      <p:pic>
        <p:nvPicPr>
          <p:cNvPr id="1010" name="Google Shape;1010;g3b8af0a3789_0_350"/>
          <p:cNvPicPr preferRelativeResize="0"/>
          <p:nvPr/>
        </p:nvPicPr>
        <p:blipFill>
          <a:blip r:embed="rId5">
            <a:alphaModFix/>
          </a:blip>
          <a:stretch>
            <a:fillRect/>
          </a:stretch>
        </p:blipFill>
        <p:spPr>
          <a:xfrm>
            <a:off x="4913925" y="1000499"/>
            <a:ext cx="3882951" cy="22635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pic>
        <p:nvPicPr>
          <p:cNvPr id="1015" name="Google Shape;1015;g3b8af0a3789_0_400"/>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16" name="Google Shape;1016;g3b8af0a3789_0_400"/>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17" name="Google Shape;1017;g3b8af0a3789_0_400"/>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18" name="Google Shape;1018;g3b8af0a3789_0_400"/>
          <p:cNvSpPr txBox="1"/>
          <p:nvPr/>
        </p:nvSpPr>
        <p:spPr>
          <a:xfrm>
            <a:off x="488625" y="3337100"/>
            <a:ext cx="3601500" cy="11313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OCA’s user base is </a:t>
            </a:r>
            <a:r>
              <a:rPr b="1" lang="en-US" sz="1024">
                <a:solidFill>
                  <a:schemeClr val="dk1"/>
                </a:solidFill>
                <a:latin typeface="Roboto"/>
                <a:ea typeface="Roboto"/>
                <a:cs typeface="Roboto"/>
                <a:sym typeface="Roboto"/>
              </a:rPr>
              <a:t>highly polarized,</a:t>
            </a:r>
            <a:r>
              <a:rPr lang="en-US" sz="1024">
                <a:solidFill>
                  <a:schemeClr val="dk1"/>
                </a:solidFill>
                <a:latin typeface="Roboto"/>
                <a:ea typeface="Roboto"/>
                <a:cs typeface="Roboto"/>
                <a:sym typeface="Roboto"/>
              </a:rPr>
              <a:t> with a </a:t>
            </a:r>
            <a:r>
              <a:rPr b="1" lang="en-US" sz="1024">
                <a:solidFill>
                  <a:schemeClr val="dk1"/>
                </a:solidFill>
                <a:latin typeface="Roboto"/>
                <a:ea typeface="Roboto"/>
                <a:cs typeface="Roboto"/>
                <a:sym typeface="Roboto"/>
              </a:rPr>
              <a:t>missing mid-tier</a:t>
            </a:r>
            <a:r>
              <a:rPr lang="en-US" sz="1024">
                <a:solidFill>
                  <a:schemeClr val="dk1"/>
                </a:solidFill>
                <a:latin typeface="Roboto"/>
                <a:ea typeface="Roboto"/>
                <a:cs typeface="Roboto"/>
                <a:sym typeface="Roboto"/>
              </a:rPr>
              <a:t> that signals pricing </a:t>
            </a:r>
            <a:r>
              <a:rPr b="1" lang="en-US" sz="1024">
                <a:solidFill>
                  <a:schemeClr val="dk1"/>
                </a:solidFill>
                <a:latin typeface="Roboto"/>
                <a:ea typeface="Roboto"/>
                <a:cs typeface="Roboto"/>
                <a:sym typeface="Roboto"/>
              </a:rPr>
              <a:t>gaps in user growth progression </a:t>
            </a:r>
            <a:r>
              <a:rPr lang="en-US" sz="1024">
                <a:solidFill>
                  <a:schemeClr val="dk1"/>
                </a:solidFill>
                <a:latin typeface="Roboto"/>
                <a:ea typeface="Roboto"/>
                <a:cs typeface="Roboto"/>
                <a:sym typeface="Roboto"/>
              </a:rPr>
              <a:t>and highlights strong upsell potential from lower-volume users.</a:t>
            </a:r>
            <a:endParaRPr sz="1024">
              <a:solidFill>
                <a:schemeClr val="dk1"/>
              </a:solidFill>
              <a:latin typeface="Roboto"/>
              <a:ea typeface="Roboto"/>
              <a:cs typeface="Roboto"/>
              <a:sym typeface="Roboto"/>
            </a:endParaRPr>
          </a:p>
        </p:txBody>
      </p:sp>
      <p:sp>
        <p:nvSpPr>
          <p:cNvPr id="1019" name="Google Shape;1019;g3b8af0a3789_0_400"/>
          <p:cNvSpPr txBox="1"/>
          <p:nvPr/>
        </p:nvSpPr>
        <p:spPr>
          <a:xfrm>
            <a:off x="4926700" y="3337100"/>
            <a:ext cx="3752100" cy="1131300"/>
          </a:xfrm>
          <a:prstGeom prst="rect">
            <a:avLst/>
          </a:prstGeom>
          <a:noFill/>
          <a:ln>
            <a:noFill/>
          </a:ln>
        </p:spPr>
        <p:txBody>
          <a:bodyPr anchorCtr="0" anchor="t" bIns="111925" lIns="628650" spcFirstLastPara="1" rIns="111925" wrap="square" tIns="111925">
            <a:noAutofit/>
          </a:bodyPr>
          <a:lstStyle/>
          <a:p>
            <a:pPr indent="0" lvl="0" marL="0" rtl="0" algn="just">
              <a:spcBef>
                <a:spcPts val="0"/>
              </a:spcBef>
              <a:spcAft>
                <a:spcPts val="0"/>
              </a:spcAft>
              <a:buNone/>
            </a:pPr>
            <a:r>
              <a:rPr lang="en-US" sz="1100">
                <a:solidFill>
                  <a:schemeClr val="dk1"/>
                </a:solidFill>
                <a:latin typeface="Roboto"/>
                <a:ea typeface="Roboto"/>
                <a:cs typeface="Roboto"/>
                <a:sym typeface="Roboto"/>
              </a:rPr>
              <a:t>OCA Indonesia users are definitive </a:t>
            </a:r>
            <a:r>
              <a:rPr b="1" lang="en-US" sz="1100">
                <a:solidFill>
                  <a:schemeClr val="dk1"/>
                </a:solidFill>
                <a:latin typeface="Roboto"/>
                <a:ea typeface="Roboto"/>
                <a:cs typeface="Roboto"/>
                <a:sym typeface="Roboto"/>
              </a:rPr>
              <a:t>'Night Owls,'</a:t>
            </a:r>
            <a:r>
              <a:rPr lang="en-US" sz="1100">
                <a:solidFill>
                  <a:schemeClr val="dk1"/>
                </a:solidFill>
                <a:latin typeface="Roboto"/>
                <a:ea typeface="Roboto"/>
                <a:cs typeface="Roboto"/>
                <a:sym typeface="Roboto"/>
              </a:rPr>
              <a:t> peaking between 7 PM and 11 PM, particularly on Wednesdays and Thursdays. To maximize impact, engagement strategies must shift from standard office hours to these evening slots, utilizing the 1 AM–3 AM lull strictly for maintenance.</a:t>
            </a:r>
            <a:endParaRPr sz="1024">
              <a:solidFill>
                <a:schemeClr val="dk2"/>
              </a:solidFill>
              <a:latin typeface="Roboto"/>
              <a:ea typeface="Roboto"/>
              <a:cs typeface="Roboto"/>
              <a:sym typeface="Roboto"/>
            </a:endParaRPr>
          </a:p>
        </p:txBody>
      </p:sp>
      <p:pic>
        <p:nvPicPr>
          <p:cNvPr id="1020" name="Google Shape;1020;g3b8af0a3789_0_400"/>
          <p:cNvPicPr preferRelativeResize="0"/>
          <p:nvPr/>
        </p:nvPicPr>
        <p:blipFill>
          <a:blip r:embed="rId4">
            <a:alphaModFix/>
          </a:blip>
          <a:stretch>
            <a:fillRect/>
          </a:stretch>
        </p:blipFill>
        <p:spPr>
          <a:xfrm>
            <a:off x="443650" y="1067650"/>
            <a:ext cx="3655800" cy="2117050"/>
          </a:xfrm>
          <a:prstGeom prst="rect">
            <a:avLst/>
          </a:prstGeom>
          <a:noFill/>
          <a:ln>
            <a:noFill/>
          </a:ln>
        </p:spPr>
      </p:pic>
      <p:pic>
        <p:nvPicPr>
          <p:cNvPr id="1021" name="Google Shape;1021;g3b8af0a3789_0_400"/>
          <p:cNvPicPr preferRelativeResize="0"/>
          <p:nvPr/>
        </p:nvPicPr>
        <p:blipFill>
          <a:blip r:embed="rId5">
            <a:alphaModFix/>
          </a:blip>
          <a:stretch>
            <a:fillRect/>
          </a:stretch>
        </p:blipFill>
        <p:spPr>
          <a:xfrm>
            <a:off x="5022850" y="1085170"/>
            <a:ext cx="3655799" cy="210950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5" name="Shape 1025"/>
        <p:cNvGrpSpPr/>
        <p:nvPr/>
      </p:nvGrpSpPr>
      <p:grpSpPr>
        <a:xfrm>
          <a:off x="0" y="0"/>
          <a:ext cx="0" cy="0"/>
          <a:chOff x="0" y="0"/>
          <a:chExt cx="0" cy="0"/>
        </a:xfrm>
      </p:grpSpPr>
      <p:pic>
        <p:nvPicPr>
          <p:cNvPr id="1026" name="Google Shape;1026;g3b8af0a3789_0_424"/>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27" name="Google Shape;1027;g3b8af0a3789_0_424"/>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28" name="Google Shape;1028;g3b8af0a3789_0_424"/>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29" name="Google Shape;1029;g3b8af0a3789_0_424"/>
          <p:cNvSpPr txBox="1"/>
          <p:nvPr/>
        </p:nvSpPr>
        <p:spPr>
          <a:xfrm>
            <a:off x="4866300" y="1563150"/>
            <a:ext cx="3518100" cy="16740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124">
                <a:solidFill>
                  <a:schemeClr val="dk1"/>
                </a:solidFill>
                <a:latin typeface="Roboto"/>
                <a:ea typeface="Roboto"/>
                <a:cs typeface="Roboto"/>
                <a:sym typeface="Roboto"/>
              </a:rPr>
              <a:t>Based on the </a:t>
            </a:r>
            <a:r>
              <a:rPr b="1" lang="en-US" sz="1124">
                <a:solidFill>
                  <a:schemeClr val="dk1"/>
                </a:solidFill>
                <a:latin typeface="Roboto"/>
                <a:ea typeface="Roboto"/>
                <a:cs typeface="Roboto"/>
                <a:sym typeface="Roboto"/>
              </a:rPr>
              <a:t>Elbow Method and </a:t>
            </a:r>
            <a:r>
              <a:rPr b="1" lang="en-US" sz="1124">
                <a:solidFill>
                  <a:schemeClr val="dk1"/>
                </a:solidFill>
                <a:latin typeface="Roboto"/>
                <a:ea typeface="Roboto"/>
                <a:cs typeface="Roboto"/>
                <a:sym typeface="Roboto"/>
              </a:rPr>
              <a:t>silhouette</a:t>
            </a:r>
            <a:r>
              <a:rPr lang="en-US" sz="1124">
                <a:solidFill>
                  <a:schemeClr val="dk1"/>
                </a:solidFill>
                <a:latin typeface="Roboto"/>
                <a:ea typeface="Roboto"/>
                <a:cs typeface="Roboto"/>
                <a:sym typeface="Roboto"/>
              </a:rPr>
              <a:t> analysis, user segmentation was performed using a combination of </a:t>
            </a:r>
            <a:r>
              <a:rPr b="1" lang="en-US" sz="1124">
                <a:solidFill>
                  <a:schemeClr val="dk1"/>
                </a:solidFill>
                <a:latin typeface="Roboto"/>
                <a:ea typeface="Roboto"/>
                <a:cs typeface="Roboto"/>
                <a:sym typeface="Roboto"/>
              </a:rPr>
              <a:t>log-transformed</a:t>
            </a:r>
            <a:r>
              <a:rPr lang="en-US" sz="1124">
                <a:solidFill>
                  <a:schemeClr val="dk1"/>
                </a:solidFill>
                <a:latin typeface="Roboto"/>
                <a:ea typeface="Roboto"/>
                <a:cs typeface="Roboto"/>
                <a:sym typeface="Roboto"/>
              </a:rPr>
              <a:t> frequency, </a:t>
            </a:r>
            <a:r>
              <a:rPr b="1" lang="en-US" sz="1124">
                <a:solidFill>
                  <a:schemeClr val="dk1"/>
                </a:solidFill>
                <a:latin typeface="Roboto"/>
                <a:ea typeface="Roboto"/>
                <a:cs typeface="Roboto"/>
                <a:sym typeface="Roboto"/>
              </a:rPr>
              <a:t>log-transformed </a:t>
            </a:r>
            <a:r>
              <a:rPr lang="en-US" sz="1124">
                <a:solidFill>
                  <a:schemeClr val="dk1"/>
                </a:solidFill>
                <a:latin typeface="Roboto"/>
                <a:ea typeface="Roboto"/>
                <a:cs typeface="Roboto"/>
                <a:sym typeface="Roboto"/>
              </a:rPr>
              <a:t>monetary value, and </a:t>
            </a:r>
            <a:r>
              <a:rPr b="1" lang="en-US" sz="1124">
                <a:solidFill>
                  <a:schemeClr val="dk1"/>
                </a:solidFill>
                <a:latin typeface="Roboto"/>
                <a:ea typeface="Roboto"/>
                <a:cs typeface="Roboto"/>
                <a:sym typeface="Roboto"/>
              </a:rPr>
              <a:t>active days</a:t>
            </a:r>
            <a:r>
              <a:rPr lang="en-US" sz="1124">
                <a:solidFill>
                  <a:schemeClr val="dk1"/>
                </a:solidFill>
                <a:latin typeface="Roboto"/>
                <a:ea typeface="Roboto"/>
                <a:cs typeface="Roboto"/>
                <a:sym typeface="Roboto"/>
              </a:rPr>
              <a:t> as a proxy for recency (due to uniform recency values). This analysis indicates that the optimal number of clusters is K = 3.</a:t>
            </a:r>
            <a:endParaRPr sz="1124">
              <a:solidFill>
                <a:schemeClr val="dk1"/>
              </a:solidFill>
              <a:latin typeface="Roboto"/>
              <a:ea typeface="Roboto"/>
              <a:cs typeface="Roboto"/>
              <a:sym typeface="Roboto"/>
            </a:endParaRPr>
          </a:p>
        </p:txBody>
      </p:sp>
      <p:sp>
        <p:nvSpPr>
          <p:cNvPr id="1030" name="Google Shape;1030;g3b8af0a3789_0_424"/>
          <p:cNvSpPr txBox="1"/>
          <p:nvPr/>
        </p:nvSpPr>
        <p:spPr>
          <a:xfrm>
            <a:off x="4572000" y="552050"/>
            <a:ext cx="41067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Segmentation </a:t>
            </a:r>
            <a:endParaRPr b="1" sz="1800" u="sng">
              <a:solidFill>
                <a:schemeClr val="dk2"/>
              </a:solidFill>
              <a:latin typeface="Roboto"/>
              <a:ea typeface="Roboto"/>
              <a:cs typeface="Roboto"/>
              <a:sym typeface="Roboto"/>
            </a:endParaRPr>
          </a:p>
        </p:txBody>
      </p:sp>
      <p:pic>
        <p:nvPicPr>
          <p:cNvPr id="1031" name="Google Shape;1031;g3b8af0a3789_0_424"/>
          <p:cNvPicPr preferRelativeResize="0"/>
          <p:nvPr/>
        </p:nvPicPr>
        <p:blipFill>
          <a:blip r:embed="rId4">
            <a:alphaModFix/>
          </a:blip>
          <a:stretch>
            <a:fillRect/>
          </a:stretch>
        </p:blipFill>
        <p:spPr>
          <a:xfrm>
            <a:off x="443650" y="1574262"/>
            <a:ext cx="4364381" cy="2649626"/>
          </a:xfrm>
          <a:prstGeom prst="rect">
            <a:avLst/>
          </a:prstGeom>
          <a:noFill/>
          <a:ln>
            <a:noFill/>
          </a:ln>
        </p:spPr>
      </p:pic>
      <p:sp>
        <p:nvSpPr>
          <p:cNvPr id="1032" name="Google Shape;1032;g3b8af0a3789_0_424"/>
          <p:cNvSpPr/>
          <p:nvPr/>
        </p:nvSpPr>
        <p:spPr>
          <a:xfrm>
            <a:off x="1525300" y="2494175"/>
            <a:ext cx="451800" cy="878100"/>
          </a:xfrm>
          <a:prstGeom prst="rect">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6" name="Shape 1036"/>
        <p:cNvGrpSpPr/>
        <p:nvPr/>
      </p:nvGrpSpPr>
      <p:grpSpPr>
        <a:xfrm>
          <a:off x="0" y="0"/>
          <a:ext cx="0" cy="0"/>
          <a:chOff x="0" y="0"/>
          <a:chExt cx="0" cy="0"/>
        </a:xfrm>
      </p:grpSpPr>
      <p:pic>
        <p:nvPicPr>
          <p:cNvPr id="1037" name="Google Shape;1037;g3bb6f6a63c2_0_2"/>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38" name="Google Shape;1038;g3bb6f6a63c2_0_2"/>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39" name="Google Shape;1039;g3bb6f6a63c2_0_2"/>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40" name="Google Shape;1040;g3bb6f6a63c2_0_2"/>
          <p:cNvSpPr txBox="1"/>
          <p:nvPr/>
        </p:nvSpPr>
        <p:spPr>
          <a:xfrm>
            <a:off x="4572000" y="552050"/>
            <a:ext cx="41067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Segmentation </a:t>
            </a:r>
            <a:endParaRPr b="1" sz="1800" u="sng">
              <a:solidFill>
                <a:schemeClr val="dk2"/>
              </a:solidFill>
              <a:latin typeface="Roboto"/>
              <a:ea typeface="Roboto"/>
              <a:cs typeface="Roboto"/>
              <a:sym typeface="Roboto"/>
            </a:endParaRPr>
          </a:p>
        </p:txBody>
      </p:sp>
      <p:graphicFrame>
        <p:nvGraphicFramePr>
          <p:cNvPr id="1041" name="Google Shape;1041;g3bb6f6a63c2_0_2"/>
          <p:cNvGraphicFramePr/>
          <p:nvPr/>
        </p:nvGraphicFramePr>
        <p:xfrm>
          <a:off x="952500" y="1365975"/>
          <a:ext cx="3000000" cy="3000000"/>
        </p:xfrm>
        <a:graphic>
          <a:graphicData uri="http://schemas.openxmlformats.org/drawingml/2006/table">
            <a:tbl>
              <a:tblPr>
                <a:noFill/>
                <a:tableStyleId>{CB4A69B4-0DA6-4D0D-AB2D-2A5B036AE7D8}</a:tableStyleId>
              </a:tblPr>
              <a:tblGrid>
                <a:gridCol w="567950"/>
                <a:gridCol w="1101525"/>
                <a:gridCol w="2487075"/>
                <a:gridCol w="3082450"/>
              </a:tblGrid>
              <a:tr h="381000">
                <a:tc>
                  <a:txBody>
                    <a:bodyPr/>
                    <a:lstStyle/>
                    <a:p>
                      <a:pPr indent="0" lvl="0" marL="0" rtl="0" algn="ctr">
                        <a:spcBef>
                          <a:spcPts val="0"/>
                        </a:spcBef>
                        <a:spcAft>
                          <a:spcPts val="0"/>
                        </a:spcAft>
                        <a:buNone/>
                      </a:pPr>
                      <a:r>
                        <a:rPr b="1" lang="en-US" sz="1200">
                          <a:latin typeface="Roboto"/>
                          <a:ea typeface="Roboto"/>
                          <a:cs typeface="Roboto"/>
                          <a:sym typeface="Roboto"/>
                        </a:rPr>
                        <a:t>No</a:t>
                      </a:r>
                      <a:endParaRPr b="1" sz="1200">
                        <a:latin typeface="Roboto"/>
                        <a:ea typeface="Roboto"/>
                        <a:cs typeface="Roboto"/>
                        <a:sym typeface="Roboto"/>
                      </a:endParaRPr>
                    </a:p>
                  </a:txBody>
                  <a:tcPr marT="91425" marB="91425" marR="91425" marL="91425">
                    <a:lnR cap="flat" cmpd="sng" w="7925">
                      <a:solidFill>
                        <a:srgbClr val="CCCCCC"/>
                      </a:solidFill>
                      <a:prstDash val="solid"/>
                      <a:round/>
                      <a:headEnd len="sm" w="sm" type="none"/>
                      <a:tailEnd len="sm" w="sm" type="none"/>
                    </a:lnR>
                    <a:lnB cap="flat" cmpd="sng" w="79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Roboto"/>
                          <a:ea typeface="Roboto"/>
                          <a:cs typeface="Roboto"/>
                          <a:sym typeface="Roboto"/>
                        </a:rPr>
                        <a:t>Segment</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Roboto"/>
                          <a:ea typeface="Roboto"/>
                          <a:cs typeface="Roboto"/>
                          <a:sym typeface="Roboto"/>
                        </a:rPr>
                        <a:t>Characteristics</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Roboto"/>
                          <a:ea typeface="Roboto"/>
                          <a:cs typeface="Roboto"/>
                          <a:sym typeface="Roboto"/>
                        </a:rPr>
                        <a:t>Suggest Actions</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US" sz="1100">
                          <a:latin typeface="Roboto"/>
                          <a:ea typeface="Roboto"/>
                          <a:cs typeface="Roboto"/>
                          <a:sym typeface="Roboto"/>
                        </a:rPr>
                        <a:t>1</a:t>
                      </a:r>
                      <a:endParaRPr sz="1100">
                        <a:latin typeface="Roboto"/>
                        <a:ea typeface="Roboto"/>
                        <a:cs typeface="Roboto"/>
                        <a:sym typeface="Roboto"/>
                      </a:endParaRPr>
                    </a:p>
                  </a:txBody>
                  <a:tcPr marT="91425" marB="91425"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POWER USER</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t>Revenue Driver</a:t>
                      </a:r>
                      <a:endParaRPr sz="1100"/>
                    </a:p>
                    <a:p>
                      <a:pPr indent="0" lvl="0" marL="0" rtl="0" algn="l">
                        <a:lnSpc>
                          <a:spcPct val="115000"/>
                        </a:lnSpc>
                        <a:spcBef>
                          <a:spcPts val="0"/>
                        </a:spcBef>
                        <a:spcAft>
                          <a:spcPts val="0"/>
                        </a:spcAft>
                        <a:buNone/>
                      </a:pPr>
                      <a:r>
                        <a:rPr lang="en-US" sz="1100"/>
                        <a:t>Declining Trend</a:t>
                      </a:r>
                      <a:endParaRPr sz="1100"/>
                    </a:p>
                    <a:p>
                      <a:pPr indent="0" lvl="0" marL="0" rtl="0" algn="l">
                        <a:lnSpc>
                          <a:spcPct val="115000"/>
                        </a:lnSpc>
                        <a:spcBef>
                          <a:spcPts val="0"/>
                        </a:spcBef>
                        <a:spcAft>
                          <a:spcPts val="0"/>
                        </a:spcAft>
                        <a:buNone/>
                      </a:pPr>
                      <a:r>
                        <a:rPr lang="en-US" sz="1100"/>
                        <a:t>High Operational Consistency</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t>Immediate Retention (Account-Based Marketing)</a:t>
                      </a:r>
                      <a:endParaRPr sz="1100"/>
                    </a:p>
                    <a:p>
                      <a:pPr indent="0" lvl="0" marL="0" rtl="0" algn="l">
                        <a:lnSpc>
                          <a:spcPct val="115000"/>
                        </a:lnSpc>
                        <a:spcBef>
                          <a:spcPts val="0"/>
                        </a:spcBef>
                        <a:spcAft>
                          <a:spcPts val="0"/>
                        </a:spcAft>
                        <a:buNone/>
                      </a:pPr>
                      <a:r>
                        <a:rPr lang="en-US" sz="1100"/>
                        <a:t>Lock-in Mechanism with volume-based incentives or annual contract</a:t>
                      </a:r>
                      <a:endParaRPr sz="1100"/>
                    </a:p>
                    <a:p>
                      <a:pPr indent="0" lvl="0" marL="0" rtl="0" algn="l">
                        <a:lnSpc>
                          <a:spcPct val="115000"/>
                        </a:lnSpc>
                        <a:spcBef>
                          <a:spcPts val="0"/>
                        </a:spcBef>
                        <a:spcAft>
                          <a:spcPts val="0"/>
                        </a:spcAft>
                        <a:buNone/>
                      </a:pPr>
                      <a:r>
                        <a:rPr lang="en-US" sz="1100"/>
                        <a:t>SLA Guarantee</a:t>
                      </a:r>
                      <a:endParaRPr sz="11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US" sz="1100">
                          <a:latin typeface="Roboto"/>
                          <a:ea typeface="Roboto"/>
                          <a:cs typeface="Roboto"/>
                          <a:sym typeface="Roboto"/>
                        </a:rPr>
                        <a:t>2</a:t>
                      </a:r>
                      <a:endParaRPr sz="1100">
                        <a:latin typeface="Roboto"/>
                        <a:ea typeface="Roboto"/>
                        <a:cs typeface="Roboto"/>
                        <a:sym typeface="Roboto"/>
                      </a:endParaRPr>
                    </a:p>
                  </a:txBody>
                  <a:tcPr marT="91425" marB="91425"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LOYAL USER</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t>No Value Differentiation, identic with casual user</a:t>
                      </a:r>
                      <a:endParaRPr sz="1100"/>
                    </a:p>
                    <a:p>
                      <a:pPr indent="0" lvl="0" marL="0" rtl="0" algn="l">
                        <a:lnSpc>
                          <a:spcPct val="115000"/>
                        </a:lnSpc>
                        <a:spcBef>
                          <a:spcPts val="0"/>
                        </a:spcBef>
                        <a:spcAft>
                          <a:spcPts val="0"/>
                        </a:spcAft>
                        <a:buNone/>
                      </a:pPr>
                      <a:r>
                        <a:rPr lang="en-US" sz="1100"/>
                        <a:t>High Volatility &amp; Churn</a:t>
                      </a:r>
                      <a:endParaRPr sz="1100"/>
                    </a:p>
                    <a:p>
                      <a:pPr indent="0" lvl="0" marL="0" rtl="0" algn="l">
                        <a:lnSpc>
                          <a:spcPct val="115000"/>
                        </a:lnSpc>
                        <a:spcBef>
                          <a:spcPts val="0"/>
                        </a:spcBef>
                        <a:spcAft>
                          <a:spcPts val="0"/>
                        </a:spcAft>
                        <a:buNone/>
                      </a:pPr>
                      <a:r>
                        <a:rPr lang="en-US" sz="1100"/>
                        <a:t>Unpredictable Pattern</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Clr>
                          <a:schemeClr val="dk1"/>
                        </a:buClr>
                        <a:buSzPts val="1100"/>
                        <a:buFont typeface="Arial"/>
                        <a:buNone/>
                      </a:pPr>
                      <a:r>
                        <a:rPr lang="en-US" sz="1100"/>
                        <a:t>Re-Segmentation Strategy</a:t>
                      </a:r>
                      <a:endParaRPr sz="1100"/>
                    </a:p>
                    <a:p>
                      <a:pPr indent="0" lvl="0" marL="0" rtl="0" algn="l">
                        <a:lnSpc>
                          <a:spcPct val="115000"/>
                        </a:lnSpc>
                        <a:spcBef>
                          <a:spcPts val="0"/>
                        </a:spcBef>
                        <a:spcAft>
                          <a:spcPts val="0"/>
                        </a:spcAft>
                        <a:buClr>
                          <a:schemeClr val="dk1"/>
                        </a:buClr>
                        <a:buSzPts val="1100"/>
                        <a:buFont typeface="Arial"/>
                        <a:buNone/>
                      </a:pPr>
                      <a:r>
                        <a:rPr lang="en-US" sz="1100"/>
                        <a:t>Gamification &amp; Upselling</a:t>
                      </a:r>
                      <a:endParaRPr sz="1100"/>
                    </a:p>
                    <a:p>
                      <a:pPr indent="0" lvl="0" marL="0" rtl="0" algn="l">
                        <a:lnSpc>
                          <a:spcPct val="115000"/>
                        </a:lnSpc>
                        <a:spcBef>
                          <a:spcPts val="0"/>
                        </a:spcBef>
                        <a:spcAft>
                          <a:spcPts val="0"/>
                        </a:spcAft>
                        <a:buNone/>
                      </a:pPr>
                      <a:r>
                        <a:rPr lang="en-US" sz="1100"/>
                        <a:t>Churn Prevention Campaign with win back campaign via WhatsApp/Email with a user decline trend above 30%</a:t>
                      </a:r>
                      <a:endParaRPr sz="1100"/>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381000">
                <a:tc>
                  <a:txBody>
                    <a:bodyPr/>
                    <a:lstStyle/>
                    <a:p>
                      <a:pPr indent="0" lvl="0" marL="0" rtl="0" algn="ctr">
                        <a:lnSpc>
                          <a:spcPct val="115000"/>
                        </a:lnSpc>
                        <a:spcBef>
                          <a:spcPts val="0"/>
                        </a:spcBef>
                        <a:spcAft>
                          <a:spcPts val="0"/>
                        </a:spcAft>
                        <a:buNone/>
                      </a:pPr>
                      <a:r>
                        <a:rPr lang="en-US" sz="1100">
                          <a:latin typeface="Roboto"/>
                          <a:ea typeface="Roboto"/>
                          <a:cs typeface="Roboto"/>
                          <a:sym typeface="Roboto"/>
                        </a:rPr>
                        <a:t>3</a:t>
                      </a:r>
                      <a:endParaRPr sz="1100">
                        <a:latin typeface="Roboto"/>
                        <a:ea typeface="Roboto"/>
                        <a:cs typeface="Roboto"/>
                        <a:sym typeface="Roboto"/>
                      </a:endParaRPr>
                    </a:p>
                  </a:txBody>
                  <a:tcPr marT="91425" marB="91425"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CASUAL USER</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t>Omni-Channel Ready</a:t>
                      </a:r>
                      <a:endParaRPr sz="1100"/>
                    </a:p>
                    <a:p>
                      <a:pPr indent="0" lvl="0" marL="0" rtl="0" algn="l">
                        <a:lnSpc>
                          <a:spcPct val="115000"/>
                        </a:lnSpc>
                        <a:spcBef>
                          <a:spcPts val="0"/>
                        </a:spcBef>
                        <a:spcAft>
                          <a:spcPts val="0"/>
                        </a:spcAft>
                        <a:buNone/>
                      </a:pPr>
                      <a:r>
                        <a:rPr lang="en-US" sz="1100"/>
                        <a:t>After-Hour Behavior</a:t>
                      </a:r>
                      <a:endParaRPr sz="1100"/>
                    </a:p>
                    <a:p>
                      <a:pPr indent="0" lvl="0" marL="0" rtl="0" algn="l">
                        <a:lnSpc>
                          <a:spcPct val="115000"/>
                        </a:lnSpc>
                        <a:spcBef>
                          <a:spcPts val="0"/>
                        </a:spcBef>
                        <a:spcAft>
                          <a:spcPts val="0"/>
                        </a:spcAft>
                        <a:buNone/>
                      </a:pPr>
                      <a:r>
                        <a:rPr lang="en-US" sz="1100"/>
                        <a:t>Moderate Risk</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t>Low-Touch Activation</a:t>
                      </a:r>
                      <a:endParaRPr sz="1100"/>
                    </a:p>
                    <a:p>
                      <a:pPr indent="0" lvl="0" marL="0" rtl="0" algn="l">
                        <a:lnSpc>
                          <a:spcPct val="115000"/>
                        </a:lnSpc>
                        <a:spcBef>
                          <a:spcPts val="0"/>
                        </a:spcBef>
                        <a:spcAft>
                          <a:spcPts val="0"/>
                        </a:spcAft>
                        <a:buNone/>
                      </a:pPr>
                      <a:r>
                        <a:rPr lang="en-US" sz="1100"/>
                        <a:t>Time-Based Nudging before prime time</a:t>
                      </a:r>
                      <a:endParaRPr sz="1100"/>
                    </a:p>
                    <a:p>
                      <a:pPr indent="0" lvl="0" marL="0" rtl="0" algn="l">
                        <a:lnSpc>
                          <a:spcPct val="115000"/>
                        </a:lnSpc>
                        <a:spcBef>
                          <a:spcPts val="0"/>
                        </a:spcBef>
                        <a:spcAft>
                          <a:spcPts val="0"/>
                        </a:spcAft>
                        <a:buNone/>
                      </a:pPr>
                      <a:r>
                        <a:rPr lang="en-US" sz="1100"/>
                        <a:t>Entry-Level Monetization</a:t>
                      </a:r>
                      <a:endParaRPr sz="11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5" name="Shape 1045"/>
        <p:cNvGrpSpPr/>
        <p:nvPr/>
      </p:nvGrpSpPr>
      <p:grpSpPr>
        <a:xfrm>
          <a:off x="0" y="0"/>
          <a:ext cx="0" cy="0"/>
          <a:chOff x="0" y="0"/>
          <a:chExt cx="0" cy="0"/>
        </a:xfrm>
      </p:grpSpPr>
      <p:pic>
        <p:nvPicPr>
          <p:cNvPr id="1046" name="Google Shape;1046;g3b8af0a3789_0_732"/>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47" name="Google Shape;1047;g3b8af0a3789_0_732"/>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48" name="Google Shape;1048;g3b8af0a3789_0_732"/>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49" name="Google Shape;1049;g3b8af0a3789_0_732"/>
          <p:cNvSpPr txBox="1"/>
          <p:nvPr/>
        </p:nvSpPr>
        <p:spPr>
          <a:xfrm>
            <a:off x="4300461" y="552050"/>
            <a:ext cx="45669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Revenue &amp; Value Identification Objective</a:t>
            </a:r>
            <a:endParaRPr b="1" sz="1800" u="sng">
              <a:solidFill>
                <a:schemeClr val="dk2"/>
              </a:solidFill>
              <a:latin typeface="Roboto"/>
              <a:ea typeface="Roboto"/>
              <a:cs typeface="Roboto"/>
              <a:sym typeface="Roboto"/>
            </a:endParaRPr>
          </a:p>
        </p:txBody>
      </p:sp>
      <p:pic>
        <p:nvPicPr>
          <p:cNvPr id="1050" name="Google Shape;1050;g3b8af0a3789_0_732"/>
          <p:cNvPicPr preferRelativeResize="0"/>
          <p:nvPr/>
        </p:nvPicPr>
        <p:blipFill rotWithShape="1">
          <a:blip r:embed="rId4">
            <a:alphaModFix/>
          </a:blip>
          <a:srcRect b="0" l="0" r="48924" t="7885"/>
          <a:stretch/>
        </p:blipFill>
        <p:spPr>
          <a:xfrm>
            <a:off x="564888" y="1013738"/>
            <a:ext cx="2812249" cy="3487350"/>
          </a:xfrm>
          <a:prstGeom prst="rect">
            <a:avLst/>
          </a:prstGeom>
          <a:noFill/>
          <a:ln>
            <a:noFill/>
          </a:ln>
        </p:spPr>
      </p:pic>
      <p:pic>
        <p:nvPicPr>
          <p:cNvPr id="1051" name="Google Shape;1051;g3b8af0a3789_0_732"/>
          <p:cNvPicPr preferRelativeResize="0"/>
          <p:nvPr/>
        </p:nvPicPr>
        <p:blipFill rotWithShape="1">
          <a:blip r:embed="rId5">
            <a:alphaModFix/>
          </a:blip>
          <a:srcRect b="0" l="50888" r="0" t="4870"/>
          <a:stretch/>
        </p:blipFill>
        <p:spPr>
          <a:xfrm>
            <a:off x="3571863" y="1013750"/>
            <a:ext cx="2672217" cy="3558824"/>
          </a:xfrm>
          <a:prstGeom prst="rect">
            <a:avLst/>
          </a:prstGeom>
          <a:noFill/>
          <a:ln>
            <a:noFill/>
          </a:ln>
        </p:spPr>
      </p:pic>
      <p:sp>
        <p:nvSpPr>
          <p:cNvPr id="1052" name="Google Shape;1052;g3b8af0a3789_0_732"/>
          <p:cNvSpPr/>
          <p:nvPr/>
        </p:nvSpPr>
        <p:spPr>
          <a:xfrm>
            <a:off x="3827488" y="2955525"/>
            <a:ext cx="1605300" cy="15990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53" name="Google Shape;1053;g3b8af0a3789_0_732"/>
          <p:cNvSpPr/>
          <p:nvPr/>
        </p:nvSpPr>
        <p:spPr>
          <a:xfrm>
            <a:off x="1723613" y="3955300"/>
            <a:ext cx="1605300" cy="5457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54" name="Google Shape;1054;g3b8af0a3789_0_732"/>
          <p:cNvSpPr/>
          <p:nvPr/>
        </p:nvSpPr>
        <p:spPr>
          <a:xfrm>
            <a:off x="4592688" y="2283925"/>
            <a:ext cx="1605300" cy="5457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55" name="Google Shape;1055;g3b8af0a3789_0_732"/>
          <p:cNvSpPr txBox="1"/>
          <p:nvPr/>
        </p:nvSpPr>
        <p:spPr>
          <a:xfrm>
            <a:off x="6393825" y="2657000"/>
            <a:ext cx="2350500" cy="18438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124">
                <a:solidFill>
                  <a:schemeClr val="dk1"/>
                </a:solidFill>
                <a:latin typeface="Roboto"/>
                <a:ea typeface="Roboto"/>
                <a:cs typeface="Roboto"/>
                <a:sym typeface="Roboto"/>
              </a:rPr>
              <a:t>OCA's business is highly dependent on </a:t>
            </a:r>
            <a:r>
              <a:rPr b="1" lang="en-US" sz="1124">
                <a:solidFill>
                  <a:schemeClr val="dk1"/>
                </a:solidFill>
                <a:latin typeface="Roboto"/>
                <a:ea typeface="Roboto"/>
                <a:cs typeface="Roboto"/>
                <a:sym typeface="Roboto"/>
              </a:rPr>
              <a:t>8 Power Users</a:t>
            </a:r>
            <a:r>
              <a:rPr lang="en-US" sz="1124">
                <a:solidFill>
                  <a:schemeClr val="dk1"/>
                </a:solidFill>
                <a:latin typeface="Roboto"/>
                <a:ea typeface="Roboto"/>
                <a:cs typeface="Roboto"/>
                <a:sym typeface="Roboto"/>
              </a:rPr>
              <a:t> who </a:t>
            </a:r>
            <a:r>
              <a:rPr b="1" lang="en-US" sz="1124">
                <a:solidFill>
                  <a:schemeClr val="dk1"/>
                </a:solidFill>
                <a:latin typeface="Roboto"/>
                <a:ea typeface="Roboto"/>
                <a:cs typeface="Roboto"/>
                <a:sym typeface="Roboto"/>
              </a:rPr>
              <a:t>dominate transactions</a:t>
            </a:r>
            <a:r>
              <a:rPr lang="en-US" sz="1124">
                <a:solidFill>
                  <a:schemeClr val="dk1"/>
                </a:solidFill>
                <a:latin typeface="Roboto"/>
                <a:ea typeface="Roboto"/>
                <a:cs typeface="Roboto"/>
                <a:sym typeface="Roboto"/>
              </a:rPr>
              <a:t> and revenue, while </a:t>
            </a:r>
            <a:r>
              <a:rPr b="1" lang="en-US" sz="1124">
                <a:solidFill>
                  <a:schemeClr val="dk1"/>
                </a:solidFill>
                <a:latin typeface="Roboto"/>
                <a:ea typeface="Roboto"/>
                <a:cs typeface="Roboto"/>
                <a:sym typeface="Roboto"/>
              </a:rPr>
              <a:t>Loyal </a:t>
            </a:r>
            <a:r>
              <a:rPr lang="en-US" sz="1124">
                <a:solidFill>
                  <a:schemeClr val="dk1"/>
                </a:solidFill>
                <a:latin typeface="Roboto"/>
                <a:ea typeface="Roboto"/>
                <a:cs typeface="Roboto"/>
                <a:sym typeface="Roboto"/>
              </a:rPr>
              <a:t>and </a:t>
            </a:r>
            <a:r>
              <a:rPr b="1" lang="en-US" sz="1124">
                <a:solidFill>
                  <a:schemeClr val="dk1"/>
                </a:solidFill>
                <a:latin typeface="Roboto"/>
                <a:ea typeface="Roboto"/>
                <a:cs typeface="Roboto"/>
                <a:sym typeface="Roboto"/>
              </a:rPr>
              <a:t>Casual Users have nearly identical performance</a:t>
            </a:r>
            <a:r>
              <a:rPr lang="en-US" sz="1124">
                <a:solidFill>
                  <a:schemeClr val="dk1"/>
                </a:solidFill>
                <a:latin typeface="Roboto"/>
                <a:ea typeface="Roboto"/>
                <a:cs typeface="Roboto"/>
                <a:sym typeface="Roboto"/>
              </a:rPr>
              <a:t> and </a:t>
            </a:r>
            <a:r>
              <a:rPr b="1" lang="en-US" sz="1124">
                <a:solidFill>
                  <a:schemeClr val="dk1"/>
                </a:solidFill>
                <a:latin typeface="Roboto"/>
                <a:ea typeface="Roboto"/>
                <a:cs typeface="Roboto"/>
                <a:sym typeface="Roboto"/>
              </a:rPr>
              <a:t>lag far behind</a:t>
            </a:r>
            <a:r>
              <a:rPr lang="en-US" sz="1124">
                <a:solidFill>
                  <a:schemeClr val="dk1"/>
                </a:solidFill>
                <a:latin typeface="Roboto"/>
                <a:ea typeface="Roboto"/>
                <a:cs typeface="Roboto"/>
                <a:sym typeface="Roboto"/>
              </a:rPr>
              <a:t>. Therefore, the strategy needs to prioritize Power User retention and redefine non-power segmentation.</a:t>
            </a:r>
            <a:endParaRPr sz="1124">
              <a:solidFill>
                <a:schemeClr val="dk1"/>
              </a:solidFill>
              <a:latin typeface="Roboto"/>
              <a:ea typeface="Roboto"/>
              <a:cs typeface="Roboto"/>
              <a:sym typeface="Robo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9" name="Shape 1059"/>
        <p:cNvGrpSpPr/>
        <p:nvPr/>
      </p:nvGrpSpPr>
      <p:grpSpPr>
        <a:xfrm>
          <a:off x="0" y="0"/>
          <a:ext cx="0" cy="0"/>
          <a:chOff x="0" y="0"/>
          <a:chExt cx="0" cy="0"/>
        </a:xfrm>
      </p:grpSpPr>
      <p:pic>
        <p:nvPicPr>
          <p:cNvPr id="1060" name="Google Shape;1060;g3bb6f6a63c2_0_15"/>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61" name="Google Shape;1061;g3bb6f6a63c2_0_15"/>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62" name="Google Shape;1062;g3bb6f6a63c2_0_15"/>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63" name="Google Shape;1063;g3bb6f6a63c2_0_15"/>
          <p:cNvSpPr txBox="1"/>
          <p:nvPr/>
        </p:nvSpPr>
        <p:spPr>
          <a:xfrm>
            <a:off x="837600" y="3165600"/>
            <a:ext cx="7555200" cy="12705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124">
                <a:solidFill>
                  <a:schemeClr val="dk1"/>
                </a:solidFill>
                <a:latin typeface="Roboto"/>
                <a:ea typeface="Roboto"/>
                <a:cs typeface="Roboto"/>
                <a:sym typeface="Roboto"/>
              </a:rPr>
              <a:t>There is </a:t>
            </a:r>
            <a:r>
              <a:rPr b="1" lang="en-US" sz="1124">
                <a:solidFill>
                  <a:schemeClr val="dk1"/>
                </a:solidFill>
                <a:latin typeface="Roboto"/>
                <a:ea typeface="Roboto"/>
                <a:cs typeface="Roboto"/>
                <a:sym typeface="Roboto"/>
              </a:rPr>
              <a:t>extreme polarization</a:t>
            </a:r>
            <a:r>
              <a:rPr lang="en-US" sz="1124">
                <a:solidFill>
                  <a:schemeClr val="dk1"/>
                </a:solidFill>
                <a:latin typeface="Roboto"/>
                <a:ea typeface="Roboto"/>
                <a:cs typeface="Roboto"/>
                <a:sym typeface="Roboto"/>
              </a:rPr>
              <a:t> among OCA users, with </a:t>
            </a:r>
            <a:r>
              <a:rPr b="1" lang="en-US" sz="1124">
                <a:solidFill>
                  <a:schemeClr val="dk1"/>
                </a:solidFill>
                <a:latin typeface="Roboto"/>
                <a:ea typeface="Roboto"/>
                <a:cs typeface="Roboto"/>
                <a:sym typeface="Roboto"/>
              </a:rPr>
              <a:t>“The Big 3”</a:t>
            </a:r>
            <a:r>
              <a:rPr lang="en-US" sz="1124">
                <a:solidFill>
                  <a:schemeClr val="dk1"/>
                </a:solidFill>
                <a:latin typeface="Roboto"/>
                <a:ea typeface="Roboto"/>
                <a:cs typeface="Roboto"/>
                <a:sym typeface="Roboto"/>
              </a:rPr>
              <a:t> (CV Wisata Indo, PT Dana Nusantara, CV Land Sejahtera) </a:t>
            </a:r>
            <a:r>
              <a:rPr b="1" lang="en-US" sz="1124">
                <a:solidFill>
                  <a:schemeClr val="dk1"/>
                </a:solidFill>
                <a:latin typeface="Roboto"/>
                <a:ea typeface="Roboto"/>
                <a:cs typeface="Roboto"/>
                <a:sym typeface="Roboto"/>
              </a:rPr>
              <a:t>dominating revenue and traffic</a:t>
            </a:r>
            <a:r>
              <a:rPr lang="en-US" sz="1124">
                <a:solidFill>
                  <a:schemeClr val="dk1"/>
                </a:solidFill>
                <a:latin typeface="Roboto"/>
                <a:ea typeface="Roboto"/>
                <a:cs typeface="Roboto"/>
                <a:sym typeface="Roboto"/>
              </a:rPr>
              <a:t> with a </a:t>
            </a:r>
            <a:r>
              <a:rPr b="1" lang="en-US" sz="1124">
                <a:solidFill>
                  <a:schemeClr val="dk1"/>
                </a:solidFill>
                <a:latin typeface="Roboto"/>
                <a:ea typeface="Roboto"/>
                <a:cs typeface="Roboto"/>
                <a:sym typeface="Roboto"/>
              </a:rPr>
              <a:t>value </a:t>
            </a:r>
            <a:r>
              <a:rPr lang="en-US" sz="1124">
                <a:solidFill>
                  <a:schemeClr val="dk1"/>
                </a:solidFill>
                <a:latin typeface="Roboto"/>
                <a:ea typeface="Roboto"/>
                <a:cs typeface="Roboto"/>
                <a:sym typeface="Roboto"/>
              </a:rPr>
              <a:t>almost 4 times that of other users. Uniquely, the </a:t>
            </a:r>
            <a:r>
              <a:rPr b="1" lang="en-US" sz="1124">
                <a:solidFill>
                  <a:schemeClr val="dk1"/>
                </a:solidFill>
                <a:latin typeface="Roboto"/>
                <a:ea typeface="Roboto"/>
                <a:cs typeface="Roboto"/>
                <a:sym typeface="Roboto"/>
              </a:rPr>
              <a:t>retention rate is perfect</a:t>
            </a:r>
            <a:r>
              <a:rPr lang="en-US" sz="1124">
                <a:solidFill>
                  <a:schemeClr val="dk1"/>
                </a:solidFill>
                <a:latin typeface="Roboto"/>
                <a:ea typeface="Roboto"/>
                <a:cs typeface="Roboto"/>
                <a:sym typeface="Roboto"/>
              </a:rPr>
              <a:t> because all users are fully active for 91 days, indicating that the OCA system has become a daily (operational) necessity. However, there is stagnation among mid-tier users whose transaction profiles are uniform, with no one standing out to grow into a new Power User.</a:t>
            </a:r>
            <a:endParaRPr sz="1124">
              <a:solidFill>
                <a:schemeClr val="dk1"/>
              </a:solidFill>
              <a:latin typeface="Roboto"/>
              <a:ea typeface="Roboto"/>
              <a:cs typeface="Roboto"/>
              <a:sym typeface="Roboto"/>
            </a:endParaRPr>
          </a:p>
        </p:txBody>
      </p:sp>
      <p:sp>
        <p:nvSpPr>
          <p:cNvPr id="1064" name="Google Shape;1064;g3bb6f6a63c2_0_15"/>
          <p:cNvSpPr txBox="1"/>
          <p:nvPr/>
        </p:nvSpPr>
        <p:spPr>
          <a:xfrm>
            <a:off x="4300461" y="552050"/>
            <a:ext cx="45669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Revenue &amp; Value Identification Objective</a:t>
            </a:r>
            <a:endParaRPr b="1" sz="1800" u="sng">
              <a:solidFill>
                <a:schemeClr val="dk2"/>
              </a:solidFill>
              <a:latin typeface="Roboto"/>
              <a:ea typeface="Roboto"/>
              <a:cs typeface="Roboto"/>
              <a:sym typeface="Roboto"/>
            </a:endParaRPr>
          </a:p>
        </p:txBody>
      </p:sp>
      <p:graphicFrame>
        <p:nvGraphicFramePr>
          <p:cNvPr id="1065" name="Google Shape;1065;g3bb6f6a63c2_0_15"/>
          <p:cNvGraphicFramePr/>
          <p:nvPr/>
        </p:nvGraphicFramePr>
        <p:xfrm>
          <a:off x="2021000" y="1187328"/>
          <a:ext cx="3000000" cy="3000000"/>
        </p:xfrm>
        <a:graphic>
          <a:graphicData uri="http://schemas.openxmlformats.org/drawingml/2006/table">
            <a:tbl>
              <a:tblPr>
                <a:noFill/>
                <a:tableStyleId>{37D4DCAE-1861-4E6A-B2C0-FF0A4CF39091}</a:tableStyleId>
              </a:tblPr>
              <a:tblGrid>
                <a:gridCol w="1626825"/>
                <a:gridCol w="681025"/>
                <a:gridCol w="895150"/>
                <a:gridCol w="886300"/>
                <a:gridCol w="1012700"/>
              </a:tblGrid>
              <a:tr h="200025">
                <a:tc>
                  <a:txBody>
                    <a:bodyPr/>
                    <a:lstStyle/>
                    <a:p>
                      <a:pPr indent="0" lvl="0" marL="0" rtl="0" algn="l">
                        <a:lnSpc>
                          <a:spcPct val="115000"/>
                        </a:lnSpc>
                        <a:spcBef>
                          <a:spcPts val="0"/>
                        </a:spcBef>
                        <a:spcAft>
                          <a:spcPts val="0"/>
                        </a:spcAft>
                        <a:buNone/>
                      </a:pPr>
                      <a:r>
                        <a:rPr b="1" lang="en-US" sz="1100">
                          <a:latin typeface="Roboto"/>
                          <a:ea typeface="Roboto"/>
                          <a:cs typeface="Roboto"/>
                          <a:sym typeface="Roboto"/>
                        </a:rPr>
                        <a:t>user_name</a:t>
                      </a:r>
                      <a:endParaRPr b="1" sz="11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b="1" lang="en-US" sz="1100">
                          <a:latin typeface="Roboto"/>
                          <a:ea typeface="Roboto"/>
                          <a:cs typeface="Roboto"/>
                          <a:sym typeface="Roboto"/>
                        </a:rPr>
                        <a:t>user_id</a:t>
                      </a:r>
                      <a:endParaRPr b="1" sz="11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b="1" lang="en-US" sz="1100">
                          <a:latin typeface="Roboto"/>
                          <a:ea typeface="Roboto"/>
                          <a:cs typeface="Roboto"/>
                          <a:sym typeface="Roboto"/>
                        </a:rPr>
                        <a:t>monetary</a:t>
                      </a:r>
                      <a:endParaRPr b="1" sz="11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b="1" lang="en-US" sz="1100">
                          <a:latin typeface="Roboto"/>
                          <a:ea typeface="Roboto"/>
                          <a:cs typeface="Roboto"/>
                          <a:sym typeface="Roboto"/>
                        </a:rPr>
                        <a:t>frequency</a:t>
                      </a:r>
                      <a:endParaRPr b="1" sz="11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4CCCC"/>
                    </a:solidFill>
                  </a:tcPr>
                </a:tc>
                <a:tc>
                  <a:txBody>
                    <a:bodyPr/>
                    <a:lstStyle/>
                    <a:p>
                      <a:pPr indent="0" lvl="0" marL="0" rtl="0" algn="l">
                        <a:lnSpc>
                          <a:spcPct val="115000"/>
                        </a:lnSpc>
                        <a:spcBef>
                          <a:spcPts val="0"/>
                        </a:spcBef>
                        <a:spcAft>
                          <a:spcPts val="0"/>
                        </a:spcAft>
                        <a:buNone/>
                      </a:pPr>
                      <a:r>
                        <a:rPr b="1" lang="en-US" sz="1100">
                          <a:latin typeface="Roboto"/>
                          <a:ea typeface="Roboto"/>
                          <a:cs typeface="Roboto"/>
                          <a:sym typeface="Roboto"/>
                        </a:rPr>
                        <a:t>active_days</a:t>
                      </a:r>
                      <a:endParaRPr b="1" sz="11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4CCCC"/>
                    </a:solidFill>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CV Wisata Indo</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user_3</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5,207,310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19,367</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PT Dana Nusantara</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user_2</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5,198,910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19,351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CV Land Sejahtera</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5,125,530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19,222</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solidFill>
                      <a:srgbClr val="FFF2CC"/>
                    </a:solidFill>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PT Retail Sejahtera</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user_7</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1,327,690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4,853</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PT Karya Sejahtera</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user_5</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1,310,570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4,848</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PT Logistik Mandiri</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user_6</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1,294,970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4,725</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PT Belajar Nusantara</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user_8</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1,284,620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4,799</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00025">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PT Konektivitas Indo</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user_4</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000">
                          <a:latin typeface="Roboto"/>
                          <a:ea typeface="Roboto"/>
                          <a:cs typeface="Roboto"/>
                          <a:sym typeface="Roboto"/>
                        </a:rPr>
                        <a:t>Rp 1,276,070</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4,854</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r">
                        <a:lnSpc>
                          <a:spcPct val="115000"/>
                        </a:lnSpc>
                        <a:spcBef>
                          <a:spcPts val="0"/>
                        </a:spcBef>
                        <a:spcAft>
                          <a:spcPts val="0"/>
                        </a:spcAft>
                        <a:buNone/>
                      </a:pPr>
                      <a:r>
                        <a:rPr lang="en-US" sz="1000">
                          <a:latin typeface="Roboto"/>
                          <a:ea typeface="Roboto"/>
                          <a:cs typeface="Roboto"/>
                          <a:sym typeface="Roboto"/>
                        </a:rPr>
                        <a:t>91</a:t>
                      </a:r>
                      <a:endParaRPr sz="1000">
                        <a:latin typeface="Roboto"/>
                        <a:ea typeface="Roboto"/>
                        <a:cs typeface="Roboto"/>
                        <a:sym typeface="Roboto"/>
                      </a:endParaRPr>
                    </a:p>
                  </a:txBody>
                  <a:tcPr marT="19050" marB="19050" marR="28575" marL="28575" anchor="b">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9" name="Shape 1069"/>
        <p:cNvGrpSpPr/>
        <p:nvPr/>
      </p:nvGrpSpPr>
      <p:grpSpPr>
        <a:xfrm>
          <a:off x="0" y="0"/>
          <a:ext cx="0" cy="0"/>
          <a:chOff x="0" y="0"/>
          <a:chExt cx="0" cy="0"/>
        </a:xfrm>
      </p:grpSpPr>
      <p:pic>
        <p:nvPicPr>
          <p:cNvPr id="1070" name="Google Shape;1070;g3b8af0a3789_0_767"/>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71" name="Google Shape;1071;g3b8af0a3789_0_767"/>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72" name="Google Shape;1072;g3b8af0a3789_0_767"/>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73" name="Google Shape;1073;g3b8af0a3789_0_767"/>
          <p:cNvSpPr txBox="1"/>
          <p:nvPr/>
        </p:nvSpPr>
        <p:spPr>
          <a:xfrm>
            <a:off x="-480675" y="1213975"/>
            <a:ext cx="6782100" cy="357600"/>
          </a:xfrm>
          <a:prstGeom prst="rect">
            <a:avLst/>
          </a:prstGeom>
          <a:noFill/>
          <a:ln>
            <a:noFill/>
          </a:ln>
        </p:spPr>
        <p:txBody>
          <a:bodyPr anchorCtr="0" anchor="t" bIns="111925" lIns="628650" spcFirstLastPara="1" rIns="111925" wrap="square" tIns="111925">
            <a:noAutofit/>
          </a:bodyPr>
          <a:lstStyle/>
          <a:p>
            <a:pPr indent="0" lvl="0" marL="0" rtl="0" algn="ctr">
              <a:spcBef>
                <a:spcPts val="0"/>
              </a:spcBef>
              <a:spcAft>
                <a:spcPts val="0"/>
              </a:spcAft>
              <a:buNone/>
            </a:pPr>
            <a:r>
              <a:rPr b="1" lang="en-US" sz="1100">
                <a:solidFill>
                  <a:schemeClr val="dk1"/>
                </a:solidFill>
                <a:highlight>
                  <a:srgbClr val="FFFFFF"/>
                </a:highlight>
                <a:latin typeface="Roboto"/>
                <a:ea typeface="Roboto"/>
                <a:cs typeface="Roboto"/>
                <a:sym typeface="Roboto"/>
              </a:rPr>
              <a:t>With zero recency, churn is detected via early warning signals, not inactivity.</a:t>
            </a:r>
            <a:endParaRPr b="1" sz="1100">
              <a:solidFill>
                <a:schemeClr val="dk1"/>
              </a:solidFill>
              <a:latin typeface="Roboto"/>
              <a:ea typeface="Roboto"/>
              <a:cs typeface="Roboto"/>
              <a:sym typeface="Roboto"/>
            </a:endParaRPr>
          </a:p>
        </p:txBody>
      </p:sp>
      <p:sp>
        <p:nvSpPr>
          <p:cNvPr id="1074" name="Google Shape;1074;g3b8af0a3789_0_767"/>
          <p:cNvSpPr txBox="1"/>
          <p:nvPr/>
        </p:nvSpPr>
        <p:spPr>
          <a:xfrm>
            <a:off x="320550" y="3664375"/>
            <a:ext cx="5941800" cy="9198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Even though users are still </a:t>
            </a:r>
            <a:r>
              <a:rPr b="1" lang="en-US" sz="1024">
                <a:solidFill>
                  <a:schemeClr val="dk1"/>
                </a:solidFill>
                <a:latin typeface="Roboto"/>
                <a:ea typeface="Roboto"/>
                <a:cs typeface="Roboto"/>
                <a:sym typeface="Roboto"/>
              </a:rPr>
              <a:t>active </a:t>
            </a:r>
            <a:r>
              <a:rPr lang="en-US" sz="1024">
                <a:solidFill>
                  <a:schemeClr val="dk1"/>
                </a:solidFill>
                <a:latin typeface="Roboto"/>
                <a:ea typeface="Roboto"/>
                <a:cs typeface="Roboto"/>
                <a:sym typeface="Roboto"/>
              </a:rPr>
              <a:t>(recency = 0), a sharp </a:t>
            </a:r>
            <a:r>
              <a:rPr b="1" lang="en-US" sz="1024">
                <a:solidFill>
                  <a:schemeClr val="dk1"/>
                </a:solidFill>
                <a:latin typeface="Roboto"/>
                <a:ea typeface="Roboto"/>
                <a:cs typeface="Roboto"/>
                <a:sym typeface="Roboto"/>
              </a:rPr>
              <a:t>decline in usage trend</a:t>
            </a:r>
            <a:r>
              <a:rPr lang="en-US" sz="1024">
                <a:solidFill>
                  <a:schemeClr val="dk1"/>
                </a:solidFill>
                <a:latin typeface="Roboto"/>
                <a:ea typeface="Roboto"/>
                <a:cs typeface="Roboto"/>
                <a:sym typeface="Roboto"/>
              </a:rPr>
              <a:t> (≤ -30%) accompanied by a consistently </a:t>
            </a:r>
            <a:r>
              <a:rPr b="1" lang="en-US" sz="1024">
                <a:solidFill>
                  <a:schemeClr val="dk1"/>
                </a:solidFill>
                <a:latin typeface="Roboto"/>
                <a:ea typeface="Roboto"/>
                <a:cs typeface="Roboto"/>
                <a:sym typeface="Roboto"/>
              </a:rPr>
              <a:t>high failure rate</a:t>
            </a:r>
            <a:r>
              <a:rPr lang="en-US" sz="1024">
                <a:solidFill>
                  <a:schemeClr val="dk1"/>
                </a:solidFill>
                <a:latin typeface="Roboto"/>
                <a:ea typeface="Roboto"/>
                <a:cs typeface="Roboto"/>
                <a:sym typeface="Roboto"/>
              </a:rPr>
              <a:t> (~75%) indicates a risk of early churn triggered by service quality issues. High RNA encourages transaction failures and causes users to gradually reduce volume (“silent churn”), which has the potential to develop into actual churn if not addressed immediately.</a:t>
            </a:r>
            <a:endParaRPr sz="1024">
              <a:solidFill>
                <a:schemeClr val="dk1"/>
              </a:solidFill>
              <a:latin typeface="Roboto"/>
              <a:ea typeface="Roboto"/>
              <a:cs typeface="Roboto"/>
              <a:sym typeface="Roboto"/>
            </a:endParaRPr>
          </a:p>
        </p:txBody>
      </p:sp>
      <p:sp>
        <p:nvSpPr>
          <p:cNvPr id="1075" name="Google Shape;1075;g3b8af0a3789_0_767"/>
          <p:cNvSpPr txBox="1"/>
          <p:nvPr/>
        </p:nvSpPr>
        <p:spPr>
          <a:xfrm>
            <a:off x="4572001" y="552050"/>
            <a:ext cx="42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Churn Risk Detection</a:t>
            </a:r>
            <a:endParaRPr b="1" sz="1800" u="sng">
              <a:solidFill>
                <a:schemeClr val="dk2"/>
              </a:solidFill>
              <a:latin typeface="Roboto"/>
              <a:ea typeface="Roboto"/>
              <a:cs typeface="Roboto"/>
              <a:sym typeface="Roboto"/>
            </a:endParaRPr>
          </a:p>
        </p:txBody>
      </p:sp>
      <p:pic>
        <p:nvPicPr>
          <p:cNvPr id="1076" name="Google Shape;1076;g3b8af0a3789_0_767"/>
          <p:cNvPicPr preferRelativeResize="0"/>
          <p:nvPr/>
        </p:nvPicPr>
        <p:blipFill rotWithShape="1">
          <a:blip r:embed="rId4">
            <a:alphaModFix/>
          </a:blip>
          <a:srcRect b="0" l="0" r="0" t="5123"/>
          <a:stretch/>
        </p:blipFill>
        <p:spPr>
          <a:xfrm>
            <a:off x="370725" y="1571575"/>
            <a:ext cx="4594485" cy="2146124"/>
          </a:xfrm>
          <a:prstGeom prst="rect">
            <a:avLst/>
          </a:prstGeom>
          <a:noFill/>
          <a:ln>
            <a:noFill/>
          </a:ln>
        </p:spPr>
      </p:pic>
      <p:graphicFrame>
        <p:nvGraphicFramePr>
          <p:cNvPr id="1077" name="Google Shape;1077;g3b8af0a3789_0_767"/>
          <p:cNvGraphicFramePr/>
          <p:nvPr/>
        </p:nvGraphicFramePr>
        <p:xfrm>
          <a:off x="4699588" y="2021700"/>
          <a:ext cx="3000000" cy="3000000"/>
        </p:xfrm>
        <a:graphic>
          <a:graphicData uri="http://schemas.openxmlformats.org/drawingml/2006/table">
            <a:tbl>
              <a:tblPr>
                <a:noFill/>
                <a:tableStyleId>{37D4DCAE-1861-4E6A-B2C0-FF0A4CF39091}</a:tableStyleId>
              </a:tblPr>
              <a:tblGrid>
                <a:gridCol w="336225"/>
                <a:gridCol w="587525"/>
                <a:gridCol w="965450"/>
                <a:gridCol w="606000"/>
                <a:gridCol w="528575"/>
                <a:gridCol w="463000"/>
                <a:gridCol w="553450"/>
              </a:tblGrid>
              <a:tr h="217675">
                <a:tc>
                  <a:txBody>
                    <a:bodyPr/>
                    <a:lstStyle/>
                    <a:p>
                      <a:pPr indent="0" lvl="0" marL="0" rtl="0" algn="ctr">
                        <a:lnSpc>
                          <a:spcPct val="115000"/>
                        </a:lnSpc>
                        <a:spcBef>
                          <a:spcPts val="0"/>
                        </a:spcBef>
                        <a:spcAft>
                          <a:spcPts val="0"/>
                        </a:spcAft>
                        <a:buNone/>
                      </a:pPr>
                      <a:r>
                        <a:rPr b="1" lang="en-US" sz="600"/>
                        <a:t>user_id</a:t>
                      </a:r>
                      <a:endParaRPr b="1" sz="600"/>
                    </a:p>
                  </a:txBody>
                  <a:tcPr marT="19050" marB="19050" marR="28575" marL="28575" anchor="ctr">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600">
                          <a:latin typeface="Roboto"/>
                          <a:ea typeface="Roboto"/>
                          <a:cs typeface="Roboto"/>
                          <a:sym typeface="Roboto"/>
                        </a:rPr>
                        <a:t>segment_name</a:t>
                      </a:r>
                      <a:endParaRPr b="1" sz="600">
                        <a:latin typeface="Roboto"/>
                        <a:ea typeface="Roboto"/>
                        <a:cs typeface="Roboto"/>
                        <a:sym typeface="Roboto"/>
                      </a:endParaRPr>
                    </a:p>
                  </a:txBody>
                  <a:tcPr marT="19050" marB="19050" marR="28575" marL="28575" anchor="ctr">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600"/>
                        <a:t>churn_probability</a:t>
                      </a:r>
                      <a:endParaRPr b="1" sz="600"/>
                    </a:p>
                  </a:txBody>
                  <a:tcPr marT="19050" marB="19050" marR="28575" marL="28575" anchor="ctr">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600"/>
                        <a:t>usage_trend</a:t>
                      </a:r>
                      <a:endParaRPr b="1" sz="600"/>
                    </a:p>
                  </a:txBody>
                  <a:tcPr marT="19050" marB="19050" marR="28575" marL="28575" anchor="ctr">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600"/>
                        <a:t>failure_rate</a:t>
                      </a:r>
                      <a:endParaRPr b="1" sz="600"/>
                    </a:p>
                  </a:txBody>
                  <a:tcPr marT="19050" marB="19050" marR="28575" marL="28575" anchor="ctr">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600"/>
                        <a:t>avg_daily_last_7d</a:t>
                      </a:r>
                      <a:endParaRPr b="1" sz="600"/>
                    </a:p>
                  </a:txBody>
                  <a:tcPr marT="19050" marB="19050" marR="28575" marL="28575" anchor="ctr">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600"/>
                        <a:t>avg_daily_prev</a:t>
                      </a:r>
                      <a:endParaRPr b="1" sz="600"/>
                    </a:p>
                  </a:txBody>
                  <a:tcPr marT="19050" marB="19050" marR="28575" marL="28575" anchor="ctr">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solidFill>
                      <a:srgbClr val="C2C8D0"/>
                    </a:solidFill>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user_11</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Loyal User</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-43.8%</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74.2%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7.9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14.0</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Casual User</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-37.0%</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74.9%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8.6</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13.6</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user_12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Casual User</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-35.9%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75.7%</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8.4</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13.1</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user_19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Loyal User</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-34.8%</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76.9%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9.0</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13.8</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user_14</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Loyal User</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-32.8%</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73.9%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9.1</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13.6</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user_6</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highlight>
                            <a:schemeClr val="accent1"/>
                          </a:highlight>
                          <a:latin typeface="Roboto"/>
                          <a:ea typeface="Roboto"/>
                          <a:cs typeface="Roboto"/>
                          <a:sym typeface="Roboto"/>
                        </a:rPr>
                        <a:t>Power User</a:t>
                      </a:r>
                      <a:endParaRPr sz="550">
                        <a:highlight>
                          <a:schemeClr val="accent1"/>
                        </a:highlight>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-31.0%</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74.7%</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36.7</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53.2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user_8</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highlight>
                            <a:schemeClr val="accent1"/>
                          </a:highlight>
                          <a:latin typeface="Roboto"/>
                          <a:ea typeface="Roboto"/>
                          <a:cs typeface="Roboto"/>
                          <a:sym typeface="Roboto"/>
                        </a:rPr>
                        <a:t>Power User</a:t>
                      </a:r>
                      <a:endParaRPr sz="550">
                        <a:highlight>
                          <a:schemeClr val="accent1"/>
                        </a:highlight>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-30.4%</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75.2%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37.6</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54.0</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user_17</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Loyal User</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-30.2%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73.4%</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9.3</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13.3</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highlight>
                            <a:schemeClr val="accent1"/>
                          </a:highlight>
                          <a:latin typeface="Roboto"/>
                          <a:ea typeface="Roboto"/>
                          <a:cs typeface="Roboto"/>
                          <a:sym typeface="Roboto"/>
                        </a:rPr>
                        <a:t>Power User</a:t>
                      </a:r>
                      <a:endParaRPr sz="550">
                        <a:highlight>
                          <a:schemeClr val="accent1"/>
                        </a:highlight>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-28.2%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74.9%</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156.1</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217.4</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r h="119725">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user_13</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Loyal User</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High Risk (Quality Issue)</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-26.2%</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550">
                          <a:latin typeface="Roboto"/>
                          <a:ea typeface="Roboto"/>
                          <a:cs typeface="Roboto"/>
                          <a:sym typeface="Roboto"/>
                        </a:rPr>
                        <a:t>74.5%</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10.0</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lang="en-US" sz="550">
                          <a:latin typeface="Roboto"/>
                          <a:ea typeface="Roboto"/>
                          <a:cs typeface="Roboto"/>
                          <a:sym typeface="Roboto"/>
                        </a:rPr>
                        <a:t>13.5</a:t>
                      </a:r>
                      <a:endParaRPr sz="550">
                        <a:latin typeface="Roboto"/>
                        <a:ea typeface="Roboto"/>
                        <a:cs typeface="Roboto"/>
                        <a:sym typeface="Roboto"/>
                      </a:endParaRPr>
                    </a:p>
                  </a:txBody>
                  <a:tcPr marT="19050" marB="19050" marR="28575" marL="28575" anchor="b">
                    <a:lnL cap="flat" cmpd="sng" w="8475">
                      <a:solidFill>
                        <a:srgbClr val="CCCCCC"/>
                      </a:solidFill>
                      <a:prstDash val="solid"/>
                      <a:round/>
                      <a:headEnd len="sm" w="sm" type="none"/>
                      <a:tailEnd len="sm" w="sm" type="none"/>
                    </a:lnL>
                    <a:lnR cap="flat" cmpd="sng" w="8475">
                      <a:solidFill>
                        <a:srgbClr val="CCCCCC"/>
                      </a:solidFill>
                      <a:prstDash val="solid"/>
                      <a:round/>
                      <a:headEnd len="sm" w="sm" type="none"/>
                      <a:tailEnd len="sm" w="sm" type="none"/>
                    </a:lnR>
                    <a:lnT cap="flat" cmpd="sng" w="8475">
                      <a:solidFill>
                        <a:srgbClr val="CCCCCC"/>
                      </a:solidFill>
                      <a:prstDash val="solid"/>
                      <a:round/>
                      <a:headEnd len="sm" w="sm" type="none"/>
                      <a:tailEnd len="sm" w="sm" type="none"/>
                    </a:lnT>
                    <a:lnB cap="flat" cmpd="sng" w="8475">
                      <a:solidFill>
                        <a:srgbClr val="CCCCCC"/>
                      </a:solidFill>
                      <a:prstDash val="solid"/>
                      <a:round/>
                      <a:headEnd len="sm" w="sm" type="none"/>
                      <a:tailEnd len="sm" w="sm" type="none"/>
                    </a:lnB>
                  </a:tcPr>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1" name="Shape 1081"/>
        <p:cNvGrpSpPr/>
        <p:nvPr/>
      </p:nvGrpSpPr>
      <p:grpSpPr>
        <a:xfrm>
          <a:off x="0" y="0"/>
          <a:ext cx="0" cy="0"/>
          <a:chOff x="0" y="0"/>
          <a:chExt cx="0" cy="0"/>
        </a:xfrm>
      </p:grpSpPr>
      <p:pic>
        <p:nvPicPr>
          <p:cNvPr id="1082" name="Google Shape;1082;g3bb6f6a63c2_0_44"/>
          <p:cNvPicPr preferRelativeResize="0"/>
          <p:nvPr/>
        </p:nvPicPr>
        <p:blipFill>
          <a:blip r:embed="rId3">
            <a:alphaModFix/>
          </a:blip>
          <a:stretch>
            <a:fillRect/>
          </a:stretch>
        </p:blipFill>
        <p:spPr>
          <a:xfrm>
            <a:off x="523752" y="1394426"/>
            <a:ext cx="4418351" cy="2516586"/>
          </a:xfrm>
          <a:prstGeom prst="rect">
            <a:avLst/>
          </a:prstGeom>
          <a:noFill/>
          <a:ln>
            <a:noFill/>
          </a:ln>
        </p:spPr>
      </p:pic>
      <p:pic>
        <p:nvPicPr>
          <p:cNvPr id="1083" name="Google Shape;1083;g3bb6f6a63c2_0_44"/>
          <p:cNvPicPr preferRelativeResize="0"/>
          <p:nvPr/>
        </p:nvPicPr>
        <p:blipFill rotWithShape="1">
          <a:blip r:embed="rId4">
            <a:alphaModFix/>
          </a:blip>
          <a:srcRect b="0" l="0" r="0" t="0"/>
          <a:stretch/>
        </p:blipFill>
        <p:spPr>
          <a:xfrm>
            <a:off x="0" y="-146325"/>
            <a:ext cx="3601424" cy="1333650"/>
          </a:xfrm>
          <a:prstGeom prst="rect">
            <a:avLst/>
          </a:prstGeom>
          <a:noFill/>
          <a:ln>
            <a:noFill/>
          </a:ln>
        </p:spPr>
      </p:pic>
      <p:sp>
        <p:nvSpPr>
          <p:cNvPr id="1084" name="Google Shape;1084;g3bb6f6a63c2_0_44"/>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85" name="Google Shape;1085;g3bb6f6a63c2_0_44"/>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86" name="Google Shape;1086;g3bb6f6a63c2_0_44"/>
          <p:cNvSpPr txBox="1"/>
          <p:nvPr/>
        </p:nvSpPr>
        <p:spPr>
          <a:xfrm>
            <a:off x="397375" y="3926975"/>
            <a:ext cx="8421900" cy="6837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Although all users appear to be </a:t>
            </a:r>
            <a:r>
              <a:rPr b="1" lang="en-US" sz="1024">
                <a:solidFill>
                  <a:schemeClr val="dk1"/>
                </a:solidFill>
                <a:latin typeface="Roboto"/>
                <a:ea typeface="Roboto"/>
                <a:cs typeface="Roboto"/>
                <a:sym typeface="Roboto"/>
              </a:rPr>
              <a:t>actively logged in</a:t>
            </a:r>
            <a:r>
              <a:rPr lang="en-US" sz="1024">
                <a:solidFill>
                  <a:schemeClr val="dk1"/>
                </a:solidFill>
                <a:latin typeface="Roboto"/>
                <a:ea typeface="Roboto"/>
                <a:cs typeface="Roboto"/>
                <a:sym typeface="Roboto"/>
              </a:rPr>
              <a:t>, data</a:t>
            </a:r>
            <a:r>
              <a:rPr b="1" lang="en-US" sz="1024">
                <a:solidFill>
                  <a:schemeClr val="dk1"/>
                </a:solidFill>
                <a:latin typeface="Roboto"/>
                <a:ea typeface="Roboto"/>
                <a:cs typeface="Roboto"/>
                <a:sym typeface="Roboto"/>
              </a:rPr>
              <a:t> from the last 7 days</a:t>
            </a:r>
            <a:r>
              <a:rPr lang="en-US" sz="1024">
                <a:solidFill>
                  <a:schemeClr val="dk1"/>
                </a:solidFill>
                <a:latin typeface="Roboto"/>
                <a:ea typeface="Roboto"/>
                <a:cs typeface="Roboto"/>
                <a:sym typeface="Roboto"/>
              </a:rPr>
              <a:t> shows a </a:t>
            </a:r>
            <a:r>
              <a:rPr b="1" lang="en-US" sz="1024">
                <a:solidFill>
                  <a:schemeClr val="dk1"/>
                </a:solidFill>
                <a:latin typeface="Roboto"/>
                <a:ea typeface="Roboto"/>
                <a:cs typeface="Roboto"/>
                <a:sym typeface="Roboto"/>
              </a:rPr>
              <a:t>sharp decline</a:t>
            </a:r>
            <a:r>
              <a:rPr lang="en-US" sz="1024">
                <a:solidFill>
                  <a:schemeClr val="dk1"/>
                </a:solidFill>
                <a:latin typeface="Roboto"/>
                <a:ea typeface="Roboto"/>
                <a:cs typeface="Roboto"/>
                <a:sym typeface="Roboto"/>
              </a:rPr>
              <a:t> in product usage. The highest churn risk comes from key Power Users (Users 1–3), with a usage decline of up to −28%, indicating </a:t>
            </a:r>
            <a:r>
              <a:rPr b="1" lang="en-US" sz="1024">
                <a:solidFill>
                  <a:schemeClr val="dk1"/>
                </a:solidFill>
                <a:latin typeface="Roboto"/>
                <a:ea typeface="Roboto"/>
                <a:cs typeface="Roboto"/>
                <a:sym typeface="Roboto"/>
              </a:rPr>
              <a:t>silent churn</a:t>
            </a:r>
            <a:r>
              <a:rPr lang="en-US" sz="1024">
                <a:solidFill>
                  <a:schemeClr val="dk1"/>
                </a:solidFill>
                <a:latin typeface="Roboto"/>
                <a:ea typeface="Roboto"/>
                <a:cs typeface="Roboto"/>
                <a:sym typeface="Roboto"/>
              </a:rPr>
              <a:t>. Saving “The Big 3” is a critical priority because their impact on cash flow is much greater than that of other users.</a:t>
            </a:r>
            <a:endParaRPr sz="1024">
              <a:solidFill>
                <a:schemeClr val="dk1"/>
              </a:solidFill>
              <a:latin typeface="Roboto"/>
              <a:ea typeface="Roboto"/>
              <a:cs typeface="Roboto"/>
              <a:sym typeface="Roboto"/>
            </a:endParaRPr>
          </a:p>
        </p:txBody>
      </p:sp>
      <p:sp>
        <p:nvSpPr>
          <p:cNvPr id="1087" name="Google Shape;1087;g3bb6f6a63c2_0_44"/>
          <p:cNvSpPr txBox="1"/>
          <p:nvPr/>
        </p:nvSpPr>
        <p:spPr>
          <a:xfrm>
            <a:off x="4572001" y="552050"/>
            <a:ext cx="42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Churn Risk Detection</a:t>
            </a:r>
            <a:endParaRPr b="1" sz="1800" u="sng">
              <a:solidFill>
                <a:schemeClr val="dk2"/>
              </a:solidFill>
              <a:latin typeface="Roboto"/>
              <a:ea typeface="Roboto"/>
              <a:cs typeface="Roboto"/>
              <a:sym typeface="Roboto"/>
            </a:endParaRPr>
          </a:p>
        </p:txBody>
      </p:sp>
      <p:graphicFrame>
        <p:nvGraphicFramePr>
          <p:cNvPr id="1088" name="Google Shape;1088;g3bb6f6a63c2_0_44"/>
          <p:cNvGraphicFramePr/>
          <p:nvPr/>
        </p:nvGraphicFramePr>
        <p:xfrm>
          <a:off x="5015100" y="1514038"/>
          <a:ext cx="3000000" cy="3000000"/>
        </p:xfrm>
        <a:graphic>
          <a:graphicData uri="http://schemas.openxmlformats.org/drawingml/2006/table">
            <a:tbl>
              <a:tblPr>
                <a:noFill/>
                <a:tableStyleId>{37D4DCAE-1861-4E6A-B2C0-FF0A4CF39091}</a:tableStyleId>
              </a:tblPr>
              <a:tblGrid>
                <a:gridCol w="482325"/>
                <a:gridCol w="1512100"/>
                <a:gridCol w="433125"/>
                <a:gridCol w="882800"/>
                <a:gridCol w="495825"/>
              </a:tblGrid>
              <a:tr h="342675">
                <a:tc>
                  <a:txBody>
                    <a:bodyPr/>
                    <a:lstStyle/>
                    <a:p>
                      <a:pPr indent="0" lvl="0" marL="0" rtl="0" algn="ctr">
                        <a:lnSpc>
                          <a:spcPct val="115000"/>
                        </a:lnSpc>
                        <a:spcBef>
                          <a:spcPts val="0"/>
                        </a:spcBef>
                        <a:spcAft>
                          <a:spcPts val="0"/>
                        </a:spcAft>
                        <a:buNone/>
                      </a:pPr>
                      <a:r>
                        <a:rPr b="1" lang="en-US" sz="900">
                          <a:latin typeface="Roboto"/>
                          <a:ea typeface="Roboto"/>
                          <a:cs typeface="Roboto"/>
                          <a:sym typeface="Roboto"/>
                        </a:rPr>
                        <a:t>user_id</a:t>
                      </a:r>
                      <a:endParaRPr b="1" sz="900">
                        <a:latin typeface="Roboto"/>
                        <a:ea typeface="Roboto"/>
                        <a:cs typeface="Roboto"/>
                        <a:sym typeface="Roboto"/>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900">
                          <a:latin typeface="Roboto"/>
                          <a:ea typeface="Roboto"/>
                          <a:cs typeface="Roboto"/>
                          <a:sym typeface="Roboto"/>
                        </a:rPr>
                        <a:t>risk_category</a:t>
                      </a:r>
                      <a:endParaRPr b="1" sz="900">
                        <a:latin typeface="Roboto"/>
                        <a:ea typeface="Roboto"/>
                        <a:cs typeface="Roboto"/>
                        <a:sym typeface="Roboto"/>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900">
                          <a:latin typeface="Roboto"/>
                          <a:ea typeface="Roboto"/>
                          <a:cs typeface="Roboto"/>
                          <a:sym typeface="Roboto"/>
                        </a:rPr>
                        <a:t>usage_trend</a:t>
                      </a:r>
                      <a:endParaRPr b="1" sz="900">
                        <a:latin typeface="Roboto"/>
                        <a:ea typeface="Roboto"/>
                        <a:cs typeface="Roboto"/>
                        <a:sym typeface="Roboto"/>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900">
                          <a:latin typeface="Roboto"/>
                          <a:ea typeface="Roboto"/>
                          <a:cs typeface="Roboto"/>
                          <a:sym typeface="Roboto"/>
                        </a:rPr>
                        <a:t>revenue</a:t>
                      </a:r>
                      <a:endParaRPr b="1" sz="900">
                        <a:latin typeface="Roboto"/>
                        <a:ea typeface="Roboto"/>
                        <a:cs typeface="Roboto"/>
                        <a:sym typeface="Roboto"/>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C2C8D0"/>
                    </a:solidFill>
                  </a:tcPr>
                </a:tc>
                <a:tc>
                  <a:txBody>
                    <a:bodyPr/>
                    <a:lstStyle/>
                    <a:p>
                      <a:pPr indent="0" lvl="0" marL="0" rtl="0" algn="ctr">
                        <a:lnSpc>
                          <a:spcPct val="115000"/>
                        </a:lnSpc>
                        <a:spcBef>
                          <a:spcPts val="0"/>
                        </a:spcBef>
                        <a:spcAft>
                          <a:spcPts val="0"/>
                        </a:spcAft>
                        <a:buNone/>
                      </a:pPr>
                      <a:r>
                        <a:rPr b="1" lang="en-US" sz="900">
                          <a:latin typeface="Roboto"/>
                          <a:ea typeface="Roboto"/>
                          <a:cs typeface="Roboto"/>
                          <a:sym typeface="Roboto"/>
                        </a:rPr>
                        <a:t>success_rate</a:t>
                      </a:r>
                      <a:endParaRPr b="1" sz="900">
                        <a:latin typeface="Roboto"/>
                        <a:ea typeface="Roboto"/>
                        <a:cs typeface="Roboto"/>
                        <a:sym typeface="Roboto"/>
                      </a:endParaRPr>
                    </a:p>
                  </a:txBody>
                  <a:tcPr marT="19050" marB="19050" marR="28575" marL="28575" anchor="ctr">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solidFill>
                      <a:srgbClr val="C2C8D0"/>
                    </a:solidFill>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user_15</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Safe (Loyal User)</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-6.1%</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318,840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22.8%</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user_19</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High Risk (Loyal User)</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-34.8%</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336,210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23.1%</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user_7</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CRITICAL (Power User Churn)</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-22.9%</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1,327,690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24.2%</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user_12</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Moderate Risk (Casual User)</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-35.9%</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300,770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24.3%</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highlight>
                            <a:schemeClr val="accent1"/>
                          </a:highlight>
                          <a:latin typeface="Roboto"/>
                          <a:ea typeface="Roboto"/>
                          <a:cs typeface="Roboto"/>
                          <a:sym typeface="Roboto"/>
                        </a:rPr>
                        <a:t>user_5</a:t>
                      </a:r>
                      <a:endParaRPr sz="800">
                        <a:highlight>
                          <a:schemeClr val="accent1"/>
                        </a:highlight>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highlight>
                            <a:schemeClr val="accent1"/>
                          </a:highlight>
                          <a:latin typeface="Roboto"/>
                          <a:ea typeface="Roboto"/>
                          <a:cs typeface="Roboto"/>
                          <a:sym typeface="Roboto"/>
                        </a:rPr>
                        <a:t>Safe (Power User)</a:t>
                      </a:r>
                      <a:endParaRPr sz="800">
                        <a:highlight>
                          <a:schemeClr val="accent1"/>
                        </a:highlight>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-18.6%</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1,310,570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24.5%</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user_1</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CRITICAL (Power User Churn)</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-22.0%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5,125,530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24.6%</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user_4</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CRITICAL (Power User Churn)</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-23.8%</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1,276,070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24.7%</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user_8</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CRITICAL (Power User Churn)</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-30.4%</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1,284,620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24.8%</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user_18</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Safe (Loyal User)</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-16.2%</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344,080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24.8%</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r h="189375">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user_20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Moderate Risk (Casual User)</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-24.5%</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Rp 342,240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800">
                          <a:latin typeface="Roboto"/>
                          <a:ea typeface="Roboto"/>
                          <a:cs typeface="Roboto"/>
                          <a:sym typeface="Roboto"/>
                        </a:rPr>
                        <a:t>25.0%</a:t>
                      </a:r>
                      <a:endParaRPr sz="800">
                        <a:latin typeface="Roboto"/>
                        <a:ea typeface="Roboto"/>
                        <a:cs typeface="Roboto"/>
                        <a:sym typeface="Roboto"/>
                      </a:endParaRPr>
                    </a:p>
                  </a:txBody>
                  <a:tcPr marT="19050" marB="19050" marR="28575" marL="28575" anchor="b">
                    <a:lnL cap="flat" cmpd="sng" w="7925">
                      <a:solidFill>
                        <a:srgbClr val="000000"/>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000000"/>
                      </a:solidFill>
                      <a:prstDash val="solid"/>
                      <a:round/>
                      <a:headEnd len="sm" w="sm" type="none"/>
                      <a:tailEnd len="sm" w="sm" type="none"/>
                    </a:lnT>
                    <a:lnB cap="flat" cmpd="sng" w="7925">
                      <a:solidFill>
                        <a:srgbClr val="000000"/>
                      </a:solidFill>
                      <a:prstDash val="solid"/>
                      <a:round/>
                      <a:headEnd len="sm" w="sm" type="none"/>
                      <a:tailEnd len="sm" w="sm" type="none"/>
                    </a:lnB>
                  </a:tcPr>
                </a:tc>
              </a:tr>
            </a:tbl>
          </a:graphicData>
        </a:graphic>
      </p:graphicFrame>
      <p:sp>
        <p:nvSpPr>
          <p:cNvPr id="1089" name="Google Shape;1089;g3bb6f6a63c2_0_44"/>
          <p:cNvSpPr/>
          <p:nvPr/>
        </p:nvSpPr>
        <p:spPr>
          <a:xfrm>
            <a:off x="1868225" y="1376500"/>
            <a:ext cx="1501200" cy="4995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90" name="Google Shape;1090;g3bb6f6a63c2_0_44"/>
          <p:cNvSpPr/>
          <p:nvPr/>
        </p:nvSpPr>
        <p:spPr>
          <a:xfrm>
            <a:off x="2827375" y="3073697"/>
            <a:ext cx="490200" cy="2634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4" name="Shape 1094"/>
        <p:cNvGrpSpPr/>
        <p:nvPr/>
      </p:nvGrpSpPr>
      <p:grpSpPr>
        <a:xfrm>
          <a:off x="0" y="0"/>
          <a:ext cx="0" cy="0"/>
          <a:chOff x="0" y="0"/>
          <a:chExt cx="0" cy="0"/>
        </a:xfrm>
      </p:grpSpPr>
      <p:pic>
        <p:nvPicPr>
          <p:cNvPr id="1095" name="Google Shape;1095;g3bb6f6a63c2_0_58"/>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096" name="Google Shape;1096;g3bb6f6a63c2_0_58"/>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097" name="Google Shape;1097;g3bb6f6a63c2_0_58"/>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098" name="Google Shape;1098;g3bb6f6a63c2_0_58"/>
          <p:cNvSpPr txBox="1"/>
          <p:nvPr/>
        </p:nvSpPr>
        <p:spPr>
          <a:xfrm>
            <a:off x="543025" y="3337100"/>
            <a:ext cx="3993300" cy="1101600"/>
          </a:xfrm>
          <a:prstGeom prst="rect">
            <a:avLst/>
          </a:prstGeom>
          <a:noFill/>
          <a:ln>
            <a:noFill/>
          </a:ln>
        </p:spPr>
        <p:txBody>
          <a:bodyPr anchorCtr="0" anchor="t" bIns="111925" lIns="628650"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No. High-volume users </a:t>
            </a:r>
            <a:r>
              <a:rPr b="1" lang="en-US" sz="1024">
                <a:solidFill>
                  <a:schemeClr val="dk1"/>
                </a:solidFill>
                <a:latin typeface="Roboto"/>
                <a:ea typeface="Roboto"/>
                <a:cs typeface="Roboto"/>
                <a:sym typeface="Roboto"/>
              </a:rPr>
              <a:t>do not show unique hourly patterns</a:t>
            </a:r>
            <a:r>
              <a:rPr lang="en-US" sz="1024">
                <a:solidFill>
                  <a:schemeClr val="dk1"/>
                </a:solidFill>
                <a:latin typeface="Roboto"/>
                <a:ea typeface="Roboto"/>
                <a:cs typeface="Roboto"/>
                <a:sym typeface="Roboto"/>
              </a:rPr>
              <a:t>. All user segments are </a:t>
            </a:r>
            <a:r>
              <a:rPr b="1" lang="en-US" sz="1024">
                <a:solidFill>
                  <a:schemeClr val="dk1"/>
                </a:solidFill>
                <a:latin typeface="Roboto"/>
                <a:ea typeface="Roboto"/>
                <a:cs typeface="Roboto"/>
                <a:sym typeface="Roboto"/>
              </a:rPr>
              <a:t>active at the same time</a:t>
            </a:r>
            <a:r>
              <a:rPr lang="en-US" sz="1024">
                <a:solidFill>
                  <a:schemeClr val="dk1"/>
                </a:solidFill>
                <a:latin typeface="Roboto"/>
                <a:ea typeface="Roboto"/>
                <a:cs typeface="Roboto"/>
                <a:sym typeface="Roboto"/>
              </a:rPr>
              <a:t> (starting at ±3:00 p.m., peaking at ±7:00 p.m.). The only difference is in </a:t>
            </a:r>
            <a:r>
              <a:rPr b="1" lang="en-US" sz="1024">
                <a:solidFill>
                  <a:schemeClr val="dk1"/>
                </a:solidFill>
                <a:latin typeface="Roboto"/>
                <a:ea typeface="Roboto"/>
                <a:cs typeface="Roboto"/>
                <a:sym typeface="Roboto"/>
              </a:rPr>
              <a:t>consistency</a:t>
            </a:r>
            <a:r>
              <a:rPr lang="en-US" sz="1024">
                <a:solidFill>
                  <a:schemeClr val="dk1"/>
                </a:solidFill>
                <a:latin typeface="Roboto"/>
                <a:ea typeface="Roboto"/>
                <a:cs typeface="Roboto"/>
                <a:sym typeface="Roboto"/>
              </a:rPr>
              <a:t>, Power Users are more stable and planned, while Casual Users are </a:t>
            </a:r>
            <a:r>
              <a:rPr b="1" lang="en-US" sz="1024">
                <a:solidFill>
                  <a:schemeClr val="dk1"/>
                </a:solidFill>
                <a:latin typeface="Roboto"/>
                <a:ea typeface="Roboto"/>
                <a:cs typeface="Roboto"/>
                <a:sym typeface="Roboto"/>
              </a:rPr>
              <a:t>more volatile</a:t>
            </a:r>
            <a:r>
              <a:rPr lang="en-US" sz="1024">
                <a:solidFill>
                  <a:schemeClr val="dk1"/>
                </a:solidFill>
                <a:latin typeface="Roboto"/>
                <a:ea typeface="Roboto"/>
                <a:cs typeface="Roboto"/>
                <a:sym typeface="Roboto"/>
              </a:rPr>
              <a:t>. No special timing strategy is needed for High-volume users.</a:t>
            </a:r>
            <a:endParaRPr sz="1024">
              <a:solidFill>
                <a:schemeClr val="dk1"/>
              </a:solidFill>
              <a:latin typeface="Roboto"/>
              <a:ea typeface="Roboto"/>
              <a:cs typeface="Roboto"/>
              <a:sym typeface="Roboto"/>
            </a:endParaRPr>
          </a:p>
        </p:txBody>
      </p:sp>
      <p:sp>
        <p:nvSpPr>
          <p:cNvPr id="1099" name="Google Shape;1099;g3bb6f6a63c2_0_58"/>
          <p:cNvSpPr txBox="1"/>
          <p:nvPr/>
        </p:nvSpPr>
        <p:spPr>
          <a:xfrm>
            <a:off x="4872575" y="3337100"/>
            <a:ext cx="3961800" cy="1152000"/>
          </a:xfrm>
          <a:prstGeom prst="rect">
            <a:avLst/>
          </a:prstGeom>
          <a:noFill/>
          <a:ln>
            <a:noFill/>
          </a:ln>
        </p:spPr>
        <p:txBody>
          <a:bodyPr anchorCtr="0" anchor="t" bIns="111925" lIns="111925"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Analysis of transaction patterns proves that Power Users do not have “</a:t>
            </a:r>
            <a:r>
              <a:rPr b="1" lang="en-US" sz="1024">
                <a:solidFill>
                  <a:schemeClr val="dk1"/>
                </a:solidFill>
                <a:latin typeface="Roboto"/>
                <a:ea typeface="Roboto"/>
                <a:cs typeface="Roboto"/>
                <a:sym typeface="Roboto"/>
              </a:rPr>
              <a:t>special hours</a:t>
            </a:r>
            <a:r>
              <a:rPr lang="en-US" sz="1024">
                <a:solidFill>
                  <a:schemeClr val="dk1"/>
                </a:solidFill>
                <a:latin typeface="Roboto"/>
                <a:ea typeface="Roboto"/>
                <a:cs typeface="Roboto"/>
                <a:sym typeface="Roboto"/>
              </a:rPr>
              <a:t>” or </a:t>
            </a:r>
            <a:r>
              <a:rPr b="1" lang="en-US" sz="1024">
                <a:solidFill>
                  <a:schemeClr val="dk1"/>
                </a:solidFill>
                <a:latin typeface="Roboto"/>
                <a:ea typeface="Roboto"/>
                <a:cs typeface="Roboto"/>
                <a:sym typeface="Roboto"/>
              </a:rPr>
              <a:t>unique time patterns</a:t>
            </a:r>
            <a:r>
              <a:rPr lang="en-US" sz="1024">
                <a:solidFill>
                  <a:schemeClr val="dk1"/>
                </a:solidFill>
                <a:latin typeface="Roboto"/>
                <a:ea typeface="Roboto"/>
                <a:cs typeface="Roboto"/>
                <a:sym typeface="Roboto"/>
              </a:rPr>
              <a:t>. They are active in the same time zone as other users, becoming busy in the afternoon and peaking at 7 p.m.</a:t>
            </a:r>
            <a:endParaRPr sz="1024">
              <a:solidFill>
                <a:schemeClr val="dk1"/>
              </a:solidFill>
              <a:latin typeface="Roboto"/>
              <a:ea typeface="Roboto"/>
              <a:cs typeface="Roboto"/>
              <a:sym typeface="Roboto"/>
            </a:endParaRPr>
          </a:p>
        </p:txBody>
      </p:sp>
      <p:sp>
        <p:nvSpPr>
          <p:cNvPr id="1100" name="Google Shape;1100;g3bb6f6a63c2_0_58"/>
          <p:cNvSpPr txBox="1"/>
          <p:nvPr/>
        </p:nvSpPr>
        <p:spPr>
          <a:xfrm>
            <a:off x="4572001" y="552050"/>
            <a:ext cx="42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Channel </a:t>
            </a:r>
            <a:r>
              <a:rPr b="1" lang="en-US" sz="1800" u="sng">
                <a:solidFill>
                  <a:schemeClr val="dk2"/>
                </a:solidFill>
                <a:latin typeface="Roboto"/>
                <a:ea typeface="Roboto"/>
                <a:cs typeface="Roboto"/>
                <a:sym typeface="Roboto"/>
              </a:rPr>
              <a:t>&amp; Engagement Optimization</a:t>
            </a:r>
            <a:endParaRPr b="1" sz="1800" u="sng">
              <a:solidFill>
                <a:schemeClr val="dk2"/>
              </a:solidFill>
              <a:latin typeface="Roboto"/>
              <a:ea typeface="Roboto"/>
              <a:cs typeface="Roboto"/>
              <a:sym typeface="Roboto"/>
            </a:endParaRPr>
          </a:p>
        </p:txBody>
      </p:sp>
      <p:pic>
        <p:nvPicPr>
          <p:cNvPr id="1101" name="Google Shape;1101;g3bb6f6a63c2_0_58"/>
          <p:cNvPicPr preferRelativeResize="0"/>
          <p:nvPr/>
        </p:nvPicPr>
        <p:blipFill>
          <a:blip r:embed="rId4">
            <a:alphaModFix/>
          </a:blip>
          <a:stretch>
            <a:fillRect/>
          </a:stretch>
        </p:blipFill>
        <p:spPr>
          <a:xfrm>
            <a:off x="443650" y="1187325"/>
            <a:ext cx="4092538" cy="2236375"/>
          </a:xfrm>
          <a:prstGeom prst="rect">
            <a:avLst/>
          </a:prstGeom>
          <a:noFill/>
          <a:ln>
            <a:noFill/>
          </a:ln>
        </p:spPr>
      </p:pic>
      <p:pic>
        <p:nvPicPr>
          <p:cNvPr id="1102" name="Google Shape;1102;g3bb6f6a63c2_0_58"/>
          <p:cNvPicPr preferRelativeResize="0"/>
          <p:nvPr/>
        </p:nvPicPr>
        <p:blipFill>
          <a:blip r:embed="rId5">
            <a:alphaModFix/>
          </a:blip>
          <a:stretch>
            <a:fillRect/>
          </a:stretch>
        </p:blipFill>
        <p:spPr>
          <a:xfrm>
            <a:off x="4572000" y="1166150"/>
            <a:ext cx="4262250" cy="22992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6" name="Shape 1106"/>
        <p:cNvGrpSpPr/>
        <p:nvPr/>
      </p:nvGrpSpPr>
      <p:grpSpPr>
        <a:xfrm>
          <a:off x="0" y="0"/>
          <a:ext cx="0" cy="0"/>
          <a:chOff x="0" y="0"/>
          <a:chExt cx="0" cy="0"/>
        </a:xfrm>
      </p:grpSpPr>
      <p:pic>
        <p:nvPicPr>
          <p:cNvPr id="1107" name="Google Shape;1107;g3bb6f6a63c2_0_108"/>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108" name="Google Shape;1108;g3bb6f6a63c2_0_108"/>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09" name="Google Shape;1109;g3bb6f6a63c2_0_108"/>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sp>
        <p:nvSpPr>
          <p:cNvPr id="1110" name="Google Shape;1110;g3bb6f6a63c2_0_108"/>
          <p:cNvSpPr txBox="1"/>
          <p:nvPr/>
        </p:nvSpPr>
        <p:spPr>
          <a:xfrm>
            <a:off x="4572001" y="552050"/>
            <a:ext cx="4295400" cy="461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b="1" lang="en-US" sz="1800" u="sng">
                <a:solidFill>
                  <a:schemeClr val="dk2"/>
                </a:solidFill>
                <a:latin typeface="Roboto"/>
                <a:ea typeface="Roboto"/>
                <a:cs typeface="Roboto"/>
                <a:sym typeface="Roboto"/>
              </a:rPr>
              <a:t>Channel &amp; Engagement Optimization</a:t>
            </a:r>
            <a:endParaRPr b="1" sz="1800" u="sng">
              <a:solidFill>
                <a:schemeClr val="dk2"/>
              </a:solidFill>
              <a:latin typeface="Roboto"/>
              <a:ea typeface="Roboto"/>
              <a:cs typeface="Roboto"/>
              <a:sym typeface="Roboto"/>
            </a:endParaRPr>
          </a:p>
        </p:txBody>
      </p:sp>
      <p:pic>
        <p:nvPicPr>
          <p:cNvPr id="1111" name="Google Shape;1111;g3bb6f6a63c2_0_108"/>
          <p:cNvPicPr preferRelativeResize="0"/>
          <p:nvPr/>
        </p:nvPicPr>
        <p:blipFill>
          <a:blip r:embed="rId4">
            <a:alphaModFix/>
          </a:blip>
          <a:stretch>
            <a:fillRect/>
          </a:stretch>
        </p:blipFill>
        <p:spPr>
          <a:xfrm>
            <a:off x="2404751" y="2132995"/>
            <a:ext cx="2255724" cy="1119269"/>
          </a:xfrm>
          <a:prstGeom prst="rect">
            <a:avLst/>
          </a:prstGeom>
          <a:noFill/>
          <a:ln>
            <a:noFill/>
          </a:ln>
        </p:spPr>
      </p:pic>
      <p:pic>
        <p:nvPicPr>
          <p:cNvPr id="1112" name="Google Shape;1112;g3bb6f6a63c2_0_108"/>
          <p:cNvPicPr preferRelativeResize="0"/>
          <p:nvPr/>
        </p:nvPicPr>
        <p:blipFill>
          <a:blip r:embed="rId5">
            <a:alphaModFix/>
          </a:blip>
          <a:stretch>
            <a:fillRect/>
          </a:stretch>
        </p:blipFill>
        <p:spPr>
          <a:xfrm>
            <a:off x="4803301" y="1013750"/>
            <a:ext cx="2255724" cy="1119253"/>
          </a:xfrm>
          <a:prstGeom prst="rect">
            <a:avLst/>
          </a:prstGeom>
          <a:noFill/>
          <a:ln>
            <a:noFill/>
          </a:ln>
        </p:spPr>
      </p:pic>
      <p:pic>
        <p:nvPicPr>
          <p:cNvPr id="1113" name="Google Shape;1113;g3bb6f6a63c2_0_108"/>
          <p:cNvPicPr preferRelativeResize="0"/>
          <p:nvPr/>
        </p:nvPicPr>
        <p:blipFill>
          <a:blip r:embed="rId6">
            <a:alphaModFix/>
          </a:blip>
          <a:stretch>
            <a:fillRect/>
          </a:stretch>
        </p:blipFill>
        <p:spPr>
          <a:xfrm>
            <a:off x="159055" y="3280431"/>
            <a:ext cx="2255745" cy="1119269"/>
          </a:xfrm>
          <a:prstGeom prst="rect">
            <a:avLst/>
          </a:prstGeom>
          <a:noFill/>
          <a:ln>
            <a:noFill/>
          </a:ln>
        </p:spPr>
      </p:pic>
      <p:pic>
        <p:nvPicPr>
          <p:cNvPr id="1114" name="Google Shape;1114;g3bb6f6a63c2_0_108"/>
          <p:cNvPicPr preferRelativeResize="0"/>
          <p:nvPr/>
        </p:nvPicPr>
        <p:blipFill>
          <a:blip r:embed="rId7">
            <a:alphaModFix/>
          </a:blip>
          <a:stretch>
            <a:fillRect/>
          </a:stretch>
        </p:blipFill>
        <p:spPr>
          <a:xfrm>
            <a:off x="2424848" y="1018687"/>
            <a:ext cx="2275851" cy="1119269"/>
          </a:xfrm>
          <a:prstGeom prst="rect">
            <a:avLst/>
          </a:prstGeom>
          <a:noFill/>
          <a:ln>
            <a:noFill/>
          </a:ln>
        </p:spPr>
      </p:pic>
      <p:pic>
        <p:nvPicPr>
          <p:cNvPr id="1115" name="Google Shape;1115;g3bb6f6a63c2_0_108"/>
          <p:cNvPicPr preferRelativeResize="0"/>
          <p:nvPr/>
        </p:nvPicPr>
        <p:blipFill>
          <a:blip r:embed="rId8">
            <a:alphaModFix/>
          </a:blip>
          <a:stretch>
            <a:fillRect/>
          </a:stretch>
        </p:blipFill>
        <p:spPr>
          <a:xfrm>
            <a:off x="149004" y="2161173"/>
            <a:ext cx="2255724" cy="1119258"/>
          </a:xfrm>
          <a:prstGeom prst="rect">
            <a:avLst/>
          </a:prstGeom>
          <a:noFill/>
          <a:ln>
            <a:noFill/>
          </a:ln>
        </p:spPr>
      </p:pic>
      <p:pic>
        <p:nvPicPr>
          <p:cNvPr id="1116" name="Google Shape;1116;g3bb6f6a63c2_0_108"/>
          <p:cNvPicPr preferRelativeResize="0"/>
          <p:nvPr/>
        </p:nvPicPr>
        <p:blipFill>
          <a:blip r:embed="rId9">
            <a:alphaModFix/>
          </a:blip>
          <a:stretch>
            <a:fillRect/>
          </a:stretch>
        </p:blipFill>
        <p:spPr>
          <a:xfrm>
            <a:off x="6980082" y="2161178"/>
            <a:ext cx="2255692" cy="1119245"/>
          </a:xfrm>
          <a:prstGeom prst="rect">
            <a:avLst/>
          </a:prstGeom>
          <a:noFill/>
          <a:ln>
            <a:noFill/>
          </a:ln>
        </p:spPr>
      </p:pic>
      <p:pic>
        <p:nvPicPr>
          <p:cNvPr id="1117" name="Google Shape;1117;g3bb6f6a63c2_0_108"/>
          <p:cNvPicPr preferRelativeResize="0"/>
          <p:nvPr/>
        </p:nvPicPr>
        <p:blipFill>
          <a:blip r:embed="rId10">
            <a:alphaModFix/>
          </a:blip>
          <a:stretch>
            <a:fillRect/>
          </a:stretch>
        </p:blipFill>
        <p:spPr>
          <a:xfrm>
            <a:off x="149000" y="1066083"/>
            <a:ext cx="2275849" cy="1119271"/>
          </a:xfrm>
          <a:prstGeom prst="rect">
            <a:avLst/>
          </a:prstGeom>
          <a:noFill/>
          <a:ln>
            <a:noFill/>
          </a:ln>
        </p:spPr>
      </p:pic>
      <p:pic>
        <p:nvPicPr>
          <p:cNvPr id="1118" name="Google Shape;1118;g3bb6f6a63c2_0_108"/>
          <p:cNvPicPr preferRelativeResize="0"/>
          <p:nvPr/>
        </p:nvPicPr>
        <p:blipFill>
          <a:blip r:embed="rId11">
            <a:alphaModFix/>
          </a:blip>
          <a:stretch>
            <a:fillRect/>
          </a:stretch>
        </p:blipFill>
        <p:spPr>
          <a:xfrm>
            <a:off x="7059024" y="1043265"/>
            <a:ext cx="2156625" cy="1070078"/>
          </a:xfrm>
          <a:prstGeom prst="rect">
            <a:avLst/>
          </a:prstGeom>
          <a:noFill/>
          <a:ln>
            <a:noFill/>
          </a:ln>
        </p:spPr>
      </p:pic>
      <p:pic>
        <p:nvPicPr>
          <p:cNvPr id="1119" name="Google Shape;1119;g3bb6f6a63c2_0_108"/>
          <p:cNvPicPr preferRelativeResize="0"/>
          <p:nvPr/>
        </p:nvPicPr>
        <p:blipFill>
          <a:blip r:embed="rId12">
            <a:alphaModFix/>
          </a:blip>
          <a:stretch>
            <a:fillRect/>
          </a:stretch>
        </p:blipFill>
        <p:spPr>
          <a:xfrm>
            <a:off x="4700691" y="2177881"/>
            <a:ext cx="2156619" cy="1060632"/>
          </a:xfrm>
          <a:prstGeom prst="rect">
            <a:avLst/>
          </a:prstGeom>
          <a:noFill/>
          <a:ln>
            <a:noFill/>
          </a:ln>
        </p:spPr>
      </p:pic>
      <p:sp>
        <p:nvSpPr>
          <p:cNvPr id="1120" name="Google Shape;1120;g3bb6f6a63c2_0_108"/>
          <p:cNvSpPr txBox="1"/>
          <p:nvPr/>
        </p:nvSpPr>
        <p:spPr>
          <a:xfrm>
            <a:off x="2891350" y="3337100"/>
            <a:ext cx="5775300" cy="1101600"/>
          </a:xfrm>
          <a:prstGeom prst="rect">
            <a:avLst/>
          </a:prstGeom>
          <a:noFill/>
          <a:ln>
            <a:noFill/>
          </a:ln>
        </p:spPr>
        <p:txBody>
          <a:bodyPr anchorCtr="0" anchor="t" bIns="111925" lIns="628650" spcFirstLastPara="1" rIns="111925" wrap="square" tIns="111925">
            <a:noAutofit/>
          </a:bodyPr>
          <a:lstStyle/>
          <a:p>
            <a:pPr indent="0" lvl="0" marL="0" rtl="0" algn="just">
              <a:spcBef>
                <a:spcPts val="0"/>
              </a:spcBef>
              <a:spcAft>
                <a:spcPts val="0"/>
              </a:spcAft>
              <a:buNone/>
            </a:pPr>
            <a:r>
              <a:rPr lang="en-US" sz="1024">
                <a:solidFill>
                  <a:schemeClr val="dk1"/>
                </a:solidFill>
                <a:latin typeface="Roboto"/>
                <a:ea typeface="Roboto"/>
                <a:cs typeface="Roboto"/>
                <a:sym typeface="Roboto"/>
              </a:rPr>
              <a:t>Data shows that all users are </a:t>
            </a:r>
            <a:r>
              <a:rPr b="1" lang="en-US" sz="1024">
                <a:solidFill>
                  <a:schemeClr val="dk1"/>
                </a:solidFill>
                <a:latin typeface="Roboto"/>
                <a:ea typeface="Roboto"/>
                <a:cs typeface="Roboto"/>
                <a:sym typeface="Roboto"/>
              </a:rPr>
              <a:t>omni-channel</a:t>
            </a:r>
            <a:r>
              <a:rPr lang="en-US" sz="1024">
                <a:solidFill>
                  <a:schemeClr val="dk1"/>
                </a:solidFill>
                <a:latin typeface="Roboto"/>
                <a:ea typeface="Roboto"/>
                <a:cs typeface="Roboto"/>
                <a:sym typeface="Roboto"/>
              </a:rPr>
              <a:t>, with consistent usage patterns across industries </a:t>
            </a:r>
            <a:r>
              <a:rPr b="1" lang="en-US" sz="1024">
                <a:solidFill>
                  <a:schemeClr val="dk1"/>
                </a:solidFill>
                <a:latin typeface="Roboto"/>
                <a:ea typeface="Roboto"/>
                <a:cs typeface="Roboto"/>
                <a:sym typeface="Roboto"/>
              </a:rPr>
              <a:t>WhatsApp dominates</a:t>
            </a:r>
            <a:r>
              <a:rPr lang="en-US" sz="1024">
                <a:solidFill>
                  <a:schemeClr val="dk1"/>
                </a:solidFill>
                <a:latin typeface="Roboto"/>
                <a:ea typeface="Roboto"/>
                <a:cs typeface="Roboto"/>
                <a:sym typeface="Roboto"/>
              </a:rPr>
              <a:t>, followed by </a:t>
            </a:r>
            <a:r>
              <a:rPr b="1" lang="en-US" sz="1024">
                <a:solidFill>
                  <a:schemeClr val="dk1"/>
                </a:solidFill>
                <a:latin typeface="Roboto"/>
                <a:ea typeface="Roboto"/>
                <a:cs typeface="Roboto"/>
                <a:sym typeface="Roboto"/>
              </a:rPr>
              <a:t>email</a:t>
            </a:r>
            <a:r>
              <a:rPr lang="en-US" sz="1024">
                <a:solidFill>
                  <a:schemeClr val="dk1"/>
                </a:solidFill>
                <a:latin typeface="Roboto"/>
                <a:ea typeface="Roboto"/>
                <a:cs typeface="Roboto"/>
                <a:sym typeface="Roboto"/>
              </a:rPr>
              <a:t>, while SMS and calls play a minor role. Since there are no mono-channel users, upsell strategies involving the addition of channels are irrelevant. Revenue </a:t>
            </a:r>
            <a:r>
              <a:rPr b="1" lang="en-US" sz="1024">
                <a:solidFill>
                  <a:schemeClr val="dk1"/>
                </a:solidFill>
                <a:latin typeface="Roboto"/>
                <a:ea typeface="Roboto"/>
                <a:cs typeface="Roboto"/>
                <a:sym typeface="Roboto"/>
              </a:rPr>
              <a:t>opportunities </a:t>
            </a:r>
            <a:r>
              <a:rPr lang="en-US" sz="1024">
                <a:solidFill>
                  <a:schemeClr val="dk1"/>
                </a:solidFill>
                <a:latin typeface="Roboto"/>
                <a:ea typeface="Roboto"/>
                <a:cs typeface="Roboto"/>
                <a:sym typeface="Roboto"/>
              </a:rPr>
              <a:t>lie in </a:t>
            </a:r>
            <a:r>
              <a:rPr b="1" lang="en-US" sz="1024">
                <a:solidFill>
                  <a:schemeClr val="dk1"/>
                </a:solidFill>
                <a:latin typeface="Roboto"/>
                <a:ea typeface="Roboto"/>
                <a:cs typeface="Roboto"/>
                <a:sym typeface="Roboto"/>
              </a:rPr>
              <a:t>cross-selling quotas</a:t>
            </a:r>
            <a:r>
              <a:rPr lang="en-US" sz="1024">
                <a:solidFill>
                  <a:schemeClr val="dk1"/>
                </a:solidFill>
                <a:latin typeface="Roboto"/>
                <a:ea typeface="Roboto"/>
                <a:cs typeface="Roboto"/>
                <a:sym typeface="Roboto"/>
              </a:rPr>
              <a:t> and </a:t>
            </a:r>
            <a:r>
              <a:rPr b="1" lang="en-US" sz="1024">
                <a:solidFill>
                  <a:schemeClr val="dk1"/>
                </a:solidFill>
                <a:latin typeface="Roboto"/>
                <a:ea typeface="Roboto"/>
                <a:cs typeface="Roboto"/>
                <a:sym typeface="Roboto"/>
              </a:rPr>
              <a:t>premium add-ons</a:t>
            </a:r>
            <a:r>
              <a:rPr lang="en-US" sz="1024">
                <a:solidFill>
                  <a:schemeClr val="dk1"/>
                </a:solidFill>
                <a:latin typeface="Roboto"/>
                <a:ea typeface="Roboto"/>
                <a:cs typeface="Roboto"/>
                <a:sym typeface="Roboto"/>
              </a:rPr>
              <a:t> on the most frequently used main channels, especially WhatsApp and email.</a:t>
            </a:r>
            <a:endParaRPr sz="1024">
              <a:solidFill>
                <a:schemeClr val="dk1"/>
              </a:solidFill>
              <a:latin typeface="Roboto"/>
              <a:ea typeface="Roboto"/>
              <a:cs typeface="Roboto"/>
              <a:sym typeface="Roboto"/>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4" name="Shape 1124"/>
        <p:cNvGrpSpPr/>
        <p:nvPr/>
      </p:nvGrpSpPr>
      <p:grpSpPr>
        <a:xfrm>
          <a:off x="0" y="0"/>
          <a:ext cx="0" cy="0"/>
          <a:chOff x="0" y="0"/>
          <a:chExt cx="0" cy="0"/>
        </a:xfrm>
      </p:grpSpPr>
      <p:pic>
        <p:nvPicPr>
          <p:cNvPr id="1125" name="Google Shape;1125;g3b8af0a3789_0_779"/>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126" name="Google Shape;1126;g3b8af0a3789_0_779"/>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27" name="Google Shape;1127;g3b8af0a3789_0_779"/>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Summary Insight</a:t>
            </a:r>
            <a:endParaRPr b="1" sz="2400">
              <a:solidFill>
                <a:schemeClr val="lt1"/>
              </a:solidFill>
              <a:latin typeface="Roboto"/>
              <a:ea typeface="Roboto"/>
              <a:cs typeface="Roboto"/>
              <a:sym typeface="Roboto"/>
            </a:endParaRPr>
          </a:p>
        </p:txBody>
      </p:sp>
      <p:sp>
        <p:nvSpPr>
          <p:cNvPr id="1128" name="Google Shape;1128;g3b8af0a3789_0_779"/>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29" name="Google Shape;1129;g3b8af0a3789_0_779"/>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graphicFrame>
        <p:nvGraphicFramePr>
          <p:cNvPr id="1130" name="Google Shape;1130;g3b8af0a3789_0_779"/>
          <p:cNvGraphicFramePr/>
          <p:nvPr/>
        </p:nvGraphicFramePr>
        <p:xfrm>
          <a:off x="449075" y="1808450"/>
          <a:ext cx="3000000" cy="3000000"/>
        </p:xfrm>
        <a:graphic>
          <a:graphicData uri="http://schemas.openxmlformats.org/drawingml/2006/table">
            <a:tbl>
              <a:tblPr>
                <a:noFill/>
                <a:tableStyleId>{37D4DCAE-1861-4E6A-B2C0-FF0A4CF39091}</a:tableStyleId>
              </a:tblPr>
              <a:tblGrid>
                <a:gridCol w="1729700"/>
                <a:gridCol w="6535550"/>
              </a:tblGrid>
              <a:tr h="619125">
                <a:tc>
                  <a:txBody>
                    <a:bodyPr/>
                    <a:lstStyle/>
                    <a:p>
                      <a:pPr indent="0" lvl="0" marL="0" rtl="0" algn="l">
                        <a:lnSpc>
                          <a:spcPct val="115000"/>
                        </a:lnSpc>
                        <a:spcBef>
                          <a:spcPts val="0"/>
                        </a:spcBef>
                        <a:spcAft>
                          <a:spcPts val="0"/>
                        </a:spcAft>
                        <a:buNone/>
                      </a:pPr>
                      <a:r>
                        <a:rPr b="1" lang="en-US" sz="1200">
                          <a:solidFill>
                            <a:srgbClr val="A82F20"/>
                          </a:solidFill>
                          <a:latin typeface="Roboto"/>
                          <a:ea typeface="Roboto"/>
                          <a:cs typeface="Roboto"/>
                          <a:sym typeface="Roboto"/>
                        </a:rPr>
                        <a:t>Behavioral</a:t>
                      </a:r>
                      <a:endParaRPr b="1" sz="1200">
                        <a:solidFill>
                          <a:srgbClr val="A82F20"/>
                        </a:solidFill>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WA &amp; Email are the core growth engines</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Usage is heavily concentrated in a few top clients</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High delivery success but elevated RNA and low engagement</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User activity peaks at night (7 - 11 PM) with sustained overnight load</a:t>
                      </a:r>
                      <a:endParaRPr sz="12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209550">
                <a:tc>
                  <a:txBody>
                    <a:bodyPr/>
                    <a:lstStyle/>
                    <a:p>
                      <a:pPr indent="0" lvl="0" marL="0" rtl="0" algn="l">
                        <a:lnSpc>
                          <a:spcPct val="115000"/>
                        </a:lnSpc>
                        <a:spcBef>
                          <a:spcPts val="0"/>
                        </a:spcBef>
                        <a:spcAft>
                          <a:spcPts val="0"/>
                        </a:spcAft>
                        <a:buNone/>
                      </a:pPr>
                      <a:r>
                        <a:rPr b="1" lang="en-US" sz="1200">
                          <a:solidFill>
                            <a:srgbClr val="A82F20"/>
                          </a:solidFill>
                          <a:latin typeface="Roboto"/>
                          <a:ea typeface="Roboto"/>
                          <a:cs typeface="Roboto"/>
                          <a:sym typeface="Roboto"/>
                        </a:rPr>
                        <a:t>Segmentation</a:t>
                      </a:r>
                      <a:endParaRPr b="1" sz="1200">
                        <a:solidFill>
                          <a:srgbClr val="A82F20"/>
                        </a:solidFill>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User segmentation using log-transformed frequency, monetary value, and active days (as a recency proxy) indicates three optimal clusters (K = 3) based on Elbow and Silhouette analysis. (Power User, Loyal user, and Casual User)</a:t>
                      </a:r>
                      <a:endParaRPr sz="12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619125">
                <a:tc>
                  <a:txBody>
                    <a:bodyPr/>
                    <a:lstStyle/>
                    <a:p>
                      <a:pPr indent="0" lvl="0" marL="0" rtl="0" algn="l">
                        <a:lnSpc>
                          <a:spcPct val="115000"/>
                        </a:lnSpc>
                        <a:spcBef>
                          <a:spcPts val="0"/>
                        </a:spcBef>
                        <a:spcAft>
                          <a:spcPts val="0"/>
                        </a:spcAft>
                        <a:buNone/>
                      </a:pPr>
                      <a:r>
                        <a:rPr b="1" lang="en-US" sz="1200">
                          <a:solidFill>
                            <a:srgbClr val="A82F20"/>
                          </a:solidFill>
                          <a:latin typeface="Roboto"/>
                          <a:ea typeface="Roboto"/>
                          <a:cs typeface="Roboto"/>
                          <a:sym typeface="Roboto"/>
                        </a:rPr>
                        <a:t>Revenue</a:t>
                      </a:r>
                      <a:endParaRPr b="1" sz="1200">
                        <a:solidFill>
                          <a:srgbClr val="A82F20"/>
                        </a:solidFill>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A small group of Power Users led by “The Big 3” dominates transactions and revenue</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Retention is artificially perfect</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Loyal and Casual users show stagnant and nearly identical performance</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There is no natural pipeline for new Power Users</a:t>
                      </a:r>
                      <a:endParaRPr sz="12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4" name="Shape 1134"/>
        <p:cNvGrpSpPr/>
        <p:nvPr/>
      </p:nvGrpSpPr>
      <p:grpSpPr>
        <a:xfrm>
          <a:off x="0" y="0"/>
          <a:ext cx="0" cy="0"/>
          <a:chOff x="0" y="0"/>
          <a:chExt cx="0" cy="0"/>
        </a:xfrm>
      </p:grpSpPr>
      <p:pic>
        <p:nvPicPr>
          <p:cNvPr id="1135" name="Google Shape;1135;g3bb6f6a63c2_0_129"/>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136" name="Google Shape;1136;g3bb6f6a63c2_0_129"/>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37" name="Google Shape;1137;g3bb6f6a63c2_0_129"/>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Summary Insight</a:t>
            </a:r>
            <a:endParaRPr b="1" sz="2400">
              <a:solidFill>
                <a:schemeClr val="lt1"/>
              </a:solidFill>
              <a:latin typeface="Roboto"/>
              <a:ea typeface="Roboto"/>
              <a:cs typeface="Roboto"/>
              <a:sym typeface="Roboto"/>
            </a:endParaRPr>
          </a:p>
        </p:txBody>
      </p:sp>
      <p:sp>
        <p:nvSpPr>
          <p:cNvPr id="1138" name="Google Shape;1138;g3bb6f6a63c2_0_129"/>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39" name="Google Shape;1139;g3bb6f6a63c2_0_129"/>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graphicFrame>
        <p:nvGraphicFramePr>
          <p:cNvPr id="1140" name="Google Shape;1140;g3bb6f6a63c2_0_129"/>
          <p:cNvGraphicFramePr/>
          <p:nvPr/>
        </p:nvGraphicFramePr>
        <p:xfrm>
          <a:off x="439025" y="1847850"/>
          <a:ext cx="3000000" cy="3000000"/>
        </p:xfrm>
        <a:graphic>
          <a:graphicData uri="http://schemas.openxmlformats.org/drawingml/2006/table">
            <a:tbl>
              <a:tblPr>
                <a:noFill/>
                <a:tableStyleId>{37D4DCAE-1861-4E6A-B2C0-FF0A4CF39091}</a:tableStyleId>
              </a:tblPr>
              <a:tblGrid>
                <a:gridCol w="1794650"/>
                <a:gridCol w="6546350"/>
              </a:tblGrid>
              <a:tr h="619125">
                <a:tc>
                  <a:txBody>
                    <a:bodyPr/>
                    <a:lstStyle/>
                    <a:p>
                      <a:pPr indent="0" lvl="0" marL="0" rtl="0" algn="l">
                        <a:lnSpc>
                          <a:spcPct val="115000"/>
                        </a:lnSpc>
                        <a:spcBef>
                          <a:spcPts val="0"/>
                        </a:spcBef>
                        <a:spcAft>
                          <a:spcPts val="0"/>
                        </a:spcAft>
                        <a:buNone/>
                      </a:pPr>
                      <a:r>
                        <a:rPr b="1" lang="en-US" sz="1200">
                          <a:solidFill>
                            <a:srgbClr val="A82F20"/>
                          </a:solidFill>
                          <a:latin typeface="Roboto"/>
                          <a:ea typeface="Roboto"/>
                          <a:cs typeface="Roboto"/>
                          <a:sym typeface="Roboto"/>
                        </a:rPr>
                        <a:t>Churn Risk</a:t>
                      </a:r>
                      <a:endParaRPr b="1" sz="1200">
                        <a:solidFill>
                          <a:srgbClr val="A82F20"/>
                        </a:solidFill>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Despite zero recency, usage has dropped sharply (≤ −30%) alongside a persistently high failure rate (~75%)</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High RNA is a key driver of transaction failures</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The highest churn risk sits with Power Users, especially “The Big 3</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Retaining the top users is critical to cash flow stability</a:t>
                      </a:r>
                      <a:endParaRPr sz="12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619125">
                <a:tc>
                  <a:txBody>
                    <a:bodyPr/>
                    <a:lstStyle/>
                    <a:p>
                      <a:pPr indent="0" lvl="0" marL="0" rtl="0" algn="l">
                        <a:lnSpc>
                          <a:spcPct val="115000"/>
                        </a:lnSpc>
                        <a:spcBef>
                          <a:spcPts val="0"/>
                        </a:spcBef>
                        <a:spcAft>
                          <a:spcPts val="0"/>
                        </a:spcAft>
                        <a:buNone/>
                      </a:pPr>
                      <a:r>
                        <a:rPr b="1" lang="en-US" sz="1200">
                          <a:solidFill>
                            <a:srgbClr val="A82F20"/>
                          </a:solidFill>
                          <a:latin typeface="Roboto"/>
                          <a:ea typeface="Roboto"/>
                          <a:cs typeface="Roboto"/>
                          <a:sym typeface="Roboto"/>
                        </a:rPr>
                        <a:t>Engagement</a:t>
                      </a:r>
                      <a:endParaRPr b="1" sz="1200">
                        <a:solidFill>
                          <a:srgbClr val="A82F20"/>
                        </a:solidFill>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200">
                          <a:latin typeface="Roboto"/>
                          <a:ea typeface="Roboto"/>
                          <a:cs typeface="Roboto"/>
                          <a:sym typeface="Roboto"/>
                        </a:rPr>
                        <a:t>High-volume (Power) users do not exhibit unique hourly behavior</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The key difference across segments is consistency, not timing</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All users are fully omnichannel</a:t>
                      </a:r>
                      <a:endParaRPr sz="1200">
                        <a:latin typeface="Roboto"/>
                        <a:ea typeface="Roboto"/>
                        <a:cs typeface="Roboto"/>
                        <a:sym typeface="Roboto"/>
                      </a:endParaRPr>
                    </a:p>
                    <a:p>
                      <a:pPr indent="0" lvl="0" marL="0" rtl="0" algn="l">
                        <a:lnSpc>
                          <a:spcPct val="115000"/>
                        </a:lnSpc>
                        <a:spcBef>
                          <a:spcPts val="0"/>
                        </a:spcBef>
                        <a:spcAft>
                          <a:spcPts val="0"/>
                        </a:spcAft>
                        <a:buNone/>
                      </a:pPr>
                      <a:r>
                        <a:rPr lang="en-US" sz="1200">
                          <a:latin typeface="Roboto"/>
                          <a:ea typeface="Roboto"/>
                          <a:cs typeface="Roboto"/>
                          <a:sym typeface="Roboto"/>
                        </a:rPr>
                        <a:t>Channel-based upsell is not relevant</a:t>
                      </a:r>
                      <a:endParaRPr sz="12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4" name="Shape 1144"/>
        <p:cNvGrpSpPr/>
        <p:nvPr/>
      </p:nvGrpSpPr>
      <p:grpSpPr>
        <a:xfrm>
          <a:off x="0" y="0"/>
          <a:ext cx="0" cy="0"/>
          <a:chOff x="0" y="0"/>
          <a:chExt cx="0" cy="0"/>
        </a:xfrm>
      </p:grpSpPr>
      <p:pic>
        <p:nvPicPr>
          <p:cNvPr id="1145" name="Google Shape;1145;g3b8af0a3789_0_797"/>
          <p:cNvPicPr preferRelativeResize="0"/>
          <p:nvPr/>
        </p:nvPicPr>
        <p:blipFill rotWithShape="1">
          <a:blip r:embed="rId3">
            <a:alphaModFix/>
          </a:blip>
          <a:srcRect b="0" l="0" r="0" t="0"/>
          <a:stretch/>
        </p:blipFill>
        <p:spPr>
          <a:xfrm>
            <a:off x="0" y="-146325"/>
            <a:ext cx="3601424" cy="1333650"/>
          </a:xfrm>
          <a:prstGeom prst="rect">
            <a:avLst/>
          </a:prstGeom>
          <a:noFill/>
          <a:ln>
            <a:noFill/>
          </a:ln>
        </p:spPr>
      </p:pic>
      <p:sp>
        <p:nvSpPr>
          <p:cNvPr id="1146" name="Google Shape;1146;g3b8af0a3789_0_797"/>
          <p:cNvSpPr/>
          <p:nvPr/>
        </p:nvSpPr>
        <p:spPr>
          <a:xfrm>
            <a:off x="2280850" y="1052000"/>
            <a:ext cx="4581600" cy="499500"/>
          </a:xfrm>
          <a:prstGeom prst="snip2SameRect">
            <a:avLst>
              <a:gd fmla="val 16667" name="adj1"/>
              <a:gd fmla="val 0" name="adj2"/>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47" name="Google Shape;1147;g3b8af0a3789_0_797"/>
          <p:cNvSpPr txBox="1"/>
          <p:nvPr/>
        </p:nvSpPr>
        <p:spPr>
          <a:xfrm>
            <a:off x="2624850" y="1024700"/>
            <a:ext cx="3894300" cy="554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US" sz="2400">
                <a:solidFill>
                  <a:schemeClr val="lt1"/>
                </a:solidFill>
                <a:latin typeface="Roboto"/>
                <a:ea typeface="Roboto"/>
                <a:cs typeface="Roboto"/>
                <a:sym typeface="Roboto"/>
              </a:rPr>
              <a:t>Recommendation</a:t>
            </a:r>
            <a:endParaRPr b="1" sz="2400">
              <a:solidFill>
                <a:schemeClr val="lt1"/>
              </a:solidFill>
              <a:latin typeface="Roboto"/>
              <a:ea typeface="Roboto"/>
              <a:cs typeface="Roboto"/>
              <a:sym typeface="Roboto"/>
            </a:endParaRPr>
          </a:p>
        </p:txBody>
      </p:sp>
      <p:sp>
        <p:nvSpPr>
          <p:cNvPr id="1148" name="Google Shape;1148;g3b8af0a3789_0_797"/>
          <p:cNvSpPr/>
          <p:nvPr/>
        </p:nvSpPr>
        <p:spPr>
          <a:xfrm>
            <a:off x="-142100" y="4644075"/>
            <a:ext cx="9447600" cy="499500"/>
          </a:xfrm>
          <a:prstGeom prst="rect">
            <a:avLst/>
          </a:prstGeom>
          <a:solidFill>
            <a:srgbClr val="C2C8D0"/>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49" name="Google Shape;1149;g3b8af0a3789_0_797"/>
          <p:cNvSpPr txBox="1"/>
          <p:nvPr/>
        </p:nvSpPr>
        <p:spPr>
          <a:xfrm>
            <a:off x="443650" y="4610815"/>
            <a:ext cx="8421900" cy="499500"/>
          </a:xfrm>
          <a:prstGeom prst="rect">
            <a:avLst/>
          </a:prstGeom>
          <a:noFill/>
          <a:ln>
            <a:noFill/>
          </a:ln>
        </p:spPr>
        <p:txBody>
          <a:bodyPr anchorCtr="0" anchor="t" bIns="91425" lIns="91425" spcFirstLastPara="1" rIns="91425" wrap="square" tIns="91425">
            <a:noAutofit/>
          </a:bodyPr>
          <a:lstStyle/>
          <a:p>
            <a:pPr indent="0" lvl="0" marL="0" rtl="0" algn="l">
              <a:lnSpc>
                <a:spcPct val="90000"/>
              </a:lnSpc>
              <a:spcBef>
                <a:spcPts val="0"/>
              </a:spcBef>
              <a:spcAft>
                <a:spcPts val="0"/>
              </a:spcAft>
              <a:buNone/>
            </a:pPr>
            <a:r>
              <a:rPr b="1" lang="en-US" sz="800">
                <a:solidFill>
                  <a:schemeClr val="dk1"/>
                </a:solidFill>
                <a:latin typeface="Roboto"/>
                <a:ea typeface="Roboto"/>
                <a:cs typeface="Roboto"/>
                <a:sym typeface="Roboto"/>
              </a:rPr>
              <a:t>DESCLAIMER </a:t>
            </a:r>
            <a:endParaRPr b="1" sz="800">
              <a:solidFill>
                <a:schemeClr val="dk1"/>
              </a:solidFill>
              <a:latin typeface="Roboto"/>
              <a:ea typeface="Roboto"/>
              <a:cs typeface="Roboto"/>
              <a:sym typeface="Roboto"/>
            </a:endParaRPr>
          </a:p>
          <a:p>
            <a:pPr indent="0" lvl="0" marL="0" rtl="0" algn="l">
              <a:lnSpc>
                <a:spcPct val="90000"/>
              </a:lnSpc>
              <a:spcBef>
                <a:spcPts val="0"/>
              </a:spcBef>
              <a:spcAft>
                <a:spcPts val="0"/>
              </a:spcAft>
              <a:buNone/>
            </a:pPr>
            <a:r>
              <a:rPr lang="en-US" sz="800">
                <a:solidFill>
                  <a:schemeClr val="dk1"/>
                </a:solidFill>
                <a:latin typeface="Roboto"/>
                <a:ea typeface="Roboto"/>
                <a:cs typeface="Roboto"/>
                <a:sym typeface="Roboto"/>
              </a:rPr>
              <a:t>"The data provided is a representation of the original data which amount has been adjusted. The data used is NOT representation of original data, adjusted for educational purposes and does not reflect the actual business condition of the company."</a:t>
            </a:r>
            <a:endParaRPr sz="800">
              <a:solidFill>
                <a:schemeClr val="dk1"/>
              </a:solidFill>
              <a:latin typeface="Roboto"/>
              <a:ea typeface="Roboto"/>
              <a:cs typeface="Roboto"/>
              <a:sym typeface="Roboto"/>
            </a:endParaRPr>
          </a:p>
        </p:txBody>
      </p:sp>
      <p:graphicFrame>
        <p:nvGraphicFramePr>
          <p:cNvPr id="1150" name="Google Shape;1150;g3b8af0a3789_0_797"/>
          <p:cNvGraphicFramePr/>
          <p:nvPr/>
        </p:nvGraphicFramePr>
        <p:xfrm>
          <a:off x="636350" y="1791750"/>
          <a:ext cx="3000000" cy="3000000"/>
        </p:xfrm>
        <a:graphic>
          <a:graphicData uri="http://schemas.openxmlformats.org/drawingml/2006/table">
            <a:tbl>
              <a:tblPr>
                <a:noFill/>
                <a:tableStyleId>{37D4DCAE-1861-4E6A-B2C0-FF0A4CF39091}</a:tableStyleId>
              </a:tblPr>
              <a:tblGrid>
                <a:gridCol w="2072575"/>
                <a:gridCol w="2608225"/>
                <a:gridCol w="3355700"/>
              </a:tblGrid>
              <a:tr h="200025">
                <a:tc>
                  <a:txBody>
                    <a:bodyPr/>
                    <a:lstStyle/>
                    <a:p>
                      <a:pPr indent="0" lvl="0" marL="0" rtl="0" algn="ctr">
                        <a:lnSpc>
                          <a:spcPct val="115000"/>
                        </a:lnSpc>
                        <a:spcBef>
                          <a:spcPts val="0"/>
                        </a:spcBef>
                        <a:spcAft>
                          <a:spcPts val="0"/>
                        </a:spcAft>
                        <a:buNone/>
                      </a:pPr>
                      <a:r>
                        <a:rPr b="1" lang="en-US" sz="1200">
                          <a:latin typeface="Roboto"/>
                          <a:ea typeface="Roboto"/>
                          <a:cs typeface="Roboto"/>
                          <a:sym typeface="Roboto"/>
                        </a:rPr>
                        <a:t>Timing</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Roboto"/>
                          <a:ea typeface="Roboto"/>
                          <a:cs typeface="Roboto"/>
                          <a:sym typeface="Roboto"/>
                        </a:rPr>
                        <a:t>Detail</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latin typeface="Roboto"/>
                          <a:ea typeface="Roboto"/>
                          <a:cs typeface="Roboto"/>
                          <a:sym typeface="Roboto"/>
                        </a:rPr>
                        <a:t>Recommendation</a:t>
                      </a:r>
                      <a:endParaRPr b="1" sz="12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619125">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Short Term</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fix quality and save Power Users</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Protect revenue, reduce silent churn, improve delivery quality.</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Prioritize quality fixes for Power Users (“The Big 3”)</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Implement a behavior-based Early Warning System</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Focus on optimizing WhatsApp and email only</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Adjust operations to night-peak usage (7–11 PM)</a:t>
                      </a:r>
                      <a:endParaRPr sz="11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476250">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Mid Term</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activate the missing middle</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Reduce dependence on top users and activate mid-tier users.</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Redefine segmentation beyond volume</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Build a “Next Power Users” pipeline</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Shift upsell strategy from channel to value</a:t>
                      </a:r>
                      <a:endParaRPr sz="11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r h="619125">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Long Term</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build a scalable, quality-led growth engine</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Scalable system, balanced revenue, controlled churn.</a:t>
                      </a:r>
                      <a:endParaRPr sz="1100">
                        <a:latin typeface="Roboto"/>
                        <a:ea typeface="Roboto"/>
                        <a:cs typeface="Roboto"/>
                        <a:sym typeface="Roboto"/>
                      </a:endParaRPr>
                    </a:p>
                  </a:txBody>
                  <a:tcPr marT="19050" marB="19050" marR="28575" marL="28575" anchor="ctr">
                    <a:lnL cap="flat" cmpd="sng" w="7925">
                      <a:solidFill>
                        <a:srgbClr val="CCCCCC"/>
                      </a:solidFill>
                      <a:prstDash val="solid"/>
                      <a:round/>
                      <a:headEnd len="sm" w="sm" type="none"/>
                      <a:tailEnd len="sm" w="sm" type="none"/>
                    </a:lnL>
                    <a:lnR cap="flat" cmpd="sng" w="7925">
                      <a:solidFill>
                        <a:srgbClr val="CCCCCC"/>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US" sz="1100">
                          <a:latin typeface="Roboto"/>
                          <a:ea typeface="Roboto"/>
                          <a:cs typeface="Roboto"/>
                          <a:sym typeface="Roboto"/>
                        </a:rPr>
                        <a:t>Institutionalize behavior-based lifecycle management</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Reduce revenue concentration risk</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Develop quality-led product differentiation</a:t>
                      </a:r>
                      <a:endParaRPr sz="1100">
                        <a:latin typeface="Roboto"/>
                        <a:ea typeface="Roboto"/>
                        <a:cs typeface="Roboto"/>
                        <a:sym typeface="Roboto"/>
                      </a:endParaRPr>
                    </a:p>
                    <a:p>
                      <a:pPr indent="0" lvl="0" marL="0" rtl="0" algn="l">
                        <a:lnSpc>
                          <a:spcPct val="115000"/>
                        </a:lnSpc>
                        <a:spcBef>
                          <a:spcPts val="0"/>
                        </a:spcBef>
                        <a:spcAft>
                          <a:spcPts val="0"/>
                        </a:spcAft>
                        <a:buNone/>
                      </a:pPr>
                      <a:r>
                        <a:rPr lang="en-US" sz="1100">
                          <a:latin typeface="Roboto"/>
                          <a:ea typeface="Roboto"/>
                          <a:cs typeface="Roboto"/>
                          <a:sym typeface="Roboto"/>
                        </a:rPr>
                        <a:t>Predictive churn &amp; growth modeling</a:t>
                      </a:r>
                      <a:endParaRPr sz="1100">
                        <a:latin typeface="Roboto"/>
                        <a:ea typeface="Roboto"/>
                        <a:cs typeface="Roboto"/>
                        <a:sym typeface="Roboto"/>
                      </a:endParaRPr>
                    </a:p>
                  </a:txBody>
                  <a:tcPr marT="19050" marB="19050" marR="91425" marL="91425" anchor="ctr">
                    <a:lnL cap="flat" cmpd="sng" w="7925">
                      <a:solidFill>
                        <a:srgbClr val="CCCCCC"/>
                      </a:solidFill>
                      <a:prstDash val="solid"/>
                      <a:round/>
                      <a:headEnd len="sm" w="sm" type="none"/>
                      <a:tailEnd len="sm" w="sm" type="none"/>
                    </a:lnL>
                    <a:lnR cap="flat" cmpd="sng" w="7925">
                      <a:solidFill>
                        <a:srgbClr val="000000"/>
                      </a:solidFill>
                      <a:prstDash val="solid"/>
                      <a:round/>
                      <a:headEnd len="sm" w="sm" type="none"/>
                      <a:tailEnd len="sm" w="sm" type="none"/>
                    </a:lnR>
                    <a:lnT cap="flat" cmpd="sng" w="7925">
                      <a:solidFill>
                        <a:srgbClr val="CCCCCC"/>
                      </a:solidFill>
                      <a:prstDash val="solid"/>
                      <a:round/>
                      <a:headEnd len="sm" w="sm" type="none"/>
                      <a:tailEnd len="sm" w="sm" type="none"/>
                    </a:lnT>
                    <a:lnB cap="flat" cmpd="sng" w="7925">
                      <a:solidFill>
                        <a:srgbClr val="CCCCCC"/>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4" name="Shape 1154"/>
        <p:cNvGrpSpPr/>
        <p:nvPr/>
      </p:nvGrpSpPr>
      <p:grpSpPr>
        <a:xfrm>
          <a:off x="0" y="0"/>
          <a:ext cx="0" cy="0"/>
          <a:chOff x="0" y="0"/>
          <a:chExt cx="0" cy="0"/>
        </a:xfrm>
      </p:grpSpPr>
      <p:sp>
        <p:nvSpPr>
          <p:cNvPr id="1155" name="Google Shape;1155;g3b8af0a3789_0_444"/>
          <p:cNvSpPr txBox="1"/>
          <p:nvPr>
            <p:ph type="title"/>
          </p:nvPr>
        </p:nvSpPr>
        <p:spPr>
          <a:xfrm>
            <a:off x="866640" y="695280"/>
            <a:ext cx="4619100" cy="11082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6000"/>
              <a:buFont typeface="Manrope ExtraBold"/>
              <a:buNone/>
            </a:pPr>
            <a:r>
              <a:rPr b="0" lang="en-US" sz="6000" u="none" strike="noStrike">
                <a:solidFill>
                  <a:schemeClr val="dk1"/>
                </a:solidFill>
                <a:latin typeface="Manrope ExtraBold"/>
                <a:ea typeface="Manrope ExtraBold"/>
                <a:cs typeface="Manrope ExtraBold"/>
                <a:sym typeface="Manrope ExtraBold"/>
              </a:rPr>
              <a:t>THANKS!</a:t>
            </a:r>
            <a:endParaRPr b="0" sz="6000" u="none" strike="noStrike">
              <a:solidFill>
                <a:schemeClr val="dk1"/>
              </a:solidFill>
              <a:latin typeface="Arial"/>
              <a:ea typeface="Arial"/>
              <a:cs typeface="Arial"/>
              <a:sym typeface="Arial"/>
            </a:endParaRPr>
          </a:p>
        </p:txBody>
      </p:sp>
      <p:sp>
        <p:nvSpPr>
          <p:cNvPr id="1156" name="Google Shape;1156;g3b8af0a3789_0_444"/>
          <p:cNvSpPr txBox="1"/>
          <p:nvPr>
            <p:ph idx="1" type="subTitle"/>
          </p:nvPr>
        </p:nvSpPr>
        <p:spPr>
          <a:xfrm>
            <a:off x="866640" y="2009640"/>
            <a:ext cx="4619100" cy="1139100"/>
          </a:xfrm>
          <a:prstGeom prst="rect">
            <a:avLst/>
          </a:prstGeom>
          <a:noFill/>
          <a:ln>
            <a:noFill/>
          </a:ln>
        </p:spPr>
        <p:txBody>
          <a:bodyPr anchorCtr="0" anchor="ctr" bIns="91425" lIns="91425" spcFirstLastPara="1" rIns="91425" wrap="square" tIns="91425">
            <a:spAutoFit/>
          </a:bodyPr>
          <a:lstStyle/>
          <a:p>
            <a:pPr indent="0" lvl="0" marL="0" rtl="0" algn="l">
              <a:spcBef>
                <a:spcPts val="0"/>
              </a:spcBef>
              <a:spcAft>
                <a:spcPts val="0"/>
              </a:spcAft>
              <a:buClr>
                <a:schemeClr val="dk1"/>
              </a:buClr>
              <a:buSzPts val="1400"/>
              <a:buFont typeface="Raleway"/>
              <a:buNone/>
            </a:pPr>
            <a:r>
              <a:t/>
            </a:r>
            <a:endParaRPr>
              <a:latin typeface="Roboto"/>
              <a:ea typeface="Roboto"/>
              <a:cs typeface="Roboto"/>
              <a:sym typeface="Roboto"/>
            </a:endParaRPr>
          </a:p>
          <a:p>
            <a:pPr indent="0" lvl="0" marL="0" marR="0" rtl="0" algn="l">
              <a:lnSpc>
                <a:spcPct val="100000"/>
              </a:lnSpc>
              <a:spcBef>
                <a:spcPts val="0"/>
              </a:spcBef>
              <a:spcAft>
                <a:spcPts val="0"/>
              </a:spcAft>
              <a:buClr>
                <a:schemeClr val="dk1"/>
              </a:buClr>
              <a:buSzPts val="2000"/>
              <a:buFont typeface="Raleway"/>
              <a:buNone/>
            </a:pPr>
            <a:r>
              <a:rPr b="1" i="0" lang="en-US" sz="2000" u="none" cap="none" strike="noStrike">
                <a:solidFill>
                  <a:schemeClr val="dk1"/>
                </a:solidFill>
                <a:latin typeface="Roboto"/>
                <a:ea typeface="Roboto"/>
                <a:cs typeface="Roboto"/>
                <a:sym typeface="Roboto"/>
              </a:rPr>
              <a:t>Do you have any questions?</a:t>
            </a:r>
            <a:endParaRPr i="0" sz="20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Raleway"/>
              <a:buNone/>
            </a:pPr>
            <a:r>
              <a:rPr lang="en-US">
                <a:solidFill>
                  <a:schemeClr val="dk1"/>
                </a:solidFill>
                <a:latin typeface="Roboto"/>
                <a:ea typeface="Roboto"/>
                <a:cs typeface="Roboto"/>
                <a:sym typeface="Roboto"/>
              </a:rPr>
              <a:t>mikhaelput@gmail.com</a:t>
            </a:r>
            <a:endParaRPr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chemeClr val="dk1"/>
              </a:buClr>
              <a:buSzPts val="1400"/>
              <a:buFont typeface="Raleway"/>
              <a:buNone/>
            </a:pPr>
            <a:r>
              <a:rPr lang="en-US">
                <a:solidFill>
                  <a:schemeClr val="dk1"/>
                </a:solidFill>
                <a:latin typeface="Roboto"/>
                <a:ea typeface="Roboto"/>
                <a:cs typeface="Roboto"/>
                <a:sym typeface="Roboto"/>
              </a:rPr>
              <a:t>081932613746</a:t>
            </a:r>
            <a:endParaRPr b="0" i="0" sz="1400" u="none" cap="none" strike="noStrike">
              <a:solidFill>
                <a:srgbClr val="000000"/>
              </a:solidFill>
              <a:latin typeface="Noto Sans Symbols"/>
              <a:ea typeface="Noto Sans Symbols"/>
              <a:cs typeface="Noto Sans Symbols"/>
              <a:sym typeface="Noto Sans Symbols"/>
            </a:endParaRPr>
          </a:p>
        </p:txBody>
      </p:sp>
      <p:grpSp>
        <p:nvGrpSpPr>
          <p:cNvPr id="1157" name="Google Shape;1157;g3b8af0a3789_0_444"/>
          <p:cNvGrpSpPr/>
          <p:nvPr/>
        </p:nvGrpSpPr>
        <p:grpSpPr>
          <a:xfrm>
            <a:off x="1006285" y="3285505"/>
            <a:ext cx="475200" cy="475200"/>
            <a:chOff x="713160" y="3122280"/>
            <a:chExt cx="475200" cy="475200"/>
          </a:xfrm>
        </p:grpSpPr>
        <p:sp>
          <p:nvSpPr>
            <p:cNvPr id="1158" name="Google Shape;1158;g3b8af0a3789_0_444"/>
            <p:cNvSpPr/>
            <p:nvPr/>
          </p:nvSpPr>
          <p:spPr>
            <a:xfrm>
              <a:off x="713160" y="3122280"/>
              <a:ext cx="475200" cy="4752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159" name="Google Shape;1159;g3b8af0a3789_0_444"/>
            <p:cNvGrpSpPr/>
            <p:nvPr/>
          </p:nvGrpSpPr>
          <p:grpSpPr>
            <a:xfrm>
              <a:off x="835200" y="3244320"/>
              <a:ext cx="231107" cy="231118"/>
              <a:chOff x="835200" y="3244320"/>
              <a:chExt cx="231107" cy="231118"/>
            </a:xfrm>
          </p:grpSpPr>
          <p:sp>
            <p:nvSpPr>
              <p:cNvPr id="1160" name="Google Shape;1160;g3b8af0a3789_0_444"/>
              <p:cNvSpPr/>
              <p:nvPr/>
            </p:nvSpPr>
            <p:spPr>
              <a:xfrm>
                <a:off x="835200" y="3244320"/>
                <a:ext cx="231107" cy="231118"/>
              </a:xfrm>
              <a:custGeom>
                <a:rect b="b" l="l" r="r" t="t"/>
                <a:pathLst>
                  <a:path extrusionOk="0" h="12287" w="12288">
                    <a:moveTo>
                      <a:pt x="10053" y="1117"/>
                    </a:moveTo>
                    <a:cubicBezTo>
                      <a:pt x="10669" y="1117"/>
                      <a:pt x="11171" y="1617"/>
                      <a:pt x="11171" y="2233"/>
                    </a:cubicBezTo>
                    <a:cubicBezTo>
                      <a:pt x="11170" y="2850"/>
                      <a:pt x="10669" y="3351"/>
                      <a:pt x="10053" y="3351"/>
                    </a:cubicBezTo>
                    <a:cubicBezTo>
                      <a:pt x="9438" y="3351"/>
                      <a:pt x="8937" y="2850"/>
                      <a:pt x="8937" y="2233"/>
                    </a:cubicBezTo>
                    <a:cubicBezTo>
                      <a:pt x="8937" y="1617"/>
                      <a:pt x="9438" y="1117"/>
                      <a:pt x="10053" y="1117"/>
                    </a:cubicBezTo>
                    <a:close/>
                    <a:moveTo>
                      <a:pt x="6144" y="2233"/>
                    </a:moveTo>
                    <a:cubicBezTo>
                      <a:pt x="8300" y="2233"/>
                      <a:pt x="10053" y="3988"/>
                      <a:pt x="10053" y="6144"/>
                    </a:cubicBezTo>
                    <a:cubicBezTo>
                      <a:pt x="10053" y="8299"/>
                      <a:pt x="8300" y="10054"/>
                      <a:pt x="6144" y="10054"/>
                    </a:cubicBezTo>
                    <a:cubicBezTo>
                      <a:pt x="3989" y="10054"/>
                      <a:pt x="2234" y="8299"/>
                      <a:pt x="2234" y="6144"/>
                    </a:cubicBezTo>
                    <a:cubicBezTo>
                      <a:pt x="2234" y="3988"/>
                      <a:pt x="3987" y="2233"/>
                      <a:pt x="6144" y="2233"/>
                    </a:cubicBezTo>
                    <a:close/>
                    <a:moveTo>
                      <a:pt x="1675" y="1"/>
                    </a:moveTo>
                    <a:cubicBezTo>
                      <a:pt x="752" y="1"/>
                      <a:pt x="0" y="751"/>
                      <a:pt x="0" y="1676"/>
                    </a:cubicBezTo>
                    <a:lnTo>
                      <a:pt x="0" y="10611"/>
                    </a:lnTo>
                    <a:cubicBezTo>
                      <a:pt x="0" y="11536"/>
                      <a:pt x="752" y="12286"/>
                      <a:pt x="1675" y="12286"/>
                    </a:cubicBezTo>
                    <a:lnTo>
                      <a:pt x="10612" y="12286"/>
                    </a:lnTo>
                    <a:cubicBezTo>
                      <a:pt x="11536" y="12286"/>
                      <a:pt x="12288" y="11536"/>
                      <a:pt x="12288" y="10611"/>
                    </a:cubicBezTo>
                    <a:lnTo>
                      <a:pt x="12288" y="1676"/>
                    </a:lnTo>
                    <a:cubicBezTo>
                      <a:pt x="12288" y="752"/>
                      <a:pt x="11536" y="1"/>
                      <a:pt x="10612" y="1"/>
                    </a:cubicBez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61" name="Google Shape;1161;g3b8af0a3789_0_444"/>
              <p:cNvSpPr/>
              <p:nvPr/>
            </p:nvSpPr>
            <p:spPr>
              <a:xfrm>
                <a:off x="898200" y="3307680"/>
                <a:ext cx="105124" cy="104761"/>
              </a:xfrm>
              <a:custGeom>
                <a:rect b="b" l="l" r="r" t="t"/>
                <a:pathLst>
                  <a:path extrusionOk="0" h="5585" w="5588">
                    <a:moveTo>
                      <a:pt x="2794" y="0"/>
                    </a:moveTo>
                    <a:cubicBezTo>
                      <a:pt x="1255" y="0"/>
                      <a:pt x="1" y="1252"/>
                      <a:pt x="1" y="2793"/>
                    </a:cubicBezTo>
                    <a:cubicBezTo>
                      <a:pt x="1" y="4332"/>
                      <a:pt x="1255" y="5585"/>
                      <a:pt x="2794" y="5585"/>
                    </a:cubicBezTo>
                    <a:cubicBezTo>
                      <a:pt x="4333" y="5585"/>
                      <a:pt x="5587" y="4332"/>
                      <a:pt x="5587" y="2793"/>
                    </a:cubicBezTo>
                    <a:cubicBezTo>
                      <a:pt x="5587" y="1252"/>
                      <a:pt x="4333" y="0"/>
                      <a:pt x="2794" y="0"/>
                    </a:cubicBezTo>
                    <a:close/>
                  </a:path>
                </a:pathLst>
              </a:custGeom>
              <a:solidFill>
                <a:schemeClr val="lt1"/>
              </a:solidFill>
              <a:ln>
                <a:noFill/>
              </a:ln>
            </p:spPr>
            <p:txBody>
              <a:bodyPr anchorCtr="0" anchor="ctr" bIns="52550" lIns="91425" spcFirstLastPara="1" rIns="91425" wrap="square" tIns="5255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grpSp>
        <p:nvGrpSpPr>
          <p:cNvPr id="1162" name="Google Shape;1162;g3b8af0a3789_0_444"/>
          <p:cNvGrpSpPr/>
          <p:nvPr/>
        </p:nvGrpSpPr>
        <p:grpSpPr>
          <a:xfrm>
            <a:off x="1600645" y="3285505"/>
            <a:ext cx="475200" cy="475200"/>
            <a:chOff x="1307520" y="3122280"/>
            <a:chExt cx="475200" cy="475200"/>
          </a:xfrm>
        </p:grpSpPr>
        <p:sp>
          <p:nvSpPr>
            <p:cNvPr id="1163" name="Google Shape;1163;g3b8af0a3789_0_444"/>
            <p:cNvSpPr/>
            <p:nvPr/>
          </p:nvSpPr>
          <p:spPr>
            <a:xfrm>
              <a:off x="1307520" y="3122280"/>
              <a:ext cx="475200" cy="475200"/>
            </a:xfrm>
            <a:prstGeom prst="rect">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grpSp>
          <p:nvGrpSpPr>
            <p:cNvPr id="1164" name="Google Shape;1164;g3b8af0a3789_0_444"/>
            <p:cNvGrpSpPr/>
            <p:nvPr/>
          </p:nvGrpSpPr>
          <p:grpSpPr>
            <a:xfrm>
              <a:off x="1429560" y="3260880"/>
              <a:ext cx="231122" cy="198363"/>
              <a:chOff x="1429560" y="3260880"/>
              <a:chExt cx="231122" cy="198363"/>
            </a:xfrm>
          </p:grpSpPr>
          <p:sp>
            <p:nvSpPr>
              <p:cNvPr id="1165" name="Google Shape;1165;g3b8af0a3789_0_444"/>
              <p:cNvSpPr/>
              <p:nvPr/>
            </p:nvSpPr>
            <p:spPr>
              <a:xfrm>
                <a:off x="1446480" y="3335040"/>
                <a:ext cx="41399" cy="123480"/>
              </a:xfrm>
              <a:custGeom>
                <a:rect b="b" l="l" r="r" t="t"/>
                <a:pathLst>
                  <a:path extrusionOk="0" h="4461" w="1502">
                    <a:moveTo>
                      <a:pt x="58" y="0"/>
                    </a:moveTo>
                    <a:cubicBezTo>
                      <a:pt x="29" y="0"/>
                      <a:pt x="0" y="29"/>
                      <a:pt x="0" y="58"/>
                    </a:cubicBezTo>
                    <a:lnTo>
                      <a:pt x="0" y="4403"/>
                    </a:lnTo>
                    <a:cubicBezTo>
                      <a:pt x="0" y="4432"/>
                      <a:pt x="29" y="4461"/>
                      <a:pt x="58" y="4461"/>
                    </a:cubicBezTo>
                    <a:lnTo>
                      <a:pt x="1444" y="4461"/>
                    </a:lnTo>
                    <a:cubicBezTo>
                      <a:pt x="1473" y="4461"/>
                      <a:pt x="1502" y="4446"/>
                      <a:pt x="1502" y="4403"/>
                    </a:cubicBezTo>
                    <a:lnTo>
                      <a:pt x="1502" y="58"/>
                    </a:lnTo>
                    <a:cubicBezTo>
                      <a:pt x="1502" y="29"/>
                      <a:pt x="1473" y="0"/>
                      <a:pt x="1444" y="0"/>
                    </a:cubicBezTo>
                    <a:close/>
                  </a:path>
                </a:pathLst>
              </a:custGeom>
              <a:solidFill>
                <a:schemeClr val="lt1"/>
              </a:solidFill>
              <a:ln>
                <a:noFill/>
              </a:ln>
            </p:spPr>
            <p:txBody>
              <a:bodyPr anchorCtr="0" anchor="ctr" bIns="61900" lIns="91425" spcFirstLastPara="1" rIns="91425" wrap="square" tIns="619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66" name="Google Shape;1166;g3b8af0a3789_0_444"/>
              <p:cNvSpPr/>
              <p:nvPr/>
            </p:nvSpPr>
            <p:spPr>
              <a:xfrm>
                <a:off x="1429560" y="3260880"/>
                <a:ext cx="58319" cy="50038"/>
              </a:xfrm>
              <a:custGeom>
                <a:rect b="b" l="l" r="r" t="t"/>
                <a:pathLst>
                  <a:path extrusionOk="0" h="1811" w="2109">
                    <a:moveTo>
                      <a:pt x="1208" y="0"/>
                    </a:moveTo>
                    <a:cubicBezTo>
                      <a:pt x="987" y="0"/>
                      <a:pt x="761" y="83"/>
                      <a:pt x="578" y="266"/>
                    </a:cubicBezTo>
                    <a:cubicBezTo>
                      <a:pt x="1" y="829"/>
                      <a:pt x="405" y="1810"/>
                      <a:pt x="1214" y="1810"/>
                    </a:cubicBezTo>
                    <a:cubicBezTo>
                      <a:pt x="1704" y="1810"/>
                      <a:pt x="2109" y="1406"/>
                      <a:pt x="2109" y="901"/>
                    </a:cubicBezTo>
                    <a:cubicBezTo>
                      <a:pt x="2109" y="355"/>
                      <a:pt x="1668" y="0"/>
                      <a:pt x="1208" y="0"/>
                    </a:cubicBezTo>
                    <a:close/>
                  </a:path>
                </a:pathLst>
              </a:custGeom>
              <a:solidFill>
                <a:schemeClr val="lt1"/>
              </a:solidFill>
              <a:ln>
                <a:noFill/>
              </a:ln>
            </p:spPr>
            <p:txBody>
              <a:bodyPr anchorCtr="0" anchor="ctr" bIns="25200" lIns="91425" spcFirstLastPara="1" rIns="91425" wrap="square" tIns="25200">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sp>
            <p:nvSpPr>
              <p:cNvPr id="1167" name="Google Shape;1167;g3b8af0a3789_0_444"/>
              <p:cNvSpPr/>
              <p:nvPr/>
            </p:nvSpPr>
            <p:spPr>
              <a:xfrm>
                <a:off x="1528560" y="3335040"/>
                <a:ext cx="132122" cy="124203"/>
              </a:xfrm>
              <a:custGeom>
                <a:rect b="b" l="l" r="r" t="t"/>
                <a:pathLst>
                  <a:path extrusionOk="0" h="4477" w="4765">
                    <a:moveTo>
                      <a:pt x="2716" y="1"/>
                    </a:moveTo>
                    <a:cubicBezTo>
                      <a:pt x="2701" y="1"/>
                      <a:pt x="2686" y="1"/>
                      <a:pt x="2671" y="1"/>
                    </a:cubicBezTo>
                    <a:cubicBezTo>
                      <a:pt x="2180" y="1"/>
                      <a:pt x="1718" y="145"/>
                      <a:pt x="1314" y="434"/>
                    </a:cubicBezTo>
                    <a:cubicBezTo>
                      <a:pt x="1304" y="441"/>
                      <a:pt x="1294" y="444"/>
                      <a:pt x="1284" y="444"/>
                    </a:cubicBezTo>
                    <a:cubicBezTo>
                      <a:pt x="1248" y="444"/>
                      <a:pt x="1213" y="410"/>
                      <a:pt x="1213" y="376"/>
                    </a:cubicBezTo>
                    <a:lnTo>
                      <a:pt x="1213" y="59"/>
                    </a:lnTo>
                    <a:cubicBezTo>
                      <a:pt x="1213" y="30"/>
                      <a:pt x="1170" y="1"/>
                      <a:pt x="1141" y="1"/>
                    </a:cubicBezTo>
                    <a:lnTo>
                      <a:pt x="58" y="1"/>
                    </a:lnTo>
                    <a:cubicBezTo>
                      <a:pt x="29" y="1"/>
                      <a:pt x="1" y="30"/>
                      <a:pt x="1" y="59"/>
                    </a:cubicBezTo>
                    <a:lnTo>
                      <a:pt x="1" y="4389"/>
                    </a:lnTo>
                    <a:cubicBezTo>
                      <a:pt x="1" y="4433"/>
                      <a:pt x="29" y="4462"/>
                      <a:pt x="58" y="4462"/>
                    </a:cubicBezTo>
                    <a:lnTo>
                      <a:pt x="1430" y="4462"/>
                    </a:lnTo>
                    <a:cubicBezTo>
                      <a:pt x="1473" y="4462"/>
                      <a:pt x="1502" y="4433"/>
                      <a:pt x="1502" y="4389"/>
                    </a:cubicBezTo>
                    <a:lnTo>
                      <a:pt x="1502" y="2859"/>
                    </a:lnTo>
                    <a:cubicBezTo>
                      <a:pt x="1502" y="2354"/>
                      <a:pt x="1617" y="1502"/>
                      <a:pt x="2382" y="1502"/>
                    </a:cubicBezTo>
                    <a:cubicBezTo>
                      <a:pt x="3133" y="1502"/>
                      <a:pt x="3249" y="2354"/>
                      <a:pt x="3249" y="2859"/>
                    </a:cubicBezTo>
                    <a:lnTo>
                      <a:pt x="3249" y="4404"/>
                    </a:lnTo>
                    <a:cubicBezTo>
                      <a:pt x="3249" y="4433"/>
                      <a:pt x="3277" y="4462"/>
                      <a:pt x="3321" y="4462"/>
                    </a:cubicBezTo>
                    <a:lnTo>
                      <a:pt x="3321" y="4476"/>
                    </a:lnTo>
                    <a:lnTo>
                      <a:pt x="4692" y="4476"/>
                    </a:lnTo>
                    <a:cubicBezTo>
                      <a:pt x="4721" y="4476"/>
                      <a:pt x="4750" y="4433"/>
                      <a:pt x="4750" y="4404"/>
                    </a:cubicBezTo>
                    <a:lnTo>
                      <a:pt x="4750" y="2383"/>
                    </a:lnTo>
                    <a:cubicBezTo>
                      <a:pt x="4764" y="1806"/>
                      <a:pt x="4591" y="1243"/>
                      <a:pt x="4259" y="766"/>
                    </a:cubicBezTo>
                    <a:cubicBezTo>
                      <a:pt x="3893" y="287"/>
                      <a:pt x="3320" y="1"/>
                      <a:pt x="2716" y="1"/>
                    </a:cubicBezTo>
                    <a:close/>
                  </a:path>
                </a:pathLst>
              </a:custGeom>
              <a:solidFill>
                <a:schemeClr val="lt1"/>
              </a:solidFill>
              <a:ln>
                <a:noFill/>
              </a:ln>
            </p:spPr>
            <p:txBody>
              <a:bodyPr anchorCtr="0" anchor="ctr" bIns="62275" lIns="91425" spcFirstLastPara="1" rIns="91425" wrap="square" tIns="62275">
                <a:noAutofit/>
              </a:bodyPr>
              <a:lstStyle/>
              <a:p>
                <a:pPr indent="0" lvl="0" marL="0" marR="0" rtl="0" algn="l">
                  <a:lnSpc>
                    <a:spcPct val="100000"/>
                  </a:lnSpc>
                  <a:spcBef>
                    <a:spcPts val="0"/>
                  </a:spcBef>
                  <a:spcAft>
                    <a:spcPts val="0"/>
                  </a:spcAft>
                  <a:buNone/>
                </a:pPr>
                <a:r>
                  <a:t/>
                </a:r>
                <a:endParaRPr b="0" sz="1800" u="none" strike="noStrike">
                  <a:solidFill>
                    <a:srgbClr val="000000"/>
                  </a:solidFill>
                  <a:latin typeface="Noto Sans Symbols"/>
                  <a:ea typeface="Noto Sans Symbols"/>
                  <a:cs typeface="Noto Sans Symbols"/>
                  <a:sym typeface="Noto Sans Symbols"/>
                </a:endParaRPr>
              </a:p>
            </p:txBody>
          </p:sp>
        </p:grpSp>
      </p:grpSp>
      <p:cxnSp>
        <p:nvCxnSpPr>
          <p:cNvPr id="1168" name="Google Shape;1168;g3b8af0a3789_0_444"/>
          <p:cNvCxnSpPr/>
          <p:nvPr/>
        </p:nvCxnSpPr>
        <p:spPr>
          <a:xfrm>
            <a:off x="868080" y="4756080"/>
            <a:ext cx="7715100" cy="300"/>
          </a:xfrm>
          <a:prstGeom prst="straightConnector1">
            <a:avLst/>
          </a:prstGeom>
          <a:noFill/>
          <a:ln cap="flat" cmpd="sng" w="9525">
            <a:solidFill>
              <a:srgbClr val="000000"/>
            </a:solidFill>
            <a:prstDash val="solid"/>
            <a:round/>
            <a:headEnd len="sm" w="sm" type="none"/>
            <a:tailEnd len="sm" w="sm" type="none"/>
          </a:ln>
        </p:spPr>
      </p:cxnSp>
      <p:sp>
        <p:nvSpPr>
          <p:cNvPr id="1169" name="Google Shape;1169;g3b8af0a3789_0_444"/>
          <p:cNvSpPr/>
          <p:nvPr/>
        </p:nvSpPr>
        <p:spPr>
          <a:xfrm rot="5076518">
            <a:off x="7192918" y="1621200"/>
            <a:ext cx="205204" cy="109444"/>
          </a:xfrm>
          <a:custGeom>
            <a:rect b="b" l="l" r="r" t="t"/>
            <a:pathLst>
              <a:path extrusionOk="0" h="4398" w="8222">
                <a:moveTo>
                  <a:pt x="7464" y="0"/>
                </a:moveTo>
                <a:cubicBezTo>
                  <a:pt x="7277" y="0"/>
                  <a:pt x="7092" y="76"/>
                  <a:pt x="6957" y="225"/>
                </a:cubicBezTo>
                <a:lnTo>
                  <a:pt x="4827" y="2584"/>
                </a:lnTo>
                <a:lnTo>
                  <a:pt x="3179" y="1048"/>
                </a:lnTo>
                <a:cubicBezTo>
                  <a:pt x="3053" y="930"/>
                  <a:pt x="2887" y="865"/>
                  <a:pt x="2715" y="865"/>
                </a:cubicBezTo>
                <a:cubicBezTo>
                  <a:pt x="2705" y="865"/>
                  <a:pt x="2695" y="865"/>
                  <a:pt x="2685" y="866"/>
                </a:cubicBezTo>
                <a:cubicBezTo>
                  <a:pt x="2501" y="872"/>
                  <a:pt x="2330" y="953"/>
                  <a:pt x="2208" y="1090"/>
                </a:cubicBezTo>
                <a:lnTo>
                  <a:pt x="253" y="3259"/>
                </a:lnTo>
                <a:cubicBezTo>
                  <a:pt x="1" y="3539"/>
                  <a:pt x="23" y="3970"/>
                  <a:pt x="302" y="4222"/>
                </a:cubicBezTo>
                <a:cubicBezTo>
                  <a:pt x="433" y="4340"/>
                  <a:pt x="596" y="4398"/>
                  <a:pt x="759" y="4398"/>
                </a:cubicBezTo>
                <a:cubicBezTo>
                  <a:pt x="945" y="4398"/>
                  <a:pt x="1131" y="4322"/>
                  <a:pt x="1266" y="4173"/>
                </a:cubicBezTo>
                <a:lnTo>
                  <a:pt x="2756" y="2519"/>
                </a:lnTo>
                <a:lnTo>
                  <a:pt x="4404" y="4055"/>
                </a:lnTo>
                <a:cubicBezTo>
                  <a:pt x="4530" y="4172"/>
                  <a:pt x="4696" y="4238"/>
                  <a:pt x="4869" y="4238"/>
                </a:cubicBezTo>
                <a:cubicBezTo>
                  <a:pt x="4879" y="4238"/>
                  <a:pt x="4889" y="4237"/>
                  <a:pt x="4899" y="4237"/>
                </a:cubicBezTo>
                <a:cubicBezTo>
                  <a:pt x="4916" y="4237"/>
                  <a:pt x="4932" y="4234"/>
                  <a:pt x="4949" y="4233"/>
                </a:cubicBezTo>
                <a:cubicBezTo>
                  <a:pt x="5112" y="4213"/>
                  <a:pt x="5264" y="4136"/>
                  <a:pt x="5376" y="4012"/>
                </a:cubicBezTo>
                <a:lnTo>
                  <a:pt x="7969" y="1140"/>
                </a:lnTo>
                <a:cubicBezTo>
                  <a:pt x="8222" y="860"/>
                  <a:pt x="8201" y="429"/>
                  <a:pt x="7920" y="176"/>
                </a:cubicBezTo>
                <a:cubicBezTo>
                  <a:pt x="7790" y="58"/>
                  <a:pt x="7627" y="0"/>
                  <a:pt x="7464" y="0"/>
                </a:cubicBezTo>
                <a:close/>
              </a:path>
            </a:pathLst>
          </a:custGeom>
          <a:solidFill>
            <a:schemeClr val="dk2"/>
          </a:solidFill>
          <a:ln cap="flat" cmpd="sng" w="9525">
            <a:solidFill>
              <a:srgbClr val="000000"/>
            </a:solidFill>
            <a:prstDash val="solid"/>
            <a:miter lim="8000"/>
            <a:headEnd len="sm" w="sm" type="none"/>
            <a:tailEnd len="sm" w="sm" type="none"/>
          </a:ln>
        </p:spPr>
        <p:txBody>
          <a:bodyPr anchorCtr="0" anchor="ctr" bIns="54700" lIns="91425" spcFirstLastPara="1" rIns="91425" wrap="square" tIns="54700">
            <a:noAutofit/>
          </a:bodyPr>
          <a:lstStyle/>
          <a:p>
            <a:pPr indent="0" lvl="0" marL="0" marR="0" rtl="0" algn="l">
              <a:lnSpc>
                <a:spcPct val="100000"/>
              </a:lnSpc>
              <a:spcBef>
                <a:spcPts val="0"/>
              </a:spcBef>
              <a:spcAft>
                <a:spcPts val="0"/>
              </a:spcAft>
              <a:buNone/>
            </a:pPr>
            <a:r>
              <a:t/>
            </a:r>
            <a:endParaRPr b="0" sz="1800" u="none" strike="noStrike">
              <a:solidFill>
                <a:srgbClr val="FFFFFF"/>
              </a:solidFill>
              <a:latin typeface="Noto Sans Symbols"/>
              <a:ea typeface="Noto Sans Symbols"/>
              <a:cs typeface="Noto Sans Symbols"/>
              <a:sym typeface="Noto Sans Symbols"/>
            </a:endParaRPr>
          </a:p>
        </p:txBody>
      </p:sp>
      <p:sp>
        <p:nvSpPr>
          <p:cNvPr id="1170" name="Google Shape;1170;g3b8af0a3789_0_444">
            <a:hlinkClick r:id="rId3"/>
          </p:cNvPr>
          <p:cNvSpPr/>
          <p:nvPr/>
        </p:nvSpPr>
        <p:spPr>
          <a:xfrm>
            <a:off x="1008450" y="3283350"/>
            <a:ext cx="475200" cy="47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71" name="Google Shape;1171;g3b8af0a3789_0_444">
            <a:hlinkClick r:id="rId4"/>
          </p:cNvPr>
          <p:cNvSpPr/>
          <p:nvPr/>
        </p:nvSpPr>
        <p:spPr>
          <a:xfrm>
            <a:off x="1600650" y="3283350"/>
            <a:ext cx="475200" cy="475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1172" name="Google Shape;1172;g3b8af0a3789_0_444" title="DSC_9084-.png"/>
          <p:cNvPicPr preferRelativeResize="0"/>
          <p:nvPr/>
        </p:nvPicPr>
        <p:blipFill>
          <a:blip r:embed="rId5">
            <a:alphaModFix/>
          </a:blip>
          <a:stretch>
            <a:fillRect/>
          </a:stretch>
        </p:blipFill>
        <p:spPr>
          <a:xfrm>
            <a:off x="5270140" y="1373810"/>
            <a:ext cx="2668070" cy="2668070"/>
          </a:xfrm>
          <a:prstGeom prst="rect">
            <a:avLst/>
          </a:prstGeom>
          <a:noFill/>
          <a:ln>
            <a:noFill/>
          </a:ln>
        </p:spPr>
      </p:pic>
      <p:sp>
        <p:nvSpPr>
          <p:cNvPr id="1173" name="Google Shape;1173;g3b8af0a3789_0_444"/>
          <p:cNvSpPr/>
          <p:nvPr/>
        </p:nvSpPr>
        <p:spPr>
          <a:xfrm>
            <a:off x="5198625" y="0"/>
            <a:ext cx="3945300" cy="104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1174" name="Google Shape;1174;g3b8af0a3789_0_444"/>
          <p:cNvPicPr preferRelativeResize="0"/>
          <p:nvPr/>
        </p:nvPicPr>
        <p:blipFill rotWithShape="1">
          <a:blip r:embed="rId6">
            <a:alphaModFix/>
          </a:blip>
          <a:srcRect b="0" l="0" r="0" t="0"/>
          <a:stretch/>
        </p:blipFill>
        <p:spPr>
          <a:xfrm>
            <a:off x="5264125" y="-146325"/>
            <a:ext cx="3601424" cy="1333650"/>
          </a:xfrm>
          <a:prstGeom prst="rect">
            <a:avLst/>
          </a:prstGeom>
          <a:noFill/>
          <a:ln>
            <a:noFill/>
          </a:ln>
        </p:spPr>
      </p:pic>
      <p:sp>
        <p:nvSpPr>
          <p:cNvPr id="1175" name="Google Shape;1175;g3b8af0a3789_0_444">
            <a:hlinkClick r:id="rId7"/>
          </p:cNvPr>
          <p:cNvSpPr/>
          <p:nvPr/>
        </p:nvSpPr>
        <p:spPr>
          <a:xfrm>
            <a:off x="5264125" y="1360958"/>
            <a:ext cx="2667900" cy="2668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9" name="Shape 1179"/>
        <p:cNvGrpSpPr/>
        <p:nvPr/>
      </p:nvGrpSpPr>
      <p:grpSpPr>
        <a:xfrm>
          <a:off x="0" y="0"/>
          <a:ext cx="0" cy="0"/>
          <a:chOff x="0" y="0"/>
          <a:chExt cx="0" cy="0"/>
        </a:xfrm>
      </p:grpSpPr>
      <p:sp>
        <p:nvSpPr>
          <p:cNvPr id="1180" name="Google Shape;1180;g3b8af0a3789_0_726"/>
          <p:cNvSpPr txBox="1"/>
          <p:nvPr>
            <p:ph type="title"/>
          </p:nvPr>
        </p:nvSpPr>
        <p:spPr>
          <a:xfrm>
            <a:off x="713160" y="539640"/>
            <a:ext cx="4617600" cy="126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b="1">
              <a:latin typeface="Roboto"/>
              <a:ea typeface="Roboto"/>
              <a:cs typeface="Roboto"/>
              <a:sym typeface="Roboto"/>
            </a:endParaRPr>
          </a:p>
          <a:p>
            <a:pPr indent="0" lvl="0" marL="0" rtl="0" algn="l">
              <a:spcBef>
                <a:spcPts val="0"/>
              </a:spcBef>
              <a:spcAft>
                <a:spcPts val="0"/>
              </a:spcAft>
              <a:buNone/>
            </a:pPr>
            <a:r>
              <a:rPr b="1" lang="en-US" u="sng">
                <a:latin typeface="Roboto"/>
                <a:ea typeface="Roboto"/>
                <a:cs typeface="Roboto"/>
                <a:sym typeface="Roboto"/>
              </a:rPr>
              <a:t>Appendix</a:t>
            </a:r>
            <a:endParaRPr b="1" u="sng">
              <a:latin typeface="Roboto"/>
              <a:ea typeface="Roboto"/>
              <a:cs typeface="Roboto"/>
              <a:sym typeface="Roboto"/>
            </a:endParaRPr>
          </a:p>
        </p:txBody>
      </p:sp>
      <p:pic>
        <p:nvPicPr>
          <p:cNvPr id="1181" name="Google Shape;1181;g3b8af0a3789_0_726" title="Colab.png"/>
          <p:cNvPicPr preferRelativeResize="0"/>
          <p:nvPr/>
        </p:nvPicPr>
        <p:blipFill>
          <a:blip r:embed="rId3">
            <a:alphaModFix/>
          </a:blip>
          <a:stretch>
            <a:fillRect/>
          </a:stretch>
        </p:blipFill>
        <p:spPr>
          <a:xfrm>
            <a:off x="781938" y="3044175"/>
            <a:ext cx="1853002" cy="1142200"/>
          </a:xfrm>
          <a:prstGeom prst="rect">
            <a:avLst/>
          </a:prstGeom>
          <a:noFill/>
          <a:ln>
            <a:noFill/>
          </a:ln>
        </p:spPr>
      </p:pic>
      <p:pic>
        <p:nvPicPr>
          <p:cNvPr id="1182" name="Google Shape;1182;g3b8af0a3789_0_726"/>
          <p:cNvPicPr preferRelativeResize="0"/>
          <p:nvPr/>
        </p:nvPicPr>
        <p:blipFill>
          <a:blip r:embed="rId4">
            <a:alphaModFix/>
          </a:blip>
          <a:stretch>
            <a:fillRect/>
          </a:stretch>
        </p:blipFill>
        <p:spPr>
          <a:xfrm>
            <a:off x="2894256" y="3025687"/>
            <a:ext cx="728475" cy="1003075"/>
          </a:xfrm>
          <a:prstGeom prst="rect">
            <a:avLst/>
          </a:prstGeom>
          <a:noFill/>
          <a:ln>
            <a:noFill/>
          </a:ln>
        </p:spPr>
      </p:pic>
      <p:sp>
        <p:nvSpPr>
          <p:cNvPr id="1183" name="Google Shape;1183;g3b8af0a3789_0_726"/>
          <p:cNvSpPr/>
          <p:nvPr/>
        </p:nvSpPr>
        <p:spPr>
          <a:xfrm>
            <a:off x="5198625" y="0"/>
            <a:ext cx="3945300" cy="10410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1184" name="Google Shape;1184;g3b8af0a3789_0_726"/>
          <p:cNvPicPr preferRelativeResize="0"/>
          <p:nvPr/>
        </p:nvPicPr>
        <p:blipFill rotWithShape="1">
          <a:blip r:embed="rId5">
            <a:alphaModFix/>
          </a:blip>
          <a:srcRect b="0" l="0" r="0" t="0"/>
          <a:stretch/>
        </p:blipFill>
        <p:spPr>
          <a:xfrm>
            <a:off x="5264125" y="-146325"/>
            <a:ext cx="3601424" cy="1333650"/>
          </a:xfrm>
          <a:prstGeom prst="rect">
            <a:avLst/>
          </a:prstGeom>
          <a:noFill/>
          <a:ln>
            <a:noFill/>
          </a:ln>
        </p:spPr>
      </p:pic>
      <p:sp>
        <p:nvSpPr>
          <p:cNvPr id="1185" name="Google Shape;1185;g3b8af0a3789_0_726">
            <a:hlinkClick r:id="rId6"/>
          </p:cNvPr>
          <p:cNvSpPr/>
          <p:nvPr/>
        </p:nvSpPr>
        <p:spPr>
          <a:xfrm>
            <a:off x="1004638" y="3142650"/>
            <a:ext cx="1396200" cy="8862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sp>
        <p:nvSpPr>
          <p:cNvPr id="1186" name="Google Shape;1186;g3b8af0a3789_0_726">
            <a:hlinkClick r:id="rId7"/>
          </p:cNvPr>
          <p:cNvSpPr/>
          <p:nvPr/>
        </p:nvSpPr>
        <p:spPr>
          <a:xfrm>
            <a:off x="2770413" y="2905375"/>
            <a:ext cx="976200" cy="11928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endParaRPr>
          </a:p>
        </p:txBody>
      </p:sp>
      <p:pic>
        <p:nvPicPr>
          <p:cNvPr id="1187" name="Google Shape;1187;g3b8af0a3789_0_726" title="VIS - User.mp4">
            <a:hlinkClick r:id="rId8"/>
          </p:cNvPr>
          <p:cNvPicPr preferRelativeResize="0"/>
          <p:nvPr/>
        </p:nvPicPr>
        <p:blipFill>
          <a:blip r:embed="rId9">
            <a:alphaModFix/>
          </a:blip>
          <a:stretch>
            <a:fillRect/>
          </a:stretch>
        </p:blipFill>
        <p:spPr>
          <a:xfrm>
            <a:off x="4571988" y="1639940"/>
            <a:ext cx="4049680" cy="303726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7"/>
                                        </p:tgtEl>
                                        <p:attrNameLst>
                                          <p:attrName>style.visibility</p:attrName>
                                        </p:attrNameLst>
                                      </p:cBhvr>
                                      <p:to>
                                        <p:strVal val="visible"/>
                                      </p:to>
                                    </p:set>
                                    <p:animEffect filter="fade" transition="in">
                                      <p:cBhvr>
                                        <p:cTn dur="1000"/>
                                        <p:tgtEl>
                                          <p:spTgt spid="11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Translation Agency Business Meeting to Celebrate International Translation Day by Slidesgo">
  <a:themeElements>
    <a:clrScheme name="Simple Light">
      <a:dk1>
        <a:srgbClr val="000000"/>
      </a:dk1>
      <a:lt1>
        <a:srgbClr val="FFFFFF"/>
      </a:lt1>
      <a:dk2>
        <a:srgbClr val="A82F20"/>
      </a:dk2>
      <a:lt2>
        <a:srgbClr val="4E4AC3"/>
      </a:lt2>
      <a:accent1>
        <a:srgbClr val="FFFFA3"/>
      </a:accent1>
      <a:accent2>
        <a:srgbClr val="A3BBE0"/>
      </a:accent2>
      <a:accent3>
        <a:srgbClr val="FFFFFF"/>
      </a:accent3>
      <a:accent4>
        <a:srgbClr val="FFFFFF"/>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ustom.xml><?xml version="1.0" encoding="utf-8"?>
<Properties xmlns="http://schemas.openxmlformats.org/officeDocument/2006/custom-properties" xmlns:vt="http://schemas.openxmlformats.org/officeDocument/2006/docPropsVTypes">
  <property fmtid="{D5CDD505-2E9C-101B-9397-08002B2CF9AE}" pid="2" name="Slides">
    <vt:r8>12.0</vt:r8>
  </property>
</Properties>
</file>