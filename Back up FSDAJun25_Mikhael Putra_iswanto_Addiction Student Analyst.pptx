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oboto ExtraBold"/>
      <p:bold r:id="rId54"/>
      <p:boldItalic r:id="rId55"/>
    </p:embeddedFont>
    <p:embeddedFont>
      <p:font typeface="Roboto Black"/>
      <p:bold r:id="rId56"/>
      <p:boldItalic r:id="rId57"/>
    </p:embeddedFont>
    <p:embeddedFont>
      <p:font typeface="Economica"/>
      <p:regular r:id="rId58"/>
      <p:bold r:id="rId59"/>
      <p:italic r:id="rId60"/>
      <p:boldItalic r:id="rId61"/>
    </p:embeddedFont>
    <p:embeddedFont>
      <p:font typeface="Roboto"/>
      <p:regular r:id="rId62"/>
      <p:bold r:id="rId63"/>
      <p:italic r:id="rId64"/>
      <p:boldItalic r:id="rId65"/>
    </p:embeddedFont>
    <p:embeddedFont>
      <p:font typeface="PT Sans Narrow"/>
      <p:regular r:id="rId66"/>
      <p:bold r:id="rId67"/>
    </p:embeddedFont>
    <p:embeddedFont>
      <p:font typeface="Roboto SemiBold"/>
      <p:regular r:id="rId68"/>
      <p:bold r:id="rId69"/>
      <p:italic r:id="rId70"/>
      <p:boldItalic r:id="rId71"/>
    </p:embeddedFont>
    <p:embeddedFont>
      <p:font typeface="Roboto Light"/>
      <p:regular r:id="rId72"/>
      <p:bold r:id="rId73"/>
      <p:italic r:id="rId74"/>
      <p:boldItalic r:id="rId75"/>
    </p:embeddedFont>
    <p:embeddedFont>
      <p:font typeface="Roboto Mono"/>
      <p:regular r:id="rId76"/>
      <p:bold r:id="rId77"/>
      <p:italic r:id="rId78"/>
      <p:boldItalic r:id="rId79"/>
    </p:embeddedFont>
    <p:embeddedFont>
      <p:font typeface="Open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B7DCBE-7E1C-41CC-BE18-94179EEAA9AB}">
  <a:tblStyle styleId="{EAB7DCBE-7E1C-41CC-BE18-94179EEAA9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3" Type="http://schemas.openxmlformats.org/officeDocument/2006/relationships/font" Target="fonts/OpenSans-boldItalic.fnt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OpenSans-regular.fntdata"/><Relationship Id="rId82" Type="http://schemas.openxmlformats.org/officeDocument/2006/relationships/font" Target="fonts/OpenSans-italic.fntdata"/><Relationship Id="rId81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Light-bold.fntdata"/><Relationship Id="rId72" Type="http://schemas.openxmlformats.org/officeDocument/2006/relationships/font" Target="fonts/RobotoLight-regular.fntdata"/><Relationship Id="rId31" Type="http://schemas.openxmlformats.org/officeDocument/2006/relationships/slide" Target="slides/slide26.xml"/><Relationship Id="rId75" Type="http://schemas.openxmlformats.org/officeDocument/2006/relationships/font" Target="fonts/RobotoLight-boldItalic.fntdata"/><Relationship Id="rId30" Type="http://schemas.openxmlformats.org/officeDocument/2006/relationships/slide" Target="slides/slide25.xml"/><Relationship Id="rId74" Type="http://schemas.openxmlformats.org/officeDocument/2006/relationships/font" Target="fonts/RobotoLight-italic.fntdata"/><Relationship Id="rId33" Type="http://schemas.openxmlformats.org/officeDocument/2006/relationships/slide" Target="slides/slide28.xml"/><Relationship Id="rId77" Type="http://schemas.openxmlformats.org/officeDocument/2006/relationships/font" Target="fonts/RobotoMono-bold.fntdata"/><Relationship Id="rId32" Type="http://schemas.openxmlformats.org/officeDocument/2006/relationships/slide" Target="slides/slide27.xml"/><Relationship Id="rId76" Type="http://schemas.openxmlformats.org/officeDocument/2006/relationships/font" Target="fonts/RobotoMono-regular.fntdata"/><Relationship Id="rId35" Type="http://schemas.openxmlformats.org/officeDocument/2006/relationships/slide" Target="slides/slide30.xml"/><Relationship Id="rId79" Type="http://schemas.openxmlformats.org/officeDocument/2006/relationships/font" Target="fonts/RobotoMono-boldItalic.fntdata"/><Relationship Id="rId34" Type="http://schemas.openxmlformats.org/officeDocument/2006/relationships/slide" Target="slides/slide29.xml"/><Relationship Id="rId78" Type="http://schemas.openxmlformats.org/officeDocument/2006/relationships/font" Target="fonts/RobotoMono-italic.fntdata"/><Relationship Id="rId71" Type="http://schemas.openxmlformats.org/officeDocument/2006/relationships/font" Target="fonts/RobotoSemiBold-boldItalic.fntdata"/><Relationship Id="rId70" Type="http://schemas.openxmlformats.org/officeDocument/2006/relationships/font" Target="fonts/RobotoSemiBold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-regular.fntdata"/><Relationship Id="rId61" Type="http://schemas.openxmlformats.org/officeDocument/2006/relationships/font" Target="fonts/Economica-boldItalic.fntdata"/><Relationship Id="rId20" Type="http://schemas.openxmlformats.org/officeDocument/2006/relationships/slide" Target="slides/slide15.xml"/><Relationship Id="rId64" Type="http://schemas.openxmlformats.org/officeDocument/2006/relationships/font" Target="fonts/Roboto-italic.fntdata"/><Relationship Id="rId63" Type="http://schemas.openxmlformats.org/officeDocument/2006/relationships/font" Target="fonts/Roboto-bold.fntdata"/><Relationship Id="rId22" Type="http://schemas.openxmlformats.org/officeDocument/2006/relationships/slide" Target="slides/slide17.xml"/><Relationship Id="rId66" Type="http://schemas.openxmlformats.org/officeDocument/2006/relationships/font" Target="fonts/PTSansNarrow-regular.fntdata"/><Relationship Id="rId21" Type="http://schemas.openxmlformats.org/officeDocument/2006/relationships/slide" Target="slides/slide16.xml"/><Relationship Id="rId65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68" Type="http://schemas.openxmlformats.org/officeDocument/2006/relationships/font" Target="fonts/RobotoSemiBold-regular.fntdata"/><Relationship Id="rId23" Type="http://schemas.openxmlformats.org/officeDocument/2006/relationships/slide" Target="slides/slide18.xml"/><Relationship Id="rId67" Type="http://schemas.openxmlformats.org/officeDocument/2006/relationships/font" Target="fonts/PTSansNarrow-bold.fntdata"/><Relationship Id="rId60" Type="http://schemas.openxmlformats.org/officeDocument/2006/relationships/font" Target="fonts/Economica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SemiBold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ExtraBold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ExtraBold-bold.fntdata"/><Relationship Id="rId13" Type="http://schemas.openxmlformats.org/officeDocument/2006/relationships/slide" Target="slides/slide8.xml"/><Relationship Id="rId57" Type="http://schemas.openxmlformats.org/officeDocument/2006/relationships/font" Target="fonts/RobotoBlack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Black-bold.fntdata"/><Relationship Id="rId15" Type="http://schemas.openxmlformats.org/officeDocument/2006/relationships/slide" Target="slides/slide10.xml"/><Relationship Id="rId59" Type="http://schemas.openxmlformats.org/officeDocument/2006/relationships/font" Target="fonts/Economica-bold.fntdata"/><Relationship Id="rId14" Type="http://schemas.openxmlformats.org/officeDocument/2006/relationships/slide" Target="slides/slide9.xml"/><Relationship Id="rId58" Type="http://schemas.openxmlformats.org/officeDocument/2006/relationships/font" Target="fonts/Economic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0872a9b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0872a9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0872a9b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0872a9b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eac97e83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eac97e83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872a9b1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0872a9b1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a5bc3af5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a5bc3af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0d1bbcb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0d1bbcb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5bc3af5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a5bc3af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0d1bbcbd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0d1bbcbd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0d1bbcb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0d1bbcb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d1bbcbd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0d1bbcbd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0d1bbcbd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0d1bbcbd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0d1bbcbd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0d1bbcbd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0d1bbcbd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0d1bbcbd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a5bc3af5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a5bc3af5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0d1bbcbd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0d1bbcbd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0d1bbcbd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0d1bbcbd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a5bc3af5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a5bc3af5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0d1bbcbd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0d1bbcbd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a5bc3af5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a5bc3af5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a32bf0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a32bf0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a5bc3af5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a5bc3af5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a5bc3af5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a5bc3af5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a5bc3af5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a5bc3af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a5bc3af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a5bc3af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a5bc3af5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a5bc3af5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a5bc3af5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a5bc3af5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0d1bbcbd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0d1bbcbd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0d1bbcbd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80d1bbcbd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0d1bbcb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0d1bbcb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a157d4e0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7a157d4e0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a5bc3af5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a5bc3af5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eac97e83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7eac97e83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a157d4e0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7a157d4e0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a157d4e0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7a157d4e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a157d4e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7a157d4e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7dd134a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7dd134a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dd134adf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dd134adf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eac97e83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7eac97e83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dd134adf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7dd134adf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dd5e79b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7dd5e79b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7dd5e79bc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7dd5e79bc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eac97e83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eac97e83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7dd5e79bc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7dd5e79bc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eac97e83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eac97e83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eac97e83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7eac97e83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7dd134adf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7dd134ad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8a5bc3af5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8a5bc3af5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mikhael-putra-iswanto-a8051876/" TargetMode="External"/><Relationship Id="rId4" Type="http://schemas.openxmlformats.org/officeDocument/2006/relationships/hyperlink" Target="https://www.kaggle.com/datasets/adilshamim8/social-media-addiction-vs-relationships/data" TargetMode="External"/><Relationship Id="rId5" Type="http://schemas.openxmlformats.org/officeDocument/2006/relationships/hyperlink" Target="https://colab.research.google.com/drive/1sXn4VVfA47JhnV46yP7HdwzTUKRAdd66?usp=sharing" TargetMode="External"/><Relationship Id="rId6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J57Jcd3vgRAv1W0uV3uNHMQvXPj_1Pj7AlTnaGIkTRE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himsical.com/deep-63nANp1FyidaxXFJ2YxMr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ublic.tableau.com/views/Addicttion_DEEP_Visualization/Dashboard2?:language=en-US&amp;publish=yes&amp;:sid=&amp;:redirect=auth&amp;:display_count=n&amp;:origin=viz_share_link" TargetMode="External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linkedin.com/in/mikhael-putra-iswanto-a8051876/" TargetMode="External"/><Relationship Id="rId4" Type="http://schemas.openxmlformats.org/officeDocument/2006/relationships/hyperlink" Target="https://www.kaggle.com/datasets/adilshamim8/social-media-addiction-vs-relationships/data" TargetMode="External"/><Relationship Id="rId5" Type="http://schemas.openxmlformats.org/officeDocument/2006/relationships/hyperlink" Target="https://colab.research.google.com/drive/1sXn4VVfA47JhnV46yP7HdwzTUKRAdd66?usp=sharing" TargetMode="External"/><Relationship Id="rId6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J57Jcd3vgRAv1W0uV3uNHMQvXPj_1Pj7AlTnaGIkTRE/edit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lab.research.google.com/drive/1sXn4VVfA47JhnV46yP7HdwzTUKRAdd66?usp=shari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Relationship Id="rId8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Relationship Id="rId4" Type="http://schemas.openxmlformats.org/officeDocument/2006/relationships/image" Target="../media/image38.png"/><Relationship Id="rId10" Type="http://schemas.openxmlformats.org/officeDocument/2006/relationships/hyperlink" Target="https://docs.google.com/presentation/d/1J57Jcd3vgRAv1W0uV3uNHMQvXPj_1Pj7AlTnaGIkTRE/edit?usp=sharing" TargetMode="External"/><Relationship Id="rId9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5" Type="http://schemas.openxmlformats.org/officeDocument/2006/relationships/hyperlink" Target="https://www.linkedin.com/in/mikhael-putra-iswanto-a8051876/" TargetMode="External"/><Relationship Id="rId6" Type="http://schemas.openxmlformats.org/officeDocument/2006/relationships/hyperlink" Target="https://www.kaggle.com/datasets/adilshamim8/social-media-addiction-vs-relationships/data" TargetMode="External"/><Relationship Id="rId7" Type="http://schemas.openxmlformats.org/officeDocument/2006/relationships/hyperlink" Target="https://colab.research.google.com/drive/1sXn4VVfA47JhnV46yP7HdwzTUKRAdd66?usp=sharing" TargetMode="External"/><Relationship Id="rId8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himsical.com/deep-63nANp1FyidaxXFJ2YxMrA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19415" y="2685988"/>
            <a:ext cx="3705000" cy="554100"/>
          </a:xfrm>
          <a:prstGeom prst="rect">
            <a:avLst/>
          </a:prstGeom>
        </p:spPr>
        <p:txBody>
          <a:bodyPr anchorCtr="0" anchor="b" bIns="72225" lIns="72225" spcFirstLastPara="1" rIns="72225" wrap="square" tIns="722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2"/>
              <a:buFont typeface="Arial"/>
              <a:buNone/>
            </a:pPr>
            <a:r>
              <a:rPr b="1" lang="id" sz="2354">
                <a:latin typeface="Roboto"/>
                <a:ea typeface="Roboto"/>
                <a:cs typeface="Roboto"/>
                <a:sym typeface="Roboto"/>
              </a:rPr>
              <a:t>Exploring Students' </a:t>
            </a:r>
            <a:br>
              <a:rPr b="1" lang="id" sz="2354">
                <a:latin typeface="Roboto"/>
                <a:ea typeface="Roboto"/>
                <a:cs typeface="Roboto"/>
                <a:sym typeface="Roboto"/>
              </a:rPr>
            </a:br>
            <a:r>
              <a:rPr b="1" lang="id" sz="2354">
                <a:latin typeface="Roboto"/>
                <a:ea typeface="Roboto"/>
                <a:cs typeface="Roboto"/>
                <a:sym typeface="Roboto"/>
              </a:rPr>
              <a:t>Social Media Addiction:</a:t>
            </a:r>
            <a:endParaRPr b="1" sz="2354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2"/>
              <a:buFont typeface="Arial"/>
              <a:buNone/>
            </a:pPr>
            <a:r>
              <a:t/>
            </a:r>
            <a:endParaRPr b="1" sz="235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62075" y="35602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3"/>
              </a:rPr>
              <a:t>Mikhael Putra Iswanto</a:t>
            </a:r>
            <a:endParaRPr b="1"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 u="sng">
                <a:solidFill>
                  <a:srgbClr val="FF99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 u="sng">
                <a:solidFill>
                  <a:srgbClr val="FF9900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390625" y="2947363"/>
            <a:ext cx="436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535">
                <a:solidFill>
                  <a:srgbClr val="1474A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Survey Insights Q1 2025</a:t>
            </a:r>
            <a:endParaRPr sz="2535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819725" y="-334825"/>
            <a:ext cx="571500" cy="5801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752825" y="-329100"/>
            <a:ext cx="571500" cy="5801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>
            <p:ph type="ctrTitle"/>
          </p:nvPr>
        </p:nvSpPr>
        <p:spPr>
          <a:xfrm>
            <a:off x="2920224" y="1891875"/>
            <a:ext cx="33036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451052" y="750325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707875" y="799975"/>
            <a:ext cx="390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Industry Model &amp; Business Processes</a:t>
            </a:r>
            <a:endParaRPr sz="1600"/>
          </a:p>
        </p:txBody>
      </p:sp>
      <p:sp>
        <p:nvSpPr>
          <p:cNvPr id="74" name="Google Shape;74;p14"/>
          <p:cNvSpPr txBox="1"/>
          <p:nvPr/>
        </p:nvSpPr>
        <p:spPr>
          <a:xfrm>
            <a:off x="707875" y="1313025"/>
            <a:ext cx="3588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An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B2B SaaS EdTech company</a:t>
            </a: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 focuses on student well-being and engagement through a platform that monitors social media usage, sleep patterns, and potential conflicts. The platform also provides data-driven interventions to support mental health and academic performance.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Primary revenue comes from annual licenses offered and additional revenue through professional consulting and premium analytics packages.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841801" y="1766775"/>
            <a:ext cx="178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 Maker 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CEO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Consulted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Psikolog, Teacher Advisor</a:t>
            </a:r>
            <a:br>
              <a:rPr i="1" lang="id" sz="9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Informed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School board, All teaching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staff, students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75" y="1460725"/>
            <a:ext cx="632350" cy="9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4283" y="1581525"/>
            <a:ext cx="789525" cy="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4296575" y="2473475"/>
            <a:ext cx="178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(Approver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of Data &amp; Research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573150" y="2018150"/>
            <a:ext cx="318000" cy="11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402994" y="2473475"/>
            <a:ext cx="178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Responsible)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800"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674225" y="1313025"/>
            <a:ext cx="222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Stakeholder Analysis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" name="Google Shape;82;p14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  <p:sp>
        <p:nvSpPr>
          <p:cNvPr id="83" name="Google Shape;83;p14"/>
          <p:cNvSpPr/>
          <p:nvPr/>
        </p:nvSpPr>
        <p:spPr>
          <a:xfrm>
            <a:off x="8327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Data Collection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0798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6986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4515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Analytics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0703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Intervention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53174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9362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6891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Reporting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3079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Business Ops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303750" y="738050"/>
            <a:ext cx="2528700" cy="598800"/>
          </a:xfrm>
          <a:prstGeom prst="snip1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48650" y="737975"/>
            <a:ext cx="2238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03738" y="2042875"/>
            <a:ext cx="1209900" cy="6720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Defining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2093250" y="2042875"/>
            <a:ext cx="1283400" cy="6720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cleaning &amp; preparation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984444" y="2042875"/>
            <a:ext cx="1126200" cy="672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Exploratory data analysis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18475" y="2042875"/>
            <a:ext cx="1120800" cy="737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Analysis Framework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607286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484366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381650" y="2042875"/>
            <a:ext cx="1524000" cy="672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 &amp; recommendation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218403" y="232625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946988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03725" y="2978628"/>
            <a:ext cx="13035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latin typeface="Calibri"/>
                <a:ea typeface="Calibri"/>
                <a:cs typeface="Calibri"/>
                <a:sym typeface="Calibri"/>
              </a:rPr>
              <a:t>Exploratory and understand data and problem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Determine the user using DARCI</a:t>
            </a:r>
            <a:endParaRPr sz="1069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Define Objective</a:t>
            </a:r>
            <a:endParaRPr sz="1069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083123" y="2987903"/>
            <a:ext cx="13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Data cleaning &amp; preparation using Python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973954" y="2987903"/>
            <a:ext cx="13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EDA using</a:t>
            </a: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python, &amp; tableau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447063" y="2987900"/>
            <a:ext cx="139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the remarkable insights &amp; Recommendations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8470" y="2987903"/>
            <a:ext cx="13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917175" y="792963"/>
            <a:ext cx="34338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Objective </a:t>
            </a:r>
            <a:r>
              <a:rPr b="1" lang="id" sz="14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id" sz="1400">
                <a:solidFill>
                  <a:srgbClr val="1474A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Root Causes Analysi</a:t>
            </a:r>
            <a:r>
              <a:rPr b="1" lang="id" sz="14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s)</a:t>
            </a:r>
            <a:endParaRPr b="1" sz="14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917175" y="1251563"/>
            <a:ext cx="3508200" cy="20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Identify the quantitative relationship between social media usage hours and mental health outcomes, sleep duration, and frequency of social conflicts.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Segment users (students) by gender, academic,  country and usage patterns to understand intervention priorities per market.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Build a simple predictive model that can estimate the risk of interpersonal conflict based on surveys.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Provide actionable recommendations for stakeholders.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4766425" y="1478545"/>
            <a:ext cx="3621900" cy="26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17999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variables analyzed are limited to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Social Media Usage - Avg_Daily_Usage_Hours, Most_Used_Platform, Addicted_Score.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Well-being &amp; Health - Sleep_Hours_Per_Night, Mental_Health_Score.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Social Interaction - Conflicts_Over_Social_Media, Relationship_Status.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Demografi - Gender, Age, Academic_Level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All data is questionnaire-based, so its validity is limited.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data only describes a single point in time, not a cause-and-effect relationship.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results apply to the dataset respondent population and cannot be directly generalized to all students globally.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Actionable insights are intended for school boards, teachers, and psychologists, not for clinical decisions.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4840800" y="800848"/>
            <a:ext cx="34338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Scope</a:t>
            </a:r>
            <a:endParaRPr b="1" sz="1400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4543000" y="999238"/>
            <a:ext cx="0" cy="33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4437150" y="773722"/>
            <a:ext cx="21393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Hypothesis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4437150" y="1273822"/>
            <a:ext cx="38373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use social media more than 5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have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risk of interpersonal conflict that is twice as high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as student who use social media for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less than 3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sleep less than 6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tend to have anxiety/depression scores that are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25% higher than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those who sleep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7 hours or more per 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Combination high screen time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(&gt; 5 hours/day) &amp;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short sleep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(&lt; 6 hours/day)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increases risk of interpersonality conflict 2 times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compared with low screen time &amp; enough sleep.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17" title="Academic Responden.png"/>
          <p:cNvPicPr preferRelativeResize="0"/>
          <p:nvPr/>
        </p:nvPicPr>
        <p:blipFill rotWithShape="1">
          <a:blip r:embed="rId3">
            <a:alphaModFix/>
          </a:blip>
          <a:srcRect b="18097" l="7774" r="6331" t="22471"/>
          <a:stretch/>
        </p:blipFill>
        <p:spPr>
          <a:xfrm>
            <a:off x="994721" y="3189713"/>
            <a:ext cx="5288881" cy="8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title="Count Country.png"/>
          <p:cNvPicPr preferRelativeResize="0"/>
          <p:nvPr/>
        </p:nvPicPr>
        <p:blipFill rotWithShape="1">
          <a:blip r:embed="rId4">
            <a:alphaModFix/>
          </a:blip>
          <a:srcRect b="19276" l="20940" r="20940" t="22275"/>
          <a:stretch/>
        </p:blipFill>
        <p:spPr>
          <a:xfrm>
            <a:off x="6936900" y="3295971"/>
            <a:ext cx="1212375" cy="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type="title"/>
          </p:nvPr>
        </p:nvSpPr>
        <p:spPr>
          <a:xfrm>
            <a:off x="955500" y="4060746"/>
            <a:ext cx="7233000" cy="2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Total. Responden Survey</a:t>
            </a:r>
            <a:endParaRPr b="1" sz="1000"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944650" y="3129375"/>
            <a:ext cx="710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7"/>
          <p:cNvSpPr txBox="1"/>
          <p:nvPr>
            <p:ph type="title"/>
          </p:nvPr>
        </p:nvSpPr>
        <p:spPr>
          <a:xfrm>
            <a:off x="955500" y="3949000"/>
            <a:ext cx="72330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Key Metrics (Conflict Rate, Average Sleep Duration, Screen Time Hours, Anxiety/Mental Health Score) </a:t>
            </a:r>
            <a:endParaRPr b="1" sz="10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797025" y="763350"/>
            <a:ext cx="30681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Business Problem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820550" y="1239931"/>
            <a:ext cx="3264900" cy="105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Within 6 months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, Calm Space aims to reduce incidents of interpersonal conflict among students due to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 excessive social media use by 15%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, by increasing average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 sleep quality by more than 30 minutes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per night and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lowering self-reported anxiety levels.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”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title="Responden _ 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56" y="1298870"/>
            <a:ext cx="6278974" cy="33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type="title"/>
          </p:nvPr>
        </p:nvSpPr>
        <p:spPr>
          <a:xfrm>
            <a:off x="311700" y="492325"/>
            <a:ext cx="6453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latin typeface="Roboto"/>
                <a:ea typeface="Roboto"/>
                <a:cs typeface="Roboto"/>
                <a:sym typeface="Roboto"/>
              </a:rPr>
              <a:t>Country of Responden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8" title="Contin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316" y="1570675"/>
            <a:ext cx="2979371" cy="1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062424" y="3169625"/>
            <a:ext cx="361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survey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was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conducted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across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five continents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but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respondents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concentrated in India, the United States, and Canada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which may indicate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greater access to the survey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those regions or 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in the distribution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survey.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1320950" y="3406275"/>
            <a:ext cx="7773000" cy="1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553375" y="1466000"/>
            <a:ext cx="364500" cy="3528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311700" y="280650"/>
            <a:ext cx="6453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Almost All </a:t>
            </a: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Respondents have Conflict Rate Over Social Media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9" title="Conflict Ra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50" y="3540650"/>
            <a:ext cx="1150400" cy="4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title="Conflict Rat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2825"/>
            <a:ext cx="7606167" cy="135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title="Conflict Rate (3).png"/>
          <p:cNvPicPr preferRelativeResize="0"/>
          <p:nvPr/>
        </p:nvPicPr>
        <p:blipFill rotWithShape="1">
          <a:blip r:embed="rId5">
            <a:alphaModFix/>
          </a:blip>
          <a:srcRect b="0" l="130" r="140" t="0"/>
          <a:stretch/>
        </p:blipFill>
        <p:spPr>
          <a:xfrm>
            <a:off x="417525" y="2357986"/>
            <a:ext cx="7606165" cy="99276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320950" y="3426125"/>
            <a:ext cx="747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Almost all respondents reported conflicts,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indicating that the problem is systematic rather than individual/personal.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level of education did not have a significant effect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on reducing conflicts, although it appeared to be better at the graduate level.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differences between genders were very small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indicating that conflicts were fairly evenly distributed and not biased towards a particular gender.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9" title="icons8-conflict-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550" y="3268625"/>
            <a:ext cx="272025" cy="2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1320950" y="3406275"/>
            <a:ext cx="7773000" cy="118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170550" y="3304613"/>
            <a:ext cx="364500" cy="3528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20" title="AVG Sleep Hours .png"/>
          <p:cNvPicPr preferRelativeResize="0"/>
          <p:nvPr/>
        </p:nvPicPr>
        <p:blipFill rotWithShape="1">
          <a:blip r:embed="rId3">
            <a:alphaModFix/>
          </a:blip>
          <a:srcRect b="0" l="8333" r="8333" t="0"/>
          <a:stretch/>
        </p:blipFill>
        <p:spPr>
          <a:xfrm>
            <a:off x="170550" y="3481875"/>
            <a:ext cx="1150400" cy="4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1320950" y="3550612"/>
            <a:ext cx="74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students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show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highest potential for sleep deprivation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sleeping less than 6 hours.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Graduate students have the highest average number of hours of sleep,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with males sleeping slightly longer than females.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 is an pattern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increase in hours of sleep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as the level of education increases.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Average Sleep Duration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0" title="AVG Sleep Hours (Acadmic &amp; Gender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50" y="1012825"/>
            <a:ext cx="8375602" cy="19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>
            <a:off x="1971825" y="3327966"/>
            <a:ext cx="7122000" cy="16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2" name="Google Shape;172;p21" title="Avg Mental Health Score 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25" y="3646475"/>
            <a:ext cx="1840700" cy="4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1971825" y="3332191"/>
            <a:ext cx="703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overall average of respondents was in the medium category (6.2).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Females tended to have higher scores in the high category than males, except at the undergraduate level.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high anxiety category was quite dominant at all academic levels, especially at the graduate and undergraduate levels.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respondents were relatively fewer, but when high, they showed significant scores (7.0–7.1).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Mental health is highest at age 22 and lowest at ages 18–20.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11700" y="280650"/>
            <a:ext cx="6006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Anxiety/Mental Health Score </a:t>
            </a: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Responden uses social media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1" title="icons8-mental-health-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75" y="3379100"/>
            <a:ext cx="411575" cy="4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title="Avg Mental Health Scor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38" y="895350"/>
            <a:ext cx="5750831" cy="24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title="Avg Mental Health Score (Age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4225" y="2250575"/>
            <a:ext cx="2748750" cy="9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/>
          <p:nvPr/>
        </p:nvSpPr>
        <p:spPr>
          <a:xfrm>
            <a:off x="5729700" y="2707575"/>
            <a:ext cx="2875200" cy="17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193125" y="1359875"/>
            <a:ext cx="1092000" cy="17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1971825" y="3454900"/>
            <a:ext cx="7122000" cy="139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1902475" y="3499050"/>
            <a:ext cx="712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dominate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usage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4-6 hours per day.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 social media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most intensively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on a daily basis, with some even reaching 8 hours per day.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are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relatively balanced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(3-6 hours) and rarely exceed 7 hours per day.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use social media less, but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still significantly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up to 5 hours per day.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Social media usage has become a dominant daily routine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rather than just an additional activity.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2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Screen Time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 title="AVG Screentime Hou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50" y="3697825"/>
            <a:ext cx="1800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title="icons8-time-machine-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50" y="3379100"/>
            <a:ext cx="434600" cy="4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AVG Screentime Hours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525" y="819150"/>
            <a:ext cx="6647263" cy="25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849025" y="2278950"/>
            <a:ext cx="3386700" cy="81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title="AVG Screentime Hour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163" y="819150"/>
            <a:ext cx="6401667" cy="25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311700" y="3542625"/>
            <a:ext cx="8469600" cy="133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523850" y="3650175"/>
            <a:ext cx="801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 students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with a relationship status of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single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or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complicated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are at risk of excessive screen time (≥5 hours/day), which can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potentially reduce mental health and productivity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are the group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most vulnerable to excessive screen time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not high school students.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complicated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relationship status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triggers extreme screen time patterns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potentially impacting mental health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Relationship with Screen Time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1617700" y="2328325"/>
            <a:ext cx="5288700" cy="76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/>
        </p:nvSpPr>
        <p:spPr>
          <a:xfrm>
            <a:off x="3740850" y="1512750"/>
            <a:ext cx="48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zone (3–5 hours) is actually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prone to 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is not linear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 time.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possible that those who are online for a very long time (&gt;5 hours) are more “passive/observing” and therefore less involved in direct conflict, while those who are online for 3–5 hours are more actively interacting.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Screen Time Responden with conflicts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4" title="Screen time vs Confli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00" y="1088950"/>
            <a:ext cx="2283975" cy="35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3751787" y="3155184"/>
            <a:ext cx="48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Adakan workshop tentang etika komunikasi digital dan cara mengelola emosi saat online. Fokus pada siswa dengan screen time 3–5 jam/hari.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Dorong siswa untuk lebih banyak melakukan interaksi positif, seperti kerjasama akademi, berbagi karya, atau diskusi sehat. Tingkatkan kualitas, bukan hanya kurangi waktu layar.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Gunakan alat bantu monitoring dan refleksi.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/>
        </p:nvSpPr>
        <p:spPr>
          <a:xfrm>
            <a:off x="3740850" y="1512750"/>
            <a:ext cx="480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duration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one of the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factors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affecting mental health.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Consistently getting 7 hours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sleep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healthier psychological condition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(113%).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than 6 hours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sleep shows the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lowest health score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(-85%).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311700" y="280650"/>
            <a:ext cx="56235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22">
                <a:latin typeface="Roboto"/>
                <a:ea typeface="Roboto"/>
                <a:cs typeface="Roboto"/>
                <a:sym typeface="Roboto"/>
              </a:rPr>
              <a:t>Correlation of Screen Time Responden with Mental Health</a:t>
            </a:r>
            <a:endParaRPr b="1" sz="182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3751787" y="3155184"/>
            <a:ext cx="48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Education for students on factors that disrupt sleep (screen time &amp; sleep routines)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25" title="Sleep vs Mental Heal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1550"/>
            <a:ext cx="334179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1137900" y="4047391"/>
            <a:ext cx="68682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1957" lvl="0" marL="54889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1"/>
              <a:buFont typeface="Roboto"/>
              <a:buAutoNum type="arabicPeriod"/>
            </a:pP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strong negative correlation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between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daily usage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duration and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hours of sleep</a:t>
            </a:r>
            <a:endParaRPr b="1" sz="12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1957" lvl="0" marL="54889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1"/>
              <a:buFont typeface="Roboto"/>
              <a:buAutoNum type="arabicPeriod"/>
            </a:pP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longer a person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uses social media, the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fewer hours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sleep they get.</a:t>
            </a:r>
            <a:endParaRPr sz="12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900" y="999525"/>
            <a:ext cx="6470541" cy="304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3740850" y="1559900"/>
            <a:ext cx="480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combination of screen use and lack of sleep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contributes to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(score 1.0).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screen time and adequate sleep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help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potential for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Groups with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inconsistent sleep/screen time patterns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remain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vulnerable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7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Screen Time &amp; Time Sleep Responden with Conflicts over Social Media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27" title="Screen Time &amp; Sleep vs Confli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75" y="908525"/>
            <a:ext cx="3315699" cy="34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3751787" y="3155184"/>
            <a:ext cx="480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Educate parents and students about screen time + sleep and how to improve sleep quality and duration Reduce excessive screen 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 positive alternative activities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/>
        </p:nvSpPr>
        <p:spPr>
          <a:xfrm>
            <a:off x="311700" y="1342325"/>
            <a:ext cx="3768000" cy="295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are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Systematic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not isolated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Strong negative correlation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between screen time &amp; sleep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Mediator,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Students sleeping &lt;6H have the lowest mental health scores (-85%)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Undergraduates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especially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single”/“complicated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status, are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vulnerable to conflict and anxiety.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Graduate students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show more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balance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(3–6h usage, 7h sleep).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usage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group (3–5h/day) is paradoxically most conflict-prone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possibly due to higher interaction intensity.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8"/>
          <p:cNvSpPr txBox="1"/>
          <p:nvPr>
            <p:ph type="title"/>
          </p:nvPr>
        </p:nvSpPr>
        <p:spPr>
          <a:xfrm>
            <a:off x="311700" y="751075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highlight>
                  <a:srgbClr val="F4CCCC"/>
                </a:highlight>
                <a:latin typeface="Roboto"/>
                <a:ea typeface="Roboto"/>
                <a:cs typeface="Roboto"/>
                <a:sym typeface="Roboto"/>
              </a:rPr>
              <a:t>Summary Insight &amp; Recommendation</a:t>
            </a:r>
            <a:endParaRPr b="1" sz="1400">
              <a:highlight>
                <a:srgbClr val="F4CC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8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  <p:sp>
        <p:nvSpPr>
          <p:cNvPr id="243" name="Google Shape;243;p28"/>
          <p:cNvSpPr txBox="1"/>
          <p:nvPr/>
        </p:nvSpPr>
        <p:spPr>
          <a:xfrm>
            <a:off x="4888100" y="1351175"/>
            <a:ext cx="3768000" cy="2770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180000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Focus Q2 2025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extension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(+30 min avg) and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 time moderation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undergraduates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single/complicated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status as high-risk group.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Deploy gamified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digital detox campaigns.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 institutional wellness dashboards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demonstrate progress.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Expected outcome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–15%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reduction, lower anxiety prevalence, and stronger Calm Space brand as a digital wellness solution in education.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239575" y="197080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u="sng">
                <a:latin typeface="Roboto SemiBold"/>
                <a:ea typeface="Roboto SemiBold"/>
                <a:cs typeface="Roboto SemiBold"/>
                <a:sym typeface="Roboto SemiBold"/>
                <a:hlinkClick r:id="rId3"/>
              </a:rPr>
              <a:t>Dashboard</a:t>
            </a:r>
            <a:endParaRPr sz="3000" u="sng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249" name="Google Shape;249;p29" title="Dash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725" y="764325"/>
            <a:ext cx="6436899" cy="361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24510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>
                <a:latin typeface="Roboto Black"/>
                <a:ea typeface="Roboto Black"/>
                <a:cs typeface="Roboto Black"/>
                <a:sym typeface="Roboto Black"/>
              </a:rPr>
              <a:t>QnA</a:t>
            </a:r>
            <a:endParaRPr sz="60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0" y="3006450"/>
            <a:ext cx="9144000" cy="21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6800" u="sng"/>
              <a:t>Thank You</a:t>
            </a:r>
            <a:endParaRPr sz="6800" u="sng"/>
          </a:p>
        </p:txBody>
      </p:sp>
      <p:sp>
        <p:nvSpPr>
          <p:cNvPr id="261" name="Google Shape;261;p31"/>
          <p:cNvSpPr txBox="1"/>
          <p:nvPr>
            <p:ph idx="4294967295" type="subTitle"/>
          </p:nvPr>
        </p:nvSpPr>
        <p:spPr>
          <a:xfrm>
            <a:off x="2989650" y="29183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3"/>
              </a:rPr>
              <a:t>Mikhael Putra Iswanto</a:t>
            </a:r>
            <a:endParaRPr b="1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>
                <a:solidFill>
                  <a:srgbClr val="FF99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>
                <a:solidFill>
                  <a:srgbClr val="FF990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1241000" y="2456650"/>
            <a:ext cx="66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Exploring Students' Social Media Addiction: Survey Insights from Q1 2025</a:t>
            </a:r>
            <a:endParaRPr sz="18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7200">
                <a:solidFill>
                  <a:srgbClr val="1474AF"/>
                </a:solidFill>
              </a:rPr>
              <a:t>APPENDIX</a:t>
            </a:r>
            <a:endParaRPr b="1" i="1" sz="7200">
              <a:solidFill>
                <a:srgbClr val="1474AF"/>
              </a:solidFill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4940100" y="2993100"/>
            <a:ext cx="16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 u="sng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Python</a:t>
            </a:r>
            <a:endParaRPr b="1" sz="1800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/>
        </p:nvSpPr>
        <p:spPr>
          <a:xfrm>
            <a:off x="70218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Excessive social media use (more than 5 hours/day) is </a:t>
            </a:r>
            <a:r>
              <a:rPr b="1" lang="id" sz="1100">
                <a:solidFill>
                  <a:schemeClr val="dk1"/>
                </a:solidFill>
              </a:rPr>
              <a:t>strongly correlated with poorer mental health.</a:t>
            </a:r>
            <a:endParaRPr b="1"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The most significant impact is seen among </a:t>
            </a:r>
            <a:r>
              <a:rPr b="1" lang="id" sz="1100">
                <a:solidFill>
                  <a:schemeClr val="dk1"/>
                </a:solidFill>
              </a:rPr>
              <a:t>low </a:t>
            </a:r>
            <a:r>
              <a:rPr lang="id" sz="1100">
                <a:solidFill>
                  <a:schemeClr val="dk1"/>
                </a:solidFill>
              </a:rPr>
              <a:t>and </a:t>
            </a:r>
            <a:r>
              <a:rPr b="1" lang="id" sz="1100">
                <a:solidFill>
                  <a:schemeClr val="dk1"/>
                </a:solidFill>
              </a:rPr>
              <a:t>moderate </a:t>
            </a:r>
            <a:r>
              <a:rPr lang="id" sz="1100">
                <a:solidFill>
                  <a:schemeClr val="dk1"/>
                </a:solidFill>
              </a:rPr>
              <a:t>users, while </a:t>
            </a:r>
            <a:r>
              <a:rPr b="1" lang="id" sz="1100">
                <a:solidFill>
                  <a:schemeClr val="dk1"/>
                </a:solidFill>
              </a:rPr>
              <a:t>high </a:t>
            </a:r>
            <a:r>
              <a:rPr lang="id" sz="1100">
                <a:solidFill>
                  <a:schemeClr val="dk1"/>
                </a:solidFill>
              </a:rPr>
              <a:t>users are already at a low point and do not deteriorate much further.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74" name="Google Shape;2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1" y="899325"/>
            <a:ext cx="4327711" cy="216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33"/>
          <p:cNvSpPr txBox="1"/>
          <p:nvPr/>
        </p:nvSpPr>
        <p:spPr>
          <a:xfrm>
            <a:off x="4675893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Positive correlation: the higher the daily use of social media, the higher the conflict on social media</a:t>
            </a:r>
            <a:endParaRPr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Relationship status is related to this correlation, with the highest conflict occurring among those with a “</a:t>
            </a:r>
            <a:r>
              <a:rPr b="1" lang="id" sz="1100">
                <a:solidFill>
                  <a:schemeClr val="dk1"/>
                </a:solidFill>
              </a:rPr>
              <a:t>Complicated</a:t>
            </a:r>
            <a:r>
              <a:rPr lang="id" sz="1100">
                <a:solidFill>
                  <a:schemeClr val="dk1"/>
                </a:solidFill>
              </a:rPr>
              <a:t>” status, followed by “</a:t>
            </a:r>
            <a:r>
              <a:rPr b="1" lang="id" sz="1100">
                <a:solidFill>
                  <a:schemeClr val="dk1"/>
                </a:solidFill>
              </a:rPr>
              <a:t>Single</a:t>
            </a:r>
            <a:r>
              <a:rPr lang="id" sz="1100">
                <a:solidFill>
                  <a:schemeClr val="dk1"/>
                </a:solidFill>
              </a:rPr>
              <a:t>,” and the lowest among those “</a:t>
            </a:r>
            <a:r>
              <a:rPr b="1" lang="id" sz="1100">
                <a:solidFill>
                  <a:schemeClr val="dk1"/>
                </a:solidFill>
              </a:rPr>
              <a:t>in a relationship”.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160" y="899325"/>
            <a:ext cx="4509342" cy="2147624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7" name="Google Shape;277;p33"/>
          <p:cNvSpPr txBox="1"/>
          <p:nvPr/>
        </p:nvSpPr>
        <p:spPr>
          <a:xfrm>
            <a:off x="2599050" y="328600"/>
            <a:ext cx="394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Correlation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/>
        </p:nvSpPr>
        <p:spPr>
          <a:xfrm>
            <a:off x="319100" y="3346650"/>
            <a:ext cx="85206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USA and India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have the highest daily social media usage (&gt;6 hours/day), but high usage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does not always correlate linearly with conflict. 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example, Bangladesh and Pakistan have relatively lower usage hours than the USA, but the resulting conflict is quite high.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interactions on social media trigger high conflict (&gt;3). This indicates a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potential for negative impacts on mental health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especially in countries with high usage hours.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higher the usage, the higher the conflicts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respondents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were not low users, but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moderate/high users,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more than half had been affected by the conflict.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319100" y="374175"/>
            <a:ext cx="39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Average Daily Usage per Country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34" title="Clustered Usage _ 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338" y="865462"/>
            <a:ext cx="4771000" cy="238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 title="Stacked Bar_ High Conflict Flag by Usage 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038" y="908425"/>
            <a:ext cx="1654618" cy="229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/>
        </p:nvSpPr>
        <p:spPr>
          <a:xfrm>
            <a:off x="3719578" y="1791188"/>
            <a:ext cx="46884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064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school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students were the respondents most affected by high conflict, even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Undergraduate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conflict was high at high usage levels, but more balanced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was still significant, but more controlled than at the high school level.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3832925" y="1252825"/>
            <a:ext cx="48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 the first quarter, social media addiction among university and high school students was high and led to social conflicts</a:t>
            </a:r>
            <a:endParaRPr sz="13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35" title="Stacked Bar_ High Conflict Flag by Usage Category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75" y="774375"/>
            <a:ext cx="3015584" cy="390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/>
          <p:nvPr/>
        </p:nvSpPr>
        <p:spPr>
          <a:xfrm>
            <a:off x="397600" y="374163"/>
            <a:ext cx="75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by Academic Level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00" y="1081975"/>
            <a:ext cx="1697424" cy="18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75" y="2936800"/>
            <a:ext cx="1615875" cy="19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 txBox="1"/>
          <p:nvPr>
            <p:ph type="title"/>
          </p:nvPr>
        </p:nvSpPr>
        <p:spPr>
          <a:xfrm>
            <a:off x="311700" y="2506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Overview</a:t>
            </a:r>
            <a:endParaRPr/>
          </a:p>
        </p:txBody>
      </p:sp>
      <p:pic>
        <p:nvPicPr>
          <p:cNvPr id="301" name="Google Shape;30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7325" y="1851800"/>
            <a:ext cx="2192976" cy="215285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 txBox="1"/>
          <p:nvPr/>
        </p:nvSpPr>
        <p:spPr>
          <a:xfrm>
            <a:off x="4610300" y="1217800"/>
            <a:ext cx="4305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The majority of respondents were not extreme users, but the average usage of </a:t>
            </a:r>
            <a:r>
              <a:rPr b="1" lang="id" sz="1200">
                <a:solidFill>
                  <a:schemeClr val="dk1"/>
                </a:solidFill>
              </a:rPr>
              <a:t>3–5 hours per day</a:t>
            </a:r>
            <a:r>
              <a:rPr lang="id" sz="1200">
                <a:solidFill>
                  <a:schemeClr val="dk1"/>
                </a:solidFill>
              </a:rPr>
              <a:t> is still high and has the potential to affect lifestyle patterns.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The majority of respondents slept within the healthy range (6–8 hours), but there was a segment that experienced </a:t>
            </a:r>
            <a:r>
              <a:rPr b="1" lang="id" sz="1200">
                <a:solidFill>
                  <a:schemeClr val="dk1"/>
                </a:solidFill>
              </a:rPr>
              <a:t>sleep deficit (&lt;6 hours)</a:t>
            </a:r>
            <a:r>
              <a:rPr lang="id" sz="1200">
                <a:solidFill>
                  <a:schemeClr val="dk1"/>
                </a:solidFill>
              </a:rPr>
              <a:t>, indicating a negative correlation between hours of usage and hours of sleep.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Outlier heavy users (USA)</a:t>
            </a:r>
            <a:r>
              <a:rPr lang="id" sz="1200">
                <a:solidFill>
                  <a:schemeClr val="dk1"/>
                </a:solidFill>
              </a:rPr>
              <a:t> (&gt;7 hours of use) are at risk of serious problems (sleep, mental health, and social conflicts).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There are no significant differences</a:t>
            </a:r>
            <a:r>
              <a:rPr lang="id" sz="1200">
                <a:solidFill>
                  <a:schemeClr val="dk1"/>
                </a:solidFill>
              </a:rPr>
              <a:t> between countries in average usage, so the focus of intervention should be on </a:t>
            </a:r>
            <a:r>
              <a:rPr b="1" lang="id" sz="1200">
                <a:solidFill>
                  <a:schemeClr val="dk1"/>
                </a:solidFill>
              </a:rPr>
              <a:t>individuals</a:t>
            </a:r>
            <a:r>
              <a:rPr lang="id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Bacground</a:t>
            </a:r>
            <a:endParaRPr/>
          </a:p>
        </p:txBody>
      </p:sp>
      <p:sp>
        <p:nvSpPr>
          <p:cNvPr id="308" name="Google Shape;308;p37"/>
          <p:cNvSpPr txBox="1"/>
          <p:nvPr/>
        </p:nvSpPr>
        <p:spPr>
          <a:xfrm>
            <a:off x="269350" y="1240575"/>
            <a:ext cx="85206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064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The average social media usage among students is nearly 5 hours/day, which is relatively high.</a:t>
            </a:r>
            <a:endParaRPr sz="1200">
              <a:solidFill>
                <a:schemeClr val="dk1"/>
              </a:solidFill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High usage hours are proven to be associated with decreased sleep hours (&lt;6 hours/day), increased addiction, and decreased mental health scores.</a:t>
            </a:r>
            <a:endParaRPr sz="1200">
              <a:solidFill>
                <a:schemeClr val="dk1"/>
              </a:solidFill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The majority of respondents fall into the moderate usage category (3–5 hours), but this group is actually the most affected by social conflict.</a:t>
            </a:r>
            <a:endParaRPr sz="1200">
              <a:solidFill>
                <a:schemeClr val="dk1"/>
              </a:solidFill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&gt;60% of interactions on social media trigger high conflict, with the peak of conflict occurring in complicated relationship statuses.</a:t>
            </a:r>
            <a:endParaRPr sz="1200">
              <a:solidFill>
                <a:schemeClr val="dk1"/>
              </a:solidFill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Country differences: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The USA and India have the highest usage (&gt;6 hours).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Bangladesh and Pakistan have high conflict despite moderate usage.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Europe (Germany, France, Japan) has low usage and low conflict.</a:t>
            </a:r>
            <a:endParaRPr sz="1200">
              <a:solidFill>
                <a:schemeClr val="dk1"/>
              </a:solidFill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id" sz="1200">
                <a:solidFill>
                  <a:schemeClr val="dk1"/>
                </a:solidFill>
              </a:rPr>
              <a:t>Academic level differences (new graph):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High school students experience the highest levels of conflict, even at moderate usage levels.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Undergraduate conflict is high at high usage levels, but more balanced at moderate usage levels.</a:t>
            </a:r>
            <a:endParaRPr sz="1200">
              <a:solidFill>
                <a:schemeClr val="dk1"/>
              </a:solidFill>
            </a:endParaRPr>
          </a:p>
          <a:p>
            <a:pPr indent="-304799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Graduate conflict is still significant, but more controlled than at the high school level.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Summary Insight</a:t>
            </a:r>
            <a:endParaRPr/>
          </a:p>
        </p:txBody>
      </p:sp>
      <p:sp>
        <p:nvSpPr>
          <p:cNvPr id="314" name="Google Shape;314;p38"/>
          <p:cNvSpPr txBox="1"/>
          <p:nvPr/>
        </p:nvSpPr>
        <p:spPr>
          <a:xfrm>
            <a:off x="428125" y="1153175"/>
            <a:ext cx="8737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average, respondents used nearly 5 hours/day, which could potentially interfere with productivity, sleep patterns, and mental health.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majority of respondents were in the moderate to high usage category (3–5 hours/day), not low users.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sleep time of respondents is less than the CDC recommendation (≥7 hours), with some experiencing sleep deprivation (&lt;6 hours).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negative correlation: the higher the hours of use, the lower the hours of sleep.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addiction scores compared to mental health scores indicate the need for immediate intervention (e.g., education, time reminders).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correlation: the higher the usage, the higher the conflict on social media.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 of interactions were classified as high conflict, indicating a high risk to mental health.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highest conflict occurred in the “Complicated” relationship status, followed by Single, and the lowest in In a Relationship.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 &amp; India: highest usage (&gt;6–7 hours/day).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Bangladesh &amp; Pakistan: although usage hours are lower than in the USA, conflict levels are much higher, indicating that cultural/environmental factors have an influence.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significant difference in average usage between countries; interventions should focus on individuals, not just regions.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heavy users (e.g., USA &gt;7 hours/day) → the group most at risk for serious problems (sleep, mental health, social conflict).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users (3–5 hours) are actually the group most significantly affected by conflict (more than half experience high conflict).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users are already at a low point in terms of mental health, so the impact does not worsen, but they remain at risk of chronic problems.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/>
              <a:t>Recomendation</a:t>
            </a:r>
            <a:endParaRPr b="1"/>
          </a:p>
        </p:txBody>
      </p:sp>
      <p:sp>
        <p:nvSpPr>
          <p:cNvPr id="320" name="Google Shape;320;p39"/>
          <p:cNvSpPr txBox="1"/>
          <p:nvPr>
            <p:ph idx="1" type="subTitle"/>
          </p:nvPr>
        </p:nvSpPr>
        <p:spPr>
          <a:xfrm>
            <a:off x="265500" y="2581326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/>
              <a:t>Short &amp; Medum Term in Q2 2025</a:t>
            </a:r>
            <a:endParaRPr b="1" sz="1800"/>
          </a:p>
        </p:txBody>
      </p:sp>
      <p:sp>
        <p:nvSpPr>
          <p:cNvPr id="321" name="Google Shape;321;p39"/>
          <p:cNvSpPr txBox="1"/>
          <p:nvPr>
            <p:ph idx="2" type="body"/>
          </p:nvPr>
        </p:nvSpPr>
        <p:spPr>
          <a:xfrm>
            <a:off x="4939500" y="515925"/>
            <a:ext cx="3837000" cy="39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400"/>
              <a:t>Short Term (Q2 2025):</a:t>
            </a:r>
            <a:endParaRPr b="1"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Launch screen time monitoring and reminder features for all users.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Implement awareness campaigns (digital wellbeing + sleep hygiene).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Focus on middle-level users in high schools through education and community programs.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400"/>
              <a:t>Medium Term (Q3–Q4 2025):</a:t>
            </a:r>
            <a:endParaRPr b="1"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Deploy AI-based predictive conflict detectors to identify high-risk users.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Integrate mental health counseling services into the platform.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id" sz="1200"/>
              <a:t>Localize culturally-based interventions (e.g., focus on social conflict in South Asia vs. digital literacy in Europe).</a:t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0" title="Avg Mental Health Score vs Avg Daily Usage Hou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825"/>
            <a:ext cx="8282718" cy="12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0"/>
          <p:cNvSpPr/>
          <p:nvPr/>
        </p:nvSpPr>
        <p:spPr>
          <a:xfrm>
            <a:off x="311700" y="3241850"/>
            <a:ext cx="8469600" cy="7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523850" y="3349400"/>
            <a:ext cx="801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social media usage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patterns pose a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risk to mental health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based on the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pattern of </a:t>
            </a:r>
            <a:r>
              <a:rPr b="1" lang="id" sz="12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safe</a:t>
            </a:r>
            <a:r>
              <a:rPr lang="id" sz="12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social media usage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&lt; 3 hours, and </a:t>
            </a:r>
            <a:r>
              <a:rPr b="1" lang="id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risky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&gt; 6 hours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0"/>
          <p:cNvSpPr txBox="1"/>
          <p:nvPr>
            <p:ph type="title"/>
          </p:nvPr>
        </p:nvSpPr>
        <p:spPr>
          <a:xfrm>
            <a:off x="311700" y="826225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Korelasi Mental Health </a:t>
            </a: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with Screen Time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5274925" y="1743200"/>
            <a:ext cx="1735200" cy="112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2437775" y="1743188"/>
            <a:ext cx="1735200" cy="1120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Overview</a:t>
            </a:r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88" y="1147225"/>
            <a:ext cx="1086413" cy="78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68" y="1927962"/>
            <a:ext cx="868757" cy="66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180" y="2594823"/>
            <a:ext cx="1209813" cy="66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075" y="3261678"/>
            <a:ext cx="916941" cy="72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176" y="3986157"/>
            <a:ext cx="817203" cy="72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37337" y="1158106"/>
            <a:ext cx="4560916" cy="220656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1"/>
          <p:cNvSpPr txBox="1"/>
          <p:nvPr/>
        </p:nvSpPr>
        <p:spPr>
          <a:xfrm>
            <a:off x="1634163" y="3379100"/>
            <a:ext cx="7158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High social media exposure</a:t>
            </a:r>
            <a:r>
              <a:rPr lang="id" sz="1200">
                <a:solidFill>
                  <a:schemeClr val="dk1"/>
                </a:solidFill>
              </a:rPr>
              <a:t>: Nearly 5 hours per day is a significant amount of time; it has the potential to interfere with productivity and sleep.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Sleep deficit trend</a:t>
            </a:r>
            <a:r>
              <a:rPr lang="id" sz="1200">
                <a:solidFill>
                  <a:schemeClr val="dk1"/>
                </a:solidFill>
              </a:rPr>
              <a:t>: Average sleep time is less than the healthy standard according to the CDC &gt; 7 hours per night, which can contribute to stress, mood swings, and declining mental health.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Addiction &gt; Mental Health</a:t>
            </a:r>
            <a:r>
              <a:rPr lang="id" sz="1200">
                <a:solidFill>
                  <a:schemeClr val="dk1"/>
                </a:solidFill>
              </a:rPr>
              <a:t>: Higher addiction scores than mental health scores indicate the urgency of intervention (nudges, education, time reminder features).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</a:rPr>
              <a:t>Data bias between countries</a:t>
            </a:r>
            <a:r>
              <a:rPr lang="id" sz="1200">
                <a:solidFill>
                  <a:schemeClr val="dk1"/>
                </a:solidFill>
              </a:rPr>
              <a:t>: Country-specific analysis must account for unbalanced sample sizes.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2400">
                <a:solidFill>
                  <a:srgbClr val="1474AF"/>
                </a:solidFill>
                <a:latin typeface="Open Sans"/>
                <a:ea typeface="Open Sans"/>
                <a:cs typeface="Open Sans"/>
                <a:sym typeface="Open Sans"/>
              </a:rPr>
              <a:t>Dataset </a:t>
            </a:r>
            <a:endParaRPr b="1" sz="2400">
              <a:solidFill>
                <a:srgbClr val="1474A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2400">
                <a:solidFill>
                  <a:srgbClr val="1474A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b="1" sz="2400">
              <a:solidFill>
                <a:srgbClr val="1474AF"/>
              </a:solidFill>
            </a:endParaRPr>
          </a:p>
        </p:txBody>
      </p:sp>
      <p:sp>
        <p:nvSpPr>
          <p:cNvPr id="349" name="Google Shape;349;p4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Students Social Media Addiction</a:t>
            </a:r>
            <a:r>
              <a:rPr lang="id"/>
              <a:t> </a:t>
            </a:r>
            <a:br>
              <a:rPr lang="id"/>
            </a:br>
            <a:r>
              <a:rPr b="1" lang="id" sz="1400"/>
              <a:t>13 </a:t>
            </a:r>
            <a:r>
              <a:rPr b="1" lang="id" sz="1400"/>
              <a:t>Column</a:t>
            </a:r>
            <a:r>
              <a:rPr b="1" lang="id" sz="1400"/>
              <a:t> | 705 Rows</a:t>
            </a:r>
            <a:endParaRPr b="1" sz="1400"/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555" y="929275"/>
            <a:ext cx="4302045" cy="341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2"/>
          <p:cNvSpPr txBox="1"/>
          <p:nvPr/>
        </p:nvSpPr>
        <p:spPr>
          <a:xfrm>
            <a:off x="265491" y="4525300"/>
            <a:ext cx="40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265491" y="4396625"/>
            <a:ext cx="40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237658">
            <a:off x="5917967" y="-143289"/>
            <a:ext cx="2297668" cy="259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563681" y="1960288"/>
            <a:ext cx="3348975" cy="36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3"/>
          <p:cNvSpPr txBox="1"/>
          <p:nvPr>
            <p:ph type="ctrTitle"/>
          </p:nvPr>
        </p:nvSpPr>
        <p:spPr>
          <a:xfrm>
            <a:off x="2572301" y="2500163"/>
            <a:ext cx="3999300" cy="611700"/>
          </a:xfrm>
          <a:prstGeom prst="rect">
            <a:avLst/>
          </a:prstGeom>
        </p:spPr>
        <p:txBody>
          <a:bodyPr anchorCtr="0" anchor="b" bIns="79750" lIns="79750" spcFirstLastPara="1" rIns="79750" wrap="square" tIns="7975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4"/>
              <a:buFont typeface="Arial"/>
              <a:buNone/>
            </a:pPr>
            <a:r>
              <a:rPr b="1" lang="id" sz="2000"/>
              <a:t>Exploring Students' Social Media Addiction:</a:t>
            </a:r>
            <a:endParaRPr b="1" sz="2000"/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4"/>
              <a:buFont typeface="Arial"/>
              <a:buNone/>
            </a:pPr>
            <a:r>
              <a:t/>
            </a:r>
            <a:endParaRPr b="1" sz="2000"/>
          </a:p>
        </p:txBody>
      </p:sp>
      <p:sp>
        <p:nvSpPr>
          <p:cNvPr id="360" name="Google Shape;360;p43"/>
          <p:cNvSpPr txBox="1"/>
          <p:nvPr>
            <p:ph idx="1" type="subTitle"/>
          </p:nvPr>
        </p:nvSpPr>
        <p:spPr>
          <a:xfrm>
            <a:off x="3162075" y="35602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5"/>
              </a:rPr>
              <a:t>Mikhael Putra Iswanto</a:t>
            </a:r>
            <a:endParaRPr b="1"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 u="sng">
                <a:solidFill>
                  <a:srgbClr val="FF9900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 u="sng">
                <a:solidFill>
                  <a:srgbClr val="FF9900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361" name="Google Shape;361;p43"/>
          <p:cNvSpPr txBox="1"/>
          <p:nvPr/>
        </p:nvSpPr>
        <p:spPr>
          <a:xfrm>
            <a:off x="2276425" y="2788763"/>
            <a:ext cx="45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2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Survey Insights from Q1 2025</a:t>
            </a:r>
            <a:endParaRPr sz="2200"/>
          </a:p>
        </p:txBody>
      </p:sp>
      <p:sp>
        <p:nvSpPr>
          <p:cNvPr id="362" name="Google Shape;362;p43"/>
          <p:cNvSpPr txBox="1"/>
          <p:nvPr>
            <p:ph type="ctrTitle"/>
          </p:nvPr>
        </p:nvSpPr>
        <p:spPr>
          <a:xfrm>
            <a:off x="3559877" y="2016038"/>
            <a:ext cx="23691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Calm </a:t>
            </a:r>
            <a:r>
              <a:rPr b="1" lang="id" sz="3600">
                <a:solidFill>
                  <a:srgbClr val="FF9900"/>
                </a:solidFill>
              </a:rPr>
              <a:t>Space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/>
          <p:nvPr/>
        </p:nvSpPr>
        <p:spPr>
          <a:xfrm>
            <a:off x="451052" y="750325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44"/>
          <p:cNvSpPr txBox="1"/>
          <p:nvPr/>
        </p:nvSpPr>
        <p:spPr>
          <a:xfrm>
            <a:off x="707875" y="799975"/>
            <a:ext cx="390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Industry Model &amp; Business Processes</a:t>
            </a:r>
            <a:endParaRPr sz="1600"/>
          </a:p>
        </p:txBody>
      </p:sp>
      <p:sp>
        <p:nvSpPr>
          <p:cNvPr id="369" name="Google Shape;369;p44"/>
          <p:cNvSpPr txBox="1"/>
          <p:nvPr/>
        </p:nvSpPr>
        <p:spPr>
          <a:xfrm>
            <a:off x="4674225" y="1256050"/>
            <a:ext cx="3246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300">
                <a:latin typeface="Roboto"/>
                <a:ea typeface="Roboto"/>
                <a:cs typeface="Roboto"/>
                <a:sym typeface="Roboto"/>
              </a:rPr>
              <a:t>&gt; Key Business Processes</a:t>
            </a:r>
            <a:endParaRPr sz="1300"/>
          </a:p>
        </p:txBody>
      </p:sp>
      <p:sp>
        <p:nvSpPr>
          <p:cNvPr id="370" name="Google Shape;370;p44"/>
          <p:cNvSpPr txBox="1"/>
          <p:nvPr/>
        </p:nvSpPr>
        <p:spPr>
          <a:xfrm>
            <a:off x="4610267" y="1545150"/>
            <a:ext cx="3246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7175" lvl="0" marL="360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Economica"/>
              <a:buChar char="●"/>
            </a:pPr>
            <a:r>
              <a:rPr b="1" i="1" lang="id" sz="1200">
                <a:latin typeface="Economica"/>
                <a:ea typeface="Economica"/>
                <a:cs typeface="Economica"/>
                <a:sym typeface="Economica"/>
              </a:rPr>
              <a:t>For Universities/Colleges,</a:t>
            </a:r>
            <a:r>
              <a:rPr i="1" lang="id" sz="1200">
                <a:latin typeface="Economica"/>
                <a:ea typeface="Economica"/>
                <a:cs typeface="Economica"/>
                <a:sym typeface="Economica"/>
              </a:rPr>
              <a:t> </a:t>
            </a:r>
            <a:br>
              <a:rPr i="1" lang="id" sz="1200">
                <a:latin typeface="Economica"/>
                <a:ea typeface="Economica"/>
                <a:cs typeface="Economica"/>
                <a:sym typeface="Economica"/>
              </a:rPr>
            </a:br>
            <a:r>
              <a:rPr lang="id" sz="1200">
                <a:latin typeface="Economica"/>
                <a:ea typeface="Economica"/>
                <a:cs typeface="Economica"/>
                <a:sym typeface="Economica"/>
              </a:rPr>
              <a:t>Assisting in developing policies related to social media use and student counseling services.</a:t>
            </a:r>
            <a:endParaRPr sz="1200">
              <a:latin typeface="Economica"/>
              <a:ea typeface="Economica"/>
              <a:cs typeface="Economica"/>
              <a:sym typeface="Economica"/>
            </a:endParaRPr>
          </a:p>
          <a:p>
            <a:pPr indent="-257175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conomica"/>
              <a:buChar char="●"/>
            </a:pPr>
            <a:r>
              <a:rPr b="1" i="1" lang="id" sz="1200">
                <a:latin typeface="Economica"/>
                <a:ea typeface="Economica"/>
                <a:cs typeface="Economica"/>
                <a:sym typeface="Economica"/>
              </a:rPr>
              <a:t>For Researchers/Educators,</a:t>
            </a:r>
            <a:r>
              <a:rPr i="1" lang="id" sz="1200">
                <a:latin typeface="Economica"/>
                <a:ea typeface="Economica"/>
                <a:cs typeface="Economica"/>
                <a:sym typeface="Economica"/>
              </a:rPr>
              <a:t> </a:t>
            </a:r>
            <a:br>
              <a:rPr i="1" lang="id" sz="1200">
                <a:latin typeface="Economica"/>
                <a:ea typeface="Economica"/>
                <a:cs typeface="Economica"/>
                <a:sym typeface="Economica"/>
              </a:rPr>
            </a:br>
            <a:r>
              <a:rPr lang="id" sz="1200">
                <a:latin typeface="Economica"/>
                <a:ea typeface="Economica"/>
                <a:cs typeface="Economica"/>
                <a:sym typeface="Economica"/>
              </a:rPr>
              <a:t>Serving as a source of data for further research in the fields of education and digital psychology.</a:t>
            </a:r>
            <a:endParaRPr sz="12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1" name="Google Shape;371;p44"/>
          <p:cNvSpPr txBox="1"/>
          <p:nvPr/>
        </p:nvSpPr>
        <p:spPr>
          <a:xfrm>
            <a:off x="774883" y="1313029"/>
            <a:ext cx="352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As a company that focuses on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technology-based mental and social health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Calm Space conducts quarterly surveys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, with the current target and objective being the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behavior of university and school students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 in various countries.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The results of this analysis will be integrated into an internal application that can be used by all users, especially college students, school students, and the public.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 txBox="1"/>
          <p:nvPr/>
        </p:nvSpPr>
        <p:spPr>
          <a:xfrm>
            <a:off x="6841801" y="3470000"/>
            <a:ext cx="178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 Maker 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CEO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Consulted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Data Scientist, Mental Health Expert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Informed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Stakeholder (Student, NGO, University, Public)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75" y="3163950"/>
            <a:ext cx="632350" cy="9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4283" y="3284750"/>
            <a:ext cx="789525" cy="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4"/>
          <p:cNvSpPr txBox="1"/>
          <p:nvPr/>
        </p:nvSpPr>
        <p:spPr>
          <a:xfrm>
            <a:off x="4296575" y="4176700"/>
            <a:ext cx="178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Approver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d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of Data &amp; Research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5573150" y="3721375"/>
            <a:ext cx="318000" cy="11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44"/>
          <p:cNvSpPr txBox="1"/>
          <p:nvPr/>
        </p:nvSpPr>
        <p:spPr>
          <a:xfrm>
            <a:off x="5402994" y="4176700"/>
            <a:ext cx="178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Responsible)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800"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4674225" y="3016250"/>
            <a:ext cx="222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300">
                <a:latin typeface="Roboto"/>
                <a:ea typeface="Roboto"/>
                <a:cs typeface="Roboto"/>
                <a:sym typeface="Roboto"/>
              </a:rPr>
              <a:t>&gt; Stakeholder Analysis</a:t>
            </a:r>
            <a:endParaRPr sz="1300"/>
          </a:p>
        </p:txBody>
      </p:sp>
      <p:sp>
        <p:nvSpPr>
          <p:cNvPr id="379" name="Google Shape;379;p44"/>
          <p:cNvSpPr txBox="1"/>
          <p:nvPr/>
        </p:nvSpPr>
        <p:spPr>
          <a:xfrm>
            <a:off x="1452775" y="3550688"/>
            <a:ext cx="1006800" cy="658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705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4"/>
          <p:cNvSpPr txBox="1"/>
          <p:nvPr/>
        </p:nvSpPr>
        <p:spPr>
          <a:xfrm>
            <a:off x="2611875" y="3550700"/>
            <a:ext cx="1240800" cy="658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110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Negara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4"/>
          <p:cNvSpPr txBox="1"/>
          <p:nvPr>
            <p:ph idx="4294967295" type="ctrTitle"/>
          </p:nvPr>
        </p:nvSpPr>
        <p:spPr>
          <a:xfrm>
            <a:off x="104575" y="189125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797025" y="1956500"/>
            <a:ext cx="30681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5"/>
          <p:cNvSpPr txBox="1"/>
          <p:nvPr>
            <p:ph type="title"/>
          </p:nvPr>
        </p:nvSpPr>
        <p:spPr>
          <a:xfrm>
            <a:off x="955447" y="2314016"/>
            <a:ext cx="3264900" cy="13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“Within 6 months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, Calm Space aims to reduce incidents of interpersonal conflict among students due to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excessive social media use by 15%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, by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increasing 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average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sleep quality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more than 30 minutes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 per night and 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lowering self-reported anxiety levels</a:t>
            </a: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id" sz="1200"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5"/>
          <p:cNvSpPr txBox="1"/>
          <p:nvPr>
            <p:ph type="title"/>
          </p:nvPr>
        </p:nvSpPr>
        <p:spPr>
          <a:xfrm>
            <a:off x="4503750" y="1998000"/>
            <a:ext cx="34338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Calibri"/>
                <a:ea typeface="Calibri"/>
                <a:cs typeface="Calibri"/>
                <a:sym typeface="Calibri"/>
              </a:rPr>
              <a:t>Objective </a:t>
            </a:r>
            <a:r>
              <a:rPr b="1" lang="id" sz="1400">
                <a:solidFill>
                  <a:srgbClr val="1474A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d" sz="1400">
                <a:solidFill>
                  <a:srgbClr val="1474AF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Root Causes Analysi</a:t>
            </a:r>
            <a:r>
              <a:rPr b="1" lang="id" sz="1400">
                <a:solidFill>
                  <a:srgbClr val="1474AF"/>
                </a:solidFill>
                <a:latin typeface="Calibri"/>
                <a:ea typeface="Calibri"/>
                <a:cs typeface="Calibri"/>
                <a:sym typeface="Calibri"/>
              </a:rPr>
              <a:t>s)</a:t>
            </a:r>
            <a:endParaRPr b="1" sz="1400">
              <a:solidFill>
                <a:srgbClr val="1474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5"/>
          <p:cNvSpPr txBox="1"/>
          <p:nvPr>
            <p:ph type="title"/>
          </p:nvPr>
        </p:nvSpPr>
        <p:spPr>
          <a:xfrm>
            <a:off x="4503750" y="2456600"/>
            <a:ext cx="3613500" cy="21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Identify the quantitative relationship between social media usage hours and mental health outcomes, sleep duration, and frequency of social conflicts.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Segment users (students) by country and usage patterns to understand intervention priorities per market.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Build a simple predictive model that can estimate the risk of interpersonal conflict based on surveys.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id" sz="1200">
                <a:latin typeface="Calibri"/>
                <a:ea typeface="Calibri"/>
                <a:cs typeface="Calibri"/>
                <a:sym typeface="Calibri"/>
              </a:rPr>
              <a:t>Provide actionable recommendations for stakeholders.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45" title="Academic Responden.png"/>
          <p:cNvPicPr preferRelativeResize="0"/>
          <p:nvPr/>
        </p:nvPicPr>
        <p:blipFill rotWithShape="1">
          <a:blip r:embed="rId4">
            <a:alphaModFix/>
          </a:blip>
          <a:srcRect b="18097" l="7774" r="6331" t="22471"/>
          <a:stretch/>
        </p:blipFill>
        <p:spPr>
          <a:xfrm>
            <a:off x="994721" y="900813"/>
            <a:ext cx="5288881" cy="8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5" title="Count Country.png"/>
          <p:cNvPicPr preferRelativeResize="0"/>
          <p:nvPr/>
        </p:nvPicPr>
        <p:blipFill rotWithShape="1">
          <a:blip r:embed="rId5">
            <a:alphaModFix/>
          </a:blip>
          <a:srcRect b="19276" l="20940" r="20940" t="22275"/>
          <a:stretch/>
        </p:blipFill>
        <p:spPr>
          <a:xfrm>
            <a:off x="6936900" y="981477"/>
            <a:ext cx="1212375" cy="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6"/>
          <p:cNvSpPr txBox="1"/>
          <p:nvPr>
            <p:ph idx="1" type="body"/>
          </p:nvPr>
        </p:nvSpPr>
        <p:spPr>
          <a:xfrm>
            <a:off x="3797300" y="1909875"/>
            <a:ext cx="4920600" cy="17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highlight>
                  <a:srgbClr val="FFF2CC"/>
                </a:highlight>
              </a:rPr>
              <a:t>Hasil Temuan </a:t>
            </a:r>
            <a:endParaRPr sz="1500">
              <a:highlight>
                <a:srgbClr val="FFF2CC"/>
              </a:highlight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Secure data type</a:t>
            </a: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(no missing values or duplicates)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majority of respondents are aged 19-22 years old.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Three outliers</a:t>
            </a: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were found in avg_daily_usage_hours.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Education: 27 high school, 353 undergraduate, and 325 graduate.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8" name="Google Shape;3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5925"/>
            <a:ext cx="2143431" cy="21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71748"/>
            <a:ext cx="2780750" cy="10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1" y="3672375"/>
            <a:ext cx="43245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"/>
          <p:cNvSpPr txBox="1"/>
          <p:nvPr>
            <p:ph type="title"/>
          </p:nvPr>
        </p:nvSpPr>
        <p:spPr>
          <a:xfrm>
            <a:off x="518575" y="368525"/>
            <a:ext cx="32631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u="sng">
                <a:solidFill>
                  <a:srgbClr val="1474AF"/>
                </a:solidFill>
              </a:rPr>
              <a:t>Exploratory Data Analytics</a:t>
            </a:r>
            <a:endParaRPr sz="3000" u="sng">
              <a:solidFill>
                <a:srgbClr val="1474AF"/>
              </a:solidFill>
            </a:endParaRPr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75" y="1303925"/>
            <a:ext cx="724575" cy="10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7"/>
          <p:cNvSpPr txBox="1"/>
          <p:nvPr/>
        </p:nvSpPr>
        <p:spPr>
          <a:xfrm>
            <a:off x="1505241" y="1776525"/>
            <a:ext cx="40050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705 responden, berusia dari 18 - 24 Tahun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id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Mayoritas responden sejak usia 19 - 22 tahun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700000" y="1722500"/>
            <a:ext cx="637500" cy="540000"/>
          </a:xfrm>
          <a:prstGeom prst="rect">
            <a:avLst/>
          </a:prstGeom>
          <a:noFill/>
          <a:ln cap="flat" cmpd="sng" w="9525">
            <a:solidFill>
              <a:srgbClr val="147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311700" y="1347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Dataset Awal</a:t>
            </a:r>
            <a:endParaRPr b="1" sz="2400"/>
          </a:p>
        </p:txBody>
      </p:sp>
      <p:pic>
        <p:nvPicPr>
          <p:cNvPr id="414" name="Google Shape;4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59538"/>
            <a:ext cx="4000674" cy="277793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8"/>
          <p:cNvSpPr txBox="1"/>
          <p:nvPr/>
        </p:nvSpPr>
        <p:spPr>
          <a:xfrm>
            <a:off x="311700" y="3637475"/>
            <a:ext cx="204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Volume Data 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-"/>
            </a:pPr>
            <a:r>
              <a:rPr lang="id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705 Baris 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-"/>
            </a:pPr>
            <a:r>
              <a:rPr lang="id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13 Kolom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48"/>
          <p:cNvSpPr txBox="1"/>
          <p:nvPr/>
        </p:nvSpPr>
        <p:spPr>
          <a:xfrm>
            <a:off x="4480650" y="2721175"/>
            <a:ext cx="204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 missing value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650" y="890450"/>
            <a:ext cx="1695375" cy="17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4300" y="890448"/>
            <a:ext cx="2134987" cy="7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8"/>
          <p:cNvSpPr txBox="1"/>
          <p:nvPr/>
        </p:nvSpPr>
        <p:spPr>
          <a:xfrm>
            <a:off x="5620075" y="3776075"/>
            <a:ext cx="2356800" cy="354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Dataset sudah bersih dan rapi </a:t>
            </a:r>
            <a:endParaRPr b="1" i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type="title"/>
          </p:nvPr>
        </p:nvSpPr>
        <p:spPr>
          <a:xfrm>
            <a:off x="311700" y="1347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Type Data</a:t>
            </a:r>
            <a:endParaRPr b="1" sz="2400"/>
          </a:p>
        </p:txBody>
      </p:sp>
      <p:graphicFrame>
        <p:nvGraphicFramePr>
          <p:cNvPr id="425" name="Google Shape;425;p49"/>
          <p:cNvGraphicFramePr/>
          <p:nvPr/>
        </p:nvGraphicFramePr>
        <p:xfrm>
          <a:off x="396500" y="9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{EAB7DCBE-7E1C-41CC-BE18-94179EEAA9AB}</a:tableStyleId>
              </a:tblPr>
              <a:tblGrid>
                <a:gridCol w="2171700"/>
                <a:gridCol w="952500"/>
                <a:gridCol w="32575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rgbClr val="3C4043"/>
                          </a:solidFill>
                        </a:rPr>
                        <a:t>Variable</a:t>
                      </a:r>
                      <a:endParaRPr b="1" sz="1100">
                        <a:solidFill>
                          <a:srgbClr val="3C404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rgbClr val="3C4043"/>
                          </a:solidFill>
                        </a:rPr>
                        <a:t>Type</a:t>
                      </a:r>
                      <a:endParaRPr b="1" sz="1100">
                        <a:solidFill>
                          <a:srgbClr val="3C404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rgbClr val="3C4043"/>
                          </a:solidFill>
                        </a:rPr>
                        <a:t>Description</a:t>
                      </a:r>
                      <a:endParaRPr b="1" sz="1100">
                        <a:solidFill>
                          <a:srgbClr val="3C404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Student_ID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Integer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Unique respondent identifier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Age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Integer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Age in years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Gender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Categorical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“Male” or “Female”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Academic_Level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Categorical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High School / Undergraduate / Graduate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Country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Categorical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Country of residence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Avg_Daily_Usage_Hours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Float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Average hours per day on social media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Most_Used_Platform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Categorical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Instagram, Facebook, TikTok, etc.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Affects_Academic_Performance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Boolean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Self‐reported impact on academics (Yes/No)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Sleep_Hours_Per_Night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Float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Average nightly sleep hours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Mental_Health_Score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Integer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Self‐rated mental health (1 = poor to 10 = excellent)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Relationship_Status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Categorical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Single / In Relationship / Complicated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Conflicts_Over_Social_Media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Integer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Number of relationship conflicts due to social media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Addicted_Score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Integer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>
                          <a:solidFill>
                            <a:srgbClr val="202124"/>
                          </a:solidFill>
                        </a:rPr>
                        <a:t>Social Media Addiction Score (1 = low to 10 = high)</a:t>
                      </a:r>
                      <a:endParaRPr sz="1100">
                        <a:solidFill>
                          <a:srgbClr val="202124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1347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Distribusi Data</a:t>
            </a:r>
            <a:endParaRPr b="1" sz="2400"/>
          </a:p>
        </p:txBody>
      </p:sp>
      <p:pic>
        <p:nvPicPr>
          <p:cNvPr id="431" name="Google Shape;4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0450"/>
            <a:ext cx="6796224" cy="17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0"/>
          <p:cNvSpPr txBox="1"/>
          <p:nvPr/>
        </p:nvSpPr>
        <p:spPr>
          <a:xfrm>
            <a:off x="256600" y="2544350"/>
            <a:ext cx="751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152400" y="2728100"/>
            <a:ext cx="5977200" cy="2047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Usia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mahasiswa berkisar </a:t>
            </a:r>
            <a:r>
              <a:rPr b="1"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18-24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tahun, rata-rata </a:t>
            </a:r>
            <a:r>
              <a:rPr b="1"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20,65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tahun</a:t>
            </a:r>
            <a:endParaRPr sz="11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Penggunaan Media Sosial rata-rata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4,9 jam/hari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media social,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25%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menggunakan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&lt;4,1jam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25%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&gt;5,8 jam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per hari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ada yang 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ingga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8,5 jam/hari (berlebihan)</a:t>
            </a:r>
            <a:endParaRPr b="1" sz="11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Kualitas 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Tidur rata-rata jam tidur </a:t>
            </a:r>
            <a:r>
              <a:rPr b="1"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6,8 jam/hari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(relative sehat namun ada di batas Bawah), ada yang 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tidur hanya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3,8 jam (potensi gangguan tidur)</a:t>
            </a:r>
            <a:endParaRPr b="1" sz="11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Kesehatan Mental score 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(skala 1-10) </a:t>
            </a:r>
            <a:r>
              <a:rPr b="1"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rata-rata 6.2 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(cukup stabil, tapi tidak tinggi)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ada mahasiswa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skor 4 (rentan dalam psikologis)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25% 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berada pada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skor &lt;5 (rawan masalah mental health)</a:t>
            </a:r>
            <a:endParaRPr b="1" sz="11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Konflik karena social media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(skala 0-5),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rata-rata 2.8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50%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mahasiswa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&gt;3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(artinya cukup tinggi),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ada mahasiswa tidak mengalami dengan </a:t>
            </a: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skor 0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tetapi ada juga yang selalu konflik dengan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skor 5</a:t>
            </a:r>
            <a:endParaRPr b="1" sz="11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59849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id" sz="11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Tingkat Adiksi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(skala 1-10), 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rata-rata skor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6,4 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(di level menengah ke tinggi)</a:t>
            </a:r>
            <a:r>
              <a:rPr lang="id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Sebagian mahasiswa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adiksi </a:t>
            </a:r>
            <a:r>
              <a:rPr b="1"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maksimum 9</a:t>
            </a:r>
            <a:r>
              <a:rPr lang="id" sz="11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 (menunjukkan kasus kecanduan berat)</a:t>
            </a:r>
            <a:endParaRPr sz="11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/>
          <p:nvPr>
            <p:ph idx="1" type="body"/>
          </p:nvPr>
        </p:nvSpPr>
        <p:spPr>
          <a:xfrm>
            <a:off x="154600" y="694050"/>
            <a:ext cx="69384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69999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Arial"/>
                <a:ea typeface="Arial"/>
                <a:cs typeface="Arial"/>
                <a:sym typeface="Arial"/>
              </a:rPr>
              <a:t>Tingginya penggunaan media sosial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(hampir 5 jam/hari) berhubungan dan berkaitan dengan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tingginya konflik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skor adiksi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i="1" lang="id" sz="9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Tidak ada benchmark resmi dunia (WHO/CDC/UNICEF) durasi ideal penggunaan handphone usia remaja - dewasa</a:t>
            </a:r>
            <a:endParaRPr i="1" sz="900">
              <a:highlight>
                <a:srgbClr val="FCE5C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Arial"/>
                <a:ea typeface="Arial"/>
                <a:cs typeface="Arial"/>
                <a:sym typeface="Arial"/>
              </a:rPr>
              <a:t>Kualitas tidur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sebagian mahasiswa terganggu (tidur &lt;5 jam) → bisa dikaitkan dengan penggunaan sosial media berlebih.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b="1" i="1" lang="id" sz="900"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rPr>
              <a:t>#Benchmark</a:t>
            </a:r>
            <a:r>
              <a:rPr i="1" lang="id" sz="900"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id" sz="9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Otoritas kesehatan CDC merekomendasikan (18–60 th) </a:t>
            </a:r>
            <a:r>
              <a:rPr b="1" i="1" lang="id" sz="900"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rPr>
              <a:t>≥7 jam per malam</a:t>
            </a:r>
            <a:r>
              <a:rPr i="1" lang="id" sz="900"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rPr>
              <a:t> secara teratur</a:t>
            </a:r>
            <a:endParaRPr i="1" sz="900">
              <a:highlight>
                <a:srgbClr val="FCE5C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Arial"/>
                <a:ea typeface="Arial"/>
                <a:cs typeface="Arial"/>
                <a:sym typeface="Arial"/>
              </a:rPr>
              <a:t>Kesehatan mental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cukup stabil di rata-rata (6,2), tetapi terdapat kelompok mahasiswa yang rentan (skor ≤5).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i="1" lang="id" sz="9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Skala 1-10 berupa perbandingan internal bukan standar resmi</a:t>
            </a:r>
            <a:endParaRPr i="1" sz="900"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69999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Arial"/>
                <a:ea typeface="Arial"/>
                <a:cs typeface="Arial"/>
                <a:sym typeface="Arial"/>
              </a:rPr>
              <a:t>Adiksi sosial media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nyata di kalangan mahasiswa, dengan rata-rata tinggi (6,4) dan beberapa kasus ekstrem (9/10).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i="1" lang="id" sz="9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Skala 1-10 berupa perbandingan internal, Untuk penilaian yang lebih valid, perlu konversikan skala 1–10 ke instrumen baku seperti BSMAS atau gunakan BSMAS di survei lanjutan.</a:t>
            </a:r>
            <a:endParaRPr i="1" sz="900"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1"/>
          <p:cNvSpPr txBox="1"/>
          <p:nvPr>
            <p:ph type="title"/>
          </p:nvPr>
        </p:nvSpPr>
        <p:spPr>
          <a:xfrm>
            <a:off x="154600" y="-616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Insight</a:t>
            </a:r>
            <a:endParaRPr b="1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"/>
          <p:cNvSpPr txBox="1"/>
          <p:nvPr>
            <p:ph type="title"/>
          </p:nvPr>
        </p:nvSpPr>
        <p:spPr>
          <a:xfrm>
            <a:off x="311700" y="134750"/>
            <a:ext cx="3808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Distribusi (histogram, boxplot)</a:t>
            </a:r>
            <a:endParaRPr b="1" sz="2400"/>
          </a:p>
        </p:txBody>
      </p:sp>
      <p:pic>
        <p:nvPicPr>
          <p:cNvPr id="445" name="Google Shape;4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890450"/>
            <a:ext cx="4872550" cy="289247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2"/>
          <p:cNvSpPr txBox="1"/>
          <p:nvPr>
            <p:ph idx="1" type="body"/>
          </p:nvPr>
        </p:nvSpPr>
        <p:spPr>
          <a:xfrm>
            <a:off x="4900425" y="1127025"/>
            <a:ext cx="4200000" cy="16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165100" lvl="0" marL="269999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900">
                <a:latin typeface="Arial"/>
                <a:ea typeface="Arial"/>
                <a:cs typeface="Arial"/>
                <a:sym typeface="Arial"/>
              </a:rPr>
              <a:t>Menunjukkan data diambil dari populasi mahasiswa/anak muda (18-24th).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52400" lvl="0" marL="269999" rtl="0" algn="l">
              <a:spcBef>
                <a:spcPts val="0"/>
              </a:spcBef>
              <a:spcAft>
                <a:spcPts val="0"/>
              </a:spcAft>
              <a:buSzPts val="900"/>
              <a:buFont typeface="Arial"/>
              <a:buAutoNum type="arabicPeriod"/>
            </a:pPr>
            <a:r>
              <a:rPr b="1" lang="id" sz="900">
                <a:latin typeface="Arial"/>
                <a:ea typeface="Arial"/>
                <a:cs typeface="Arial"/>
                <a:sym typeface="Arial"/>
              </a:rPr>
              <a:t>Tinggi penggunaan media sosial (≥6 jam/hari)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 berkorelasi dengan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tingkat adiksi yang lebih tinggi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52400" lvl="0" marL="269999" rtl="0" algn="l">
              <a:spcBef>
                <a:spcPts val="0"/>
              </a:spcBef>
              <a:spcAft>
                <a:spcPts val="0"/>
              </a:spcAft>
              <a:buSzPts val="900"/>
              <a:buFont typeface="Arial"/>
              <a:buAutoNum type="arabicPeriod"/>
            </a:pPr>
            <a:r>
              <a:rPr b="1" lang="id" sz="900">
                <a:latin typeface="Arial"/>
                <a:ea typeface="Arial"/>
                <a:cs typeface="Arial"/>
                <a:sym typeface="Arial"/>
              </a:rPr>
              <a:t>Tidur yang kurang (&lt;6 jam)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 cenderung berhubungan dengan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skor kesehatan mental yang rendah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52400" lvl="0" marL="269999" rtl="0" algn="l">
              <a:spcBef>
                <a:spcPts val="0"/>
              </a:spcBef>
              <a:spcAft>
                <a:spcPts val="0"/>
              </a:spcAft>
              <a:buSzPts val="900"/>
              <a:buFont typeface="Arial"/>
              <a:buAutoNum type="arabicPeriod"/>
            </a:pPr>
            <a:r>
              <a:rPr b="1" lang="id" sz="900">
                <a:latin typeface="Arial"/>
                <a:ea typeface="Arial"/>
                <a:cs typeface="Arial"/>
                <a:sym typeface="Arial"/>
              </a:rPr>
              <a:t>Adiksi tinggi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 bisa berkontribusi terhadap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konflik sosial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 serta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penurunan mental health score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52400" lvl="0" marL="269999" rtl="0" algn="l">
              <a:spcBef>
                <a:spcPts val="0"/>
              </a:spcBef>
              <a:spcAft>
                <a:spcPts val="0"/>
              </a:spcAft>
              <a:buSzPts val="900"/>
              <a:buFont typeface="Arial"/>
              <a:buAutoNum type="arabicPeriod"/>
            </a:pPr>
            <a:r>
              <a:rPr lang="id" sz="900">
                <a:latin typeface="Arial"/>
                <a:ea typeface="Arial"/>
                <a:cs typeface="Arial"/>
                <a:sym typeface="Arial"/>
              </a:rPr>
              <a:t>Kelompok usia muda (18–24) rentan terhadap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adiksi media sosial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b="1" lang="id" sz="900">
                <a:latin typeface="Arial"/>
                <a:ea typeface="Arial"/>
                <a:cs typeface="Arial"/>
                <a:sym typeface="Arial"/>
              </a:rPr>
              <a:t>konflik interpersonal</a:t>
            </a:r>
            <a:r>
              <a:rPr lang="id" sz="900">
                <a:latin typeface="Arial"/>
                <a:ea typeface="Arial"/>
                <a:cs typeface="Arial"/>
                <a:sym typeface="Arial"/>
              </a:rPr>
              <a:t>, sehingga penting intervensi preventif.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7655775" y="738750"/>
            <a:ext cx="1216800" cy="52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200"/>
              <a:t>Insight</a:t>
            </a:r>
            <a:endParaRPr b="1"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 txBox="1"/>
          <p:nvPr>
            <p:ph type="title"/>
          </p:nvPr>
        </p:nvSpPr>
        <p:spPr>
          <a:xfrm>
            <a:off x="311700" y="813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D</a:t>
            </a:r>
            <a:r>
              <a:rPr b="1" lang="id" sz="2400"/>
              <a:t>ata Outlier (IQR)</a:t>
            </a:r>
            <a:endParaRPr b="1" sz="2400"/>
          </a:p>
        </p:txBody>
      </p:sp>
      <p:sp>
        <p:nvSpPr>
          <p:cNvPr id="453" name="Google Shape;453;p53"/>
          <p:cNvSpPr txBox="1"/>
          <p:nvPr/>
        </p:nvSpPr>
        <p:spPr>
          <a:xfrm>
            <a:off x="311700" y="837000"/>
            <a:ext cx="57537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(IQR)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student_id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student_id, dtype: int64)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age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age, dtype: int64)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avg_daily_usage_hours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6      1.5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486    8.4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496    8.5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Name: avg_daily_usage_hours, dtype: float64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sleep_hours_per_night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sleep_hours_per_night, dtype: float64)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mental_health_score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mental_health_score, dtype: int64)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conflicts_over_social_media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conflicts_over_social_media, dtype: int64)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Outliers addicted_score (IQR):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Series([], Name: addicted_score, dtype: int64)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53"/>
          <p:cNvSpPr/>
          <p:nvPr/>
        </p:nvSpPr>
        <p:spPr>
          <a:xfrm>
            <a:off x="215050" y="2121325"/>
            <a:ext cx="3818400" cy="976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" name="Google Shape;455;p53"/>
          <p:cNvSpPr txBox="1"/>
          <p:nvPr/>
        </p:nvSpPr>
        <p:spPr>
          <a:xfrm>
            <a:off x="3497750" y="1964225"/>
            <a:ext cx="11274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#Outlier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6" name="Google Shape;456;p53"/>
          <p:cNvSpPr txBox="1"/>
          <p:nvPr/>
        </p:nvSpPr>
        <p:spPr>
          <a:xfrm>
            <a:off x="4033450" y="2333525"/>
            <a:ext cx="238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masih relevan tidak perlu dihapus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type="title"/>
          </p:nvPr>
        </p:nvSpPr>
        <p:spPr>
          <a:xfrm>
            <a:off x="311700" y="81300"/>
            <a:ext cx="4089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Proporsi per kategori</a:t>
            </a:r>
            <a:endParaRPr b="1" sz="2400"/>
          </a:p>
        </p:txBody>
      </p:sp>
      <p:pic>
        <p:nvPicPr>
          <p:cNvPr id="462" name="Google Shape;4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50" y="837000"/>
            <a:ext cx="6751126" cy="36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idx="1" type="body"/>
          </p:nvPr>
        </p:nvSpPr>
        <p:spPr>
          <a:xfrm>
            <a:off x="154600" y="694050"/>
            <a:ext cx="69384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Arial"/>
                <a:ea typeface="Arial"/>
                <a:cs typeface="Arial"/>
                <a:sym typeface="Arial"/>
              </a:rPr>
              <a:t>Mayoritas responden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mahasiswa usia kuliah (Undergraduate, 18–24 tahun)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dengan status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Single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rentan menghabiskan banyak waktu di media sosial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Arial"/>
                <a:ea typeface="Arial"/>
                <a:cs typeface="Arial"/>
                <a:sym typeface="Arial"/>
              </a:rPr>
              <a:t>Platform utama yang dipakai adalah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Instagram, TikTok, Facebook, dan Whatsapp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, yang dikenal sangat adiktif selaras dengan temuan skor adiksi tinggi.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Arial"/>
                <a:ea typeface="Arial"/>
                <a:cs typeface="Arial"/>
                <a:sym typeface="Arial"/>
              </a:rPr>
              <a:t>Lebih dari separuh responden mengaku akademiknya terganggu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karena media sosial ini mendukung adanya hubungan antara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lama penggunaan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turunnya performa belajar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Arial"/>
                <a:ea typeface="Arial"/>
                <a:cs typeface="Arial"/>
                <a:sym typeface="Arial"/>
              </a:rPr>
              <a:t>Karena dataset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multi-negara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, ada peluang untuk analisis 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perbedaan budaya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: misalnya negara mana yang paling tinggi penggunaan TikTok, atau dampak akademiknya lebih besar di mana.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5"/>
          <p:cNvSpPr txBox="1"/>
          <p:nvPr>
            <p:ph type="title"/>
          </p:nvPr>
        </p:nvSpPr>
        <p:spPr>
          <a:xfrm>
            <a:off x="154600" y="-616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Insight</a:t>
            </a:r>
            <a:endParaRPr b="1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/>
          <p:nvPr>
            <p:ph type="title"/>
          </p:nvPr>
        </p:nvSpPr>
        <p:spPr>
          <a:xfrm>
            <a:off x="311700" y="81300"/>
            <a:ext cx="4089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Korelasi (Numerik vs Addicted Score)</a:t>
            </a:r>
            <a:endParaRPr b="1" sz="2400"/>
          </a:p>
        </p:txBody>
      </p:sp>
      <p:pic>
        <p:nvPicPr>
          <p:cNvPr id="474" name="Google Shape;47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7000"/>
            <a:ext cx="4742201" cy="40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>
            <p:ph idx="1" type="body"/>
          </p:nvPr>
        </p:nvSpPr>
        <p:spPr>
          <a:xfrm>
            <a:off x="154600" y="694050"/>
            <a:ext cx="69384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avg_daily_usage_hours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addicted_score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≈ +0.8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→ sangat positif.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Semakin lama rata-rata pakai media sosial, semakin tinggi skor kecanduan.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avg_daily_usage_hours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sleep_hours_per_night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≈ −0.8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→ kuat negatif.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Pakai banyak → tidur berkurang.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avg_daily_usage_hours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mental_health_score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≈ −0.8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→ kuat negatif.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Pakai banyak → kesehatan mental (skor) menurun.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conflicts_over_social_media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addicted_score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≈ +0.9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→ sangat kuat.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Konflik terkait media sosial berjalan seiring dengan skor kecanduan.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addicted_score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mental_health_score</a:t>
            </a:r>
            <a:r>
              <a:rPr b="1" lang="id" sz="1100">
                <a:latin typeface="Arial"/>
                <a:ea typeface="Arial"/>
                <a:cs typeface="Arial"/>
                <a:sym typeface="Arial"/>
              </a:rPr>
              <a:t> ≈ −0.95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→ sangat kuat negatif.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Skor kecanduan tinggi hampir selalu berasosiasi dengan mental health rendah.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 korelasinya lemah ke variabel utama → usia tampaknya bukan driver utama.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 sz="1100">
                <a:latin typeface="Arial"/>
                <a:ea typeface="Arial"/>
                <a:cs typeface="Arial"/>
                <a:sym typeface="Arial"/>
              </a:rPr>
              <a:t>Intinya: jalur yang jelas muncul adalah</a:t>
            </a:r>
            <a:br>
              <a:rPr lang="id" sz="1100">
                <a:latin typeface="Arial"/>
                <a:ea typeface="Arial"/>
                <a:cs typeface="Arial"/>
                <a:sym typeface="Arial"/>
              </a:rPr>
            </a:br>
            <a:r>
              <a:rPr lang="id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avg_daily_usage_hours ↑ → addicted_score ↑ → conflicts ↑ &amp; sleep ↓ → mental_health ↓</a:t>
            </a:r>
            <a:r>
              <a:rPr lang="id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7"/>
          <p:cNvSpPr txBox="1"/>
          <p:nvPr>
            <p:ph type="title"/>
          </p:nvPr>
        </p:nvSpPr>
        <p:spPr>
          <a:xfrm>
            <a:off x="154600" y="-616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Insight</a:t>
            </a:r>
            <a:endParaRPr b="1"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/>
          <p:nvPr>
            <p:ph type="title"/>
          </p:nvPr>
        </p:nvSpPr>
        <p:spPr>
          <a:xfrm>
            <a:off x="311700" y="81300"/>
            <a:ext cx="4089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/>
              <a:t>Korelasi (Numerik vs Addicted Score)</a:t>
            </a:r>
            <a:endParaRPr b="1" sz="2400"/>
          </a:p>
        </p:txBody>
      </p:sp>
      <p:pic>
        <p:nvPicPr>
          <p:cNvPr id="486" name="Google Shape;48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7000"/>
            <a:ext cx="5296874" cy="34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9"/>
          <p:cNvSpPr txBox="1"/>
          <p:nvPr>
            <p:ph idx="1" type="body"/>
          </p:nvPr>
        </p:nvSpPr>
        <p:spPr>
          <a:xfrm>
            <a:off x="185650" y="290300"/>
            <a:ext cx="6938400" cy="30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Calibri"/>
              <a:buAutoNum type="arabicPeriod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Media Sosial vs Sleep Hours (jam tidur per malam)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39700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Pola: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Garis tren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menurun tajam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semakin lama penggunaan media sosial, semakin sedikit jam tidur.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39700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Ada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hubungan negatif kuat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penggunaan media sosial berlebihan mengurangi kualitas &amp; kuantitas tidur (contoh: dari 8–9 jam turun ke 4–5 jam/hari).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39700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ni konsisten dengan riset kesehatan global → paparan layar berlebih ganggu melatonin &amp; jam biologis.</a:t>
            </a:r>
            <a:br>
              <a:rPr lang="id" sz="700">
                <a:latin typeface="Arial"/>
                <a:ea typeface="Arial"/>
                <a:cs typeface="Arial"/>
                <a:sym typeface="Arial"/>
              </a:rPr>
            </a:b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rabicPeriod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Media Sosial vs Mental Health Score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Pola: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Garis tren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menurun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makin tinggi durasi media sosial, makin rendah skor kesehatan mental.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Ada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hubungan negatif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penggunaan sosial media berlebihan terkait dengan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stres, cemas, atau depresi lebih tinggi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Ini sejalan dengan WHO &amp; penelitian psikologi bahwa overuse medsos bisa memicu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FOMO (fear of missing out)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, perbandingan sosial, dll.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rabicPeriod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Media Sosial vs Conflicts Over Social Media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Pola: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Garis tren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menanjak positif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semakin lama pakai media sosial, makin banyak konflik (misalnya debat, toxic comment, masalah pertemanan).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Ada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hubungan positif moderat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penggunaan medsos lama memperbesar potensi konflik interpersonal.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Bisa terkait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cyberbullying, perselisihan opini, atau masalah privasi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rabicPeriod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Media Sosial vs Addicted Score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Pola: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Garis tren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positif tajam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makin lama penggunaan, makin tinggi tingkat adiksi.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b="1" lang="id" sz="700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Hubungan </a:t>
            </a:r>
            <a:r>
              <a:rPr b="1" lang="id" sz="700">
                <a:latin typeface="Arial"/>
                <a:ea typeface="Arial"/>
                <a:cs typeface="Arial"/>
                <a:sym typeface="Arial"/>
              </a:rPr>
              <a:t>sangat kuat</a:t>
            </a:r>
            <a:r>
              <a:rPr lang="id" sz="700">
                <a:latin typeface="Arial"/>
                <a:ea typeface="Arial"/>
                <a:cs typeface="Arial"/>
                <a:sym typeface="Arial"/>
              </a:rPr>
              <a:t> → durasi tinggi menjadi indikator jelas adiksi media sosial.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49225" lvl="0" marL="630000" rtl="0" algn="l"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●"/>
            </a:pPr>
            <a:r>
              <a:rPr lang="id" sz="700">
                <a:latin typeface="Arial"/>
                <a:ea typeface="Arial"/>
                <a:cs typeface="Arial"/>
                <a:sym typeface="Arial"/>
              </a:rPr>
              <a:t>Skor adiksi naik hampir linier dengan jam penggunaan → &gt;6 jam/hari sudah masuk zona adiksi serius.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/>
          <p:nvPr>
            <p:ph type="title"/>
          </p:nvPr>
        </p:nvSpPr>
        <p:spPr>
          <a:xfrm>
            <a:off x="311700" y="2768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Layout Dashboard</a:t>
            </a:r>
            <a:endParaRPr/>
          </a:p>
        </p:txBody>
      </p:sp>
      <p:sp>
        <p:nvSpPr>
          <p:cNvPr id="497" name="Google Shape;497;p60"/>
          <p:cNvSpPr txBox="1"/>
          <p:nvPr>
            <p:ph idx="1" type="body"/>
          </p:nvPr>
        </p:nvSpPr>
        <p:spPr>
          <a:xfrm>
            <a:off x="657525" y="1032525"/>
            <a:ext cx="1539900" cy="75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Total Responden</a:t>
            </a:r>
            <a:endParaRPr b="1"/>
          </a:p>
        </p:txBody>
      </p:sp>
      <p:sp>
        <p:nvSpPr>
          <p:cNvPr id="498" name="Google Shape;498;p60"/>
          <p:cNvSpPr txBox="1"/>
          <p:nvPr>
            <p:ph idx="1" type="body"/>
          </p:nvPr>
        </p:nvSpPr>
        <p:spPr>
          <a:xfrm>
            <a:off x="2197425" y="1032525"/>
            <a:ext cx="1539900" cy="75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Avg Daily Usage</a:t>
            </a:r>
            <a:endParaRPr b="1"/>
          </a:p>
        </p:txBody>
      </p:sp>
      <p:sp>
        <p:nvSpPr>
          <p:cNvPr id="499" name="Google Shape;499;p60"/>
          <p:cNvSpPr txBox="1"/>
          <p:nvPr>
            <p:ph idx="1" type="body"/>
          </p:nvPr>
        </p:nvSpPr>
        <p:spPr>
          <a:xfrm>
            <a:off x="3737325" y="1032525"/>
            <a:ext cx="1539900" cy="75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Avg Sleep Hours/Night</a:t>
            </a:r>
            <a:endParaRPr b="1"/>
          </a:p>
        </p:txBody>
      </p:sp>
      <p:sp>
        <p:nvSpPr>
          <p:cNvPr id="500" name="Google Shape;500;p60"/>
          <p:cNvSpPr txBox="1"/>
          <p:nvPr>
            <p:ph idx="1" type="body"/>
          </p:nvPr>
        </p:nvSpPr>
        <p:spPr>
          <a:xfrm>
            <a:off x="5277225" y="1032525"/>
            <a:ext cx="1539900" cy="75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Avg Score Mental Health</a:t>
            </a:r>
            <a:endParaRPr b="1"/>
          </a:p>
        </p:txBody>
      </p:sp>
      <p:sp>
        <p:nvSpPr>
          <p:cNvPr id="501" name="Google Shape;501;p60"/>
          <p:cNvSpPr txBox="1"/>
          <p:nvPr>
            <p:ph idx="1" type="body"/>
          </p:nvPr>
        </p:nvSpPr>
        <p:spPr>
          <a:xfrm>
            <a:off x="6817125" y="1032525"/>
            <a:ext cx="1539900" cy="75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Avg Score Addicted</a:t>
            </a:r>
            <a:endParaRPr b="1"/>
          </a:p>
        </p:txBody>
      </p:sp>
      <p:sp>
        <p:nvSpPr>
          <p:cNvPr id="502" name="Google Shape;502;p60"/>
          <p:cNvSpPr txBox="1"/>
          <p:nvPr>
            <p:ph idx="1" type="body"/>
          </p:nvPr>
        </p:nvSpPr>
        <p:spPr>
          <a:xfrm>
            <a:off x="657525" y="1788225"/>
            <a:ext cx="3079800" cy="119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/>
              <a:t>Daily Usage / Country</a:t>
            </a:r>
            <a:endParaRPr b="1"/>
          </a:p>
        </p:txBody>
      </p:sp>
      <p:sp>
        <p:nvSpPr>
          <p:cNvPr id="503" name="Google Shape;503;p60"/>
          <p:cNvSpPr txBox="1"/>
          <p:nvPr>
            <p:ph idx="1" type="body"/>
          </p:nvPr>
        </p:nvSpPr>
        <p:spPr>
          <a:xfrm>
            <a:off x="3737325" y="1788225"/>
            <a:ext cx="2282100" cy="119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Daily Usage</a:t>
            </a:r>
            <a:endParaRPr b="1"/>
          </a:p>
        </p:txBody>
      </p:sp>
      <p:sp>
        <p:nvSpPr>
          <p:cNvPr id="504" name="Google Shape;504;p60"/>
          <p:cNvSpPr txBox="1"/>
          <p:nvPr>
            <p:ph idx="1" type="body"/>
          </p:nvPr>
        </p:nvSpPr>
        <p:spPr>
          <a:xfrm>
            <a:off x="6019425" y="1788225"/>
            <a:ext cx="2337600" cy="119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Sleep Hours</a:t>
            </a:r>
            <a:endParaRPr b="1"/>
          </a:p>
        </p:txBody>
      </p:sp>
      <p:sp>
        <p:nvSpPr>
          <p:cNvPr id="505" name="Google Shape;505;p60"/>
          <p:cNvSpPr txBox="1"/>
          <p:nvPr>
            <p:ph idx="1" type="body"/>
          </p:nvPr>
        </p:nvSpPr>
        <p:spPr>
          <a:xfrm>
            <a:off x="657525" y="2978925"/>
            <a:ext cx="3079800" cy="1190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/>
              <a:t>Correlate Daily Usage vs Sleep Hours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