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4"/>
    <p:sldMasterId id="214748367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5143500" cx="9144000"/>
  <p:notesSz cx="6858000" cy="9144000"/>
  <p:embeddedFontLst>
    <p:embeddedFont>
      <p:font typeface="Roboto Black"/>
      <p:bold r:id="rId37"/>
      <p:boldItalic r:id="rId38"/>
    </p:embeddedFont>
    <p:embeddedFont>
      <p:font typeface="Anek Devanagari"/>
      <p:regular r:id="rId39"/>
      <p:bold r:id="rId40"/>
    </p:embeddedFont>
    <p:embeddedFont>
      <p:font typeface="Mulish"/>
      <p:regular r:id="rId41"/>
      <p:bold r:id="rId42"/>
      <p:italic r:id="rId43"/>
      <p:boldItalic r:id="rId44"/>
    </p:embeddedFont>
    <p:embeddedFont>
      <p:font typeface="Proxima Nova"/>
      <p:regular r:id="rId45"/>
      <p:bold r:id="rId46"/>
      <p:italic r:id="rId47"/>
      <p:boldItalic r:id="rId48"/>
    </p:embeddedFont>
    <p:embeddedFont>
      <p:font typeface="Roboto"/>
      <p:regular r:id="rId49"/>
      <p:bold r:id="rId50"/>
      <p:italic r:id="rId51"/>
      <p:boldItalic r:id="rId52"/>
    </p:embeddedFont>
    <p:embeddedFont>
      <p:font typeface="Anek Devanagari SemiBold"/>
      <p:regular r:id="rId53"/>
      <p:bold r:id="rId54"/>
    </p:embeddedFont>
    <p:embeddedFont>
      <p:font typeface="Proxima Nova Semibold"/>
      <p:regular r:id="rId55"/>
      <p:bold r:id="rId56"/>
      <p:boldItalic r:id="rId57"/>
    </p:embeddedFont>
    <p:embeddedFont>
      <p:font typeface="PT Sans"/>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28">
          <p15:clr>
            <a:srgbClr val="747775"/>
          </p15:clr>
        </p15:guide>
        <p15:guide id="2" pos="532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8"/>
        <p:guide pos="53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nekDevanagari-bold.fntdata"/><Relationship Id="rId42" Type="http://schemas.openxmlformats.org/officeDocument/2006/relationships/font" Target="fonts/Mulish-bold.fntdata"/><Relationship Id="rId41" Type="http://schemas.openxmlformats.org/officeDocument/2006/relationships/font" Target="fonts/Mulish-regular.fntdata"/><Relationship Id="rId44" Type="http://schemas.openxmlformats.org/officeDocument/2006/relationships/font" Target="fonts/Mulish-boldItalic.fntdata"/><Relationship Id="rId43" Type="http://schemas.openxmlformats.org/officeDocument/2006/relationships/font" Target="fonts/Mulish-italic.fntdata"/><Relationship Id="rId46" Type="http://schemas.openxmlformats.org/officeDocument/2006/relationships/font" Target="fonts/ProximaNova-bold.fntdata"/><Relationship Id="rId45" Type="http://schemas.openxmlformats.org/officeDocument/2006/relationships/font" Target="fonts/ProximaNova-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ProximaNova-boldItalic.fntdata"/><Relationship Id="rId47" Type="http://schemas.openxmlformats.org/officeDocument/2006/relationships/font" Target="fonts/ProximaNova-italic.fntdata"/><Relationship Id="rId49" Type="http://schemas.openxmlformats.org/officeDocument/2006/relationships/font" Target="fonts/Roboto-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font" Target="fonts/RobotoBlack-bold.fntdata"/><Relationship Id="rId36" Type="http://schemas.openxmlformats.org/officeDocument/2006/relationships/slide" Target="slides/slide30.xml"/><Relationship Id="rId39" Type="http://schemas.openxmlformats.org/officeDocument/2006/relationships/font" Target="fonts/AnekDevanagari-regular.fntdata"/><Relationship Id="rId38" Type="http://schemas.openxmlformats.org/officeDocument/2006/relationships/font" Target="fonts/RobotoBlack-boldItalic.fntdata"/><Relationship Id="rId61" Type="http://schemas.openxmlformats.org/officeDocument/2006/relationships/font" Target="fonts/PTSans-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PTSans-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italic.fntdata"/><Relationship Id="rId50" Type="http://schemas.openxmlformats.org/officeDocument/2006/relationships/font" Target="fonts/Roboto-bold.fntdata"/><Relationship Id="rId53" Type="http://schemas.openxmlformats.org/officeDocument/2006/relationships/font" Target="fonts/AnekDevanagariSemiBold-regular.fntdata"/><Relationship Id="rId52" Type="http://schemas.openxmlformats.org/officeDocument/2006/relationships/font" Target="fonts/Roboto-boldItalic.fntdata"/><Relationship Id="rId11" Type="http://schemas.openxmlformats.org/officeDocument/2006/relationships/slide" Target="slides/slide5.xml"/><Relationship Id="rId55" Type="http://schemas.openxmlformats.org/officeDocument/2006/relationships/font" Target="fonts/ProximaNovaSemibold-regular.fntdata"/><Relationship Id="rId10" Type="http://schemas.openxmlformats.org/officeDocument/2006/relationships/slide" Target="slides/slide4.xml"/><Relationship Id="rId54" Type="http://schemas.openxmlformats.org/officeDocument/2006/relationships/font" Target="fonts/AnekDevanagariSemiBold-bold.fntdata"/><Relationship Id="rId13" Type="http://schemas.openxmlformats.org/officeDocument/2006/relationships/slide" Target="slides/slide7.xml"/><Relationship Id="rId57" Type="http://schemas.openxmlformats.org/officeDocument/2006/relationships/font" Target="fonts/ProximaNovaSemibold-boldItalic.fntdata"/><Relationship Id="rId12" Type="http://schemas.openxmlformats.org/officeDocument/2006/relationships/slide" Target="slides/slide6.xml"/><Relationship Id="rId56" Type="http://schemas.openxmlformats.org/officeDocument/2006/relationships/font" Target="fonts/ProximaNovaSemibold-bold.fntdata"/><Relationship Id="rId15" Type="http://schemas.openxmlformats.org/officeDocument/2006/relationships/slide" Target="slides/slide9.xml"/><Relationship Id="rId59" Type="http://schemas.openxmlformats.org/officeDocument/2006/relationships/font" Target="fonts/PTSans-bold.fntdata"/><Relationship Id="rId14" Type="http://schemas.openxmlformats.org/officeDocument/2006/relationships/slide" Target="slides/slide8.xml"/><Relationship Id="rId58" Type="http://schemas.openxmlformats.org/officeDocument/2006/relationships/font" Target="fonts/PTSans-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29635d4b2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29635d4b2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b1a6bd2d86_0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b1a6bd2d86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b75aaba885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b75aaba885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9208be0497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9208be0497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3b525e5fd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13b525e5fd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3b525e5fd1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3b525e5fd1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b75aaba885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b75aaba885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b75aaba885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b75aaba885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b1a6bd2d8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b1a6bd2d8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9208be049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9208be049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b1a6bd2d86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b1a6bd2d86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b3a60cb8ec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b3a60cb8e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b3a60cb8ec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b3a60cb8ec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9208be0497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9208be0497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9208be0497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9208be0497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b3a60cb8ec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b3a60cb8ec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9208be0497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9208be0497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9208be049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9208be049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b3a60cb8ec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b3a60cb8ec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9208be0497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9208be0497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9208be0497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9208be0497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9208be0497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9208be0497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b1a6bd2d86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b1a6bd2d86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9208be0497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9208be0497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9208be0497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9208be0497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13b525e5fd1_0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13b525e5fd1_0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13b525e5fd1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13b525e5fd1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9208be0497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9208be0497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13b525e5fd1_0_18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13b525e5fd1_0_18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1230825"/>
            <a:ext cx="6853200" cy="2028000"/>
          </a:xfrm>
          <a:prstGeom prst="rect">
            <a:avLst/>
          </a:prstGeom>
          <a:noFill/>
        </p:spPr>
        <p:txBody>
          <a:bodyPr anchorCtr="0" anchor="b" bIns="91425" lIns="91425" spcFirstLastPara="1" rIns="91425" wrap="square" tIns="91425">
            <a:noAutofit/>
          </a:bodyPr>
          <a:lstStyle>
            <a:lvl1pPr lvl="0" algn="l">
              <a:lnSpc>
                <a:spcPct val="80000"/>
              </a:lnSpc>
              <a:spcBef>
                <a:spcPts val="0"/>
              </a:spcBef>
              <a:spcAft>
                <a:spcPts val="0"/>
              </a:spcAft>
              <a:buSzPts val="4500"/>
              <a:buFont typeface="Loved by the King"/>
              <a:buNone/>
              <a:defRPr sz="5700">
                <a:latin typeface="Anek Devanagari SemiBold"/>
                <a:ea typeface="Anek Devanagari SemiBold"/>
                <a:cs typeface="Anek Devanagari SemiBold"/>
                <a:sym typeface="Anek Devanagari SemiBold"/>
              </a:defRPr>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p:txBody>
      </p:sp>
      <p:sp>
        <p:nvSpPr>
          <p:cNvPr id="10" name="Google Shape;10;p2"/>
          <p:cNvSpPr txBox="1"/>
          <p:nvPr>
            <p:ph idx="1" type="subTitle"/>
          </p:nvPr>
        </p:nvSpPr>
        <p:spPr>
          <a:xfrm>
            <a:off x="713225" y="3394581"/>
            <a:ext cx="5166300" cy="365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 name="Google Shape;11;p2"/>
          <p:cNvSpPr/>
          <p:nvPr/>
        </p:nvSpPr>
        <p:spPr>
          <a:xfrm rot="10800000">
            <a:off x="-902272" y="367883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451915" y="410513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1182600" y="2668052"/>
            <a:ext cx="6778800" cy="843000"/>
          </a:xfrm>
          <a:prstGeom prst="rect">
            <a:avLst/>
          </a:prstGeom>
          <a:noFill/>
        </p:spPr>
        <p:txBody>
          <a:bodyPr anchorCtr="0" anchor="b" bIns="91425" lIns="91425" spcFirstLastPara="1" rIns="91425" wrap="square" tIns="91425">
            <a:noAutofit/>
          </a:bodyPr>
          <a:lstStyle>
            <a:lvl1pPr lvl="0">
              <a:spcBef>
                <a:spcPts val="0"/>
              </a:spcBef>
              <a:spcAft>
                <a:spcPts val="0"/>
              </a:spcAft>
              <a:buSzPts val="3600"/>
              <a:buNone/>
              <a:defRPr sz="50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5" name="Google Shape;15;p3"/>
          <p:cNvSpPr txBox="1"/>
          <p:nvPr>
            <p:ph hasCustomPrompt="1" idx="2" type="title"/>
          </p:nvPr>
        </p:nvSpPr>
        <p:spPr>
          <a:xfrm>
            <a:off x="3952650" y="1463101"/>
            <a:ext cx="1238700" cy="9144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6000"/>
              <a:buNone/>
              <a:defRPr sz="5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6" name="Google Shape;16;p3"/>
          <p:cNvSpPr txBox="1"/>
          <p:nvPr>
            <p:ph idx="1" type="subTitle"/>
          </p:nvPr>
        </p:nvSpPr>
        <p:spPr>
          <a:xfrm>
            <a:off x="1185150" y="3511049"/>
            <a:ext cx="6773700" cy="365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 name="Google Shape;17;p3"/>
          <p:cNvSpPr/>
          <p:nvPr/>
        </p:nvSpPr>
        <p:spPr>
          <a:xfrm rot="10800000">
            <a:off x="6872328" y="396598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rot="10800000">
            <a:off x="8226515" y="439228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rot="10800000">
            <a:off x="104836" y="-1154903"/>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10800000">
            <a:off x="180878" y="36761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txBox="1"/>
          <p:nvPr>
            <p:ph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Clr>
                <a:schemeClr val="lt1"/>
              </a:buClr>
              <a:buSzPts val="3500"/>
              <a:buNone/>
              <a:defRPr>
                <a:solidFill>
                  <a:schemeClr val="lt1"/>
                </a:solidFill>
              </a:defRPr>
            </a:lvl2pPr>
            <a:lvl3pPr lvl="2" rtl="0" algn="ctr">
              <a:spcBef>
                <a:spcPts val="0"/>
              </a:spcBef>
              <a:spcAft>
                <a:spcPts val="0"/>
              </a:spcAft>
              <a:buClr>
                <a:schemeClr val="lt1"/>
              </a:buClr>
              <a:buSzPts val="3500"/>
              <a:buNone/>
              <a:defRPr>
                <a:solidFill>
                  <a:schemeClr val="lt1"/>
                </a:solidFill>
              </a:defRPr>
            </a:lvl3pPr>
            <a:lvl4pPr lvl="3" rtl="0" algn="ctr">
              <a:spcBef>
                <a:spcPts val="0"/>
              </a:spcBef>
              <a:spcAft>
                <a:spcPts val="0"/>
              </a:spcAft>
              <a:buClr>
                <a:schemeClr val="lt1"/>
              </a:buClr>
              <a:buSzPts val="3500"/>
              <a:buNone/>
              <a:defRPr>
                <a:solidFill>
                  <a:schemeClr val="lt1"/>
                </a:solidFill>
              </a:defRPr>
            </a:lvl4pPr>
            <a:lvl5pPr lvl="4" rtl="0" algn="ctr">
              <a:spcBef>
                <a:spcPts val="0"/>
              </a:spcBef>
              <a:spcAft>
                <a:spcPts val="0"/>
              </a:spcAft>
              <a:buClr>
                <a:schemeClr val="lt1"/>
              </a:buClr>
              <a:buSzPts val="3500"/>
              <a:buNone/>
              <a:defRPr>
                <a:solidFill>
                  <a:schemeClr val="lt1"/>
                </a:solidFill>
              </a:defRPr>
            </a:lvl5pPr>
            <a:lvl6pPr lvl="5" rtl="0" algn="ctr">
              <a:spcBef>
                <a:spcPts val="0"/>
              </a:spcBef>
              <a:spcAft>
                <a:spcPts val="0"/>
              </a:spcAft>
              <a:buClr>
                <a:schemeClr val="lt1"/>
              </a:buClr>
              <a:buSzPts val="3500"/>
              <a:buNone/>
              <a:defRPr>
                <a:solidFill>
                  <a:schemeClr val="lt1"/>
                </a:solidFill>
              </a:defRPr>
            </a:lvl6pPr>
            <a:lvl7pPr lvl="6" rtl="0" algn="ctr">
              <a:spcBef>
                <a:spcPts val="0"/>
              </a:spcBef>
              <a:spcAft>
                <a:spcPts val="0"/>
              </a:spcAft>
              <a:buClr>
                <a:schemeClr val="lt1"/>
              </a:buClr>
              <a:buSzPts val="3500"/>
              <a:buNone/>
              <a:defRPr>
                <a:solidFill>
                  <a:schemeClr val="lt1"/>
                </a:solidFill>
              </a:defRPr>
            </a:lvl7pPr>
            <a:lvl8pPr lvl="7" rtl="0" algn="ctr">
              <a:spcBef>
                <a:spcPts val="0"/>
              </a:spcBef>
              <a:spcAft>
                <a:spcPts val="0"/>
              </a:spcAft>
              <a:buClr>
                <a:schemeClr val="lt1"/>
              </a:buClr>
              <a:buSzPts val="3500"/>
              <a:buNone/>
              <a:defRPr>
                <a:solidFill>
                  <a:schemeClr val="lt1"/>
                </a:solidFill>
              </a:defRPr>
            </a:lvl8pPr>
            <a:lvl9pPr lvl="8" rtl="0" algn="ctr">
              <a:spcBef>
                <a:spcPts val="0"/>
              </a:spcBef>
              <a:spcAft>
                <a:spcPts val="0"/>
              </a:spcAft>
              <a:buClr>
                <a:schemeClr val="lt1"/>
              </a:buClr>
              <a:buSzPts val="3500"/>
              <a:buNone/>
              <a:defRPr>
                <a:solidFill>
                  <a:schemeClr val="lt1"/>
                </a:solidFill>
              </a:defRPr>
            </a:lvl9pPr>
          </a:lstStyle>
          <a:p/>
        </p:txBody>
      </p:sp>
      <p:sp>
        <p:nvSpPr>
          <p:cNvPr id="23" name="Google Shape;23;p4"/>
          <p:cNvSpPr txBox="1"/>
          <p:nvPr>
            <p:ph idx="1" type="body"/>
          </p:nvPr>
        </p:nvSpPr>
        <p:spPr>
          <a:xfrm>
            <a:off x="716900" y="1128049"/>
            <a:ext cx="7704000" cy="548700"/>
          </a:xfrm>
          <a:prstGeom prst="rect">
            <a:avLst/>
          </a:prstGeom>
        </p:spPr>
        <p:txBody>
          <a:bodyPr anchorCtr="0" anchor="t" bIns="91425" lIns="91425" spcFirstLastPara="1" rIns="91425" wrap="square" tIns="91425">
            <a:noAutofit/>
          </a:bodyPr>
          <a:lstStyle>
            <a:lvl1pPr indent="-330200" lvl="0" marL="457200" rtl="0" algn="ctr">
              <a:lnSpc>
                <a:spcPct val="100000"/>
              </a:lnSpc>
              <a:spcBef>
                <a:spcPts val="0"/>
              </a:spcBef>
              <a:spcAft>
                <a:spcPts val="0"/>
              </a:spcAft>
              <a:buSzPts val="1600"/>
              <a:buFont typeface="Mulish SemiBold"/>
              <a:buAutoNum type="arabicPeriod"/>
              <a:defRPr sz="1100"/>
            </a:lvl1pPr>
            <a:lvl2pPr indent="-330200" lvl="1" marL="914400" rtl="0">
              <a:lnSpc>
                <a:spcPct val="100000"/>
              </a:lnSpc>
              <a:spcBef>
                <a:spcPts val="0"/>
              </a:spcBef>
              <a:spcAft>
                <a:spcPts val="0"/>
              </a:spcAft>
              <a:buSzPts val="1600"/>
              <a:buFont typeface="Roboto Condensed Light"/>
              <a:buAutoNum type="alphaLcPeriod"/>
              <a:defRPr sz="1600"/>
            </a:lvl2pPr>
            <a:lvl3pPr indent="-330200" lvl="2" marL="1371600" rtl="0">
              <a:lnSpc>
                <a:spcPct val="100000"/>
              </a:lnSpc>
              <a:spcBef>
                <a:spcPts val="0"/>
              </a:spcBef>
              <a:spcAft>
                <a:spcPts val="0"/>
              </a:spcAft>
              <a:buSzPts val="1600"/>
              <a:buFont typeface="Roboto Condensed Light"/>
              <a:buAutoNum type="romanLcPeriod"/>
              <a:defRPr sz="1600"/>
            </a:lvl3pPr>
            <a:lvl4pPr indent="-330200" lvl="3" marL="1828800" rtl="0">
              <a:lnSpc>
                <a:spcPct val="100000"/>
              </a:lnSpc>
              <a:spcBef>
                <a:spcPts val="0"/>
              </a:spcBef>
              <a:spcAft>
                <a:spcPts val="0"/>
              </a:spcAft>
              <a:buSzPts val="1600"/>
              <a:buFont typeface="Roboto Condensed Light"/>
              <a:buAutoNum type="arabicPeriod"/>
              <a:defRPr sz="1600"/>
            </a:lvl4pPr>
            <a:lvl5pPr indent="-330200" lvl="4" marL="2286000" rtl="0">
              <a:lnSpc>
                <a:spcPct val="100000"/>
              </a:lnSpc>
              <a:spcBef>
                <a:spcPts val="0"/>
              </a:spcBef>
              <a:spcAft>
                <a:spcPts val="0"/>
              </a:spcAft>
              <a:buSzPts val="1600"/>
              <a:buFont typeface="Roboto Condensed Light"/>
              <a:buAutoNum type="alphaLcPeriod"/>
              <a:defRPr sz="1600"/>
            </a:lvl5pPr>
            <a:lvl6pPr indent="-330200" lvl="5" marL="2743200" rtl="0">
              <a:lnSpc>
                <a:spcPct val="100000"/>
              </a:lnSpc>
              <a:spcBef>
                <a:spcPts val="0"/>
              </a:spcBef>
              <a:spcAft>
                <a:spcPts val="0"/>
              </a:spcAft>
              <a:buSzPts val="1600"/>
              <a:buFont typeface="Roboto Condensed Light"/>
              <a:buAutoNum type="romanLcPeriod"/>
              <a:defRPr sz="1600"/>
            </a:lvl6pPr>
            <a:lvl7pPr indent="-330200" lvl="6" marL="3200400" rtl="0">
              <a:lnSpc>
                <a:spcPct val="100000"/>
              </a:lnSpc>
              <a:spcBef>
                <a:spcPts val="0"/>
              </a:spcBef>
              <a:spcAft>
                <a:spcPts val="0"/>
              </a:spcAft>
              <a:buSzPts val="1600"/>
              <a:buFont typeface="Roboto Condensed Light"/>
              <a:buAutoNum type="arabicPeriod"/>
              <a:defRPr sz="1600"/>
            </a:lvl7pPr>
            <a:lvl8pPr indent="-330200" lvl="7" marL="3657600" rtl="0">
              <a:lnSpc>
                <a:spcPct val="100000"/>
              </a:lnSpc>
              <a:spcBef>
                <a:spcPts val="0"/>
              </a:spcBef>
              <a:spcAft>
                <a:spcPts val="0"/>
              </a:spcAft>
              <a:buSzPts val="1600"/>
              <a:buFont typeface="Roboto Condensed Light"/>
              <a:buAutoNum type="alphaLcPeriod"/>
              <a:defRPr sz="1600"/>
            </a:lvl8pPr>
            <a:lvl9pPr indent="-330200" lvl="8" marL="4114800" rtl="0">
              <a:lnSpc>
                <a:spcPct val="100000"/>
              </a:lnSpc>
              <a:spcBef>
                <a:spcPts val="0"/>
              </a:spcBef>
              <a:spcAft>
                <a:spcPts val="0"/>
              </a:spcAft>
              <a:buSzPts val="1600"/>
              <a:buFont typeface="Roboto Condensed Light"/>
              <a:buAutoNum type="romanLcPeriod"/>
              <a:defRPr sz="1600"/>
            </a:lvl9pPr>
          </a:lstStyle>
          <a:p/>
        </p:txBody>
      </p:sp>
      <p:sp>
        <p:nvSpPr>
          <p:cNvPr id="24" name="Google Shape;24;p4"/>
          <p:cNvSpPr/>
          <p:nvPr/>
        </p:nvSpPr>
        <p:spPr>
          <a:xfrm flipH="1" rot="10800000">
            <a:off x="-1817464" y="3389522"/>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p:nvPr/>
        </p:nvSpPr>
        <p:spPr>
          <a:xfrm rot="10800000">
            <a:off x="-1329526" y="2423444"/>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rot="10800000">
            <a:off x="8627965" y="2972906"/>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10800000">
            <a:off x="7734703" y="4631606"/>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5"/>
          <p:cNvSpPr txBox="1"/>
          <p:nvPr>
            <p:ph type="title"/>
          </p:nvPr>
        </p:nvSpPr>
        <p:spPr>
          <a:xfrm>
            <a:off x="1502225" y="3007461"/>
            <a:ext cx="29133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22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0" name="Google Shape;30;p5"/>
          <p:cNvSpPr txBox="1"/>
          <p:nvPr>
            <p:ph idx="2" type="title"/>
          </p:nvPr>
        </p:nvSpPr>
        <p:spPr>
          <a:xfrm>
            <a:off x="4728775" y="3007461"/>
            <a:ext cx="29133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22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1" name="Google Shape;31;p5"/>
          <p:cNvSpPr txBox="1"/>
          <p:nvPr>
            <p:ph idx="1" type="subTitle"/>
          </p:nvPr>
        </p:nvSpPr>
        <p:spPr>
          <a:xfrm>
            <a:off x="4728775" y="3224086"/>
            <a:ext cx="29133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2" name="Google Shape;32;p5"/>
          <p:cNvSpPr txBox="1"/>
          <p:nvPr>
            <p:ph idx="3" type="subTitle"/>
          </p:nvPr>
        </p:nvSpPr>
        <p:spPr>
          <a:xfrm>
            <a:off x="1501925" y="3224086"/>
            <a:ext cx="29139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3" name="Google Shape;33;p5"/>
          <p:cNvSpPr txBox="1"/>
          <p:nvPr>
            <p:ph idx="4"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sz="3500"/>
            </a:lvl1pPr>
            <a:lvl2pPr lvl="1" rtl="0" algn="ctr">
              <a:spcBef>
                <a:spcPts val="0"/>
              </a:spcBef>
              <a:spcAft>
                <a:spcPts val="0"/>
              </a:spcAft>
              <a:buClr>
                <a:schemeClr val="lt1"/>
              </a:buClr>
              <a:buSzPts val="3500"/>
              <a:buNone/>
              <a:defRPr>
                <a:solidFill>
                  <a:schemeClr val="lt1"/>
                </a:solidFill>
              </a:defRPr>
            </a:lvl2pPr>
            <a:lvl3pPr lvl="2" rtl="0" algn="ctr">
              <a:spcBef>
                <a:spcPts val="0"/>
              </a:spcBef>
              <a:spcAft>
                <a:spcPts val="0"/>
              </a:spcAft>
              <a:buClr>
                <a:schemeClr val="lt1"/>
              </a:buClr>
              <a:buSzPts val="3500"/>
              <a:buNone/>
              <a:defRPr>
                <a:solidFill>
                  <a:schemeClr val="lt1"/>
                </a:solidFill>
              </a:defRPr>
            </a:lvl3pPr>
            <a:lvl4pPr lvl="3" rtl="0" algn="ctr">
              <a:spcBef>
                <a:spcPts val="0"/>
              </a:spcBef>
              <a:spcAft>
                <a:spcPts val="0"/>
              </a:spcAft>
              <a:buClr>
                <a:schemeClr val="lt1"/>
              </a:buClr>
              <a:buSzPts val="3500"/>
              <a:buNone/>
              <a:defRPr>
                <a:solidFill>
                  <a:schemeClr val="lt1"/>
                </a:solidFill>
              </a:defRPr>
            </a:lvl4pPr>
            <a:lvl5pPr lvl="4" rtl="0" algn="ctr">
              <a:spcBef>
                <a:spcPts val="0"/>
              </a:spcBef>
              <a:spcAft>
                <a:spcPts val="0"/>
              </a:spcAft>
              <a:buClr>
                <a:schemeClr val="lt1"/>
              </a:buClr>
              <a:buSzPts val="3500"/>
              <a:buNone/>
              <a:defRPr>
                <a:solidFill>
                  <a:schemeClr val="lt1"/>
                </a:solidFill>
              </a:defRPr>
            </a:lvl5pPr>
            <a:lvl6pPr lvl="5" rtl="0" algn="ctr">
              <a:spcBef>
                <a:spcPts val="0"/>
              </a:spcBef>
              <a:spcAft>
                <a:spcPts val="0"/>
              </a:spcAft>
              <a:buClr>
                <a:schemeClr val="lt1"/>
              </a:buClr>
              <a:buSzPts val="3500"/>
              <a:buNone/>
              <a:defRPr>
                <a:solidFill>
                  <a:schemeClr val="lt1"/>
                </a:solidFill>
              </a:defRPr>
            </a:lvl6pPr>
            <a:lvl7pPr lvl="6" rtl="0" algn="ctr">
              <a:spcBef>
                <a:spcPts val="0"/>
              </a:spcBef>
              <a:spcAft>
                <a:spcPts val="0"/>
              </a:spcAft>
              <a:buClr>
                <a:schemeClr val="lt1"/>
              </a:buClr>
              <a:buSzPts val="3500"/>
              <a:buNone/>
              <a:defRPr>
                <a:solidFill>
                  <a:schemeClr val="lt1"/>
                </a:solidFill>
              </a:defRPr>
            </a:lvl7pPr>
            <a:lvl8pPr lvl="7" rtl="0" algn="ctr">
              <a:spcBef>
                <a:spcPts val="0"/>
              </a:spcBef>
              <a:spcAft>
                <a:spcPts val="0"/>
              </a:spcAft>
              <a:buClr>
                <a:schemeClr val="lt1"/>
              </a:buClr>
              <a:buSzPts val="3500"/>
              <a:buNone/>
              <a:defRPr>
                <a:solidFill>
                  <a:schemeClr val="lt1"/>
                </a:solidFill>
              </a:defRPr>
            </a:lvl8pPr>
            <a:lvl9pPr lvl="8" rtl="0" algn="ctr">
              <a:spcBef>
                <a:spcPts val="0"/>
              </a:spcBef>
              <a:spcAft>
                <a:spcPts val="0"/>
              </a:spcAft>
              <a:buClr>
                <a:schemeClr val="lt1"/>
              </a:buClr>
              <a:buSzPts val="3500"/>
              <a:buNone/>
              <a:defRPr>
                <a:solidFill>
                  <a:schemeClr val="lt1"/>
                </a:solidFill>
              </a:defRPr>
            </a:lvl9pPr>
          </a:lstStyle>
          <a:p/>
        </p:txBody>
      </p:sp>
      <p:sp>
        <p:nvSpPr>
          <p:cNvPr id="34" name="Google Shape;34;p5"/>
          <p:cNvSpPr/>
          <p:nvPr/>
        </p:nvSpPr>
        <p:spPr>
          <a:xfrm flipH="1" rot="10800000">
            <a:off x="8499886" y="4210106"/>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a:off x="7145699" y="4636406"/>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p:nvPr/>
        </p:nvSpPr>
        <p:spPr>
          <a:xfrm rot="10800000">
            <a:off x="-1153339" y="189739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flipH="1" rot="10800000">
            <a:off x="-1838397" y="374872"/>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6"/>
          <p:cNvSpPr txBox="1"/>
          <p:nvPr>
            <p:ph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Clr>
                <a:schemeClr val="lt1"/>
              </a:buClr>
              <a:buSzPts val="3500"/>
              <a:buNone/>
              <a:defRPr>
                <a:solidFill>
                  <a:schemeClr val="lt1"/>
                </a:solidFill>
              </a:defRPr>
            </a:lvl2pPr>
            <a:lvl3pPr lvl="2" rtl="0" algn="ctr">
              <a:spcBef>
                <a:spcPts val="0"/>
              </a:spcBef>
              <a:spcAft>
                <a:spcPts val="0"/>
              </a:spcAft>
              <a:buClr>
                <a:schemeClr val="lt1"/>
              </a:buClr>
              <a:buSzPts val="3500"/>
              <a:buNone/>
              <a:defRPr>
                <a:solidFill>
                  <a:schemeClr val="lt1"/>
                </a:solidFill>
              </a:defRPr>
            </a:lvl3pPr>
            <a:lvl4pPr lvl="3" rtl="0" algn="ctr">
              <a:spcBef>
                <a:spcPts val="0"/>
              </a:spcBef>
              <a:spcAft>
                <a:spcPts val="0"/>
              </a:spcAft>
              <a:buClr>
                <a:schemeClr val="lt1"/>
              </a:buClr>
              <a:buSzPts val="3500"/>
              <a:buNone/>
              <a:defRPr>
                <a:solidFill>
                  <a:schemeClr val="lt1"/>
                </a:solidFill>
              </a:defRPr>
            </a:lvl4pPr>
            <a:lvl5pPr lvl="4" rtl="0" algn="ctr">
              <a:spcBef>
                <a:spcPts val="0"/>
              </a:spcBef>
              <a:spcAft>
                <a:spcPts val="0"/>
              </a:spcAft>
              <a:buClr>
                <a:schemeClr val="lt1"/>
              </a:buClr>
              <a:buSzPts val="3500"/>
              <a:buNone/>
              <a:defRPr>
                <a:solidFill>
                  <a:schemeClr val="lt1"/>
                </a:solidFill>
              </a:defRPr>
            </a:lvl5pPr>
            <a:lvl6pPr lvl="5" rtl="0" algn="ctr">
              <a:spcBef>
                <a:spcPts val="0"/>
              </a:spcBef>
              <a:spcAft>
                <a:spcPts val="0"/>
              </a:spcAft>
              <a:buClr>
                <a:schemeClr val="lt1"/>
              </a:buClr>
              <a:buSzPts val="3500"/>
              <a:buNone/>
              <a:defRPr>
                <a:solidFill>
                  <a:schemeClr val="lt1"/>
                </a:solidFill>
              </a:defRPr>
            </a:lvl6pPr>
            <a:lvl7pPr lvl="6" rtl="0" algn="ctr">
              <a:spcBef>
                <a:spcPts val="0"/>
              </a:spcBef>
              <a:spcAft>
                <a:spcPts val="0"/>
              </a:spcAft>
              <a:buClr>
                <a:schemeClr val="lt1"/>
              </a:buClr>
              <a:buSzPts val="3500"/>
              <a:buNone/>
              <a:defRPr>
                <a:solidFill>
                  <a:schemeClr val="lt1"/>
                </a:solidFill>
              </a:defRPr>
            </a:lvl7pPr>
            <a:lvl8pPr lvl="7" rtl="0" algn="ctr">
              <a:spcBef>
                <a:spcPts val="0"/>
              </a:spcBef>
              <a:spcAft>
                <a:spcPts val="0"/>
              </a:spcAft>
              <a:buClr>
                <a:schemeClr val="lt1"/>
              </a:buClr>
              <a:buSzPts val="3500"/>
              <a:buNone/>
              <a:defRPr>
                <a:solidFill>
                  <a:schemeClr val="lt1"/>
                </a:solidFill>
              </a:defRPr>
            </a:lvl8pPr>
            <a:lvl9pPr lvl="8" rtl="0" algn="ctr">
              <a:spcBef>
                <a:spcPts val="0"/>
              </a:spcBef>
              <a:spcAft>
                <a:spcPts val="0"/>
              </a:spcAft>
              <a:buClr>
                <a:schemeClr val="lt1"/>
              </a:buClr>
              <a:buSzPts val="3500"/>
              <a:buNone/>
              <a:defRPr>
                <a:solidFill>
                  <a:schemeClr val="lt1"/>
                </a:solidFill>
              </a:defRPr>
            </a:lvl9pPr>
          </a:lstStyle>
          <a:p/>
        </p:txBody>
      </p:sp>
      <p:sp>
        <p:nvSpPr>
          <p:cNvPr id="40" name="Google Shape;40;p6"/>
          <p:cNvSpPr/>
          <p:nvPr/>
        </p:nvSpPr>
        <p:spPr>
          <a:xfrm flipH="1" rot="10800000">
            <a:off x="-1108865" y="373403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6"/>
          <p:cNvSpPr/>
          <p:nvPr/>
        </p:nvSpPr>
        <p:spPr>
          <a:xfrm flipH="1">
            <a:off x="-157685" y="4726742"/>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6"/>
          <p:cNvSpPr/>
          <p:nvPr/>
        </p:nvSpPr>
        <p:spPr>
          <a:xfrm rot="10800000">
            <a:off x="8509536" y="-300453"/>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6"/>
          <p:cNvSpPr/>
          <p:nvPr/>
        </p:nvSpPr>
        <p:spPr>
          <a:xfrm rot="10800000">
            <a:off x="8585578" y="122206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flipH="1">
            <a:off x="4685152" y="1581150"/>
            <a:ext cx="3530400" cy="685800"/>
          </a:xfrm>
          <a:prstGeom prst="rect">
            <a:avLst/>
          </a:prstGeom>
          <a:noFill/>
        </p:spPr>
        <p:txBody>
          <a:bodyPr anchorCtr="0" anchor="t"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6" name="Google Shape;46;p7"/>
          <p:cNvSpPr txBox="1"/>
          <p:nvPr>
            <p:ph idx="1" type="subTitle"/>
          </p:nvPr>
        </p:nvSpPr>
        <p:spPr>
          <a:xfrm flipH="1">
            <a:off x="4685617" y="2282250"/>
            <a:ext cx="3530400" cy="1280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7" name="Google Shape;47;p7"/>
          <p:cNvSpPr/>
          <p:nvPr/>
        </p:nvSpPr>
        <p:spPr>
          <a:xfrm rot="10800000">
            <a:off x="7182053" y="-361631"/>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7"/>
          <p:cNvSpPr/>
          <p:nvPr/>
        </p:nvSpPr>
        <p:spPr>
          <a:xfrm rot="10800000">
            <a:off x="7106011" y="-1884153"/>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7"/>
          <p:cNvSpPr/>
          <p:nvPr/>
        </p:nvSpPr>
        <p:spPr>
          <a:xfrm rot="10800000">
            <a:off x="-565776" y="4094635"/>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7"/>
          <p:cNvSpPr/>
          <p:nvPr/>
        </p:nvSpPr>
        <p:spPr>
          <a:xfrm rot="10800000">
            <a:off x="726303" y="405331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1" name="Shape 51"/>
        <p:cNvGrpSpPr/>
        <p:nvPr/>
      </p:nvGrpSpPr>
      <p:grpSpPr>
        <a:xfrm>
          <a:off x="0" y="0"/>
          <a:ext cx="0" cy="0"/>
          <a:chOff x="0" y="0"/>
          <a:chExt cx="0" cy="0"/>
        </a:xfrm>
      </p:grpSpPr>
      <p:sp>
        <p:nvSpPr>
          <p:cNvPr id="52" name="Google Shape;52;p8"/>
          <p:cNvSpPr txBox="1"/>
          <p:nvPr>
            <p:ph type="title"/>
          </p:nvPr>
        </p:nvSpPr>
        <p:spPr>
          <a:xfrm>
            <a:off x="2167450" y="1678200"/>
            <a:ext cx="4809000" cy="1787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60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3" name="Google Shape;53;p8"/>
          <p:cNvSpPr/>
          <p:nvPr/>
        </p:nvSpPr>
        <p:spPr>
          <a:xfrm flipH="1" rot="-5400000">
            <a:off x="8094822" y="673016"/>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rot="10800000">
            <a:off x="-677451" y="3267710"/>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14628" y="322639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6" name="Shape 56"/>
        <p:cNvGrpSpPr/>
        <p:nvPr/>
      </p:nvGrpSpPr>
      <p:grpSpPr>
        <a:xfrm>
          <a:off x="0" y="0"/>
          <a:ext cx="0" cy="0"/>
          <a:chOff x="0" y="0"/>
          <a:chExt cx="0" cy="0"/>
        </a:xfrm>
      </p:grpSpPr>
      <p:sp>
        <p:nvSpPr>
          <p:cNvPr id="57" name="Google Shape;57;p9"/>
          <p:cNvSpPr txBox="1"/>
          <p:nvPr>
            <p:ph type="title"/>
          </p:nvPr>
        </p:nvSpPr>
        <p:spPr>
          <a:xfrm>
            <a:off x="2208475" y="1518750"/>
            <a:ext cx="4727100" cy="8229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500"/>
              <a:buNone/>
              <a:defRPr sz="45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8" name="Google Shape;58;p9"/>
          <p:cNvSpPr txBox="1"/>
          <p:nvPr>
            <p:ph idx="1" type="subTitle"/>
          </p:nvPr>
        </p:nvSpPr>
        <p:spPr>
          <a:xfrm>
            <a:off x="2208475" y="2341650"/>
            <a:ext cx="4727100" cy="128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9" name="Shape 59"/>
        <p:cNvGrpSpPr/>
        <p:nvPr/>
      </p:nvGrpSpPr>
      <p:grpSpPr>
        <a:xfrm>
          <a:off x="0" y="0"/>
          <a:ext cx="0" cy="0"/>
          <a:chOff x="0" y="0"/>
          <a:chExt cx="0" cy="0"/>
        </a:xfrm>
      </p:grpSpPr>
      <p:sp>
        <p:nvSpPr>
          <p:cNvPr id="60" name="Google Shape;60;p10"/>
          <p:cNvSpPr txBox="1"/>
          <p:nvPr>
            <p:ph type="title"/>
          </p:nvPr>
        </p:nvSpPr>
        <p:spPr>
          <a:xfrm>
            <a:off x="329175" y="3757025"/>
            <a:ext cx="2895600" cy="842400"/>
          </a:xfrm>
          <a:prstGeom prst="rect">
            <a:avLst/>
          </a:prstGeom>
          <a:gradFill>
            <a:gsLst>
              <a:gs pos="0">
                <a:schemeClr val="dk2"/>
              </a:gs>
              <a:gs pos="100000">
                <a:schemeClr val="lt2"/>
              </a:gs>
            </a:gsLst>
            <a:lin ang="5400700" scaled="0"/>
          </a:gradFill>
        </p:spPr>
        <p:txBody>
          <a:bodyPr anchorCtr="0" anchor="t" bIns="91425" lIns="91425" spcFirstLastPara="1" rIns="91425" wrap="square" tIns="91425">
            <a:noAutofit/>
          </a:bodyPr>
          <a:lstStyle>
            <a:lvl1pPr lvl="0" rtl="0">
              <a:spcBef>
                <a:spcPts val="0"/>
              </a:spcBef>
              <a:spcAft>
                <a:spcPts val="0"/>
              </a:spcAft>
              <a:buSzPts val="3500"/>
              <a:buNone/>
              <a:defRPr sz="2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61" name="Google Shape;61;p10"/>
          <p:cNvSpPr/>
          <p:nvPr/>
        </p:nvSpPr>
        <p:spPr>
          <a:xfrm rot="10800000">
            <a:off x="7984478" y="54479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0"/>
          <p:cNvSpPr/>
          <p:nvPr/>
        </p:nvSpPr>
        <p:spPr>
          <a:xfrm rot="10800000">
            <a:off x="7908436" y="-977728"/>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0"/>
          <p:cNvSpPr/>
          <p:nvPr/>
        </p:nvSpPr>
        <p:spPr>
          <a:xfrm rot="10800000">
            <a:off x="-770222" y="-579194"/>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0"/>
          <p:cNvSpPr/>
          <p:nvPr/>
        </p:nvSpPr>
        <p:spPr>
          <a:xfrm rot="10800000">
            <a:off x="583965" y="-152894"/>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5" name="Shape 65"/>
        <p:cNvGrpSpPr/>
        <p:nvPr/>
      </p:nvGrpSpPr>
      <p:grpSpPr>
        <a:xfrm>
          <a:off x="0" y="0"/>
          <a:ext cx="0" cy="0"/>
          <a:chOff x="0" y="0"/>
          <a:chExt cx="0" cy="0"/>
        </a:xfrm>
      </p:grpSpPr>
      <p:sp>
        <p:nvSpPr>
          <p:cNvPr id="66" name="Google Shape;66;p11"/>
          <p:cNvSpPr txBox="1"/>
          <p:nvPr>
            <p:ph hasCustomPrompt="1" type="title"/>
          </p:nvPr>
        </p:nvSpPr>
        <p:spPr>
          <a:xfrm>
            <a:off x="1614915" y="1753575"/>
            <a:ext cx="5914200" cy="10860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7" name="Google Shape;67;p11"/>
          <p:cNvSpPr txBox="1"/>
          <p:nvPr>
            <p:ph idx="1" type="subTitle"/>
          </p:nvPr>
        </p:nvSpPr>
        <p:spPr>
          <a:xfrm>
            <a:off x="1613425" y="2873750"/>
            <a:ext cx="5917200" cy="365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68" name="Google Shape;68;p11"/>
          <p:cNvSpPr/>
          <p:nvPr/>
        </p:nvSpPr>
        <p:spPr>
          <a:xfrm rot="10800000">
            <a:off x="-233122" y="91559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1"/>
          <p:cNvSpPr/>
          <p:nvPr/>
        </p:nvSpPr>
        <p:spPr>
          <a:xfrm rot="10800000">
            <a:off x="-309164" y="-606928"/>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1"/>
          <p:cNvSpPr/>
          <p:nvPr/>
        </p:nvSpPr>
        <p:spPr>
          <a:xfrm rot="10800000">
            <a:off x="6274349" y="3511435"/>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1"/>
          <p:cNvSpPr/>
          <p:nvPr/>
        </p:nvSpPr>
        <p:spPr>
          <a:xfrm rot="10800000">
            <a:off x="7566428" y="347011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72" name="Shape 7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3" name="Shape 73"/>
        <p:cNvGrpSpPr/>
        <p:nvPr/>
      </p:nvGrpSpPr>
      <p:grpSpPr>
        <a:xfrm>
          <a:off x="0" y="0"/>
          <a:ext cx="0" cy="0"/>
          <a:chOff x="0" y="0"/>
          <a:chExt cx="0" cy="0"/>
        </a:xfrm>
      </p:grpSpPr>
      <p:sp>
        <p:nvSpPr>
          <p:cNvPr id="74" name="Google Shape;74;p13"/>
          <p:cNvSpPr txBox="1"/>
          <p:nvPr>
            <p:ph type="title"/>
          </p:nvPr>
        </p:nvSpPr>
        <p:spPr>
          <a:xfrm>
            <a:off x="1348568" y="1918708"/>
            <a:ext cx="28596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75" name="Google Shape;75;p13"/>
          <p:cNvSpPr txBox="1"/>
          <p:nvPr>
            <p:ph idx="1" type="subTitle"/>
          </p:nvPr>
        </p:nvSpPr>
        <p:spPr>
          <a:xfrm>
            <a:off x="1348568" y="2208643"/>
            <a:ext cx="28596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6" name="Google Shape;76;p13"/>
          <p:cNvSpPr txBox="1"/>
          <p:nvPr>
            <p:ph idx="2" type="title"/>
          </p:nvPr>
        </p:nvSpPr>
        <p:spPr>
          <a:xfrm flipH="1">
            <a:off x="4925782" y="1918700"/>
            <a:ext cx="28698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77" name="Google Shape;77;p13"/>
          <p:cNvSpPr txBox="1"/>
          <p:nvPr>
            <p:ph idx="3" type="subTitle"/>
          </p:nvPr>
        </p:nvSpPr>
        <p:spPr>
          <a:xfrm flipH="1">
            <a:off x="4925932" y="2208640"/>
            <a:ext cx="28695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8" name="Google Shape;78;p13"/>
          <p:cNvSpPr txBox="1"/>
          <p:nvPr>
            <p:ph hasCustomPrompt="1" idx="4" type="title"/>
          </p:nvPr>
        </p:nvSpPr>
        <p:spPr>
          <a:xfrm>
            <a:off x="2411018" y="1192542"/>
            <a:ext cx="734700" cy="502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5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9" name="Google Shape;79;p13"/>
          <p:cNvSpPr txBox="1"/>
          <p:nvPr>
            <p:ph hasCustomPrompt="1" idx="5" type="title"/>
          </p:nvPr>
        </p:nvSpPr>
        <p:spPr>
          <a:xfrm flipH="1">
            <a:off x="5993332" y="1192542"/>
            <a:ext cx="734700" cy="502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5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0" name="Google Shape;80;p13"/>
          <p:cNvSpPr txBox="1"/>
          <p:nvPr>
            <p:ph idx="6"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1" name="Google Shape;81;p13"/>
          <p:cNvSpPr txBox="1"/>
          <p:nvPr>
            <p:ph idx="7" type="title"/>
          </p:nvPr>
        </p:nvSpPr>
        <p:spPr>
          <a:xfrm>
            <a:off x="1348568" y="3759552"/>
            <a:ext cx="28596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82" name="Google Shape;82;p13"/>
          <p:cNvSpPr txBox="1"/>
          <p:nvPr>
            <p:ph idx="8" type="subTitle"/>
          </p:nvPr>
        </p:nvSpPr>
        <p:spPr>
          <a:xfrm>
            <a:off x="1348418" y="4050725"/>
            <a:ext cx="28599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 name="Google Shape;83;p13"/>
          <p:cNvSpPr txBox="1"/>
          <p:nvPr>
            <p:ph idx="9" type="title"/>
          </p:nvPr>
        </p:nvSpPr>
        <p:spPr>
          <a:xfrm flipH="1">
            <a:off x="4925782" y="3759548"/>
            <a:ext cx="28698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84" name="Google Shape;84;p13"/>
          <p:cNvSpPr txBox="1"/>
          <p:nvPr>
            <p:ph idx="13" type="subTitle"/>
          </p:nvPr>
        </p:nvSpPr>
        <p:spPr>
          <a:xfrm flipH="1">
            <a:off x="4925932" y="4050724"/>
            <a:ext cx="28695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 name="Google Shape;85;p13"/>
          <p:cNvSpPr txBox="1"/>
          <p:nvPr>
            <p:ph hasCustomPrompt="1" idx="14" type="title"/>
          </p:nvPr>
        </p:nvSpPr>
        <p:spPr>
          <a:xfrm>
            <a:off x="2411018" y="3039645"/>
            <a:ext cx="734700" cy="502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5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6" name="Google Shape;86;p13"/>
          <p:cNvSpPr txBox="1"/>
          <p:nvPr>
            <p:ph hasCustomPrompt="1" idx="15" type="title"/>
          </p:nvPr>
        </p:nvSpPr>
        <p:spPr>
          <a:xfrm flipH="1">
            <a:off x="5993332" y="3039645"/>
            <a:ext cx="734700" cy="502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5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7" name="Google Shape;87;p13"/>
          <p:cNvSpPr/>
          <p:nvPr/>
        </p:nvSpPr>
        <p:spPr>
          <a:xfrm rot="10800000">
            <a:off x="-902272" y="456233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3"/>
          <p:cNvSpPr/>
          <p:nvPr/>
        </p:nvSpPr>
        <p:spPr>
          <a:xfrm flipH="1">
            <a:off x="451915" y="467628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3"/>
          <p:cNvSpPr/>
          <p:nvPr/>
        </p:nvSpPr>
        <p:spPr>
          <a:xfrm rot="10800000">
            <a:off x="8617628" y="1253244"/>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4">
    <p:spTree>
      <p:nvGrpSpPr>
        <p:cNvPr id="90" name="Shape 90"/>
        <p:cNvGrpSpPr/>
        <p:nvPr/>
      </p:nvGrpSpPr>
      <p:grpSpPr>
        <a:xfrm>
          <a:off x="0" y="0"/>
          <a:ext cx="0" cy="0"/>
          <a:chOff x="0" y="0"/>
          <a:chExt cx="0" cy="0"/>
        </a:xfrm>
      </p:grpSpPr>
      <p:sp>
        <p:nvSpPr>
          <p:cNvPr id="91" name="Google Shape;91;p14"/>
          <p:cNvSpPr txBox="1"/>
          <p:nvPr>
            <p:ph type="title"/>
          </p:nvPr>
        </p:nvSpPr>
        <p:spPr>
          <a:xfrm>
            <a:off x="714750" y="3183525"/>
            <a:ext cx="7714500" cy="5487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2" name="Google Shape;92;p14"/>
          <p:cNvSpPr txBox="1"/>
          <p:nvPr>
            <p:ph idx="1" type="subTitle"/>
          </p:nvPr>
        </p:nvSpPr>
        <p:spPr>
          <a:xfrm>
            <a:off x="714750" y="1411287"/>
            <a:ext cx="7714500" cy="1767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None/>
              <a:defRPr sz="33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3" name="Google Shape;93;p14"/>
          <p:cNvSpPr/>
          <p:nvPr/>
        </p:nvSpPr>
        <p:spPr>
          <a:xfrm rot="10800000">
            <a:off x="7364178" y="-396356"/>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4"/>
          <p:cNvSpPr/>
          <p:nvPr/>
        </p:nvSpPr>
        <p:spPr>
          <a:xfrm rot="10800000">
            <a:off x="6166586" y="-1369528"/>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4"/>
          <p:cNvSpPr/>
          <p:nvPr/>
        </p:nvSpPr>
        <p:spPr>
          <a:xfrm rot="10800000">
            <a:off x="164528" y="4135806"/>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4"/>
          <p:cNvSpPr/>
          <p:nvPr/>
        </p:nvSpPr>
        <p:spPr>
          <a:xfrm rot="10800000">
            <a:off x="1518715" y="4562106"/>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5">
    <p:spTree>
      <p:nvGrpSpPr>
        <p:cNvPr id="97" name="Shape 97"/>
        <p:cNvGrpSpPr/>
        <p:nvPr/>
      </p:nvGrpSpPr>
      <p:grpSpPr>
        <a:xfrm>
          <a:off x="0" y="0"/>
          <a:ext cx="0" cy="0"/>
          <a:chOff x="0" y="0"/>
          <a:chExt cx="0" cy="0"/>
        </a:xfrm>
      </p:grpSpPr>
      <p:sp>
        <p:nvSpPr>
          <p:cNvPr id="98" name="Google Shape;98;p15"/>
          <p:cNvSpPr txBox="1"/>
          <p:nvPr>
            <p:ph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Clr>
                <a:schemeClr val="lt1"/>
              </a:buClr>
              <a:buSzPts val="3500"/>
              <a:buNone/>
              <a:defRPr>
                <a:solidFill>
                  <a:schemeClr val="lt1"/>
                </a:solidFill>
              </a:defRPr>
            </a:lvl2pPr>
            <a:lvl3pPr lvl="2" rtl="0" algn="ctr">
              <a:spcBef>
                <a:spcPts val="0"/>
              </a:spcBef>
              <a:spcAft>
                <a:spcPts val="0"/>
              </a:spcAft>
              <a:buClr>
                <a:schemeClr val="lt1"/>
              </a:buClr>
              <a:buSzPts val="3500"/>
              <a:buNone/>
              <a:defRPr>
                <a:solidFill>
                  <a:schemeClr val="lt1"/>
                </a:solidFill>
              </a:defRPr>
            </a:lvl3pPr>
            <a:lvl4pPr lvl="3" rtl="0" algn="ctr">
              <a:spcBef>
                <a:spcPts val="0"/>
              </a:spcBef>
              <a:spcAft>
                <a:spcPts val="0"/>
              </a:spcAft>
              <a:buClr>
                <a:schemeClr val="lt1"/>
              </a:buClr>
              <a:buSzPts val="3500"/>
              <a:buNone/>
              <a:defRPr>
                <a:solidFill>
                  <a:schemeClr val="lt1"/>
                </a:solidFill>
              </a:defRPr>
            </a:lvl4pPr>
            <a:lvl5pPr lvl="4" rtl="0" algn="ctr">
              <a:spcBef>
                <a:spcPts val="0"/>
              </a:spcBef>
              <a:spcAft>
                <a:spcPts val="0"/>
              </a:spcAft>
              <a:buClr>
                <a:schemeClr val="lt1"/>
              </a:buClr>
              <a:buSzPts val="3500"/>
              <a:buNone/>
              <a:defRPr>
                <a:solidFill>
                  <a:schemeClr val="lt1"/>
                </a:solidFill>
              </a:defRPr>
            </a:lvl5pPr>
            <a:lvl6pPr lvl="5" rtl="0" algn="ctr">
              <a:spcBef>
                <a:spcPts val="0"/>
              </a:spcBef>
              <a:spcAft>
                <a:spcPts val="0"/>
              </a:spcAft>
              <a:buClr>
                <a:schemeClr val="lt1"/>
              </a:buClr>
              <a:buSzPts val="3500"/>
              <a:buNone/>
              <a:defRPr>
                <a:solidFill>
                  <a:schemeClr val="lt1"/>
                </a:solidFill>
              </a:defRPr>
            </a:lvl6pPr>
            <a:lvl7pPr lvl="6" rtl="0" algn="ctr">
              <a:spcBef>
                <a:spcPts val="0"/>
              </a:spcBef>
              <a:spcAft>
                <a:spcPts val="0"/>
              </a:spcAft>
              <a:buClr>
                <a:schemeClr val="lt1"/>
              </a:buClr>
              <a:buSzPts val="3500"/>
              <a:buNone/>
              <a:defRPr>
                <a:solidFill>
                  <a:schemeClr val="lt1"/>
                </a:solidFill>
              </a:defRPr>
            </a:lvl7pPr>
            <a:lvl8pPr lvl="7" rtl="0" algn="ctr">
              <a:spcBef>
                <a:spcPts val="0"/>
              </a:spcBef>
              <a:spcAft>
                <a:spcPts val="0"/>
              </a:spcAft>
              <a:buClr>
                <a:schemeClr val="lt1"/>
              </a:buClr>
              <a:buSzPts val="3500"/>
              <a:buNone/>
              <a:defRPr>
                <a:solidFill>
                  <a:schemeClr val="lt1"/>
                </a:solidFill>
              </a:defRPr>
            </a:lvl8pPr>
            <a:lvl9pPr lvl="8" rtl="0" algn="ctr">
              <a:spcBef>
                <a:spcPts val="0"/>
              </a:spcBef>
              <a:spcAft>
                <a:spcPts val="0"/>
              </a:spcAft>
              <a:buClr>
                <a:schemeClr val="lt1"/>
              </a:buClr>
              <a:buSzPts val="3500"/>
              <a:buNone/>
              <a:defRPr>
                <a:solidFill>
                  <a:schemeClr val="lt1"/>
                </a:solidFill>
              </a:defRPr>
            </a:lvl9pPr>
          </a:lstStyle>
          <a:p/>
        </p:txBody>
      </p:sp>
      <p:sp>
        <p:nvSpPr>
          <p:cNvPr id="99" name="Google Shape;99;p15"/>
          <p:cNvSpPr/>
          <p:nvPr/>
        </p:nvSpPr>
        <p:spPr>
          <a:xfrm flipH="1" rot="10800000">
            <a:off x="8485035" y="3834756"/>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5"/>
          <p:cNvSpPr/>
          <p:nvPr/>
        </p:nvSpPr>
        <p:spPr>
          <a:xfrm flipH="1">
            <a:off x="7585740" y="4455767"/>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5"/>
          <p:cNvSpPr/>
          <p:nvPr/>
        </p:nvSpPr>
        <p:spPr>
          <a:xfrm flipH="1" rot="10800000">
            <a:off x="-1800014" y="1473847"/>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5"/>
          <p:cNvSpPr/>
          <p:nvPr/>
        </p:nvSpPr>
        <p:spPr>
          <a:xfrm rot="10800000">
            <a:off x="-1102497" y="300934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03" name="Shape 103"/>
        <p:cNvGrpSpPr/>
        <p:nvPr/>
      </p:nvGrpSpPr>
      <p:grpSpPr>
        <a:xfrm>
          <a:off x="0" y="0"/>
          <a:ext cx="0" cy="0"/>
          <a:chOff x="0" y="0"/>
          <a:chExt cx="0" cy="0"/>
        </a:xfrm>
      </p:grpSpPr>
      <p:sp>
        <p:nvSpPr>
          <p:cNvPr id="104" name="Google Shape;104;p16"/>
          <p:cNvSpPr/>
          <p:nvPr/>
        </p:nvSpPr>
        <p:spPr>
          <a:xfrm rot="10800000">
            <a:off x="7182053" y="-361631"/>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6"/>
          <p:cNvSpPr/>
          <p:nvPr/>
        </p:nvSpPr>
        <p:spPr>
          <a:xfrm rot="10800000">
            <a:off x="7106011" y="-1884153"/>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p:cNvSpPr/>
          <p:nvPr/>
        </p:nvSpPr>
        <p:spPr>
          <a:xfrm rot="10800000">
            <a:off x="-991376" y="4354135"/>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6"/>
          <p:cNvSpPr/>
          <p:nvPr/>
        </p:nvSpPr>
        <p:spPr>
          <a:xfrm rot="10800000">
            <a:off x="300703" y="431281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6"/>
          <p:cNvSpPr txBox="1"/>
          <p:nvPr>
            <p:ph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Clr>
                <a:schemeClr val="lt1"/>
              </a:buClr>
              <a:buSzPts val="3500"/>
              <a:buNone/>
              <a:defRPr>
                <a:solidFill>
                  <a:schemeClr val="lt1"/>
                </a:solidFill>
              </a:defRPr>
            </a:lvl2pPr>
            <a:lvl3pPr lvl="2" rtl="0" algn="ctr">
              <a:spcBef>
                <a:spcPts val="0"/>
              </a:spcBef>
              <a:spcAft>
                <a:spcPts val="0"/>
              </a:spcAft>
              <a:buClr>
                <a:schemeClr val="lt1"/>
              </a:buClr>
              <a:buSzPts val="3500"/>
              <a:buNone/>
              <a:defRPr>
                <a:solidFill>
                  <a:schemeClr val="lt1"/>
                </a:solidFill>
              </a:defRPr>
            </a:lvl3pPr>
            <a:lvl4pPr lvl="3" rtl="0" algn="ctr">
              <a:spcBef>
                <a:spcPts val="0"/>
              </a:spcBef>
              <a:spcAft>
                <a:spcPts val="0"/>
              </a:spcAft>
              <a:buClr>
                <a:schemeClr val="lt1"/>
              </a:buClr>
              <a:buSzPts val="3500"/>
              <a:buNone/>
              <a:defRPr>
                <a:solidFill>
                  <a:schemeClr val="lt1"/>
                </a:solidFill>
              </a:defRPr>
            </a:lvl4pPr>
            <a:lvl5pPr lvl="4" rtl="0" algn="ctr">
              <a:spcBef>
                <a:spcPts val="0"/>
              </a:spcBef>
              <a:spcAft>
                <a:spcPts val="0"/>
              </a:spcAft>
              <a:buClr>
                <a:schemeClr val="lt1"/>
              </a:buClr>
              <a:buSzPts val="3500"/>
              <a:buNone/>
              <a:defRPr>
                <a:solidFill>
                  <a:schemeClr val="lt1"/>
                </a:solidFill>
              </a:defRPr>
            </a:lvl5pPr>
            <a:lvl6pPr lvl="5" rtl="0" algn="ctr">
              <a:spcBef>
                <a:spcPts val="0"/>
              </a:spcBef>
              <a:spcAft>
                <a:spcPts val="0"/>
              </a:spcAft>
              <a:buClr>
                <a:schemeClr val="lt1"/>
              </a:buClr>
              <a:buSzPts val="3500"/>
              <a:buNone/>
              <a:defRPr>
                <a:solidFill>
                  <a:schemeClr val="lt1"/>
                </a:solidFill>
              </a:defRPr>
            </a:lvl6pPr>
            <a:lvl7pPr lvl="6" rtl="0" algn="ctr">
              <a:spcBef>
                <a:spcPts val="0"/>
              </a:spcBef>
              <a:spcAft>
                <a:spcPts val="0"/>
              </a:spcAft>
              <a:buClr>
                <a:schemeClr val="lt1"/>
              </a:buClr>
              <a:buSzPts val="3500"/>
              <a:buNone/>
              <a:defRPr>
                <a:solidFill>
                  <a:schemeClr val="lt1"/>
                </a:solidFill>
              </a:defRPr>
            </a:lvl7pPr>
            <a:lvl8pPr lvl="7" rtl="0" algn="ctr">
              <a:spcBef>
                <a:spcPts val="0"/>
              </a:spcBef>
              <a:spcAft>
                <a:spcPts val="0"/>
              </a:spcAft>
              <a:buClr>
                <a:schemeClr val="lt1"/>
              </a:buClr>
              <a:buSzPts val="3500"/>
              <a:buNone/>
              <a:defRPr>
                <a:solidFill>
                  <a:schemeClr val="lt1"/>
                </a:solidFill>
              </a:defRPr>
            </a:lvl8pPr>
            <a:lvl9pPr lvl="8" rtl="0" algn="ctr">
              <a:spcBef>
                <a:spcPts val="0"/>
              </a:spcBef>
              <a:spcAft>
                <a:spcPts val="0"/>
              </a:spcAft>
              <a:buClr>
                <a:schemeClr val="lt1"/>
              </a:buClr>
              <a:buSzPts val="3500"/>
              <a:buNone/>
              <a:defRPr>
                <a:solidFill>
                  <a:schemeClr val="lt1"/>
                </a:solidFill>
              </a:defRPr>
            </a:lvl9pPr>
          </a:lstStyle>
          <a:p/>
        </p:txBody>
      </p:sp>
      <p:sp>
        <p:nvSpPr>
          <p:cNvPr id="109" name="Google Shape;109;p16"/>
          <p:cNvSpPr txBox="1"/>
          <p:nvPr>
            <p:ph idx="1" type="body"/>
          </p:nvPr>
        </p:nvSpPr>
        <p:spPr>
          <a:xfrm>
            <a:off x="1193354" y="1987650"/>
            <a:ext cx="3371700" cy="1625400"/>
          </a:xfrm>
          <a:prstGeom prst="rect">
            <a:avLst/>
          </a:prstGeom>
        </p:spPr>
        <p:txBody>
          <a:bodyPr anchorCtr="0" anchor="t" bIns="91425" lIns="91425" spcFirstLastPara="1" rIns="91425" wrap="square" tIns="91425">
            <a:noAutofit/>
          </a:bodyPr>
          <a:lstStyle>
            <a:lvl1pPr indent="-330200" lvl="0" marL="457200" rtl="0" algn="r">
              <a:lnSpc>
                <a:spcPct val="100000"/>
              </a:lnSpc>
              <a:spcBef>
                <a:spcPts val="0"/>
              </a:spcBef>
              <a:spcAft>
                <a:spcPts val="0"/>
              </a:spcAft>
              <a:buClr>
                <a:schemeClr val="lt2"/>
              </a:buClr>
              <a:buSzPts val="1600"/>
              <a:buFont typeface="Mulish SemiBold"/>
              <a:buChar char="●"/>
              <a:defRPr/>
            </a:lvl1pPr>
            <a:lvl2pPr indent="-330200" lvl="1" marL="914400" rtl="0" algn="r">
              <a:lnSpc>
                <a:spcPct val="100000"/>
              </a:lnSpc>
              <a:spcBef>
                <a:spcPts val="0"/>
              </a:spcBef>
              <a:spcAft>
                <a:spcPts val="0"/>
              </a:spcAft>
              <a:buSzPts val="1600"/>
              <a:buFont typeface="Roboto Condensed Light"/>
              <a:buChar char="○"/>
              <a:defRPr sz="1600"/>
            </a:lvl2pPr>
            <a:lvl3pPr indent="-330200" lvl="2" marL="1371600" rtl="0" algn="r">
              <a:lnSpc>
                <a:spcPct val="100000"/>
              </a:lnSpc>
              <a:spcBef>
                <a:spcPts val="0"/>
              </a:spcBef>
              <a:spcAft>
                <a:spcPts val="0"/>
              </a:spcAft>
              <a:buSzPts val="1600"/>
              <a:buFont typeface="Roboto Condensed Light"/>
              <a:buChar char="■"/>
              <a:defRPr sz="1600"/>
            </a:lvl3pPr>
            <a:lvl4pPr indent="-330200" lvl="3" marL="1828800" rtl="0" algn="r">
              <a:lnSpc>
                <a:spcPct val="100000"/>
              </a:lnSpc>
              <a:spcBef>
                <a:spcPts val="0"/>
              </a:spcBef>
              <a:spcAft>
                <a:spcPts val="0"/>
              </a:spcAft>
              <a:buSzPts val="1600"/>
              <a:buFont typeface="Roboto Condensed Light"/>
              <a:buChar char="●"/>
              <a:defRPr sz="1600"/>
            </a:lvl4pPr>
            <a:lvl5pPr indent="-330200" lvl="4" marL="2286000" rtl="0" algn="r">
              <a:lnSpc>
                <a:spcPct val="100000"/>
              </a:lnSpc>
              <a:spcBef>
                <a:spcPts val="0"/>
              </a:spcBef>
              <a:spcAft>
                <a:spcPts val="0"/>
              </a:spcAft>
              <a:buSzPts val="1600"/>
              <a:buFont typeface="Roboto Condensed Light"/>
              <a:buChar char="○"/>
              <a:defRPr sz="1600"/>
            </a:lvl5pPr>
            <a:lvl6pPr indent="-330200" lvl="5" marL="2743200" rtl="0" algn="r">
              <a:lnSpc>
                <a:spcPct val="100000"/>
              </a:lnSpc>
              <a:spcBef>
                <a:spcPts val="0"/>
              </a:spcBef>
              <a:spcAft>
                <a:spcPts val="0"/>
              </a:spcAft>
              <a:buSzPts val="1600"/>
              <a:buFont typeface="Roboto Condensed Light"/>
              <a:buChar char="■"/>
              <a:defRPr sz="1600"/>
            </a:lvl6pPr>
            <a:lvl7pPr indent="-330200" lvl="6" marL="3200400" rtl="0" algn="r">
              <a:lnSpc>
                <a:spcPct val="100000"/>
              </a:lnSpc>
              <a:spcBef>
                <a:spcPts val="0"/>
              </a:spcBef>
              <a:spcAft>
                <a:spcPts val="0"/>
              </a:spcAft>
              <a:buSzPts val="1600"/>
              <a:buFont typeface="Roboto Condensed Light"/>
              <a:buChar char="●"/>
              <a:defRPr sz="1600"/>
            </a:lvl7pPr>
            <a:lvl8pPr indent="-330200" lvl="7" marL="3657600" rtl="0" algn="r">
              <a:lnSpc>
                <a:spcPct val="100000"/>
              </a:lnSpc>
              <a:spcBef>
                <a:spcPts val="0"/>
              </a:spcBef>
              <a:spcAft>
                <a:spcPts val="0"/>
              </a:spcAft>
              <a:buSzPts val="1600"/>
              <a:buFont typeface="Roboto Condensed Light"/>
              <a:buChar char="○"/>
              <a:defRPr sz="1600"/>
            </a:lvl8pPr>
            <a:lvl9pPr indent="-330200" lvl="8" marL="4114800" rtl="0" algn="r">
              <a:lnSpc>
                <a:spcPct val="100000"/>
              </a:lnSpc>
              <a:spcBef>
                <a:spcPts val="0"/>
              </a:spcBef>
              <a:spcAft>
                <a:spcPts val="0"/>
              </a:spcAft>
              <a:buSzPts val="1600"/>
              <a:buFont typeface="Roboto Condensed Light"/>
              <a:buChar char="■"/>
              <a:defRPr sz="16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4">
    <p:spTree>
      <p:nvGrpSpPr>
        <p:cNvPr id="110" name="Shape 110"/>
        <p:cNvGrpSpPr/>
        <p:nvPr/>
      </p:nvGrpSpPr>
      <p:grpSpPr>
        <a:xfrm>
          <a:off x="0" y="0"/>
          <a:ext cx="0" cy="0"/>
          <a:chOff x="0" y="0"/>
          <a:chExt cx="0" cy="0"/>
        </a:xfrm>
      </p:grpSpPr>
      <p:sp>
        <p:nvSpPr>
          <p:cNvPr id="111" name="Google Shape;111;p17"/>
          <p:cNvSpPr txBox="1"/>
          <p:nvPr>
            <p:ph idx="1" type="body"/>
          </p:nvPr>
        </p:nvSpPr>
        <p:spPr>
          <a:xfrm>
            <a:off x="755525" y="1280250"/>
            <a:ext cx="3749400" cy="28914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dk2"/>
              </a:buClr>
              <a:buSzPts val="1400"/>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112" name="Google Shape;112;p17"/>
          <p:cNvSpPr txBox="1"/>
          <p:nvPr>
            <p:ph idx="2" type="body"/>
          </p:nvPr>
        </p:nvSpPr>
        <p:spPr>
          <a:xfrm>
            <a:off x="4639075" y="1280250"/>
            <a:ext cx="3749400" cy="2891400"/>
          </a:xfrm>
          <a:prstGeom prst="rect">
            <a:avLst/>
          </a:prstGeom>
        </p:spPr>
        <p:txBody>
          <a:bodyPr anchorCtr="0" anchor="t" bIns="91425" lIns="91425" spcFirstLastPara="1" rIns="91425" wrap="square" tIns="91425">
            <a:noAutofit/>
          </a:bodyPr>
          <a:lstStyle>
            <a:lvl1pPr indent="-317500" lvl="0" marL="457200" rtl="0">
              <a:lnSpc>
                <a:spcPct val="100000"/>
              </a:lnSpc>
              <a:spcBef>
                <a:spcPts val="300"/>
              </a:spcBef>
              <a:spcAft>
                <a:spcPts val="0"/>
              </a:spcAft>
              <a:buClr>
                <a:schemeClr val="dk2"/>
              </a:buClr>
              <a:buSzPts val="1400"/>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113" name="Google Shape;113;p17"/>
          <p:cNvSpPr txBox="1"/>
          <p:nvPr>
            <p:ph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4_2">
    <p:spTree>
      <p:nvGrpSpPr>
        <p:cNvPr id="114" name="Shape 114"/>
        <p:cNvGrpSpPr/>
        <p:nvPr/>
      </p:nvGrpSpPr>
      <p:grpSpPr>
        <a:xfrm>
          <a:off x="0" y="0"/>
          <a:ext cx="0" cy="0"/>
          <a:chOff x="0" y="0"/>
          <a:chExt cx="0" cy="0"/>
        </a:xfrm>
      </p:grpSpPr>
      <p:sp>
        <p:nvSpPr>
          <p:cNvPr id="115" name="Google Shape;115;p18"/>
          <p:cNvSpPr txBox="1"/>
          <p:nvPr>
            <p:ph type="title"/>
          </p:nvPr>
        </p:nvSpPr>
        <p:spPr>
          <a:xfrm flipH="1">
            <a:off x="1464137" y="1604600"/>
            <a:ext cx="5202900" cy="365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500"/>
              <a:buNone/>
              <a:defRPr sz="2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6" name="Google Shape;116;p18"/>
          <p:cNvSpPr txBox="1"/>
          <p:nvPr>
            <p:ph idx="2" type="title"/>
          </p:nvPr>
        </p:nvSpPr>
        <p:spPr>
          <a:xfrm flipH="1">
            <a:off x="1464137" y="3093380"/>
            <a:ext cx="5202900" cy="365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500"/>
              <a:buNone/>
              <a:defRPr sz="2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7" name="Google Shape;117;p18"/>
          <p:cNvSpPr txBox="1"/>
          <p:nvPr>
            <p:ph idx="1" type="subTitle"/>
          </p:nvPr>
        </p:nvSpPr>
        <p:spPr>
          <a:xfrm flipH="1">
            <a:off x="1464137" y="3305256"/>
            <a:ext cx="5202900" cy="548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8" name="Google Shape;118;p18"/>
          <p:cNvSpPr txBox="1"/>
          <p:nvPr>
            <p:ph idx="3" type="subTitle"/>
          </p:nvPr>
        </p:nvSpPr>
        <p:spPr>
          <a:xfrm flipH="1">
            <a:off x="1463537" y="1816473"/>
            <a:ext cx="5203500" cy="548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9" name="Google Shape;119;p18"/>
          <p:cNvSpPr txBox="1"/>
          <p:nvPr>
            <p:ph idx="4"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sz="35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20" name="Google Shape;120;p18"/>
          <p:cNvSpPr/>
          <p:nvPr/>
        </p:nvSpPr>
        <p:spPr>
          <a:xfrm rot="10800000">
            <a:off x="-923572" y="417019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10800000">
            <a:off x="-999614" y="2647672"/>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8"/>
          <p:cNvSpPr/>
          <p:nvPr/>
        </p:nvSpPr>
        <p:spPr>
          <a:xfrm rot="10800000">
            <a:off x="7076374" y="4117460"/>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8"/>
          <p:cNvSpPr/>
          <p:nvPr/>
        </p:nvSpPr>
        <p:spPr>
          <a:xfrm rot="10800000">
            <a:off x="8368453" y="407614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4_1">
    <p:spTree>
      <p:nvGrpSpPr>
        <p:cNvPr id="124" name="Shape 124"/>
        <p:cNvGrpSpPr/>
        <p:nvPr/>
      </p:nvGrpSpPr>
      <p:grpSpPr>
        <a:xfrm>
          <a:off x="0" y="0"/>
          <a:ext cx="0" cy="0"/>
          <a:chOff x="0" y="0"/>
          <a:chExt cx="0" cy="0"/>
        </a:xfrm>
      </p:grpSpPr>
      <p:sp>
        <p:nvSpPr>
          <p:cNvPr id="125" name="Google Shape;125;p19"/>
          <p:cNvSpPr txBox="1"/>
          <p:nvPr>
            <p:ph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26" name="Google Shape;126;p19"/>
          <p:cNvSpPr txBox="1"/>
          <p:nvPr>
            <p:ph idx="1" type="subTitle"/>
          </p:nvPr>
        </p:nvSpPr>
        <p:spPr>
          <a:xfrm>
            <a:off x="721879" y="3125863"/>
            <a:ext cx="25017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7" name="Google Shape;127;p19"/>
          <p:cNvSpPr txBox="1"/>
          <p:nvPr>
            <p:ph idx="2" type="subTitle"/>
          </p:nvPr>
        </p:nvSpPr>
        <p:spPr>
          <a:xfrm>
            <a:off x="3323100" y="3125863"/>
            <a:ext cx="25017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8" name="Google Shape;128;p19"/>
          <p:cNvSpPr txBox="1"/>
          <p:nvPr>
            <p:ph idx="3" type="subTitle"/>
          </p:nvPr>
        </p:nvSpPr>
        <p:spPr>
          <a:xfrm>
            <a:off x="5920421" y="3125863"/>
            <a:ext cx="25017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9" name="Google Shape;129;p19"/>
          <p:cNvSpPr txBox="1"/>
          <p:nvPr>
            <p:ph idx="4" type="title"/>
          </p:nvPr>
        </p:nvSpPr>
        <p:spPr>
          <a:xfrm>
            <a:off x="719929" y="2903359"/>
            <a:ext cx="25056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22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30" name="Google Shape;130;p19"/>
          <p:cNvSpPr txBox="1"/>
          <p:nvPr>
            <p:ph idx="5" type="title"/>
          </p:nvPr>
        </p:nvSpPr>
        <p:spPr>
          <a:xfrm>
            <a:off x="3321150" y="2903359"/>
            <a:ext cx="25056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22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31" name="Google Shape;131;p19"/>
          <p:cNvSpPr txBox="1"/>
          <p:nvPr>
            <p:ph idx="6" type="title"/>
          </p:nvPr>
        </p:nvSpPr>
        <p:spPr>
          <a:xfrm>
            <a:off x="5918471" y="2903359"/>
            <a:ext cx="25056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22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32" name="Google Shape;132;p19"/>
          <p:cNvSpPr/>
          <p:nvPr/>
        </p:nvSpPr>
        <p:spPr>
          <a:xfrm rot="10800000">
            <a:off x="3364049" y="4504785"/>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14_1_1">
    <p:spTree>
      <p:nvGrpSpPr>
        <p:cNvPr id="133" name="Shape 133"/>
        <p:cNvGrpSpPr/>
        <p:nvPr/>
      </p:nvGrpSpPr>
      <p:grpSpPr>
        <a:xfrm>
          <a:off x="0" y="0"/>
          <a:ext cx="0" cy="0"/>
          <a:chOff x="0" y="0"/>
          <a:chExt cx="0" cy="0"/>
        </a:xfrm>
      </p:grpSpPr>
      <p:sp>
        <p:nvSpPr>
          <p:cNvPr id="134" name="Google Shape;134;p20"/>
          <p:cNvSpPr txBox="1"/>
          <p:nvPr>
            <p:ph type="title"/>
          </p:nvPr>
        </p:nvSpPr>
        <p:spPr>
          <a:xfrm>
            <a:off x="1913299" y="1629409"/>
            <a:ext cx="24963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sz="22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35" name="Google Shape;135;p20"/>
          <p:cNvSpPr txBox="1"/>
          <p:nvPr>
            <p:ph idx="2" type="title"/>
          </p:nvPr>
        </p:nvSpPr>
        <p:spPr>
          <a:xfrm>
            <a:off x="3942981" y="3255936"/>
            <a:ext cx="25056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sz="22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36" name="Google Shape;136;p20"/>
          <p:cNvSpPr txBox="1"/>
          <p:nvPr>
            <p:ph idx="3" type="title"/>
          </p:nvPr>
        </p:nvSpPr>
        <p:spPr>
          <a:xfrm>
            <a:off x="5913413" y="1629414"/>
            <a:ext cx="25056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sz="22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37" name="Google Shape;137;p20"/>
          <p:cNvSpPr txBox="1"/>
          <p:nvPr>
            <p:ph idx="4"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38" name="Google Shape;138;p20"/>
          <p:cNvSpPr txBox="1"/>
          <p:nvPr>
            <p:ph idx="1" type="subTitle"/>
          </p:nvPr>
        </p:nvSpPr>
        <p:spPr>
          <a:xfrm>
            <a:off x="1913299" y="1843721"/>
            <a:ext cx="24951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9" name="Google Shape;139;p20"/>
          <p:cNvSpPr txBox="1"/>
          <p:nvPr>
            <p:ph idx="5" type="subTitle"/>
          </p:nvPr>
        </p:nvSpPr>
        <p:spPr>
          <a:xfrm>
            <a:off x="5913413" y="1843726"/>
            <a:ext cx="24951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0" name="Google Shape;140;p20"/>
          <p:cNvSpPr txBox="1"/>
          <p:nvPr>
            <p:ph idx="6" type="subTitle"/>
          </p:nvPr>
        </p:nvSpPr>
        <p:spPr>
          <a:xfrm>
            <a:off x="3942981" y="3470247"/>
            <a:ext cx="24951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1" name="Google Shape;141;p20"/>
          <p:cNvSpPr/>
          <p:nvPr/>
        </p:nvSpPr>
        <p:spPr>
          <a:xfrm rot="10800000">
            <a:off x="-929726" y="4364585"/>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0"/>
          <p:cNvSpPr/>
          <p:nvPr/>
        </p:nvSpPr>
        <p:spPr>
          <a:xfrm rot="10800000">
            <a:off x="362353" y="432326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0"/>
          <p:cNvSpPr/>
          <p:nvPr/>
        </p:nvSpPr>
        <p:spPr>
          <a:xfrm rot="10800000">
            <a:off x="8532653" y="425189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0"/>
          <p:cNvSpPr/>
          <p:nvPr/>
        </p:nvSpPr>
        <p:spPr>
          <a:xfrm rot="10800000">
            <a:off x="8456611" y="2729372"/>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45" name="Shape 145"/>
        <p:cNvGrpSpPr/>
        <p:nvPr/>
      </p:nvGrpSpPr>
      <p:grpSpPr>
        <a:xfrm>
          <a:off x="0" y="0"/>
          <a:ext cx="0" cy="0"/>
          <a:chOff x="0" y="0"/>
          <a:chExt cx="0" cy="0"/>
        </a:xfrm>
      </p:grpSpPr>
      <p:sp>
        <p:nvSpPr>
          <p:cNvPr id="146" name="Google Shape;146;p21"/>
          <p:cNvSpPr txBox="1"/>
          <p:nvPr>
            <p:ph type="title"/>
          </p:nvPr>
        </p:nvSpPr>
        <p:spPr>
          <a:xfrm>
            <a:off x="2376756" y="1649879"/>
            <a:ext cx="19782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47" name="Google Shape;147;p21"/>
          <p:cNvSpPr txBox="1"/>
          <p:nvPr>
            <p:ph idx="1" type="subTitle"/>
          </p:nvPr>
        </p:nvSpPr>
        <p:spPr>
          <a:xfrm>
            <a:off x="2376756" y="1867310"/>
            <a:ext cx="19782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8" name="Google Shape;148;p21"/>
          <p:cNvSpPr txBox="1"/>
          <p:nvPr>
            <p:ph idx="2" type="title"/>
          </p:nvPr>
        </p:nvSpPr>
        <p:spPr>
          <a:xfrm>
            <a:off x="5961696" y="1649879"/>
            <a:ext cx="19782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49" name="Google Shape;149;p21"/>
          <p:cNvSpPr txBox="1"/>
          <p:nvPr>
            <p:ph idx="3" type="subTitle"/>
          </p:nvPr>
        </p:nvSpPr>
        <p:spPr>
          <a:xfrm>
            <a:off x="5961696" y="1867310"/>
            <a:ext cx="19782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0" name="Google Shape;150;p21"/>
          <p:cNvSpPr txBox="1"/>
          <p:nvPr>
            <p:ph idx="4" type="title"/>
          </p:nvPr>
        </p:nvSpPr>
        <p:spPr>
          <a:xfrm>
            <a:off x="2376756" y="3189406"/>
            <a:ext cx="19752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1" name="Google Shape;151;p21"/>
          <p:cNvSpPr txBox="1"/>
          <p:nvPr>
            <p:ph idx="5" type="subTitle"/>
          </p:nvPr>
        </p:nvSpPr>
        <p:spPr>
          <a:xfrm>
            <a:off x="2376756" y="3406837"/>
            <a:ext cx="19782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2" name="Google Shape;152;p21"/>
          <p:cNvSpPr txBox="1"/>
          <p:nvPr>
            <p:ph idx="6" type="title"/>
          </p:nvPr>
        </p:nvSpPr>
        <p:spPr>
          <a:xfrm>
            <a:off x="5961696" y="3189406"/>
            <a:ext cx="19782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3" name="Google Shape;153;p21"/>
          <p:cNvSpPr txBox="1"/>
          <p:nvPr>
            <p:ph idx="7" type="subTitle"/>
          </p:nvPr>
        </p:nvSpPr>
        <p:spPr>
          <a:xfrm>
            <a:off x="5961696" y="3406837"/>
            <a:ext cx="19782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4" name="Google Shape;154;p21"/>
          <p:cNvSpPr txBox="1"/>
          <p:nvPr>
            <p:ph idx="8"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55" name="Google Shape;155;p21"/>
          <p:cNvSpPr/>
          <p:nvPr/>
        </p:nvSpPr>
        <p:spPr>
          <a:xfrm rot="10800000">
            <a:off x="-1011447" y="164988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1"/>
          <p:cNvSpPr/>
          <p:nvPr/>
        </p:nvSpPr>
        <p:spPr>
          <a:xfrm rot="10800000">
            <a:off x="-1011460" y="2206456"/>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1"/>
          <p:cNvSpPr/>
          <p:nvPr/>
        </p:nvSpPr>
        <p:spPr>
          <a:xfrm rot="10800000">
            <a:off x="8519786" y="1657172"/>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1"/>
          <p:cNvSpPr/>
          <p:nvPr/>
        </p:nvSpPr>
        <p:spPr>
          <a:xfrm flipH="1" rot="10800000">
            <a:off x="8595828" y="317969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159" name="Shape 159"/>
        <p:cNvGrpSpPr/>
        <p:nvPr/>
      </p:nvGrpSpPr>
      <p:grpSpPr>
        <a:xfrm>
          <a:off x="0" y="0"/>
          <a:ext cx="0" cy="0"/>
          <a:chOff x="0" y="0"/>
          <a:chExt cx="0" cy="0"/>
        </a:xfrm>
      </p:grpSpPr>
      <p:sp>
        <p:nvSpPr>
          <p:cNvPr id="160" name="Google Shape;160;p22"/>
          <p:cNvSpPr txBox="1"/>
          <p:nvPr>
            <p:ph type="title"/>
          </p:nvPr>
        </p:nvSpPr>
        <p:spPr>
          <a:xfrm>
            <a:off x="1023437" y="1977988"/>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1" name="Google Shape;161;p22"/>
          <p:cNvSpPr txBox="1"/>
          <p:nvPr>
            <p:ph idx="1" type="subTitle"/>
          </p:nvPr>
        </p:nvSpPr>
        <p:spPr>
          <a:xfrm>
            <a:off x="1023437" y="2193038"/>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2" name="Google Shape;162;p22"/>
          <p:cNvSpPr txBox="1"/>
          <p:nvPr>
            <p:ph idx="2" type="title"/>
          </p:nvPr>
        </p:nvSpPr>
        <p:spPr>
          <a:xfrm>
            <a:off x="3579000" y="1977988"/>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3" name="Google Shape;163;p22"/>
          <p:cNvSpPr txBox="1"/>
          <p:nvPr>
            <p:ph idx="3" type="subTitle"/>
          </p:nvPr>
        </p:nvSpPr>
        <p:spPr>
          <a:xfrm>
            <a:off x="3579000" y="2193038"/>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4" name="Google Shape;164;p22"/>
          <p:cNvSpPr txBox="1"/>
          <p:nvPr>
            <p:ph idx="4" type="title"/>
          </p:nvPr>
        </p:nvSpPr>
        <p:spPr>
          <a:xfrm>
            <a:off x="1023437" y="3774537"/>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5" name="Google Shape;165;p22"/>
          <p:cNvSpPr txBox="1"/>
          <p:nvPr>
            <p:ph idx="5" type="subTitle"/>
          </p:nvPr>
        </p:nvSpPr>
        <p:spPr>
          <a:xfrm>
            <a:off x="1023437" y="3989587"/>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6" name="Google Shape;166;p22"/>
          <p:cNvSpPr txBox="1"/>
          <p:nvPr>
            <p:ph idx="6" type="title"/>
          </p:nvPr>
        </p:nvSpPr>
        <p:spPr>
          <a:xfrm>
            <a:off x="3579000" y="3774537"/>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7" name="Google Shape;167;p22"/>
          <p:cNvSpPr txBox="1"/>
          <p:nvPr>
            <p:ph idx="7" type="subTitle"/>
          </p:nvPr>
        </p:nvSpPr>
        <p:spPr>
          <a:xfrm>
            <a:off x="3579000" y="3989587"/>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8" name="Google Shape;168;p22"/>
          <p:cNvSpPr txBox="1"/>
          <p:nvPr>
            <p:ph idx="8" type="title"/>
          </p:nvPr>
        </p:nvSpPr>
        <p:spPr>
          <a:xfrm>
            <a:off x="6134563" y="1977988"/>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9" name="Google Shape;169;p22"/>
          <p:cNvSpPr txBox="1"/>
          <p:nvPr>
            <p:ph idx="9" type="subTitle"/>
          </p:nvPr>
        </p:nvSpPr>
        <p:spPr>
          <a:xfrm>
            <a:off x="6134563" y="2193038"/>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0" name="Google Shape;170;p22"/>
          <p:cNvSpPr txBox="1"/>
          <p:nvPr>
            <p:ph idx="13" type="title"/>
          </p:nvPr>
        </p:nvSpPr>
        <p:spPr>
          <a:xfrm>
            <a:off x="6134563" y="3774537"/>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1" name="Google Shape;171;p22"/>
          <p:cNvSpPr txBox="1"/>
          <p:nvPr>
            <p:ph idx="14" type="subTitle"/>
          </p:nvPr>
        </p:nvSpPr>
        <p:spPr>
          <a:xfrm>
            <a:off x="6134563" y="3989587"/>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2" name="Google Shape;172;p22"/>
          <p:cNvSpPr txBox="1"/>
          <p:nvPr>
            <p:ph idx="15"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73" name="Google Shape;173;p22"/>
          <p:cNvSpPr/>
          <p:nvPr/>
        </p:nvSpPr>
        <p:spPr>
          <a:xfrm rot="10800000">
            <a:off x="8607028" y="2727844"/>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2"/>
          <p:cNvSpPr/>
          <p:nvPr/>
        </p:nvSpPr>
        <p:spPr>
          <a:xfrm rot="10800000">
            <a:off x="8547124" y="3914335"/>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2"/>
          <p:cNvSpPr/>
          <p:nvPr/>
        </p:nvSpPr>
        <p:spPr>
          <a:xfrm rot="10800000">
            <a:off x="-1156547" y="234856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2"/>
          <p:cNvSpPr/>
          <p:nvPr/>
        </p:nvSpPr>
        <p:spPr>
          <a:xfrm rot="10800000">
            <a:off x="-1156547" y="145624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77" name="Shape 177"/>
        <p:cNvGrpSpPr/>
        <p:nvPr/>
      </p:nvGrpSpPr>
      <p:grpSpPr>
        <a:xfrm>
          <a:off x="0" y="0"/>
          <a:ext cx="0" cy="0"/>
          <a:chOff x="0" y="0"/>
          <a:chExt cx="0" cy="0"/>
        </a:xfrm>
      </p:grpSpPr>
      <p:sp>
        <p:nvSpPr>
          <p:cNvPr id="178" name="Google Shape;178;p23"/>
          <p:cNvSpPr txBox="1"/>
          <p:nvPr>
            <p:ph hasCustomPrompt="1" type="title"/>
          </p:nvPr>
        </p:nvSpPr>
        <p:spPr>
          <a:xfrm>
            <a:off x="2233650" y="791050"/>
            <a:ext cx="4676700" cy="760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79" name="Google Shape;179;p23"/>
          <p:cNvSpPr txBox="1"/>
          <p:nvPr>
            <p:ph idx="1" type="subTitle"/>
          </p:nvPr>
        </p:nvSpPr>
        <p:spPr>
          <a:xfrm>
            <a:off x="2233650" y="1466310"/>
            <a:ext cx="4676700" cy="365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sz="1600">
                <a:solidFill>
                  <a:schemeClr val="lt1"/>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80" name="Google Shape;180;p23"/>
          <p:cNvSpPr txBox="1"/>
          <p:nvPr>
            <p:ph hasCustomPrompt="1" idx="2" type="title"/>
          </p:nvPr>
        </p:nvSpPr>
        <p:spPr>
          <a:xfrm>
            <a:off x="2233650" y="2051270"/>
            <a:ext cx="4676700" cy="760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81" name="Google Shape;181;p23"/>
          <p:cNvSpPr txBox="1"/>
          <p:nvPr>
            <p:ph idx="3" type="subTitle"/>
          </p:nvPr>
        </p:nvSpPr>
        <p:spPr>
          <a:xfrm>
            <a:off x="2233650" y="2726530"/>
            <a:ext cx="4676700" cy="365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sz="1600">
                <a:solidFill>
                  <a:schemeClr val="lt1"/>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82" name="Google Shape;182;p23"/>
          <p:cNvSpPr txBox="1"/>
          <p:nvPr>
            <p:ph hasCustomPrompt="1" idx="4" type="title"/>
          </p:nvPr>
        </p:nvSpPr>
        <p:spPr>
          <a:xfrm>
            <a:off x="2233650" y="3311490"/>
            <a:ext cx="4676700" cy="760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83" name="Google Shape;183;p23"/>
          <p:cNvSpPr txBox="1"/>
          <p:nvPr>
            <p:ph idx="5" type="subTitle"/>
          </p:nvPr>
        </p:nvSpPr>
        <p:spPr>
          <a:xfrm>
            <a:off x="2233650" y="3986750"/>
            <a:ext cx="4676700" cy="365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sz="1600">
                <a:solidFill>
                  <a:schemeClr val="lt1"/>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84" name="Google Shape;184;p23"/>
          <p:cNvSpPr/>
          <p:nvPr/>
        </p:nvSpPr>
        <p:spPr>
          <a:xfrm rot="10800000">
            <a:off x="-959872" y="371429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3"/>
          <p:cNvSpPr/>
          <p:nvPr/>
        </p:nvSpPr>
        <p:spPr>
          <a:xfrm rot="10800000">
            <a:off x="-1035914" y="2191772"/>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3"/>
          <p:cNvSpPr/>
          <p:nvPr/>
        </p:nvSpPr>
        <p:spPr>
          <a:xfrm rot="10800000">
            <a:off x="7617578" y="95109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3"/>
          <p:cNvSpPr/>
          <p:nvPr/>
        </p:nvSpPr>
        <p:spPr>
          <a:xfrm rot="10800000">
            <a:off x="7541536" y="-571428"/>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188" name="Shape 188"/>
        <p:cNvGrpSpPr/>
        <p:nvPr/>
      </p:nvGrpSpPr>
      <p:grpSpPr>
        <a:xfrm>
          <a:off x="0" y="0"/>
          <a:ext cx="0" cy="0"/>
          <a:chOff x="0" y="0"/>
          <a:chExt cx="0" cy="0"/>
        </a:xfrm>
      </p:grpSpPr>
      <p:sp>
        <p:nvSpPr>
          <p:cNvPr id="189" name="Google Shape;189;p24"/>
          <p:cNvSpPr txBox="1"/>
          <p:nvPr>
            <p:ph type="title"/>
          </p:nvPr>
        </p:nvSpPr>
        <p:spPr>
          <a:xfrm>
            <a:off x="808851" y="2667939"/>
            <a:ext cx="23217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22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0" name="Google Shape;190;p24"/>
          <p:cNvSpPr txBox="1"/>
          <p:nvPr>
            <p:ph idx="2" type="title"/>
          </p:nvPr>
        </p:nvSpPr>
        <p:spPr>
          <a:xfrm>
            <a:off x="3411150" y="2667939"/>
            <a:ext cx="23217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22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1" name="Google Shape;191;p24"/>
          <p:cNvSpPr txBox="1"/>
          <p:nvPr>
            <p:ph hasCustomPrompt="1" idx="3" type="title"/>
          </p:nvPr>
        </p:nvSpPr>
        <p:spPr>
          <a:xfrm>
            <a:off x="1450250" y="1762800"/>
            <a:ext cx="1038900" cy="473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22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92" name="Google Shape;192;p24"/>
          <p:cNvSpPr txBox="1"/>
          <p:nvPr>
            <p:ph idx="1" type="subTitle"/>
          </p:nvPr>
        </p:nvSpPr>
        <p:spPr>
          <a:xfrm>
            <a:off x="809901" y="2882248"/>
            <a:ext cx="23196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93" name="Google Shape;193;p24"/>
          <p:cNvSpPr txBox="1"/>
          <p:nvPr>
            <p:ph hasCustomPrompt="1" idx="4" type="title"/>
          </p:nvPr>
        </p:nvSpPr>
        <p:spPr>
          <a:xfrm>
            <a:off x="4052549" y="1762800"/>
            <a:ext cx="1038900" cy="473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22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94" name="Google Shape;194;p24"/>
          <p:cNvSpPr txBox="1"/>
          <p:nvPr>
            <p:ph idx="5" type="subTitle"/>
          </p:nvPr>
        </p:nvSpPr>
        <p:spPr>
          <a:xfrm>
            <a:off x="3412200" y="2882248"/>
            <a:ext cx="23196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95" name="Google Shape;195;p24"/>
          <p:cNvSpPr txBox="1"/>
          <p:nvPr>
            <p:ph idx="6"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96" name="Google Shape;196;p24"/>
          <p:cNvSpPr txBox="1"/>
          <p:nvPr>
            <p:ph idx="7" type="title"/>
          </p:nvPr>
        </p:nvSpPr>
        <p:spPr>
          <a:xfrm>
            <a:off x="6013449" y="2667939"/>
            <a:ext cx="23217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22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7" name="Google Shape;197;p24"/>
          <p:cNvSpPr txBox="1"/>
          <p:nvPr>
            <p:ph hasCustomPrompt="1" idx="8" type="title"/>
          </p:nvPr>
        </p:nvSpPr>
        <p:spPr>
          <a:xfrm>
            <a:off x="6654850" y="1762800"/>
            <a:ext cx="1038900" cy="473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22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98" name="Google Shape;198;p24"/>
          <p:cNvSpPr txBox="1"/>
          <p:nvPr>
            <p:ph idx="9" type="subTitle"/>
          </p:nvPr>
        </p:nvSpPr>
        <p:spPr>
          <a:xfrm>
            <a:off x="6014499" y="2882248"/>
            <a:ext cx="23196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99" name="Google Shape;199;p24"/>
          <p:cNvSpPr/>
          <p:nvPr/>
        </p:nvSpPr>
        <p:spPr>
          <a:xfrm rot="10800000">
            <a:off x="-683872" y="431683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4"/>
          <p:cNvSpPr/>
          <p:nvPr/>
        </p:nvSpPr>
        <p:spPr>
          <a:xfrm rot="10800000">
            <a:off x="670315" y="474313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4"/>
          <p:cNvSpPr/>
          <p:nvPr/>
        </p:nvSpPr>
        <p:spPr>
          <a:xfrm rot="10800000">
            <a:off x="6326899" y="4491585"/>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4"/>
          <p:cNvSpPr/>
          <p:nvPr/>
        </p:nvSpPr>
        <p:spPr>
          <a:xfrm rot="10800000">
            <a:off x="7618978" y="445026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203" name="Shape 203"/>
        <p:cNvGrpSpPr/>
        <p:nvPr/>
      </p:nvGrpSpPr>
      <p:grpSpPr>
        <a:xfrm>
          <a:off x="0" y="0"/>
          <a:ext cx="0" cy="0"/>
          <a:chOff x="0" y="0"/>
          <a:chExt cx="0" cy="0"/>
        </a:xfrm>
      </p:grpSpPr>
      <p:sp>
        <p:nvSpPr>
          <p:cNvPr id="204" name="Google Shape;204;p25"/>
          <p:cNvSpPr txBox="1"/>
          <p:nvPr>
            <p:ph type="title"/>
          </p:nvPr>
        </p:nvSpPr>
        <p:spPr>
          <a:xfrm>
            <a:off x="2276175" y="621573"/>
            <a:ext cx="4594800" cy="9144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500"/>
              <a:buNone/>
              <a:defRPr sz="60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5" name="Google Shape;205;p25"/>
          <p:cNvSpPr txBox="1"/>
          <p:nvPr>
            <p:ph idx="1" type="subTitle"/>
          </p:nvPr>
        </p:nvSpPr>
        <p:spPr>
          <a:xfrm>
            <a:off x="2272950" y="1456534"/>
            <a:ext cx="45981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6" name="Google Shape;206;p25"/>
          <p:cNvSpPr txBox="1"/>
          <p:nvPr/>
        </p:nvSpPr>
        <p:spPr>
          <a:xfrm>
            <a:off x="2639000" y="3422375"/>
            <a:ext cx="3862200" cy="73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Mulish"/>
                <a:ea typeface="Mulish"/>
                <a:cs typeface="Mulish"/>
                <a:sym typeface="Mulish"/>
              </a:rPr>
              <a:t>CREDITS: This presentation template was created by </a:t>
            </a:r>
            <a:r>
              <a:rPr b="1" lang="en" sz="1300">
                <a:solidFill>
                  <a:schemeClr val="lt1"/>
                </a:solidFill>
                <a:uFill>
                  <a:noFill/>
                </a:uFill>
                <a:latin typeface="Mulish"/>
                <a:ea typeface="Mulish"/>
                <a:cs typeface="Mulish"/>
                <a:sym typeface="Mulish"/>
                <a:hlinkClick r:id="rId2">
                  <a:extLst>
                    <a:ext uri="{A12FA001-AC4F-418D-AE19-62706E023703}">
                      <ahyp:hlinkClr val="tx"/>
                    </a:ext>
                  </a:extLst>
                </a:hlinkClick>
              </a:rPr>
              <a:t>Slidesgo</a:t>
            </a:r>
            <a:r>
              <a:rPr lang="en" sz="1300">
                <a:solidFill>
                  <a:schemeClr val="lt1"/>
                </a:solidFill>
                <a:latin typeface="Mulish"/>
                <a:ea typeface="Mulish"/>
                <a:cs typeface="Mulish"/>
                <a:sym typeface="Mulish"/>
              </a:rPr>
              <a:t>, and includes icons by </a:t>
            </a:r>
            <a:r>
              <a:rPr b="1" lang="en" sz="1300">
                <a:solidFill>
                  <a:schemeClr val="lt1"/>
                </a:solidFill>
                <a:uFill>
                  <a:noFill/>
                </a:uFill>
                <a:latin typeface="Mulish"/>
                <a:ea typeface="Mulish"/>
                <a:cs typeface="Mulish"/>
                <a:sym typeface="Mulish"/>
                <a:hlinkClick r:id="rId3">
                  <a:extLst>
                    <a:ext uri="{A12FA001-AC4F-418D-AE19-62706E023703}">
                      <ahyp:hlinkClr val="tx"/>
                    </a:ext>
                  </a:extLst>
                </a:hlinkClick>
              </a:rPr>
              <a:t>Flaticon</a:t>
            </a:r>
            <a:r>
              <a:rPr lang="en" sz="1300">
                <a:solidFill>
                  <a:schemeClr val="lt1"/>
                </a:solidFill>
                <a:latin typeface="Mulish"/>
                <a:ea typeface="Mulish"/>
                <a:cs typeface="Mulish"/>
                <a:sym typeface="Mulish"/>
              </a:rPr>
              <a:t>, and infographics &amp; images by </a:t>
            </a:r>
            <a:r>
              <a:rPr b="1" lang="en" sz="1300">
                <a:solidFill>
                  <a:schemeClr val="lt1"/>
                </a:solidFill>
                <a:uFill>
                  <a:noFill/>
                </a:uFill>
                <a:latin typeface="Mulish"/>
                <a:ea typeface="Mulish"/>
                <a:cs typeface="Mulish"/>
                <a:sym typeface="Mulish"/>
                <a:hlinkClick r:id="rId4">
                  <a:extLst>
                    <a:ext uri="{A12FA001-AC4F-418D-AE19-62706E023703}">
                      <ahyp:hlinkClr val="tx"/>
                    </a:ext>
                  </a:extLst>
                </a:hlinkClick>
              </a:rPr>
              <a:t>Freepik</a:t>
            </a:r>
            <a:endParaRPr b="1" sz="1300">
              <a:solidFill>
                <a:schemeClr val="lt1"/>
              </a:solidFill>
              <a:latin typeface="Mulish"/>
              <a:ea typeface="Mulish"/>
              <a:cs typeface="Mulish"/>
              <a:sym typeface="Mulish"/>
            </a:endParaRPr>
          </a:p>
        </p:txBody>
      </p:sp>
      <p:sp>
        <p:nvSpPr>
          <p:cNvPr id="207" name="Google Shape;207;p25"/>
          <p:cNvSpPr/>
          <p:nvPr/>
        </p:nvSpPr>
        <p:spPr>
          <a:xfrm rot="10800000">
            <a:off x="-467847" y="75136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5"/>
          <p:cNvSpPr/>
          <p:nvPr/>
        </p:nvSpPr>
        <p:spPr>
          <a:xfrm rot="10800000">
            <a:off x="-543889" y="-771153"/>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5"/>
          <p:cNvSpPr/>
          <p:nvPr/>
        </p:nvSpPr>
        <p:spPr>
          <a:xfrm rot="10800000">
            <a:off x="6807749" y="3511435"/>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5"/>
          <p:cNvSpPr/>
          <p:nvPr/>
        </p:nvSpPr>
        <p:spPr>
          <a:xfrm rot="10800000">
            <a:off x="8099828" y="347011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11" name="Shape 211"/>
        <p:cNvGrpSpPr/>
        <p:nvPr/>
      </p:nvGrpSpPr>
      <p:grpSpPr>
        <a:xfrm>
          <a:off x="0" y="0"/>
          <a:ext cx="0" cy="0"/>
          <a:chOff x="0" y="0"/>
          <a:chExt cx="0" cy="0"/>
        </a:xfrm>
      </p:grpSpPr>
      <p:sp>
        <p:nvSpPr>
          <p:cNvPr id="212" name="Google Shape;212;p26"/>
          <p:cNvSpPr/>
          <p:nvPr/>
        </p:nvSpPr>
        <p:spPr>
          <a:xfrm flipH="1" rot="10800000">
            <a:off x="-1108865" y="3526431"/>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6"/>
          <p:cNvSpPr/>
          <p:nvPr/>
        </p:nvSpPr>
        <p:spPr>
          <a:xfrm flipH="1">
            <a:off x="-157685" y="4519142"/>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6"/>
          <p:cNvSpPr/>
          <p:nvPr/>
        </p:nvSpPr>
        <p:spPr>
          <a:xfrm rot="10800000">
            <a:off x="6326899" y="4491585"/>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6"/>
          <p:cNvSpPr/>
          <p:nvPr/>
        </p:nvSpPr>
        <p:spPr>
          <a:xfrm rot="10800000">
            <a:off x="7618978" y="445026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16" name="Shape 216"/>
        <p:cNvGrpSpPr/>
        <p:nvPr/>
      </p:nvGrpSpPr>
      <p:grpSpPr>
        <a:xfrm>
          <a:off x="0" y="0"/>
          <a:ext cx="0" cy="0"/>
          <a:chOff x="0" y="0"/>
          <a:chExt cx="0" cy="0"/>
        </a:xfrm>
      </p:grpSpPr>
      <p:sp>
        <p:nvSpPr>
          <p:cNvPr id="217" name="Google Shape;217;p27"/>
          <p:cNvSpPr/>
          <p:nvPr/>
        </p:nvSpPr>
        <p:spPr>
          <a:xfrm rot="10800000">
            <a:off x="8425378" y="2727844"/>
            <a:ext cx="1658700" cy="16587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7"/>
          <p:cNvSpPr/>
          <p:nvPr/>
        </p:nvSpPr>
        <p:spPr>
          <a:xfrm rot="10800000">
            <a:off x="8230524" y="3914335"/>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7"/>
          <p:cNvSpPr/>
          <p:nvPr/>
        </p:nvSpPr>
        <p:spPr>
          <a:xfrm rot="10800000">
            <a:off x="-1016397" y="234856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7"/>
          <p:cNvSpPr/>
          <p:nvPr/>
        </p:nvSpPr>
        <p:spPr>
          <a:xfrm rot="10800000">
            <a:off x="-1016397" y="145624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ONE_COLUMN_TEXT_1">
    <p:spTree>
      <p:nvGrpSpPr>
        <p:cNvPr id="221" name="Shape 221"/>
        <p:cNvGrpSpPr/>
        <p:nvPr/>
      </p:nvGrpSpPr>
      <p:grpSpPr>
        <a:xfrm>
          <a:off x="0" y="0"/>
          <a:ext cx="0" cy="0"/>
          <a:chOff x="0" y="0"/>
          <a:chExt cx="0" cy="0"/>
        </a:xfrm>
      </p:grpSpPr>
      <p:sp>
        <p:nvSpPr>
          <p:cNvPr id="222" name="Google Shape;222;p28"/>
          <p:cNvSpPr txBox="1"/>
          <p:nvPr>
            <p:ph idx="1" type="subTitle"/>
          </p:nvPr>
        </p:nvSpPr>
        <p:spPr>
          <a:xfrm flipH="1">
            <a:off x="2173350" y="1717475"/>
            <a:ext cx="4797300" cy="2153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Char char="●"/>
              <a:defRPr/>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
        <p:nvSpPr>
          <p:cNvPr id="223" name="Google Shape;223;p28"/>
          <p:cNvSpPr/>
          <p:nvPr/>
        </p:nvSpPr>
        <p:spPr>
          <a:xfrm rot="10800000">
            <a:off x="7182053" y="-361631"/>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8"/>
          <p:cNvSpPr/>
          <p:nvPr/>
        </p:nvSpPr>
        <p:spPr>
          <a:xfrm rot="10800000">
            <a:off x="7106011" y="-1884153"/>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8"/>
          <p:cNvSpPr/>
          <p:nvPr/>
        </p:nvSpPr>
        <p:spPr>
          <a:xfrm rot="10800000">
            <a:off x="-565776" y="4478710"/>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8"/>
          <p:cNvSpPr/>
          <p:nvPr/>
        </p:nvSpPr>
        <p:spPr>
          <a:xfrm rot="10800000">
            <a:off x="726303" y="443739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8"/>
          <p:cNvSpPr txBox="1"/>
          <p:nvPr>
            <p:ph type="title"/>
          </p:nvPr>
        </p:nvSpPr>
        <p:spPr>
          <a:xfrm>
            <a:off x="716100" y="320050"/>
            <a:ext cx="7711800" cy="685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Clr>
                <a:schemeClr val="lt1"/>
              </a:buClr>
              <a:buSzPts val="3500"/>
              <a:buNone/>
              <a:defRPr>
                <a:solidFill>
                  <a:schemeClr val="lt1"/>
                </a:solidFill>
              </a:defRPr>
            </a:lvl2pPr>
            <a:lvl3pPr lvl="2" rtl="0" algn="ctr">
              <a:spcBef>
                <a:spcPts val="0"/>
              </a:spcBef>
              <a:spcAft>
                <a:spcPts val="0"/>
              </a:spcAft>
              <a:buClr>
                <a:schemeClr val="lt1"/>
              </a:buClr>
              <a:buSzPts val="3500"/>
              <a:buNone/>
              <a:defRPr>
                <a:solidFill>
                  <a:schemeClr val="lt1"/>
                </a:solidFill>
              </a:defRPr>
            </a:lvl3pPr>
            <a:lvl4pPr lvl="3" rtl="0" algn="ctr">
              <a:spcBef>
                <a:spcPts val="0"/>
              </a:spcBef>
              <a:spcAft>
                <a:spcPts val="0"/>
              </a:spcAft>
              <a:buClr>
                <a:schemeClr val="lt1"/>
              </a:buClr>
              <a:buSzPts val="3500"/>
              <a:buNone/>
              <a:defRPr>
                <a:solidFill>
                  <a:schemeClr val="lt1"/>
                </a:solidFill>
              </a:defRPr>
            </a:lvl4pPr>
            <a:lvl5pPr lvl="4" rtl="0" algn="ctr">
              <a:spcBef>
                <a:spcPts val="0"/>
              </a:spcBef>
              <a:spcAft>
                <a:spcPts val="0"/>
              </a:spcAft>
              <a:buClr>
                <a:schemeClr val="lt1"/>
              </a:buClr>
              <a:buSzPts val="3500"/>
              <a:buNone/>
              <a:defRPr>
                <a:solidFill>
                  <a:schemeClr val="lt1"/>
                </a:solidFill>
              </a:defRPr>
            </a:lvl5pPr>
            <a:lvl6pPr lvl="5" rtl="0" algn="ctr">
              <a:spcBef>
                <a:spcPts val="0"/>
              </a:spcBef>
              <a:spcAft>
                <a:spcPts val="0"/>
              </a:spcAft>
              <a:buClr>
                <a:schemeClr val="lt1"/>
              </a:buClr>
              <a:buSzPts val="3500"/>
              <a:buNone/>
              <a:defRPr>
                <a:solidFill>
                  <a:schemeClr val="lt1"/>
                </a:solidFill>
              </a:defRPr>
            </a:lvl6pPr>
            <a:lvl7pPr lvl="6" rtl="0" algn="ctr">
              <a:spcBef>
                <a:spcPts val="0"/>
              </a:spcBef>
              <a:spcAft>
                <a:spcPts val="0"/>
              </a:spcAft>
              <a:buClr>
                <a:schemeClr val="lt1"/>
              </a:buClr>
              <a:buSzPts val="3500"/>
              <a:buNone/>
              <a:defRPr>
                <a:solidFill>
                  <a:schemeClr val="lt1"/>
                </a:solidFill>
              </a:defRPr>
            </a:lvl7pPr>
            <a:lvl8pPr lvl="7" rtl="0" algn="ctr">
              <a:spcBef>
                <a:spcPts val="0"/>
              </a:spcBef>
              <a:spcAft>
                <a:spcPts val="0"/>
              </a:spcAft>
              <a:buClr>
                <a:schemeClr val="lt1"/>
              </a:buClr>
              <a:buSzPts val="3500"/>
              <a:buNone/>
              <a:defRPr>
                <a:solidFill>
                  <a:schemeClr val="lt1"/>
                </a:solidFill>
              </a:defRPr>
            </a:lvl8pPr>
            <a:lvl9pPr lvl="8" rtl="0" algn="ctr">
              <a:spcBef>
                <a:spcPts val="0"/>
              </a:spcBef>
              <a:spcAft>
                <a:spcPts val="0"/>
              </a:spcAft>
              <a:buClr>
                <a:schemeClr val="lt1"/>
              </a:buClr>
              <a:buSzPts val="3500"/>
              <a:buNone/>
              <a:defRPr>
                <a:solidFill>
                  <a:schemeClr val="lt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31" name="Shape 231"/>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232" name="Shape 232"/>
        <p:cNvGrpSpPr/>
        <p:nvPr/>
      </p:nvGrpSpPr>
      <p:grpSpPr>
        <a:xfrm>
          <a:off x="0" y="0"/>
          <a:ext cx="0" cy="0"/>
          <a:chOff x="0" y="0"/>
          <a:chExt cx="0" cy="0"/>
        </a:xfrm>
      </p:grpSpPr>
      <p:sp>
        <p:nvSpPr>
          <p:cNvPr id="233" name="Google Shape;233;p31"/>
          <p:cNvSpPr txBox="1"/>
          <p:nvPr>
            <p:ph type="title"/>
          </p:nvPr>
        </p:nvSpPr>
        <p:spPr>
          <a:xfrm>
            <a:off x="1048350" y="323850"/>
            <a:ext cx="70473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Arial"/>
              <a:buNone/>
              <a:defRPr>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1.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dk2"/>
            </a:gs>
            <a:gs pos="100000">
              <a:schemeClr val="lt2"/>
            </a:gs>
          </a:gsLst>
          <a:lin ang="5400012"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6100" y="320050"/>
            <a:ext cx="7711800" cy="685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lt1"/>
              </a:buClr>
              <a:buSzPts val="3500"/>
              <a:buFont typeface="Anek Devanagari"/>
              <a:buNone/>
              <a:defRPr b="1" sz="3500">
                <a:solidFill>
                  <a:schemeClr val="lt1"/>
                </a:solidFill>
                <a:latin typeface="Anek Devanagari"/>
                <a:ea typeface="Anek Devanagari"/>
                <a:cs typeface="Anek Devanagari"/>
                <a:sym typeface="Anek Devanagari"/>
              </a:defRPr>
            </a:lvl1pPr>
            <a:lvl2pPr lvl="1" rtl="0">
              <a:spcBef>
                <a:spcPts val="0"/>
              </a:spcBef>
              <a:spcAft>
                <a:spcPts val="0"/>
              </a:spcAft>
              <a:buClr>
                <a:schemeClr val="lt1"/>
              </a:buClr>
              <a:buSzPts val="3500"/>
              <a:buNone/>
              <a:defRPr sz="3500">
                <a:solidFill>
                  <a:schemeClr val="lt1"/>
                </a:solidFill>
              </a:defRPr>
            </a:lvl2pPr>
            <a:lvl3pPr lvl="2" rtl="0">
              <a:spcBef>
                <a:spcPts val="0"/>
              </a:spcBef>
              <a:spcAft>
                <a:spcPts val="0"/>
              </a:spcAft>
              <a:buClr>
                <a:schemeClr val="lt1"/>
              </a:buClr>
              <a:buSzPts val="3500"/>
              <a:buNone/>
              <a:defRPr sz="3500">
                <a:solidFill>
                  <a:schemeClr val="lt1"/>
                </a:solidFill>
              </a:defRPr>
            </a:lvl3pPr>
            <a:lvl4pPr lvl="3" rtl="0">
              <a:spcBef>
                <a:spcPts val="0"/>
              </a:spcBef>
              <a:spcAft>
                <a:spcPts val="0"/>
              </a:spcAft>
              <a:buClr>
                <a:schemeClr val="lt1"/>
              </a:buClr>
              <a:buSzPts val="3500"/>
              <a:buNone/>
              <a:defRPr sz="3500">
                <a:solidFill>
                  <a:schemeClr val="lt1"/>
                </a:solidFill>
              </a:defRPr>
            </a:lvl4pPr>
            <a:lvl5pPr lvl="4" rtl="0">
              <a:spcBef>
                <a:spcPts val="0"/>
              </a:spcBef>
              <a:spcAft>
                <a:spcPts val="0"/>
              </a:spcAft>
              <a:buClr>
                <a:schemeClr val="lt1"/>
              </a:buClr>
              <a:buSzPts val="3500"/>
              <a:buNone/>
              <a:defRPr sz="3500">
                <a:solidFill>
                  <a:schemeClr val="lt1"/>
                </a:solidFill>
              </a:defRPr>
            </a:lvl5pPr>
            <a:lvl6pPr lvl="5" rtl="0">
              <a:spcBef>
                <a:spcPts val="0"/>
              </a:spcBef>
              <a:spcAft>
                <a:spcPts val="0"/>
              </a:spcAft>
              <a:buClr>
                <a:schemeClr val="lt1"/>
              </a:buClr>
              <a:buSzPts val="3500"/>
              <a:buNone/>
              <a:defRPr sz="3500">
                <a:solidFill>
                  <a:schemeClr val="lt1"/>
                </a:solidFill>
              </a:defRPr>
            </a:lvl6pPr>
            <a:lvl7pPr lvl="6" rtl="0">
              <a:spcBef>
                <a:spcPts val="0"/>
              </a:spcBef>
              <a:spcAft>
                <a:spcPts val="0"/>
              </a:spcAft>
              <a:buClr>
                <a:schemeClr val="lt1"/>
              </a:buClr>
              <a:buSzPts val="3500"/>
              <a:buNone/>
              <a:defRPr sz="3500">
                <a:solidFill>
                  <a:schemeClr val="lt1"/>
                </a:solidFill>
              </a:defRPr>
            </a:lvl7pPr>
            <a:lvl8pPr lvl="7" rtl="0">
              <a:spcBef>
                <a:spcPts val="0"/>
              </a:spcBef>
              <a:spcAft>
                <a:spcPts val="0"/>
              </a:spcAft>
              <a:buClr>
                <a:schemeClr val="lt1"/>
              </a:buClr>
              <a:buSzPts val="3500"/>
              <a:buNone/>
              <a:defRPr sz="3500">
                <a:solidFill>
                  <a:schemeClr val="lt1"/>
                </a:solidFill>
              </a:defRPr>
            </a:lvl8pPr>
            <a:lvl9pPr lvl="8" rtl="0">
              <a:spcBef>
                <a:spcPts val="0"/>
              </a:spcBef>
              <a:spcAft>
                <a:spcPts val="0"/>
              </a:spcAft>
              <a:buClr>
                <a:schemeClr val="lt1"/>
              </a:buClr>
              <a:buSzPts val="3500"/>
              <a:buNone/>
              <a:defRPr sz="3500">
                <a:solidFill>
                  <a:schemeClr val="lt1"/>
                </a:solidFill>
              </a:defRPr>
            </a:lvl9pPr>
          </a:lstStyle>
          <a:p/>
        </p:txBody>
      </p:sp>
      <p:sp>
        <p:nvSpPr>
          <p:cNvPr id="7" name="Google Shape;7;p1"/>
          <p:cNvSpPr txBox="1"/>
          <p:nvPr>
            <p:ph idx="1" type="body"/>
          </p:nvPr>
        </p:nvSpPr>
        <p:spPr>
          <a:xfrm>
            <a:off x="692700" y="1351875"/>
            <a:ext cx="7711800" cy="32475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lt1"/>
              </a:buClr>
              <a:buSzPts val="1400"/>
              <a:buFont typeface="Mulish"/>
              <a:buChar char="●"/>
              <a:defRPr>
                <a:solidFill>
                  <a:schemeClr val="lt1"/>
                </a:solidFill>
                <a:latin typeface="Mulish"/>
                <a:ea typeface="Mulish"/>
                <a:cs typeface="Mulish"/>
                <a:sym typeface="Mulish"/>
              </a:defRPr>
            </a:lvl1pPr>
            <a:lvl2pPr indent="-317500" lvl="1" marL="914400">
              <a:lnSpc>
                <a:spcPct val="100000"/>
              </a:lnSpc>
              <a:spcBef>
                <a:spcPts val="0"/>
              </a:spcBef>
              <a:spcAft>
                <a:spcPts val="0"/>
              </a:spcAft>
              <a:buClr>
                <a:schemeClr val="lt1"/>
              </a:buClr>
              <a:buSzPts val="1400"/>
              <a:buFont typeface="Mulish"/>
              <a:buChar char="○"/>
              <a:defRPr>
                <a:solidFill>
                  <a:schemeClr val="lt1"/>
                </a:solidFill>
                <a:latin typeface="Mulish"/>
                <a:ea typeface="Mulish"/>
                <a:cs typeface="Mulish"/>
                <a:sym typeface="Mulish"/>
              </a:defRPr>
            </a:lvl2pPr>
            <a:lvl3pPr indent="-317500" lvl="2" marL="1371600">
              <a:lnSpc>
                <a:spcPct val="100000"/>
              </a:lnSpc>
              <a:spcBef>
                <a:spcPts val="0"/>
              </a:spcBef>
              <a:spcAft>
                <a:spcPts val="0"/>
              </a:spcAft>
              <a:buClr>
                <a:schemeClr val="lt1"/>
              </a:buClr>
              <a:buSzPts val="1400"/>
              <a:buFont typeface="Mulish"/>
              <a:buChar char="■"/>
              <a:defRPr>
                <a:solidFill>
                  <a:schemeClr val="lt1"/>
                </a:solidFill>
                <a:latin typeface="Mulish"/>
                <a:ea typeface="Mulish"/>
                <a:cs typeface="Mulish"/>
                <a:sym typeface="Mulish"/>
              </a:defRPr>
            </a:lvl3pPr>
            <a:lvl4pPr indent="-317500" lvl="3" marL="1828800">
              <a:lnSpc>
                <a:spcPct val="100000"/>
              </a:lnSpc>
              <a:spcBef>
                <a:spcPts val="0"/>
              </a:spcBef>
              <a:spcAft>
                <a:spcPts val="0"/>
              </a:spcAft>
              <a:buClr>
                <a:schemeClr val="lt1"/>
              </a:buClr>
              <a:buSzPts val="1400"/>
              <a:buFont typeface="Mulish"/>
              <a:buChar char="●"/>
              <a:defRPr>
                <a:solidFill>
                  <a:schemeClr val="lt1"/>
                </a:solidFill>
                <a:latin typeface="Mulish"/>
                <a:ea typeface="Mulish"/>
                <a:cs typeface="Mulish"/>
                <a:sym typeface="Mulish"/>
              </a:defRPr>
            </a:lvl4pPr>
            <a:lvl5pPr indent="-317500" lvl="4" marL="2286000">
              <a:lnSpc>
                <a:spcPct val="100000"/>
              </a:lnSpc>
              <a:spcBef>
                <a:spcPts val="0"/>
              </a:spcBef>
              <a:spcAft>
                <a:spcPts val="0"/>
              </a:spcAft>
              <a:buClr>
                <a:schemeClr val="lt1"/>
              </a:buClr>
              <a:buSzPts val="1400"/>
              <a:buFont typeface="Mulish"/>
              <a:buChar char="○"/>
              <a:defRPr>
                <a:solidFill>
                  <a:schemeClr val="lt1"/>
                </a:solidFill>
                <a:latin typeface="Mulish"/>
                <a:ea typeface="Mulish"/>
                <a:cs typeface="Mulish"/>
                <a:sym typeface="Mulish"/>
              </a:defRPr>
            </a:lvl5pPr>
            <a:lvl6pPr indent="-317500" lvl="5" marL="2743200">
              <a:lnSpc>
                <a:spcPct val="100000"/>
              </a:lnSpc>
              <a:spcBef>
                <a:spcPts val="0"/>
              </a:spcBef>
              <a:spcAft>
                <a:spcPts val="0"/>
              </a:spcAft>
              <a:buClr>
                <a:schemeClr val="lt1"/>
              </a:buClr>
              <a:buSzPts val="1400"/>
              <a:buFont typeface="Mulish"/>
              <a:buChar char="■"/>
              <a:defRPr>
                <a:solidFill>
                  <a:schemeClr val="lt1"/>
                </a:solidFill>
                <a:latin typeface="Mulish"/>
                <a:ea typeface="Mulish"/>
                <a:cs typeface="Mulish"/>
                <a:sym typeface="Mulish"/>
              </a:defRPr>
            </a:lvl6pPr>
            <a:lvl7pPr indent="-317500" lvl="6" marL="3200400">
              <a:lnSpc>
                <a:spcPct val="100000"/>
              </a:lnSpc>
              <a:spcBef>
                <a:spcPts val="0"/>
              </a:spcBef>
              <a:spcAft>
                <a:spcPts val="0"/>
              </a:spcAft>
              <a:buClr>
                <a:schemeClr val="lt1"/>
              </a:buClr>
              <a:buSzPts val="1400"/>
              <a:buFont typeface="Mulish"/>
              <a:buChar char="●"/>
              <a:defRPr>
                <a:solidFill>
                  <a:schemeClr val="lt1"/>
                </a:solidFill>
                <a:latin typeface="Mulish"/>
                <a:ea typeface="Mulish"/>
                <a:cs typeface="Mulish"/>
                <a:sym typeface="Mulish"/>
              </a:defRPr>
            </a:lvl7pPr>
            <a:lvl8pPr indent="-317500" lvl="7" marL="3657600">
              <a:lnSpc>
                <a:spcPct val="100000"/>
              </a:lnSpc>
              <a:spcBef>
                <a:spcPts val="0"/>
              </a:spcBef>
              <a:spcAft>
                <a:spcPts val="0"/>
              </a:spcAft>
              <a:buClr>
                <a:schemeClr val="lt1"/>
              </a:buClr>
              <a:buSzPts val="1400"/>
              <a:buFont typeface="Mulish"/>
              <a:buChar char="○"/>
              <a:defRPr>
                <a:solidFill>
                  <a:schemeClr val="lt1"/>
                </a:solidFill>
                <a:latin typeface="Mulish"/>
                <a:ea typeface="Mulish"/>
                <a:cs typeface="Mulish"/>
                <a:sym typeface="Mulish"/>
              </a:defRPr>
            </a:lvl8pPr>
            <a:lvl9pPr indent="-317500" lvl="8" marL="4114800">
              <a:lnSpc>
                <a:spcPct val="100000"/>
              </a:lnSpc>
              <a:spcBef>
                <a:spcPts val="0"/>
              </a:spcBef>
              <a:spcAft>
                <a:spcPts val="0"/>
              </a:spcAft>
              <a:buClr>
                <a:schemeClr val="lt1"/>
              </a:buClr>
              <a:buSzPts val="1400"/>
              <a:buFont typeface="Mulish"/>
              <a:buChar char="■"/>
              <a:defRPr>
                <a:solidFill>
                  <a:schemeClr val="lt1"/>
                </a:solidFill>
                <a:latin typeface="Mulish"/>
                <a:ea typeface="Mulish"/>
                <a:cs typeface="Mulish"/>
                <a:sym typeface="Mulish"/>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228" name="Shape 228"/>
        <p:cNvGrpSpPr/>
        <p:nvPr/>
      </p:nvGrpSpPr>
      <p:grpSpPr>
        <a:xfrm>
          <a:off x="0" y="0"/>
          <a:ext cx="0" cy="0"/>
          <a:chOff x="0" y="0"/>
          <a:chExt cx="0" cy="0"/>
        </a:xfrm>
      </p:grpSpPr>
      <p:sp>
        <p:nvSpPr>
          <p:cNvPr id="229" name="Google Shape;229;p29"/>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230" name="Google Shape;230;p29"/>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hyperlink" Target="https://public.tableau.com/shared/NFTNDJ6JY?:display_count=n&amp;:origin=viz_share_link" TargetMode="External"/><Relationship Id="rId4" Type="http://schemas.openxmlformats.org/officeDocument/2006/relationships/hyperlink" Target="https://public.tableau.com/shared/NFTNDJ6JY?:display_count=n&amp;:origin=viz_share_link" TargetMode="External"/><Relationship Id="rId5" Type="http://schemas.openxmlformats.org/officeDocument/2006/relationships/hyperlink" Target="https://public.tableau.com/shared/NFTNDJ6JY?:display_count=n&amp;:origin=viz_share_link" TargetMode="External"/><Relationship Id="rId6" Type="http://schemas.openxmlformats.org/officeDocument/2006/relationships/image" Target="../media/image5.png"/><Relationship Id="rId7"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hyperlink" Target="https://public.tableau.com/shared/NFTNDJ6JY?:display_count=n&amp;:origin=viz_share_link" TargetMode="External"/><Relationship Id="rId5" Type="http://schemas.openxmlformats.org/officeDocument/2006/relationships/hyperlink" Target="https://public.tableau.com/shared/NFTNDJ6JY?:display_count=n&amp;:origin=viz_share_link" TargetMode="External"/><Relationship Id="rId6"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hyperlink" Target="https://public.tableau.com/shared/NFTNDJ6JY?:display_count=n&amp;:origin=viz_share_link" TargetMode="External"/><Relationship Id="rId5" Type="http://schemas.openxmlformats.org/officeDocument/2006/relationships/hyperlink" Target="https://public.tableau.com/shared/NFTNDJ6JY?:display_count=n&amp;:origin=viz_share_link" TargetMode="External"/><Relationship Id="rId6"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34.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5.xml"/><Relationship Id="rId3" Type="http://schemas.openxmlformats.org/officeDocument/2006/relationships/image" Target="../media/image36.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28.png"/><Relationship Id="rId4" Type="http://schemas.openxmlformats.org/officeDocument/2006/relationships/image" Target="../media/image18.png"/><Relationship Id="rId5"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26.png"/><Relationship Id="rId4" Type="http://schemas.openxmlformats.org/officeDocument/2006/relationships/image" Target="../media/image19.png"/><Relationship Id="rId5"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image" Target="../media/image25.png"/><Relationship Id="rId6"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21.png"/><Relationship Id="rId5"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29.png"/><Relationship Id="rId5" Type="http://schemas.openxmlformats.org/officeDocument/2006/relationships/image" Target="../media/image23.png"/><Relationship Id="rId6"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36.png"/><Relationship Id="rId5" Type="http://schemas.openxmlformats.org/officeDocument/2006/relationships/image" Target="../media/image22.png"/><Relationship Id="rId6"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 Id="rId3" Type="http://schemas.openxmlformats.org/officeDocument/2006/relationships/image" Target="../media/image8.png"/><Relationship Id="rId4" Type="http://schemas.openxmlformats.org/officeDocument/2006/relationships/image" Target="../media/image33.png"/><Relationship Id="rId5" Type="http://schemas.openxmlformats.org/officeDocument/2006/relationships/image" Target="../media/image30.png"/><Relationship Id="rId6"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36.png"/><Relationship Id="rId5" Type="http://schemas.openxmlformats.org/officeDocument/2006/relationships/image" Target="../media/image30.png"/><Relationship Id="rId6"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7.xml"/><Relationship Id="rId3" Type="http://schemas.openxmlformats.org/officeDocument/2006/relationships/hyperlink" Target="https://colab.research.google.com/drive/1Q90KfcGpVF67qdkBYlu5AjF6jwQh_qoJ?usp=sharing" TargetMode="External"/><Relationship Id="rId4" Type="http://schemas.openxmlformats.org/officeDocument/2006/relationships/hyperlink" Target="http://www.linkedin.com/in/mikhael-putra" TargetMode="External"/><Relationship Id="rId9" Type="http://schemas.openxmlformats.org/officeDocument/2006/relationships/image" Target="../media/image8.png"/><Relationship Id="rId5" Type="http://schemas.openxmlformats.org/officeDocument/2006/relationships/hyperlink" Target="mailto:mikhaelput@gmail.com" TargetMode="External"/><Relationship Id="rId6" Type="http://schemas.openxmlformats.org/officeDocument/2006/relationships/hyperlink" Target="mailto:mikhaelput@gmail.com" TargetMode="External"/><Relationship Id="rId7" Type="http://schemas.openxmlformats.org/officeDocument/2006/relationships/hyperlink" Target="https://colab.research.google.com/drive/1Q90KfcGpVF67qdkBYlu5AjF6jwQh_qoJ?usp=sharing" TargetMode="External"/><Relationship Id="rId8" Type="http://schemas.openxmlformats.org/officeDocument/2006/relationships/hyperlink" Target="https://colab.research.google.com/drive/1Q90KfcGpVF67qdkBYlu5AjF6jwQh_qoJ?usp=sharing" TargetMode="External"/><Relationship Id="rId11" Type="http://schemas.openxmlformats.org/officeDocument/2006/relationships/hyperlink" Target="http://www.linkedin.com/in/mikhael-putra" TargetMode="External"/><Relationship Id="rId10" Type="http://schemas.openxmlformats.org/officeDocument/2006/relationships/hyperlink" Target="http://www.linkedin.com/in/mikhael-putra" TargetMode="External"/><Relationship Id="rId13" Type="http://schemas.openxmlformats.org/officeDocument/2006/relationships/image" Target="../media/image39.png"/><Relationship Id="rId12" Type="http://schemas.openxmlformats.org/officeDocument/2006/relationships/image" Target="../media/image4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9.xml"/><Relationship Id="rId3" Type="http://schemas.openxmlformats.org/officeDocument/2006/relationships/image" Target="../media/image8.png"/><Relationship Id="rId4" Type="http://schemas.openxmlformats.org/officeDocument/2006/relationships/hyperlink" Target="https://drive.google.com/file/d/1iExSXSdm3acv_Icn5i9UIcpGmiXoiCil/view?usp=sharing" TargetMode="External"/><Relationship Id="rId5" Type="http://schemas.openxmlformats.org/officeDocument/2006/relationships/hyperlink" Target="https://drive.google.com/file/d/1iExSXSdm3acv_Icn5i9UIcpGmiXoiCil/view?usp=sharing" TargetMode="External"/><Relationship Id="rId6" Type="http://schemas.openxmlformats.org/officeDocument/2006/relationships/hyperlink" Target="https://drive.google.com/file/d/1iExSXSdm3acv_Icn5i9UIcpGmiXoiCil/view?usp=sharing" TargetMode="External"/><Relationship Id="rId7" Type="http://schemas.openxmlformats.org/officeDocument/2006/relationships/hyperlink" Target="http://drive.google.com/file/d/1iExSXSdm3acv_Icn5i9UIcpGmiXoiCil/view" TargetMode="External"/><Relationship Id="rId8" Type="http://schemas.openxmlformats.org/officeDocument/2006/relationships/image" Target="../media/image37.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0.xml"/><Relationship Id="rId3" Type="http://schemas.openxmlformats.org/officeDocument/2006/relationships/hyperlink" Target="http://bit.ly/2PfT4lq" TargetMode="Externa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p:nvPr/>
        </p:nvSpPr>
        <p:spPr>
          <a:xfrm>
            <a:off x="-847525" y="4317525"/>
            <a:ext cx="10681500" cy="3903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239" name="Google Shape;239;p32"/>
          <p:cNvSpPr/>
          <p:nvPr/>
        </p:nvSpPr>
        <p:spPr>
          <a:xfrm rot="253646">
            <a:off x="-1771626" y="-1452619"/>
            <a:ext cx="6727203" cy="2698939"/>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240" name="Google Shape;240;p32"/>
          <p:cNvSpPr txBox="1"/>
          <p:nvPr>
            <p:ph type="ctrTitle"/>
          </p:nvPr>
        </p:nvSpPr>
        <p:spPr>
          <a:xfrm>
            <a:off x="536349" y="1490600"/>
            <a:ext cx="6929700" cy="1228800"/>
          </a:xfrm>
          <a:prstGeom prst="rect">
            <a:avLst/>
          </a:prstGeom>
        </p:spPr>
        <p:txBody>
          <a:bodyPr anchorCtr="0" anchor="b" bIns="83175" lIns="83175" spcFirstLastPara="1" rIns="83175" wrap="square" tIns="83175">
            <a:noAutofit/>
          </a:bodyPr>
          <a:lstStyle/>
          <a:p>
            <a:pPr indent="0" lvl="0" marL="0" rtl="0" algn="l">
              <a:lnSpc>
                <a:spcPct val="70000"/>
              </a:lnSpc>
              <a:spcBef>
                <a:spcPts val="0"/>
              </a:spcBef>
              <a:spcAft>
                <a:spcPts val="0"/>
              </a:spcAft>
              <a:buNone/>
            </a:pPr>
            <a:r>
              <a:rPr lang="en" sz="4800"/>
              <a:t>Unified Channel Performance Reporting</a:t>
            </a:r>
            <a:endParaRPr sz="4800"/>
          </a:p>
        </p:txBody>
      </p:sp>
      <p:sp>
        <p:nvSpPr>
          <p:cNvPr id="241" name="Google Shape;241;p32"/>
          <p:cNvSpPr txBox="1"/>
          <p:nvPr>
            <p:ph idx="1" type="subTitle"/>
          </p:nvPr>
        </p:nvSpPr>
        <p:spPr>
          <a:xfrm>
            <a:off x="956120" y="4311575"/>
            <a:ext cx="2419800" cy="39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Mikhael Putra Iswanto </a:t>
            </a:r>
            <a:endParaRPr b="1"/>
          </a:p>
        </p:txBody>
      </p:sp>
      <p:sp>
        <p:nvSpPr>
          <p:cNvPr id="242" name="Google Shape;242;p32"/>
          <p:cNvSpPr/>
          <p:nvPr/>
        </p:nvSpPr>
        <p:spPr>
          <a:xfrm rot="10800000">
            <a:off x="6274349" y="3785260"/>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2"/>
          <p:cNvSpPr/>
          <p:nvPr/>
        </p:nvSpPr>
        <p:spPr>
          <a:xfrm rot="10800000">
            <a:off x="7566428" y="3743944"/>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4" name="Google Shape;244;p32" title="Salinan Logo RevoU x OCA x Telkom.png"/>
          <p:cNvPicPr preferRelativeResize="0"/>
          <p:nvPr/>
        </p:nvPicPr>
        <p:blipFill rotWithShape="1">
          <a:blip r:embed="rId3">
            <a:alphaModFix/>
          </a:blip>
          <a:srcRect b="14850" l="0" r="0" t="17832"/>
          <a:stretch/>
        </p:blipFill>
        <p:spPr>
          <a:xfrm>
            <a:off x="0" y="28013"/>
            <a:ext cx="4011301" cy="1000125"/>
          </a:xfrm>
          <a:prstGeom prst="rect">
            <a:avLst/>
          </a:prstGeom>
          <a:noFill/>
          <a:ln>
            <a:noFill/>
          </a:ln>
        </p:spPr>
      </p:pic>
      <p:sp>
        <p:nvSpPr>
          <p:cNvPr id="245" name="Google Shape;245;p32"/>
          <p:cNvSpPr txBox="1"/>
          <p:nvPr>
            <p:ph type="ctrTitle"/>
          </p:nvPr>
        </p:nvSpPr>
        <p:spPr>
          <a:xfrm>
            <a:off x="536349" y="2667353"/>
            <a:ext cx="6929700" cy="514500"/>
          </a:xfrm>
          <a:prstGeom prst="rect">
            <a:avLst/>
          </a:prstGeom>
        </p:spPr>
        <p:txBody>
          <a:bodyPr anchorCtr="0" anchor="b" bIns="83175" lIns="83175" spcFirstLastPara="1" rIns="83175" wrap="square" tIns="83175">
            <a:noAutofit/>
          </a:bodyPr>
          <a:lstStyle/>
          <a:p>
            <a:pPr indent="0" lvl="0" marL="0" rtl="0" algn="l">
              <a:lnSpc>
                <a:spcPct val="70000"/>
              </a:lnSpc>
              <a:spcBef>
                <a:spcPts val="0"/>
              </a:spcBef>
              <a:spcAft>
                <a:spcPts val="0"/>
              </a:spcAft>
              <a:buNone/>
            </a:pPr>
            <a:r>
              <a:rPr lang="en" sz="2800"/>
              <a:t>Strategic Insights – OCA Indonesia</a:t>
            </a:r>
            <a:endParaRPr sz="2800"/>
          </a:p>
        </p:txBody>
      </p:sp>
      <p:pic>
        <p:nvPicPr>
          <p:cNvPr id="246" name="Google Shape;246;p32"/>
          <p:cNvPicPr preferRelativeResize="0"/>
          <p:nvPr/>
        </p:nvPicPr>
        <p:blipFill>
          <a:blip r:embed="rId4">
            <a:alphaModFix/>
          </a:blip>
          <a:stretch>
            <a:fillRect/>
          </a:stretch>
        </p:blipFill>
        <p:spPr>
          <a:xfrm>
            <a:off x="521450" y="4241775"/>
            <a:ext cx="541800" cy="541800"/>
          </a:xfrm>
          <a:prstGeom prst="rect">
            <a:avLst/>
          </a:prstGeom>
          <a:noFill/>
          <a:ln>
            <a:noFill/>
          </a:ln>
        </p:spPr>
      </p:pic>
      <p:sp>
        <p:nvSpPr>
          <p:cNvPr id="247" name="Google Shape;247;p32"/>
          <p:cNvSpPr txBox="1"/>
          <p:nvPr>
            <p:ph idx="1" type="subTitle"/>
          </p:nvPr>
        </p:nvSpPr>
        <p:spPr>
          <a:xfrm>
            <a:off x="536348" y="3181850"/>
            <a:ext cx="5523300" cy="39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Virtual Internship Program RevoU &amp; Telkom Indonesia</a:t>
            </a:r>
            <a:endParaRPr b="1" sz="1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3"/>
          <p:cNvSpPr/>
          <p:nvPr/>
        </p:nvSpPr>
        <p:spPr>
          <a:xfrm>
            <a:off x="-25" y="4737050"/>
            <a:ext cx="9144000" cy="320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253" name="Google Shape;253;p33"/>
          <p:cNvSpPr/>
          <p:nvPr/>
        </p:nvSpPr>
        <p:spPr>
          <a:xfrm rot="311328">
            <a:off x="-974057" y="-466350"/>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3"/>
          <p:cNvSpPr txBox="1"/>
          <p:nvPr>
            <p:ph type="title"/>
          </p:nvPr>
        </p:nvSpPr>
        <p:spPr>
          <a:xfrm>
            <a:off x="2165750" y="924625"/>
            <a:ext cx="4812600" cy="656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latin typeface="Roboto"/>
                <a:ea typeface="Roboto"/>
                <a:cs typeface="Roboto"/>
                <a:sym typeface="Roboto"/>
              </a:rPr>
              <a:t>Executive Summary</a:t>
            </a:r>
            <a:endParaRPr sz="3600">
              <a:latin typeface="Roboto"/>
              <a:ea typeface="Roboto"/>
              <a:cs typeface="Roboto"/>
              <a:sym typeface="Roboto"/>
            </a:endParaRPr>
          </a:p>
        </p:txBody>
      </p:sp>
      <p:sp>
        <p:nvSpPr>
          <p:cNvPr id="255" name="Google Shape;255;p33"/>
          <p:cNvSpPr/>
          <p:nvPr/>
        </p:nvSpPr>
        <p:spPr>
          <a:xfrm>
            <a:off x="532262" y="1673724"/>
            <a:ext cx="554100" cy="554100"/>
          </a:xfrm>
          <a:prstGeom prst="ellipse">
            <a:avLst/>
          </a:prstGeom>
          <a:solidFill>
            <a:srgbClr val="FFFFFF">
              <a:alpha val="36080"/>
            </a:srgbClr>
          </a:solidFill>
          <a:ln>
            <a:noFill/>
          </a:ln>
        </p:spPr>
        <p:txBody>
          <a:bodyPr anchorCtr="0" anchor="ctr" bIns="79125" lIns="79125" spcFirstLastPara="1" rIns="79125" wrap="square" tIns="79125">
            <a:noAutofit/>
          </a:bodyPr>
          <a:lstStyle/>
          <a:p>
            <a:pPr indent="0" lvl="0" marL="0" rtl="0" algn="l">
              <a:spcBef>
                <a:spcPts val="0"/>
              </a:spcBef>
              <a:spcAft>
                <a:spcPts val="0"/>
              </a:spcAft>
              <a:buNone/>
            </a:pPr>
            <a:r>
              <a:t/>
            </a:r>
            <a:endParaRPr sz="1111">
              <a:solidFill>
                <a:schemeClr val="lt1"/>
              </a:solidFill>
              <a:latin typeface="Roboto"/>
              <a:ea typeface="Roboto"/>
              <a:cs typeface="Roboto"/>
              <a:sym typeface="Roboto"/>
            </a:endParaRPr>
          </a:p>
        </p:txBody>
      </p:sp>
      <p:sp>
        <p:nvSpPr>
          <p:cNvPr id="256" name="Google Shape;256;p33"/>
          <p:cNvSpPr txBox="1"/>
          <p:nvPr>
            <p:ph idx="4294967295" type="title"/>
          </p:nvPr>
        </p:nvSpPr>
        <p:spPr>
          <a:xfrm>
            <a:off x="1127376" y="1673725"/>
            <a:ext cx="2603400" cy="316500"/>
          </a:xfrm>
          <a:prstGeom prst="rect">
            <a:avLst/>
          </a:prstGeom>
        </p:spPr>
        <p:txBody>
          <a:bodyPr anchorCtr="0" anchor="t" bIns="79125" lIns="79125" spcFirstLastPara="1" rIns="79125" wrap="square" tIns="79125">
            <a:noAutofit/>
          </a:bodyPr>
          <a:lstStyle/>
          <a:p>
            <a:pPr indent="0" lvl="0" marL="0" rtl="0" algn="l">
              <a:spcBef>
                <a:spcPts val="0"/>
              </a:spcBef>
              <a:spcAft>
                <a:spcPts val="0"/>
              </a:spcAft>
              <a:buNone/>
            </a:pPr>
            <a:r>
              <a:rPr lang="en" sz="1804">
                <a:latin typeface="Roboto"/>
                <a:ea typeface="Roboto"/>
                <a:cs typeface="Roboto"/>
                <a:sym typeface="Roboto"/>
              </a:rPr>
              <a:t>Problem</a:t>
            </a:r>
            <a:endParaRPr sz="1804">
              <a:latin typeface="Roboto"/>
              <a:ea typeface="Roboto"/>
              <a:cs typeface="Roboto"/>
              <a:sym typeface="Roboto"/>
            </a:endParaRPr>
          </a:p>
        </p:txBody>
      </p:sp>
      <p:sp>
        <p:nvSpPr>
          <p:cNvPr id="257" name="Google Shape;257;p33"/>
          <p:cNvSpPr txBox="1"/>
          <p:nvPr>
            <p:ph idx="4294967295" type="subTitle"/>
          </p:nvPr>
        </p:nvSpPr>
        <p:spPr>
          <a:xfrm>
            <a:off x="1143297" y="2018160"/>
            <a:ext cx="3435000" cy="1137000"/>
          </a:xfrm>
          <a:prstGeom prst="rect">
            <a:avLst/>
          </a:prstGeom>
        </p:spPr>
        <p:txBody>
          <a:bodyPr anchorCtr="0" anchor="t" bIns="79125" lIns="79125" spcFirstLastPara="1" rIns="79125" wrap="square" tIns="79125">
            <a:noAutofit/>
          </a:bodyPr>
          <a:lstStyle/>
          <a:p>
            <a:pPr indent="0" lvl="0" marL="0" rtl="0" algn="just">
              <a:spcBef>
                <a:spcPts val="0"/>
              </a:spcBef>
              <a:spcAft>
                <a:spcPts val="0"/>
              </a:spcAft>
              <a:buNone/>
            </a:pPr>
            <a:r>
              <a:rPr lang="en" sz="1000">
                <a:latin typeface="Roboto"/>
                <a:ea typeface="Roboto"/>
                <a:cs typeface="Roboto"/>
                <a:sym typeface="Roboto"/>
              </a:rPr>
              <a:t>How can historical transaction data from January to April 2025 be analyzed to evaluate the performance of each communication channel and understand customer behavior, in order to support OCA Indonesia’s business decisions for the upcoming quarter?</a:t>
            </a:r>
            <a:endParaRPr sz="1111">
              <a:latin typeface="Roboto"/>
              <a:ea typeface="Roboto"/>
              <a:cs typeface="Roboto"/>
              <a:sym typeface="Roboto"/>
            </a:endParaRPr>
          </a:p>
        </p:txBody>
      </p:sp>
      <p:sp>
        <p:nvSpPr>
          <p:cNvPr id="258" name="Google Shape;258;p33"/>
          <p:cNvSpPr txBox="1"/>
          <p:nvPr>
            <p:ph idx="4294967295" type="title"/>
          </p:nvPr>
        </p:nvSpPr>
        <p:spPr>
          <a:xfrm>
            <a:off x="491363" y="1733190"/>
            <a:ext cx="636000" cy="435300"/>
          </a:xfrm>
          <a:prstGeom prst="rect">
            <a:avLst/>
          </a:prstGeom>
        </p:spPr>
        <p:txBody>
          <a:bodyPr anchorCtr="0" anchor="t" bIns="79125" lIns="79125" spcFirstLastPara="1" rIns="79125" wrap="square" tIns="79125">
            <a:noAutofit/>
          </a:bodyPr>
          <a:lstStyle/>
          <a:p>
            <a:pPr indent="0" lvl="0" marL="0" rtl="0" algn="ctr">
              <a:spcBef>
                <a:spcPts val="0"/>
              </a:spcBef>
              <a:spcAft>
                <a:spcPts val="0"/>
              </a:spcAft>
              <a:buNone/>
            </a:pPr>
            <a:r>
              <a:rPr lang="en" sz="2063"/>
              <a:t>01</a:t>
            </a:r>
            <a:endParaRPr sz="2063"/>
          </a:p>
        </p:txBody>
      </p:sp>
      <p:sp>
        <p:nvSpPr>
          <p:cNvPr id="259" name="Google Shape;259;p33"/>
          <p:cNvSpPr/>
          <p:nvPr/>
        </p:nvSpPr>
        <p:spPr>
          <a:xfrm>
            <a:off x="4776387" y="1733212"/>
            <a:ext cx="554100" cy="554100"/>
          </a:xfrm>
          <a:prstGeom prst="ellipse">
            <a:avLst/>
          </a:prstGeom>
          <a:solidFill>
            <a:srgbClr val="FFFFFF">
              <a:alpha val="36080"/>
            </a:srgbClr>
          </a:solidFill>
          <a:ln>
            <a:noFill/>
          </a:ln>
        </p:spPr>
        <p:txBody>
          <a:bodyPr anchorCtr="0" anchor="ctr" bIns="79125" lIns="79125" spcFirstLastPara="1" rIns="79125" wrap="square" tIns="79125">
            <a:noAutofit/>
          </a:bodyPr>
          <a:lstStyle/>
          <a:p>
            <a:pPr indent="0" lvl="0" marL="0" rtl="0" algn="l">
              <a:spcBef>
                <a:spcPts val="0"/>
              </a:spcBef>
              <a:spcAft>
                <a:spcPts val="0"/>
              </a:spcAft>
              <a:buNone/>
            </a:pPr>
            <a:r>
              <a:t/>
            </a:r>
            <a:endParaRPr sz="1111">
              <a:solidFill>
                <a:schemeClr val="lt1"/>
              </a:solidFill>
              <a:latin typeface="Roboto"/>
              <a:ea typeface="Roboto"/>
              <a:cs typeface="Roboto"/>
              <a:sym typeface="Roboto"/>
            </a:endParaRPr>
          </a:p>
        </p:txBody>
      </p:sp>
      <p:sp>
        <p:nvSpPr>
          <p:cNvPr id="260" name="Google Shape;260;p33"/>
          <p:cNvSpPr txBox="1"/>
          <p:nvPr>
            <p:ph idx="4294967295" type="title"/>
          </p:nvPr>
        </p:nvSpPr>
        <p:spPr>
          <a:xfrm>
            <a:off x="5371498" y="1733214"/>
            <a:ext cx="2475300" cy="316500"/>
          </a:xfrm>
          <a:prstGeom prst="rect">
            <a:avLst/>
          </a:prstGeom>
        </p:spPr>
        <p:txBody>
          <a:bodyPr anchorCtr="0" anchor="t" bIns="79125" lIns="79125" spcFirstLastPara="1" rIns="79125" wrap="square" tIns="79125">
            <a:noAutofit/>
          </a:bodyPr>
          <a:lstStyle/>
          <a:p>
            <a:pPr indent="0" lvl="0" marL="0" rtl="0" algn="l">
              <a:spcBef>
                <a:spcPts val="0"/>
              </a:spcBef>
              <a:spcAft>
                <a:spcPts val="0"/>
              </a:spcAft>
              <a:buNone/>
            </a:pPr>
            <a:r>
              <a:rPr lang="en" sz="1804">
                <a:latin typeface="Roboto"/>
                <a:ea typeface="Roboto"/>
                <a:cs typeface="Roboto"/>
                <a:sym typeface="Roboto"/>
              </a:rPr>
              <a:t>Objective</a:t>
            </a:r>
            <a:endParaRPr sz="1804">
              <a:latin typeface="Roboto"/>
              <a:ea typeface="Roboto"/>
              <a:cs typeface="Roboto"/>
              <a:sym typeface="Roboto"/>
            </a:endParaRPr>
          </a:p>
        </p:txBody>
      </p:sp>
      <p:sp>
        <p:nvSpPr>
          <p:cNvPr id="261" name="Google Shape;261;p33"/>
          <p:cNvSpPr txBox="1"/>
          <p:nvPr>
            <p:ph idx="4294967295" type="subTitle"/>
          </p:nvPr>
        </p:nvSpPr>
        <p:spPr>
          <a:xfrm>
            <a:off x="5386637" y="2077663"/>
            <a:ext cx="3266100" cy="1137000"/>
          </a:xfrm>
          <a:prstGeom prst="rect">
            <a:avLst/>
          </a:prstGeom>
        </p:spPr>
        <p:txBody>
          <a:bodyPr anchorCtr="0" anchor="t" bIns="79125" lIns="79125" spcFirstLastPara="1" rIns="79125" wrap="square" tIns="79125">
            <a:noAutofit/>
          </a:bodyPr>
          <a:lstStyle/>
          <a:p>
            <a:pPr indent="0" lvl="0" marL="0" rtl="0" algn="just">
              <a:spcBef>
                <a:spcPts val="0"/>
              </a:spcBef>
              <a:spcAft>
                <a:spcPts val="0"/>
              </a:spcAft>
              <a:buNone/>
            </a:pPr>
            <a:r>
              <a:rPr lang="en" sz="1000">
                <a:latin typeface="Roboto"/>
                <a:ea typeface="Roboto"/>
                <a:cs typeface="Roboto"/>
                <a:sym typeface="Roboto"/>
              </a:rPr>
              <a:t>Develop a unified analytical report that provides OCA Indonesia with clear visibility into multichannel performance, user behavior patterns, and operational efficiency, supporting informed business decisions.</a:t>
            </a:r>
            <a:endParaRPr sz="1111">
              <a:latin typeface="Roboto"/>
              <a:ea typeface="Roboto"/>
              <a:cs typeface="Roboto"/>
              <a:sym typeface="Roboto"/>
            </a:endParaRPr>
          </a:p>
        </p:txBody>
      </p:sp>
      <p:sp>
        <p:nvSpPr>
          <p:cNvPr id="262" name="Google Shape;262;p33"/>
          <p:cNvSpPr txBox="1"/>
          <p:nvPr>
            <p:ph idx="4294967295" type="title"/>
          </p:nvPr>
        </p:nvSpPr>
        <p:spPr>
          <a:xfrm>
            <a:off x="4735488" y="1792678"/>
            <a:ext cx="636000" cy="435300"/>
          </a:xfrm>
          <a:prstGeom prst="rect">
            <a:avLst/>
          </a:prstGeom>
        </p:spPr>
        <p:txBody>
          <a:bodyPr anchorCtr="0" anchor="t" bIns="79125" lIns="79125" spcFirstLastPara="1" rIns="79125" wrap="square" tIns="79125">
            <a:noAutofit/>
          </a:bodyPr>
          <a:lstStyle/>
          <a:p>
            <a:pPr indent="0" lvl="0" marL="0" rtl="0" algn="ctr">
              <a:spcBef>
                <a:spcPts val="0"/>
              </a:spcBef>
              <a:spcAft>
                <a:spcPts val="0"/>
              </a:spcAft>
              <a:buNone/>
            </a:pPr>
            <a:r>
              <a:rPr lang="en" sz="2063"/>
              <a:t>02</a:t>
            </a:r>
            <a:endParaRPr sz="2063"/>
          </a:p>
        </p:txBody>
      </p:sp>
      <p:sp>
        <p:nvSpPr>
          <p:cNvPr id="263" name="Google Shape;263;p33"/>
          <p:cNvSpPr/>
          <p:nvPr/>
        </p:nvSpPr>
        <p:spPr>
          <a:xfrm>
            <a:off x="532250" y="3183099"/>
            <a:ext cx="554100" cy="554100"/>
          </a:xfrm>
          <a:prstGeom prst="ellipse">
            <a:avLst/>
          </a:prstGeom>
          <a:solidFill>
            <a:srgbClr val="FFFFFF">
              <a:alpha val="36080"/>
            </a:srgbClr>
          </a:solidFill>
          <a:ln>
            <a:noFill/>
          </a:ln>
        </p:spPr>
        <p:txBody>
          <a:bodyPr anchorCtr="0" anchor="ctr" bIns="79125" lIns="79125" spcFirstLastPara="1" rIns="79125" wrap="square" tIns="79125">
            <a:noAutofit/>
          </a:bodyPr>
          <a:lstStyle/>
          <a:p>
            <a:pPr indent="0" lvl="0" marL="0" rtl="0" algn="l">
              <a:spcBef>
                <a:spcPts val="0"/>
              </a:spcBef>
              <a:spcAft>
                <a:spcPts val="0"/>
              </a:spcAft>
              <a:buNone/>
            </a:pPr>
            <a:r>
              <a:t/>
            </a:r>
            <a:endParaRPr sz="1111">
              <a:solidFill>
                <a:schemeClr val="lt1"/>
              </a:solidFill>
              <a:latin typeface="Roboto"/>
              <a:ea typeface="Roboto"/>
              <a:cs typeface="Roboto"/>
              <a:sym typeface="Roboto"/>
            </a:endParaRPr>
          </a:p>
        </p:txBody>
      </p:sp>
      <p:sp>
        <p:nvSpPr>
          <p:cNvPr id="264" name="Google Shape;264;p33"/>
          <p:cNvSpPr txBox="1"/>
          <p:nvPr>
            <p:ph idx="4294967295" type="title"/>
          </p:nvPr>
        </p:nvSpPr>
        <p:spPr>
          <a:xfrm>
            <a:off x="1127363" y="3183095"/>
            <a:ext cx="2603400" cy="316500"/>
          </a:xfrm>
          <a:prstGeom prst="rect">
            <a:avLst/>
          </a:prstGeom>
        </p:spPr>
        <p:txBody>
          <a:bodyPr anchorCtr="0" anchor="t" bIns="79125" lIns="79125" spcFirstLastPara="1" rIns="79125" wrap="square" tIns="79125">
            <a:noAutofit/>
          </a:bodyPr>
          <a:lstStyle/>
          <a:p>
            <a:pPr indent="0" lvl="0" marL="0" rtl="0" algn="l">
              <a:spcBef>
                <a:spcPts val="0"/>
              </a:spcBef>
              <a:spcAft>
                <a:spcPts val="0"/>
              </a:spcAft>
              <a:buNone/>
            </a:pPr>
            <a:r>
              <a:rPr lang="en" sz="1804">
                <a:latin typeface="Roboto"/>
                <a:ea typeface="Roboto"/>
                <a:cs typeface="Roboto"/>
                <a:sym typeface="Roboto"/>
              </a:rPr>
              <a:t>Findings</a:t>
            </a:r>
            <a:endParaRPr sz="1804">
              <a:latin typeface="Roboto"/>
              <a:ea typeface="Roboto"/>
              <a:cs typeface="Roboto"/>
              <a:sym typeface="Roboto"/>
            </a:endParaRPr>
          </a:p>
        </p:txBody>
      </p:sp>
      <p:sp>
        <p:nvSpPr>
          <p:cNvPr id="265" name="Google Shape;265;p33"/>
          <p:cNvSpPr txBox="1"/>
          <p:nvPr>
            <p:ph idx="4294967295" type="subTitle"/>
          </p:nvPr>
        </p:nvSpPr>
        <p:spPr>
          <a:xfrm>
            <a:off x="1143284" y="3521778"/>
            <a:ext cx="3435000" cy="1137000"/>
          </a:xfrm>
          <a:prstGeom prst="rect">
            <a:avLst/>
          </a:prstGeom>
        </p:spPr>
        <p:txBody>
          <a:bodyPr anchorCtr="0" anchor="t" bIns="79125" lIns="79125" spcFirstLastPara="1" rIns="79125" wrap="square" tIns="79125">
            <a:noAutofit/>
          </a:bodyPr>
          <a:lstStyle/>
          <a:p>
            <a:pPr indent="0" lvl="0" marL="0" rtl="0" algn="just">
              <a:spcBef>
                <a:spcPts val="0"/>
              </a:spcBef>
              <a:spcAft>
                <a:spcPts val="0"/>
              </a:spcAft>
              <a:buNone/>
            </a:pPr>
            <a:r>
              <a:rPr lang="en" sz="1000">
                <a:latin typeface="Roboto"/>
                <a:ea typeface="Roboto"/>
                <a:cs typeface="Roboto"/>
                <a:sym typeface="Roboto"/>
              </a:rPr>
              <a:t>User engagement is stable and omni-channel is strong, but volume and revenue are highly concentrated on SMS and WhatsApp, creating dependency risk as well as upsell opportunities.</a:t>
            </a:r>
            <a:endParaRPr sz="1111">
              <a:latin typeface="Roboto"/>
              <a:ea typeface="Roboto"/>
              <a:cs typeface="Roboto"/>
              <a:sym typeface="Roboto"/>
            </a:endParaRPr>
          </a:p>
        </p:txBody>
      </p:sp>
      <p:sp>
        <p:nvSpPr>
          <p:cNvPr id="266" name="Google Shape;266;p33"/>
          <p:cNvSpPr txBox="1"/>
          <p:nvPr>
            <p:ph idx="4294967295" type="title"/>
          </p:nvPr>
        </p:nvSpPr>
        <p:spPr>
          <a:xfrm>
            <a:off x="491350" y="3242565"/>
            <a:ext cx="636000" cy="435300"/>
          </a:xfrm>
          <a:prstGeom prst="rect">
            <a:avLst/>
          </a:prstGeom>
        </p:spPr>
        <p:txBody>
          <a:bodyPr anchorCtr="0" anchor="t" bIns="79125" lIns="79125" spcFirstLastPara="1" rIns="79125" wrap="square" tIns="79125">
            <a:noAutofit/>
          </a:bodyPr>
          <a:lstStyle/>
          <a:p>
            <a:pPr indent="0" lvl="0" marL="0" rtl="0" algn="ctr">
              <a:spcBef>
                <a:spcPts val="0"/>
              </a:spcBef>
              <a:spcAft>
                <a:spcPts val="0"/>
              </a:spcAft>
              <a:buNone/>
            </a:pPr>
            <a:r>
              <a:rPr lang="en" sz="2063"/>
              <a:t>03</a:t>
            </a:r>
            <a:endParaRPr sz="2063"/>
          </a:p>
        </p:txBody>
      </p:sp>
      <p:sp>
        <p:nvSpPr>
          <p:cNvPr id="267" name="Google Shape;267;p33"/>
          <p:cNvSpPr/>
          <p:nvPr/>
        </p:nvSpPr>
        <p:spPr>
          <a:xfrm>
            <a:off x="4776375" y="3242587"/>
            <a:ext cx="554100" cy="554100"/>
          </a:xfrm>
          <a:prstGeom prst="ellipse">
            <a:avLst/>
          </a:prstGeom>
          <a:solidFill>
            <a:srgbClr val="FFFFFF">
              <a:alpha val="36080"/>
            </a:srgbClr>
          </a:solidFill>
          <a:ln>
            <a:noFill/>
          </a:ln>
        </p:spPr>
        <p:txBody>
          <a:bodyPr anchorCtr="0" anchor="ctr" bIns="79125" lIns="79125" spcFirstLastPara="1" rIns="79125" wrap="square" tIns="79125">
            <a:noAutofit/>
          </a:bodyPr>
          <a:lstStyle/>
          <a:p>
            <a:pPr indent="0" lvl="0" marL="0" rtl="0" algn="l">
              <a:spcBef>
                <a:spcPts val="0"/>
              </a:spcBef>
              <a:spcAft>
                <a:spcPts val="0"/>
              </a:spcAft>
              <a:buNone/>
            </a:pPr>
            <a:r>
              <a:t/>
            </a:r>
            <a:endParaRPr sz="1111">
              <a:solidFill>
                <a:schemeClr val="lt1"/>
              </a:solidFill>
              <a:latin typeface="Roboto"/>
              <a:ea typeface="Roboto"/>
              <a:cs typeface="Roboto"/>
              <a:sym typeface="Roboto"/>
            </a:endParaRPr>
          </a:p>
        </p:txBody>
      </p:sp>
      <p:sp>
        <p:nvSpPr>
          <p:cNvPr id="268" name="Google Shape;268;p33"/>
          <p:cNvSpPr txBox="1"/>
          <p:nvPr>
            <p:ph idx="4294967295" type="title"/>
          </p:nvPr>
        </p:nvSpPr>
        <p:spPr>
          <a:xfrm>
            <a:off x="5371486" y="3242589"/>
            <a:ext cx="2475300" cy="316500"/>
          </a:xfrm>
          <a:prstGeom prst="rect">
            <a:avLst/>
          </a:prstGeom>
        </p:spPr>
        <p:txBody>
          <a:bodyPr anchorCtr="0" anchor="t" bIns="79125" lIns="79125" spcFirstLastPara="1" rIns="79125" wrap="square" tIns="79125">
            <a:noAutofit/>
          </a:bodyPr>
          <a:lstStyle/>
          <a:p>
            <a:pPr indent="0" lvl="0" marL="0" rtl="0" algn="l">
              <a:spcBef>
                <a:spcPts val="0"/>
              </a:spcBef>
              <a:spcAft>
                <a:spcPts val="0"/>
              </a:spcAft>
              <a:buNone/>
            </a:pPr>
            <a:r>
              <a:rPr lang="en" sz="1804">
                <a:latin typeface="Roboto"/>
                <a:ea typeface="Roboto"/>
                <a:cs typeface="Roboto"/>
                <a:sym typeface="Roboto"/>
              </a:rPr>
              <a:t>Recommendations</a:t>
            </a:r>
            <a:endParaRPr sz="1804">
              <a:latin typeface="Roboto"/>
              <a:ea typeface="Roboto"/>
              <a:cs typeface="Roboto"/>
              <a:sym typeface="Roboto"/>
            </a:endParaRPr>
          </a:p>
        </p:txBody>
      </p:sp>
      <p:sp>
        <p:nvSpPr>
          <p:cNvPr id="269" name="Google Shape;269;p33"/>
          <p:cNvSpPr txBox="1"/>
          <p:nvPr>
            <p:ph idx="4294967295" type="subTitle"/>
          </p:nvPr>
        </p:nvSpPr>
        <p:spPr>
          <a:xfrm>
            <a:off x="5386624" y="3581285"/>
            <a:ext cx="3266100" cy="1137000"/>
          </a:xfrm>
          <a:prstGeom prst="rect">
            <a:avLst/>
          </a:prstGeom>
        </p:spPr>
        <p:txBody>
          <a:bodyPr anchorCtr="0" anchor="t" bIns="79125" lIns="79125" spcFirstLastPara="1" rIns="79125" wrap="square" tIns="79125">
            <a:noAutofit/>
          </a:bodyPr>
          <a:lstStyle/>
          <a:p>
            <a:pPr indent="0" lvl="0" marL="0" rtl="0" algn="just">
              <a:spcBef>
                <a:spcPts val="0"/>
              </a:spcBef>
              <a:spcAft>
                <a:spcPts val="0"/>
              </a:spcAft>
              <a:buNone/>
            </a:pPr>
            <a:r>
              <a:rPr lang="en" sz="1000">
                <a:latin typeface="Roboto"/>
                <a:ea typeface="Roboto"/>
                <a:cs typeface="Roboto"/>
                <a:sym typeface="Roboto"/>
              </a:rPr>
              <a:t>Prioritize WhatsApp growth, secure SMS reliability, optimize Email, limit Calls, and reduce client dependency</a:t>
            </a:r>
            <a:endParaRPr sz="1111">
              <a:latin typeface="Roboto"/>
              <a:ea typeface="Roboto"/>
              <a:cs typeface="Roboto"/>
              <a:sym typeface="Roboto"/>
            </a:endParaRPr>
          </a:p>
        </p:txBody>
      </p:sp>
      <p:sp>
        <p:nvSpPr>
          <p:cNvPr id="270" name="Google Shape;270;p33"/>
          <p:cNvSpPr txBox="1"/>
          <p:nvPr>
            <p:ph idx="4294967295" type="title"/>
          </p:nvPr>
        </p:nvSpPr>
        <p:spPr>
          <a:xfrm>
            <a:off x="4735475" y="3302053"/>
            <a:ext cx="636000" cy="435300"/>
          </a:xfrm>
          <a:prstGeom prst="rect">
            <a:avLst/>
          </a:prstGeom>
        </p:spPr>
        <p:txBody>
          <a:bodyPr anchorCtr="0" anchor="t" bIns="79125" lIns="79125" spcFirstLastPara="1" rIns="79125" wrap="square" tIns="79125">
            <a:noAutofit/>
          </a:bodyPr>
          <a:lstStyle/>
          <a:p>
            <a:pPr indent="0" lvl="0" marL="0" rtl="0" algn="ctr">
              <a:spcBef>
                <a:spcPts val="0"/>
              </a:spcBef>
              <a:spcAft>
                <a:spcPts val="0"/>
              </a:spcAft>
              <a:buNone/>
            </a:pPr>
            <a:r>
              <a:rPr lang="en" sz="2063"/>
              <a:t>04</a:t>
            </a:r>
            <a:endParaRPr sz="2063"/>
          </a:p>
        </p:txBody>
      </p:sp>
      <p:sp>
        <p:nvSpPr>
          <p:cNvPr id="271" name="Google Shape;271;p33"/>
          <p:cNvSpPr txBox="1"/>
          <p:nvPr>
            <p:ph idx="1" type="subTitle"/>
          </p:nvPr>
        </p:nvSpPr>
        <p:spPr>
          <a:xfrm>
            <a:off x="379200" y="4718275"/>
            <a:ext cx="8385600" cy="31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Roboto"/>
                <a:ea typeface="Roboto"/>
                <a:cs typeface="Roboto"/>
                <a:sym typeface="Roboto"/>
              </a:rPr>
              <a:t>“The data shown has been adjusted for educational purposes and does not reflect the company’s actual business conditions.”</a:t>
            </a:r>
            <a:endParaRPr b="1" sz="1000">
              <a:solidFill>
                <a:schemeClr val="dk1"/>
              </a:solidFill>
              <a:latin typeface="Roboto"/>
              <a:ea typeface="Roboto"/>
              <a:cs typeface="Roboto"/>
              <a:sym typeface="Roboto"/>
            </a:endParaRPr>
          </a:p>
          <a:p>
            <a:pPr indent="0" lvl="0" marL="0" rtl="0" algn="ctr">
              <a:spcBef>
                <a:spcPts val="0"/>
              </a:spcBef>
              <a:spcAft>
                <a:spcPts val="0"/>
              </a:spcAft>
              <a:buNone/>
            </a:pPr>
            <a:r>
              <a:t/>
            </a:r>
            <a:endParaRPr b="1" sz="1000">
              <a:solidFill>
                <a:schemeClr val="dk1"/>
              </a:solidFill>
              <a:latin typeface="Roboto"/>
              <a:ea typeface="Roboto"/>
              <a:cs typeface="Roboto"/>
              <a:sym typeface="Roboto"/>
            </a:endParaRPr>
          </a:p>
        </p:txBody>
      </p:sp>
      <p:pic>
        <p:nvPicPr>
          <p:cNvPr id="272" name="Google Shape;272;p33" title="Salinan Logo RevoU x OCA x Telkom.png"/>
          <p:cNvPicPr preferRelativeResize="0"/>
          <p:nvPr/>
        </p:nvPicPr>
        <p:blipFill rotWithShape="1">
          <a:blip r:embed="rId3">
            <a:alphaModFix/>
          </a:blip>
          <a:srcRect b="14850" l="0" r="0" t="17832"/>
          <a:stretch/>
        </p:blipFill>
        <p:spPr>
          <a:xfrm>
            <a:off x="0" y="28023"/>
            <a:ext cx="3300485" cy="822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6" name="Shape 276"/>
        <p:cNvGrpSpPr/>
        <p:nvPr/>
      </p:nvGrpSpPr>
      <p:grpSpPr>
        <a:xfrm>
          <a:off x="0" y="0"/>
          <a:ext cx="0" cy="0"/>
          <a:chOff x="0" y="0"/>
          <a:chExt cx="0" cy="0"/>
        </a:xfrm>
      </p:grpSpPr>
      <p:sp>
        <p:nvSpPr>
          <p:cNvPr id="277" name="Google Shape;277;p34"/>
          <p:cNvSpPr/>
          <p:nvPr/>
        </p:nvSpPr>
        <p:spPr>
          <a:xfrm>
            <a:off x="0" y="4737050"/>
            <a:ext cx="9198300" cy="320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278" name="Google Shape;278;p34"/>
          <p:cNvSpPr txBox="1"/>
          <p:nvPr>
            <p:ph type="title"/>
          </p:nvPr>
        </p:nvSpPr>
        <p:spPr>
          <a:xfrm>
            <a:off x="438500" y="683275"/>
            <a:ext cx="5677500" cy="51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sz="2400" u="sng">
                <a:solidFill>
                  <a:schemeClr val="dk1"/>
                </a:solidFill>
                <a:latin typeface="Roboto Black"/>
                <a:ea typeface="Roboto Black"/>
                <a:cs typeface="Roboto Black"/>
                <a:sym typeface="Roboto Black"/>
              </a:rPr>
              <a:t>Business Context &amp; Problem Statement</a:t>
            </a:r>
            <a:endParaRPr b="0" sz="2400" u="sng">
              <a:solidFill>
                <a:schemeClr val="dk1"/>
              </a:solidFill>
              <a:latin typeface="Roboto Black"/>
              <a:ea typeface="Roboto Black"/>
              <a:cs typeface="Roboto Black"/>
              <a:sym typeface="Roboto Black"/>
            </a:endParaRPr>
          </a:p>
        </p:txBody>
      </p:sp>
      <p:sp>
        <p:nvSpPr>
          <p:cNvPr id="279" name="Google Shape;279;p34"/>
          <p:cNvSpPr txBox="1"/>
          <p:nvPr>
            <p:ph idx="1" type="subTitle"/>
          </p:nvPr>
        </p:nvSpPr>
        <p:spPr>
          <a:xfrm>
            <a:off x="361050" y="4718700"/>
            <a:ext cx="8421900" cy="42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000">
                <a:latin typeface="Roboto"/>
                <a:ea typeface="Roboto"/>
                <a:cs typeface="Roboto"/>
                <a:sym typeface="Roboto"/>
              </a:rPr>
              <a:t>“The data shown has been adjusted for educational purposes and does not reflect the company’s actual business conditions.”</a:t>
            </a:r>
            <a:endParaRPr b="1" sz="1000">
              <a:latin typeface="Roboto"/>
              <a:ea typeface="Roboto"/>
              <a:cs typeface="Roboto"/>
              <a:sym typeface="Roboto"/>
            </a:endParaRPr>
          </a:p>
        </p:txBody>
      </p:sp>
      <p:sp>
        <p:nvSpPr>
          <p:cNvPr id="280" name="Google Shape;280;p34"/>
          <p:cNvSpPr txBox="1"/>
          <p:nvPr>
            <p:ph type="title"/>
          </p:nvPr>
        </p:nvSpPr>
        <p:spPr>
          <a:xfrm>
            <a:off x="566075" y="1473675"/>
            <a:ext cx="2054700" cy="365700"/>
          </a:xfrm>
          <a:prstGeom prst="rect">
            <a:avLst/>
          </a:prstGeom>
          <a:solidFill>
            <a:schemeClr val="dk1"/>
          </a:solidFill>
        </p:spPr>
        <p:txBody>
          <a:bodyPr anchorCtr="0" anchor="ctr" bIns="91425" lIns="91425" spcFirstLastPara="1" rIns="91425" wrap="square" tIns="91425">
            <a:noAutofit/>
          </a:bodyPr>
          <a:lstStyle/>
          <a:p>
            <a:pPr indent="0" lvl="0" marL="0" rtl="0" algn="l">
              <a:spcBef>
                <a:spcPts val="0"/>
              </a:spcBef>
              <a:spcAft>
                <a:spcPts val="0"/>
              </a:spcAft>
              <a:buNone/>
            </a:pPr>
            <a:r>
              <a:rPr lang="en" sz="1500">
                <a:latin typeface="Roboto"/>
                <a:ea typeface="Roboto"/>
                <a:cs typeface="Roboto"/>
                <a:sym typeface="Roboto"/>
              </a:rPr>
              <a:t>Business Background</a:t>
            </a:r>
            <a:endParaRPr sz="1500">
              <a:latin typeface="Roboto"/>
              <a:ea typeface="Roboto"/>
              <a:cs typeface="Roboto"/>
              <a:sym typeface="Roboto"/>
            </a:endParaRPr>
          </a:p>
        </p:txBody>
      </p:sp>
      <p:sp>
        <p:nvSpPr>
          <p:cNvPr id="281" name="Google Shape;281;p34"/>
          <p:cNvSpPr txBox="1"/>
          <p:nvPr>
            <p:ph idx="1" type="subTitle"/>
          </p:nvPr>
        </p:nvSpPr>
        <p:spPr>
          <a:xfrm>
            <a:off x="464025" y="1870576"/>
            <a:ext cx="4727100" cy="717000"/>
          </a:xfrm>
          <a:prstGeom prst="rect">
            <a:avLst/>
          </a:prstGeom>
        </p:spPr>
        <p:txBody>
          <a:bodyPr anchorCtr="0" anchor="ctr" bIns="91425" lIns="91425" spcFirstLastPara="1" rIns="91425" wrap="square" tIns="91425">
            <a:noAutofit/>
          </a:bodyPr>
          <a:lstStyle/>
          <a:p>
            <a:pPr indent="0" lvl="0" marL="0" rtl="0" algn="just">
              <a:spcBef>
                <a:spcPts val="0"/>
              </a:spcBef>
              <a:spcAft>
                <a:spcPts val="0"/>
              </a:spcAft>
              <a:buNone/>
            </a:pPr>
            <a:r>
              <a:rPr b="1" lang="en" sz="1000">
                <a:solidFill>
                  <a:schemeClr val="dk1"/>
                </a:solidFill>
                <a:latin typeface="Roboto"/>
                <a:ea typeface="Roboto"/>
                <a:cs typeface="Roboto"/>
                <a:sym typeface="Roboto"/>
              </a:rPr>
              <a:t>OCA Indonesia</a:t>
            </a:r>
            <a:r>
              <a:rPr lang="en" sz="1000">
                <a:solidFill>
                  <a:schemeClr val="dk1"/>
                </a:solidFill>
                <a:latin typeface="Roboto"/>
                <a:ea typeface="Roboto"/>
                <a:cs typeface="Roboto"/>
                <a:sym typeface="Roboto"/>
              </a:rPr>
              <a:t>, a CPaaS solution by </a:t>
            </a:r>
            <a:r>
              <a:rPr b="1" lang="en" sz="1000">
                <a:solidFill>
                  <a:schemeClr val="dk1"/>
                </a:solidFill>
                <a:latin typeface="Roboto"/>
                <a:ea typeface="Roboto"/>
                <a:cs typeface="Roboto"/>
                <a:sym typeface="Roboto"/>
              </a:rPr>
              <a:t>Telkom Indonesia</a:t>
            </a:r>
            <a:r>
              <a:rPr lang="en" sz="1000">
                <a:solidFill>
                  <a:schemeClr val="dk1"/>
                </a:solidFill>
                <a:latin typeface="Roboto"/>
                <a:ea typeface="Roboto"/>
                <a:cs typeface="Roboto"/>
                <a:sym typeface="Roboto"/>
              </a:rPr>
              <a:t>, enables omnichannel customer engagement through WhatsApp, SMS, Email, and Voice Call, with support for single, scheduled, and recurring mass messaging workflows.</a:t>
            </a:r>
            <a:endParaRPr sz="900">
              <a:solidFill>
                <a:schemeClr val="dk1"/>
              </a:solidFill>
              <a:latin typeface="Roboto"/>
              <a:ea typeface="Roboto"/>
              <a:cs typeface="Roboto"/>
              <a:sym typeface="Roboto"/>
            </a:endParaRPr>
          </a:p>
        </p:txBody>
      </p:sp>
      <p:pic>
        <p:nvPicPr>
          <p:cNvPr id="282" name="Google Shape;282;p34"/>
          <p:cNvPicPr preferRelativeResize="0"/>
          <p:nvPr/>
        </p:nvPicPr>
        <p:blipFill>
          <a:blip r:embed="rId3">
            <a:alphaModFix/>
          </a:blip>
          <a:stretch>
            <a:fillRect/>
          </a:stretch>
        </p:blipFill>
        <p:spPr>
          <a:xfrm>
            <a:off x="5437700" y="1561164"/>
            <a:ext cx="3007424" cy="1691676"/>
          </a:xfrm>
          <a:prstGeom prst="rect">
            <a:avLst/>
          </a:prstGeom>
          <a:noFill/>
          <a:ln>
            <a:noFill/>
          </a:ln>
        </p:spPr>
      </p:pic>
      <p:pic>
        <p:nvPicPr>
          <p:cNvPr id="283" name="Google Shape;283;p34" title="Salinan Logo RevoU x OCA x Telkom.png"/>
          <p:cNvPicPr preferRelativeResize="0"/>
          <p:nvPr/>
        </p:nvPicPr>
        <p:blipFill>
          <a:blip r:embed="rId4">
            <a:alphaModFix/>
          </a:blip>
          <a:stretch>
            <a:fillRect/>
          </a:stretch>
        </p:blipFill>
        <p:spPr>
          <a:xfrm>
            <a:off x="6190760" y="0"/>
            <a:ext cx="3007414" cy="1113850"/>
          </a:xfrm>
          <a:prstGeom prst="rect">
            <a:avLst/>
          </a:prstGeom>
          <a:noFill/>
          <a:ln>
            <a:noFill/>
          </a:ln>
        </p:spPr>
      </p:pic>
      <p:sp>
        <p:nvSpPr>
          <p:cNvPr id="284" name="Google Shape;284;p34"/>
          <p:cNvSpPr txBox="1"/>
          <p:nvPr>
            <p:ph type="title"/>
          </p:nvPr>
        </p:nvSpPr>
        <p:spPr>
          <a:xfrm>
            <a:off x="566075" y="2772359"/>
            <a:ext cx="2054700" cy="365700"/>
          </a:xfrm>
          <a:prstGeom prst="rect">
            <a:avLst/>
          </a:prstGeom>
          <a:solidFill>
            <a:schemeClr val="dk1"/>
          </a:solidFill>
        </p:spPr>
        <p:txBody>
          <a:bodyPr anchorCtr="0" anchor="ctr" bIns="91425" lIns="91425" spcFirstLastPara="1" rIns="91425" wrap="square" tIns="91425">
            <a:noAutofit/>
          </a:bodyPr>
          <a:lstStyle/>
          <a:p>
            <a:pPr indent="0" lvl="0" marL="0" rtl="0" algn="l">
              <a:spcBef>
                <a:spcPts val="0"/>
              </a:spcBef>
              <a:spcAft>
                <a:spcPts val="0"/>
              </a:spcAft>
              <a:buNone/>
            </a:pPr>
            <a:r>
              <a:rPr lang="en" sz="1500">
                <a:latin typeface="Roboto"/>
                <a:ea typeface="Roboto"/>
                <a:cs typeface="Roboto"/>
                <a:sym typeface="Roboto"/>
              </a:rPr>
              <a:t>Business Problem</a:t>
            </a:r>
            <a:endParaRPr sz="1500">
              <a:latin typeface="Roboto"/>
              <a:ea typeface="Roboto"/>
              <a:cs typeface="Roboto"/>
              <a:sym typeface="Roboto"/>
            </a:endParaRPr>
          </a:p>
        </p:txBody>
      </p:sp>
      <p:sp>
        <p:nvSpPr>
          <p:cNvPr id="285" name="Google Shape;285;p34"/>
          <p:cNvSpPr txBox="1"/>
          <p:nvPr>
            <p:ph idx="1" type="subTitle"/>
          </p:nvPr>
        </p:nvSpPr>
        <p:spPr>
          <a:xfrm>
            <a:off x="464000" y="3169263"/>
            <a:ext cx="4727100" cy="634800"/>
          </a:xfrm>
          <a:prstGeom prst="rect">
            <a:avLst/>
          </a:prstGeom>
        </p:spPr>
        <p:txBody>
          <a:bodyPr anchorCtr="0" anchor="ctr" bIns="91425" lIns="91425" spcFirstLastPara="1" rIns="91425" wrap="square" tIns="91425">
            <a:noAutofit/>
          </a:bodyPr>
          <a:lstStyle/>
          <a:p>
            <a:pPr indent="0" lvl="0" marL="0" rtl="0" algn="just">
              <a:spcBef>
                <a:spcPts val="0"/>
              </a:spcBef>
              <a:spcAft>
                <a:spcPts val="0"/>
              </a:spcAft>
              <a:buNone/>
            </a:pPr>
            <a:r>
              <a:rPr lang="en" sz="1000">
                <a:solidFill>
                  <a:schemeClr val="dk1"/>
                </a:solidFill>
                <a:latin typeface="Roboto"/>
                <a:ea typeface="Roboto"/>
                <a:cs typeface="Roboto"/>
                <a:sym typeface="Roboto"/>
              </a:rPr>
              <a:t>To support </a:t>
            </a:r>
            <a:r>
              <a:rPr b="1" lang="en" sz="1000">
                <a:solidFill>
                  <a:schemeClr val="dk1"/>
                </a:solidFill>
                <a:latin typeface="Roboto"/>
                <a:ea typeface="Roboto"/>
                <a:cs typeface="Roboto"/>
                <a:sym typeface="Roboto"/>
              </a:rPr>
              <a:t>scalable operations</a:t>
            </a:r>
            <a:r>
              <a:rPr lang="en" sz="1000">
                <a:solidFill>
                  <a:schemeClr val="dk1"/>
                </a:solidFill>
                <a:latin typeface="Roboto"/>
                <a:ea typeface="Roboto"/>
                <a:cs typeface="Roboto"/>
                <a:sym typeface="Roboto"/>
              </a:rPr>
              <a:t>, OCA Indonesia requires a </a:t>
            </a:r>
            <a:r>
              <a:rPr b="1" lang="en" sz="1000">
                <a:solidFill>
                  <a:schemeClr val="dk1"/>
                </a:solidFill>
                <a:latin typeface="Roboto"/>
                <a:ea typeface="Roboto"/>
                <a:cs typeface="Roboto"/>
                <a:sym typeface="Roboto"/>
              </a:rPr>
              <a:t>holistic understanding of cross-channel performance and customer behavior</a:t>
            </a:r>
            <a:r>
              <a:rPr lang="en" sz="1000">
                <a:solidFill>
                  <a:schemeClr val="dk1"/>
                </a:solidFill>
                <a:latin typeface="Roboto"/>
                <a:ea typeface="Roboto"/>
                <a:cs typeface="Roboto"/>
                <a:sym typeface="Roboto"/>
              </a:rPr>
              <a:t> to enable </a:t>
            </a:r>
            <a:r>
              <a:rPr b="1" lang="en" sz="1000">
                <a:solidFill>
                  <a:schemeClr val="dk1"/>
                </a:solidFill>
                <a:latin typeface="Roboto"/>
                <a:ea typeface="Roboto"/>
                <a:cs typeface="Roboto"/>
                <a:sym typeface="Roboto"/>
              </a:rPr>
              <a:t>data-driven business decision-making</a:t>
            </a:r>
            <a:r>
              <a:rPr lang="en"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9" name="Shape 289"/>
        <p:cNvGrpSpPr/>
        <p:nvPr/>
      </p:nvGrpSpPr>
      <p:grpSpPr>
        <a:xfrm>
          <a:off x="0" y="0"/>
          <a:ext cx="0" cy="0"/>
          <a:chOff x="0" y="0"/>
          <a:chExt cx="0" cy="0"/>
        </a:xfrm>
      </p:grpSpPr>
      <p:sp>
        <p:nvSpPr>
          <p:cNvPr id="290" name="Google Shape;290;p35"/>
          <p:cNvSpPr/>
          <p:nvPr/>
        </p:nvSpPr>
        <p:spPr>
          <a:xfrm>
            <a:off x="0" y="4737050"/>
            <a:ext cx="9198300" cy="320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291" name="Google Shape;291;p35"/>
          <p:cNvSpPr txBox="1"/>
          <p:nvPr>
            <p:ph type="title"/>
          </p:nvPr>
        </p:nvSpPr>
        <p:spPr>
          <a:xfrm>
            <a:off x="438500" y="683275"/>
            <a:ext cx="5677500" cy="51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sz="2400" u="sng">
                <a:solidFill>
                  <a:schemeClr val="dk1"/>
                </a:solidFill>
                <a:latin typeface="Roboto Black"/>
                <a:ea typeface="Roboto Black"/>
                <a:cs typeface="Roboto Black"/>
                <a:sym typeface="Roboto Black"/>
              </a:rPr>
              <a:t>Project Objective</a:t>
            </a:r>
            <a:endParaRPr b="0" sz="2400" u="sng">
              <a:solidFill>
                <a:schemeClr val="dk1"/>
              </a:solidFill>
              <a:latin typeface="Roboto Black"/>
              <a:ea typeface="Roboto Black"/>
              <a:cs typeface="Roboto Black"/>
              <a:sym typeface="Roboto Black"/>
            </a:endParaRPr>
          </a:p>
        </p:txBody>
      </p:sp>
      <p:sp>
        <p:nvSpPr>
          <p:cNvPr id="292" name="Google Shape;292;p35"/>
          <p:cNvSpPr txBox="1"/>
          <p:nvPr>
            <p:ph idx="1" type="subTitle"/>
          </p:nvPr>
        </p:nvSpPr>
        <p:spPr>
          <a:xfrm>
            <a:off x="361050" y="4718700"/>
            <a:ext cx="8421900" cy="42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000">
                <a:latin typeface="Roboto"/>
                <a:ea typeface="Roboto"/>
                <a:cs typeface="Roboto"/>
                <a:sym typeface="Roboto"/>
              </a:rPr>
              <a:t>“The data shown has been adjusted for educational purposes and does not reflect the company’s actual business conditions.”</a:t>
            </a:r>
            <a:endParaRPr b="1" sz="1000">
              <a:latin typeface="Roboto"/>
              <a:ea typeface="Roboto"/>
              <a:cs typeface="Roboto"/>
              <a:sym typeface="Roboto"/>
            </a:endParaRPr>
          </a:p>
        </p:txBody>
      </p:sp>
      <p:sp>
        <p:nvSpPr>
          <p:cNvPr id="293" name="Google Shape;293;p35"/>
          <p:cNvSpPr txBox="1"/>
          <p:nvPr>
            <p:ph type="title"/>
          </p:nvPr>
        </p:nvSpPr>
        <p:spPr>
          <a:xfrm>
            <a:off x="1550475" y="1714675"/>
            <a:ext cx="1623300" cy="365700"/>
          </a:xfrm>
          <a:prstGeom prst="rect">
            <a:avLst/>
          </a:prstGeom>
          <a:solidFill>
            <a:schemeClr val="dk1"/>
          </a:solidFill>
        </p:spPr>
        <p:txBody>
          <a:bodyPr anchorCtr="0" anchor="ctr" bIns="91425" lIns="91425" spcFirstLastPara="1" rIns="91425" wrap="square" tIns="91425">
            <a:noAutofit/>
          </a:bodyPr>
          <a:lstStyle/>
          <a:p>
            <a:pPr indent="0" lvl="0" marL="0" rtl="0" algn="l">
              <a:spcBef>
                <a:spcPts val="0"/>
              </a:spcBef>
              <a:spcAft>
                <a:spcPts val="0"/>
              </a:spcAft>
              <a:buNone/>
            </a:pPr>
            <a:r>
              <a:rPr lang="en" sz="1500">
                <a:latin typeface="Roboto"/>
                <a:ea typeface="Roboto"/>
                <a:cs typeface="Roboto"/>
                <a:sym typeface="Roboto"/>
              </a:rPr>
              <a:t>Target Audience</a:t>
            </a:r>
            <a:endParaRPr sz="1500">
              <a:latin typeface="Roboto"/>
              <a:ea typeface="Roboto"/>
              <a:cs typeface="Roboto"/>
              <a:sym typeface="Roboto"/>
            </a:endParaRPr>
          </a:p>
        </p:txBody>
      </p:sp>
      <p:sp>
        <p:nvSpPr>
          <p:cNvPr id="294" name="Google Shape;294;p35"/>
          <p:cNvSpPr txBox="1"/>
          <p:nvPr>
            <p:ph idx="1" type="subTitle"/>
          </p:nvPr>
        </p:nvSpPr>
        <p:spPr>
          <a:xfrm>
            <a:off x="1550475" y="2080375"/>
            <a:ext cx="2364600" cy="717000"/>
          </a:xfrm>
          <a:prstGeom prst="rect">
            <a:avLst/>
          </a:prstGeom>
        </p:spPr>
        <p:txBody>
          <a:bodyPr anchorCtr="0" anchor="ctr" bIns="91425" lIns="91425" spcFirstLastPara="1" rIns="91425" wrap="square" tIns="91425">
            <a:noAutofit/>
          </a:bodyPr>
          <a:lstStyle/>
          <a:p>
            <a:pPr indent="-177800" lvl="0" marL="171450" rtl="0" algn="just">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C-Level Executive</a:t>
            </a:r>
            <a:endParaRPr sz="1000">
              <a:solidFill>
                <a:schemeClr val="dk1"/>
              </a:solidFill>
              <a:latin typeface="Roboto"/>
              <a:ea typeface="Roboto"/>
              <a:cs typeface="Roboto"/>
              <a:sym typeface="Roboto"/>
            </a:endParaRPr>
          </a:p>
          <a:p>
            <a:pPr indent="-177800" lvl="0" marL="171450" rtl="0" algn="just">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Product Managers of OCA Blast</a:t>
            </a:r>
            <a:endParaRPr sz="1000">
              <a:solidFill>
                <a:schemeClr val="dk1"/>
              </a:solidFill>
              <a:latin typeface="Roboto"/>
              <a:ea typeface="Roboto"/>
              <a:cs typeface="Roboto"/>
              <a:sym typeface="Roboto"/>
            </a:endParaRPr>
          </a:p>
          <a:p>
            <a:pPr indent="-177800" lvl="0" marL="171450" rtl="0" algn="just">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Marketing &amp; Campaign Ops</a:t>
            </a:r>
            <a:endParaRPr sz="1000">
              <a:solidFill>
                <a:schemeClr val="dk1"/>
              </a:solidFill>
              <a:latin typeface="Roboto"/>
              <a:ea typeface="Roboto"/>
              <a:cs typeface="Roboto"/>
              <a:sym typeface="Roboto"/>
            </a:endParaRPr>
          </a:p>
          <a:p>
            <a:pPr indent="-177800" lvl="0" marL="171450" rtl="0" algn="just">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Account Managers</a:t>
            </a:r>
            <a:endParaRPr sz="1000">
              <a:solidFill>
                <a:schemeClr val="dk1"/>
              </a:solidFill>
              <a:latin typeface="Roboto"/>
              <a:ea typeface="Roboto"/>
              <a:cs typeface="Roboto"/>
              <a:sym typeface="Roboto"/>
            </a:endParaRPr>
          </a:p>
        </p:txBody>
      </p:sp>
      <p:pic>
        <p:nvPicPr>
          <p:cNvPr id="295" name="Google Shape;295;p35" title="Salinan Logo RevoU x OCA x Telkom.png"/>
          <p:cNvPicPr preferRelativeResize="0"/>
          <p:nvPr/>
        </p:nvPicPr>
        <p:blipFill>
          <a:blip r:embed="rId3">
            <a:alphaModFix/>
          </a:blip>
          <a:stretch>
            <a:fillRect/>
          </a:stretch>
        </p:blipFill>
        <p:spPr>
          <a:xfrm>
            <a:off x="6190760" y="0"/>
            <a:ext cx="3007414" cy="1113850"/>
          </a:xfrm>
          <a:prstGeom prst="rect">
            <a:avLst/>
          </a:prstGeom>
          <a:noFill/>
          <a:ln>
            <a:noFill/>
          </a:ln>
        </p:spPr>
      </p:pic>
      <p:sp>
        <p:nvSpPr>
          <p:cNvPr id="296" name="Google Shape;296;p35"/>
          <p:cNvSpPr txBox="1"/>
          <p:nvPr>
            <p:ph type="title"/>
          </p:nvPr>
        </p:nvSpPr>
        <p:spPr>
          <a:xfrm>
            <a:off x="1559001" y="3158184"/>
            <a:ext cx="2054700" cy="365700"/>
          </a:xfrm>
          <a:prstGeom prst="rect">
            <a:avLst/>
          </a:prstGeom>
          <a:solidFill>
            <a:schemeClr val="dk1"/>
          </a:solidFill>
        </p:spPr>
        <p:txBody>
          <a:bodyPr anchorCtr="0" anchor="ctr" bIns="91425" lIns="91425" spcFirstLastPara="1" rIns="91425" wrap="square" tIns="91425">
            <a:noAutofit/>
          </a:bodyPr>
          <a:lstStyle/>
          <a:p>
            <a:pPr indent="0" lvl="0" marL="0" rtl="0" algn="l">
              <a:spcBef>
                <a:spcPts val="0"/>
              </a:spcBef>
              <a:spcAft>
                <a:spcPts val="0"/>
              </a:spcAft>
              <a:buNone/>
            </a:pPr>
            <a:r>
              <a:rPr lang="en" sz="1500">
                <a:latin typeface="Roboto"/>
                <a:ea typeface="Roboto"/>
                <a:cs typeface="Roboto"/>
                <a:sym typeface="Roboto"/>
              </a:rPr>
              <a:t>Metric Used</a:t>
            </a:r>
            <a:endParaRPr sz="1500">
              <a:latin typeface="Roboto"/>
              <a:ea typeface="Roboto"/>
              <a:cs typeface="Roboto"/>
              <a:sym typeface="Roboto"/>
            </a:endParaRPr>
          </a:p>
        </p:txBody>
      </p:sp>
      <p:sp>
        <p:nvSpPr>
          <p:cNvPr id="297" name="Google Shape;297;p35"/>
          <p:cNvSpPr txBox="1"/>
          <p:nvPr>
            <p:ph idx="1" type="subTitle"/>
          </p:nvPr>
        </p:nvSpPr>
        <p:spPr>
          <a:xfrm>
            <a:off x="1456925" y="3555100"/>
            <a:ext cx="2312100" cy="898200"/>
          </a:xfrm>
          <a:prstGeom prst="rect">
            <a:avLst/>
          </a:prstGeom>
        </p:spPr>
        <p:txBody>
          <a:bodyPr anchorCtr="0" anchor="t" bIns="91425" lIns="91425" spcFirstLastPara="1" rIns="91425" wrap="square" tIns="91425">
            <a:noAutofit/>
          </a:bodyPr>
          <a:lstStyle/>
          <a:p>
            <a:pPr indent="-177800" lvl="0" marL="171450" rtl="0" algn="just">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Total Transaction, Message, Users</a:t>
            </a:r>
            <a:endParaRPr sz="1000">
              <a:solidFill>
                <a:schemeClr val="dk1"/>
              </a:solidFill>
              <a:latin typeface="Roboto"/>
              <a:ea typeface="Roboto"/>
              <a:cs typeface="Roboto"/>
              <a:sym typeface="Roboto"/>
            </a:endParaRPr>
          </a:p>
          <a:p>
            <a:pPr indent="-177800" lvl="0" marL="171450" rtl="0" algn="just">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Total Revenue</a:t>
            </a:r>
            <a:endParaRPr sz="1000">
              <a:solidFill>
                <a:schemeClr val="dk1"/>
              </a:solidFill>
              <a:latin typeface="Roboto"/>
              <a:ea typeface="Roboto"/>
              <a:cs typeface="Roboto"/>
              <a:sym typeface="Roboto"/>
            </a:endParaRPr>
          </a:p>
          <a:p>
            <a:pPr indent="-177800" lvl="0" marL="171450" rtl="0" algn="just">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Average Revenue Per User</a:t>
            </a:r>
            <a:endParaRPr sz="1000">
              <a:solidFill>
                <a:schemeClr val="dk1"/>
              </a:solidFill>
              <a:latin typeface="Roboto"/>
              <a:ea typeface="Roboto"/>
              <a:cs typeface="Roboto"/>
              <a:sym typeface="Roboto"/>
            </a:endParaRPr>
          </a:p>
          <a:p>
            <a:pPr indent="-177800" lvl="0" marL="171450" rtl="0" algn="just">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Delivery Success Rate (%)</a:t>
            </a:r>
            <a:endParaRPr sz="1000">
              <a:solidFill>
                <a:schemeClr val="dk1"/>
              </a:solidFill>
              <a:latin typeface="Roboto"/>
              <a:ea typeface="Roboto"/>
              <a:cs typeface="Roboto"/>
              <a:sym typeface="Roboto"/>
            </a:endParaRPr>
          </a:p>
          <a:p>
            <a:pPr indent="-177800" lvl="0" marL="171450" rtl="0" algn="just">
              <a:spcBef>
                <a:spcPts val="0"/>
              </a:spcBef>
              <a:spcAft>
                <a:spcPts val="0"/>
              </a:spcAft>
              <a:buClr>
                <a:schemeClr val="dk1"/>
              </a:buClr>
              <a:buSzPts val="1000"/>
              <a:buFont typeface="Roboto"/>
              <a:buChar char="●"/>
            </a:pPr>
            <a:r>
              <a:rPr lang="en" sz="1000">
                <a:solidFill>
                  <a:schemeClr val="dk1"/>
                </a:solidFill>
                <a:latin typeface="Roboto"/>
                <a:ea typeface="Roboto"/>
                <a:cs typeface="Roboto"/>
                <a:sym typeface="Roboto"/>
              </a:rPr>
              <a:t>Channel Level &amp; User Level Details</a:t>
            </a:r>
            <a:endParaRPr sz="1000">
              <a:solidFill>
                <a:schemeClr val="dk1"/>
              </a:solidFill>
              <a:latin typeface="Roboto"/>
              <a:ea typeface="Roboto"/>
              <a:cs typeface="Roboto"/>
              <a:sym typeface="Roboto"/>
            </a:endParaRPr>
          </a:p>
        </p:txBody>
      </p:sp>
      <p:sp>
        <p:nvSpPr>
          <p:cNvPr id="298" name="Google Shape;298;p35"/>
          <p:cNvSpPr txBox="1"/>
          <p:nvPr>
            <p:ph idx="1" type="subTitle"/>
          </p:nvPr>
        </p:nvSpPr>
        <p:spPr>
          <a:xfrm>
            <a:off x="438500" y="1113850"/>
            <a:ext cx="8127000" cy="424800"/>
          </a:xfrm>
          <a:prstGeom prst="rect">
            <a:avLst/>
          </a:prstGeom>
        </p:spPr>
        <p:txBody>
          <a:bodyPr anchorCtr="0" anchor="ctr" bIns="91425" lIns="91425" spcFirstLastPara="1" rIns="91425" wrap="square" tIns="91425">
            <a:noAutofit/>
          </a:bodyPr>
          <a:lstStyle/>
          <a:p>
            <a:pPr indent="0" lvl="0" marL="0" rtl="0" algn="just">
              <a:spcBef>
                <a:spcPts val="0"/>
              </a:spcBef>
              <a:spcAft>
                <a:spcPts val="0"/>
              </a:spcAft>
              <a:buNone/>
            </a:pPr>
            <a:r>
              <a:rPr lang="en" sz="1000">
                <a:solidFill>
                  <a:schemeClr val="dk1"/>
                </a:solidFill>
                <a:latin typeface="Roboto"/>
                <a:ea typeface="Roboto"/>
                <a:cs typeface="Roboto"/>
                <a:sym typeface="Roboto"/>
              </a:rPr>
              <a:t>To deliver a </a:t>
            </a:r>
            <a:r>
              <a:rPr b="1" lang="en" sz="1000">
                <a:solidFill>
                  <a:schemeClr val="dk1"/>
                </a:solidFill>
                <a:latin typeface="Roboto"/>
                <a:ea typeface="Roboto"/>
                <a:cs typeface="Roboto"/>
                <a:sym typeface="Roboto"/>
              </a:rPr>
              <a:t>unified performance dashboard</a:t>
            </a:r>
            <a:r>
              <a:rPr lang="en" sz="1000">
                <a:solidFill>
                  <a:schemeClr val="dk1"/>
                </a:solidFill>
                <a:latin typeface="Roboto"/>
                <a:ea typeface="Roboto"/>
                <a:cs typeface="Roboto"/>
                <a:sym typeface="Roboto"/>
              </a:rPr>
              <a:t> that enables OCA Indonesia to monitor </a:t>
            </a:r>
            <a:r>
              <a:rPr lang="en" sz="1000">
                <a:solidFill>
                  <a:schemeClr val="dk1"/>
                </a:solidFill>
                <a:latin typeface="Roboto"/>
                <a:ea typeface="Roboto"/>
                <a:cs typeface="Roboto"/>
                <a:sym typeface="Roboto"/>
              </a:rPr>
              <a:t>multi channel</a:t>
            </a:r>
            <a:r>
              <a:rPr lang="en" sz="1000">
                <a:solidFill>
                  <a:schemeClr val="dk1"/>
                </a:solidFill>
                <a:latin typeface="Roboto"/>
                <a:ea typeface="Roboto"/>
                <a:cs typeface="Roboto"/>
                <a:sym typeface="Roboto"/>
              </a:rPr>
              <a:t> performance, understand user behavior, and optimize operations through data-driven insights.</a:t>
            </a:r>
            <a:endParaRPr sz="1000">
              <a:solidFill>
                <a:schemeClr val="dk1"/>
              </a:solidFill>
              <a:latin typeface="Roboto"/>
              <a:ea typeface="Roboto"/>
              <a:cs typeface="Roboto"/>
              <a:sym typeface="Roboto"/>
            </a:endParaRPr>
          </a:p>
        </p:txBody>
      </p:sp>
      <p:pic>
        <p:nvPicPr>
          <p:cNvPr id="299" name="Google Shape;299;p35" title="watching_17990795.png"/>
          <p:cNvPicPr preferRelativeResize="0"/>
          <p:nvPr/>
        </p:nvPicPr>
        <p:blipFill>
          <a:blip r:embed="rId4">
            <a:alphaModFix/>
          </a:blip>
          <a:stretch>
            <a:fillRect/>
          </a:stretch>
        </p:blipFill>
        <p:spPr>
          <a:xfrm>
            <a:off x="473700" y="1701952"/>
            <a:ext cx="1076774" cy="1076774"/>
          </a:xfrm>
          <a:prstGeom prst="rect">
            <a:avLst/>
          </a:prstGeom>
          <a:noFill/>
          <a:ln>
            <a:noFill/>
          </a:ln>
        </p:spPr>
      </p:pic>
      <p:pic>
        <p:nvPicPr>
          <p:cNvPr id="300" name="Google Shape;300;p35" title="business_16724765.png"/>
          <p:cNvPicPr preferRelativeResize="0"/>
          <p:nvPr/>
        </p:nvPicPr>
        <p:blipFill>
          <a:blip r:embed="rId5">
            <a:alphaModFix/>
          </a:blip>
          <a:stretch>
            <a:fillRect/>
          </a:stretch>
        </p:blipFill>
        <p:spPr>
          <a:xfrm>
            <a:off x="521450" y="3158175"/>
            <a:ext cx="1029025" cy="1029025"/>
          </a:xfrm>
          <a:prstGeom prst="rect">
            <a:avLst/>
          </a:prstGeom>
          <a:noFill/>
          <a:ln>
            <a:noFill/>
          </a:ln>
        </p:spPr>
      </p:pic>
      <p:sp>
        <p:nvSpPr>
          <p:cNvPr id="301" name="Google Shape;301;p35"/>
          <p:cNvSpPr txBox="1"/>
          <p:nvPr>
            <p:ph type="title"/>
          </p:nvPr>
        </p:nvSpPr>
        <p:spPr>
          <a:xfrm>
            <a:off x="4186199" y="1714675"/>
            <a:ext cx="3698700" cy="365700"/>
          </a:xfrm>
          <a:prstGeom prst="rect">
            <a:avLst/>
          </a:prstGeom>
          <a:solidFill>
            <a:schemeClr val="dk1"/>
          </a:solidFill>
        </p:spPr>
        <p:txBody>
          <a:bodyPr anchorCtr="0" anchor="ctr" bIns="91425" lIns="91425" spcFirstLastPara="1" rIns="91425" wrap="square" tIns="91425">
            <a:noAutofit/>
          </a:bodyPr>
          <a:lstStyle/>
          <a:p>
            <a:pPr indent="0" lvl="0" marL="0" rtl="0" algn="ctr">
              <a:spcBef>
                <a:spcPts val="0"/>
              </a:spcBef>
              <a:spcAft>
                <a:spcPts val="0"/>
              </a:spcAft>
              <a:buNone/>
            </a:pPr>
            <a:r>
              <a:rPr lang="en" sz="1500">
                <a:latin typeface="Roboto"/>
                <a:ea typeface="Roboto"/>
                <a:cs typeface="Roboto"/>
                <a:sym typeface="Roboto"/>
              </a:rPr>
              <a:t>Dashboard Objective</a:t>
            </a:r>
            <a:endParaRPr sz="1500">
              <a:latin typeface="Roboto"/>
              <a:ea typeface="Roboto"/>
              <a:cs typeface="Roboto"/>
              <a:sym typeface="Roboto"/>
            </a:endParaRPr>
          </a:p>
        </p:txBody>
      </p:sp>
      <p:sp>
        <p:nvSpPr>
          <p:cNvPr id="302" name="Google Shape;302;p35"/>
          <p:cNvSpPr txBox="1"/>
          <p:nvPr>
            <p:ph idx="1" type="subTitle"/>
          </p:nvPr>
        </p:nvSpPr>
        <p:spPr>
          <a:xfrm>
            <a:off x="4084125" y="2111600"/>
            <a:ext cx="3945600" cy="1939500"/>
          </a:xfrm>
          <a:prstGeom prst="rect">
            <a:avLst/>
          </a:prstGeom>
        </p:spPr>
        <p:txBody>
          <a:bodyPr anchorCtr="0" anchor="t" bIns="91425" lIns="91425" spcFirstLastPara="1" rIns="91425" wrap="square" tIns="91425">
            <a:noAutofit/>
          </a:bodyPr>
          <a:lstStyle/>
          <a:p>
            <a:pPr indent="-177800" lvl="0" marL="171450" rtl="0" algn="just">
              <a:spcBef>
                <a:spcPts val="0"/>
              </a:spcBef>
              <a:spcAft>
                <a:spcPts val="0"/>
              </a:spcAft>
              <a:buClr>
                <a:schemeClr val="dk1"/>
              </a:buClr>
              <a:buSzPts val="1000"/>
              <a:buFont typeface="Roboto"/>
              <a:buChar char="●"/>
            </a:pPr>
            <a:r>
              <a:rPr b="1" lang="en" sz="1000">
                <a:solidFill>
                  <a:schemeClr val="dk1"/>
                </a:solidFill>
                <a:latin typeface="Roboto"/>
                <a:ea typeface="Roboto"/>
                <a:cs typeface="Roboto"/>
                <a:sym typeface="Roboto"/>
              </a:rPr>
              <a:t>Measure business growth and channel effectiveness</a:t>
            </a:r>
            <a:endParaRPr b="1" sz="1000">
              <a:solidFill>
                <a:schemeClr val="dk1"/>
              </a:solidFill>
              <a:latin typeface="Roboto"/>
              <a:ea typeface="Roboto"/>
              <a:cs typeface="Roboto"/>
              <a:sym typeface="Roboto"/>
            </a:endParaRPr>
          </a:p>
          <a:p>
            <a:pPr indent="0" lvl="0" marL="171450" rtl="0" algn="just">
              <a:spcBef>
                <a:spcPts val="0"/>
              </a:spcBef>
              <a:spcAft>
                <a:spcPts val="0"/>
              </a:spcAft>
              <a:buNone/>
            </a:pPr>
            <a:r>
              <a:rPr lang="en" sz="900">
                <a:solidFill>
                  <a:schemeClr val="dk1"/>
                </a:solidFill>
                <a:latin typeface="Roboto"/>
                <a:ea typeface="Roboto"/>
                <a:cs typeface="Roboto"/>
                <a:sym typeface="Roboto"/>
              </a:rPr>
              <a:t>This dashboard evaluates revenue contribution, user trends, and effectiveness across communication channels to identify top-performing channels and overall business momentum.</a:t>
            </a:r>
            <a:endParaRPr sz="900">
              <a:solidFill>
                <a:schemeClr val="dk1"/>
              </a:solidFill>
              <a:latin typeface="Roboto"/>
              <a:ea typeface="Roboto"/>
              <a:cs typeface="Roboto"/>
              <a:sym typeface="Roboto"/>
            </a:endParaRPr>
          </a:p>
          <a:p>
            <a:pPr indent="0" lvl="0" marL="171450" rtl="0" algn="just">
              <a:spcBef>
                <a:spcPts val="0"/>
              </a:spcBef>
              <a:spcAft>
                <a:spcPts val="0"/>
              </a:spcAft>
              <a:buNone/>
            </a:pPr>
            <a:r>
              <a:t/>
            </a:r>
            <a:endParaRPr sz="900">
              <a:solidFill>
                <a:schemeClr val="dk1"/>
              </a:solidFill>
              <a:latin typeface="Roboto"/>
              <a:ea typeface="Roboto"/>
              <a:cs typeface="Roboto"/>
              <a:sym typeface="Roboto"/>
            </a:endParaRPr>
          </a:p>
          <a:p>
            <a:pPr indent="-177800" lvl="0" marL="171450" rtl="0" algn="just">
              <a:spcBef>
                <a:spcPts val="0"/>
              </a:spcBef>
              <a:spcAft>
                <a:spcPts val="0"/>
              </a:spcAft>
              <a:buClr>
                <a:schemeClr val="dk1"/>
              </a:buClr>
              <a:buSzPts val="1000"/>
              <a:buFont typeface="Roboto"/>
              <a:buChar char="●"/>
            </a:pPr>
            <a:r>
              <a:rPr b="1" lang="en" sz="1000">
                <a:solidFill>
                  <a:schemeClr val="dk1"/>
                </a:solidFill>
                <a:latin typeface="Roboto"/>
                <a:ea typeface="Roboto"/>
                <a:cs typeface="Roboto"/>
                <a:sym typeface="Roboto"/>
              </a:rPr>
              <a:t>Understand traffic behavior and peak usage patterns</a:t>
            </a:r>
            <a:endParaRPr b="1" sz="1000">
              <a:solidFill>
                <a:schemeClr val="dk1"/>
              </a:solidFill>
              <a:latin typeface="Roboto"/>
              <a:ea typeface="Roboto"/>
              <a:cs typeface="Roboto"/>
              <a:sym typeface="Roboto"/>
            </a:endParaRPr>
          </a:p>
          <a:p>
            <a:pPr indent="0" lvl="0" marL="171450" rtl="0" algn="just">
              <a:spcBef>
                <a:spcPts val="0"/>
              </a:spcBef>
              <a:spcAft>
                <a:spcPts val="0"/>
              </a:spcAft>
              <a:buNone/>
            </a:pPr>
            <a:r>
              <a:rPr lang="en" sz="900">
                <a:solidFill>
                  <a:schemeClr val="dk1"/>
                </a:solidFill>
                <a:latin typeface="Roboto"/>
                <a:ea typeface="Roboto"/>
                <a:cs typeface="Roboto"/>
                <a:sym typeface="Roboto"/>
              </a:rPr>
              <a:t>This dashboard supports operational planning, traffic optimization, and system readiness based on user activity patterns.</a:t>
            </a:r>
            <a:endParaRPr sz="900">
              <a:solidFill>
                <a:schemeClr val="dk1"/>
              </a:solidFill>
              <a:latin typeface="Roboto"/>
              <a:ea typeface="Roboto"/>
              <a:cs typeface="Roboto"/>
              <a:sym typeface="Roboto"/>
            </a:endParaRPr>
          </a:p>
          <a:p>
            <a:pPr indent="0" lvl="0" marL="171450" rtl="0" algn="just">
              <a:spcBef>
                <a:spcPts val="0"/>
              </a:spcBef>
              <a:spcAft>
                <a:spcPts val="0"/>
              </a:spcAft>
              <a:buNone/>
            </a:pPr>
            <a:r>
              <a:t/>
            </a:r>
            <a:endParaRPr sz="900">
              <a:solidFill>
                <a:schemeClr val="dk1"/>
              </a:solidFill>
              <a:latin typeface="Roboto"/>
              <a:ea typeface="Roboto"/>
              <a:cs typeface="Roboto"/>
              <a:sym typeface="Roboto"/>
            </a:endParaRPr>
          </a:p>
          <a:p>
            <a:pPr indent="-177800" lvl="0" marL="171450" rtl="0" algn="just">
              <a:spcBef>
                <a:spcPts val="0"/>
              </a:spcBef>
              <a:spcAft>
                <a:spcPts val="0"/>
              </a:spcAft>
              <a:buClr>
                <a:schemeClr val="dk1"/>
              </a:buClr>
              <a:buSzPts val="1000"/>
              <a:buFont typeface="Roboto"/>
              <a:buChar char="●"/>
            </a:pPr>
            <a:r>
              <a:rPr b="1" lang="en" sz="1000">
                <a:solidFill>
                  <a:schemeClr val="dk1"/>
                </a:solidFill>
                <a:latin typeface="Roboto"/>
                <a:ea typeface="Roboto"/>
                <a:cs typeface="Roboto"/>
                <a:sym typeface="Roboto"/>
              </a:rPr>
              <a:t>Monitor user engagement and churn risk</a:t>
            </a:r>
            <a:endParaRPr b="1" sz="1000">
              <a:solidFill>
                <a:schemeClr val="dk1"/>
              </a:solidFill>
              <a:latin typeface="Roboto"/>
              <a:ea typeface="Roboto"/>
              <a:cs typeface="Roboto"/>
              <a:sym typeface="Roboto"/>
            </a:endParaRPr>
          </a:p>
          <a:p>
            <a:pPr indent="0" lvl="0" marL="171450" rtl="0" algn="just">
              <a:spcBef>
                <a:spcPts val="0"/>
              </a:spcBef>
              <a:spcAft>
                <a:spcPts val="0"/>
              </a:spcAft>
              <a:buNone/>
            </a:pPr>
            <a:r>
              <a:rPr lang="en" sz="900">
                <a:solidFill>
                  <a:schemeClr val="dk1"/>
                </a:solidFill>
                <a:latin typeface="Roboto"/>
                <a:ea typeface="Roboto"/>
                <a:cs typeface="Roboto"/>
                <a:sym typeface="Roboto"/>
              </a:rPr>
              <a:t>This dashboard helps identify </a:t>
            </a:r>
            <a:r>
              <a:rPr b="1" lang="en" sz="900">
                <a:solidFill>
                  <a:schemeClr val="dk1"/>
                </a:solidFill>
                <a:latin typeface="Roboto"/>
                <a:ea typeface="Roboto"/>
                <a:cs typeface="Roboto"/>
                <a:sym typeface="Roboto"/>
              </a:rPr>
              <a:t>retention risks and churn-prone users</a:t>
            </a:r>
            <a:r>
              <a:rPr lang="en" sz="900">
                <a:solidFill>
                  <a:schemeClr val="dk1"/>
                </a:solidFill>
                <a:latin typeface="Roboto"/>
                <a:ea typeface="Roboto"/>
                <a:cs typeface="Roboto"/>
                <a:sym typeface="Roboto"/>
              </a:rPr>
              <a:t> to support proactive engagement and account management strategies.</a:t>
            </a:r>
            <a:endParaRPr b="1" sz="800">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6"/>
          <p:cNvSpPr/>
          <p:nvPr/>
        </p:nvSpPr>
        <p:spPr>
          <a:xfrm>
            <a:off x="3159396" y="2400438"/>
            <a:ext cx="475800" cy="475800"/>
          </a:xfrm>
          <a:prstGeom prst="ellipse">
            <a:avLst/>
          </a:prstGeom>
          <a:solidFill>
            <a:srgbClr val="FFFFFF">
              <a:alpha val="36080"/>
            </a:srgbClr>
          </a:solidFill>
          <a:ln>
            <a:noFill/>
          </a:ln>
        </p:spPr>
        <p:txBody>
          <a:bodyPr anchorCtr="0" anchor="ctr" bIns="67950" lIns="67950" spcFirstLastPara="1" rIns="67950" wrap="square" tIns="67950">
            <a:noAutofit/>
          </a:bodyPr>
          <a:lstStyle/>
          <a:p>
            <a:pPr indent="0" lvl="0" marL="0" rtl="0" algn="l">
              <a:spcBef>
                <a:spcPts val="0"/>
              </a:spcBef>
              <a:spcAft>
                <a:spcPts val="0"/>
              </a:spcAft>
              <a:buNone/>
            </a:pPr>
            <a:r>
              <a:t/>
            </a:r>
            <a:endParaRPr sz="1040">
              <a:solidFill>
                <a:schemeClr val="lt1"/>
              </a:solidFill>
            </a:endParaRPr>
          </a:p>
        </p:txBody>
      </p:sp>
      <p:sp>
        <p:nvSpPr>
          <p:cNvPr id="308" name="Google Shape;308;p36"/>
          <p:cNvSpPr/>
          <p:nvPr/>
        </p:nvSpPr>
        <p:spPr>
          <a:xfrm>
            <a:off x="7126901" y="2397171"/>
            <a:ext cx="475800" cy="475800"/>
          </a:xfrm>
          <a:prstGeom prst="ellipse">
            <a:avLst/>
          </a:prstGeom>
          <a:solidFill>
            <a:srgbClr val="FFFFFF">
              <a:alpha val="36080"/>
            </a:srgbClr>
          </a:solidFill>
          <a:ln>
            <a:noFill/>
          </a:ln>
        </p:spPr>
        <p:txBody>
          <a:bodyPr anchorCtr="0" anchor="ctr" bIns="67950" lIns="67950" spcFirstLastPara="1" rIns="67950" wrap="square" tIns="67950">
            <a:noAutofit/>
          </a:bodyPr>
          <a:lstStyle/>
          <a:p>
            <a:pPr indent="0" lvl="0" marL="0" rtl="0" algn="l">
              <a:spcBef>
                <a:spcPts val="0"/>
              </a:spcBef>
              <a:spcAft>
                <a:spcPts val="0"/>
              </a:spcAft>
              <a:buNone/>
            </a:pPr>
            <a:r>
              <a:t/>
            </a:r>
            <a:endParaRPr sz="1040">
              <a:solidFill>
                <a:schemeClr val="lt1"/>
              </a:solidFill>
            </a:endParaRPr>
          </a:p>
        </p:txBody>
      </p:sp>
      <p:sp>
        <p:nvSpPr>
          <p:cNvPr id="309" name="Google Shape;309;p36"/>
          <p:cNvSpPr/>
          <p:nvPr/>
        </p:nvSpPr>
        <p:spPr>
          <a:xfrm>
            <a:off x="5061245" y="2403574"/>
            <a:ext cx="475800" cy="475800"/>
          </a:xfrm>
          <a:prstGeom prst="ellipse">
            <a:avLst/>
          </a:prstGeom>
          <a:solidFill>
            <a:srgbClr val="FFFFFF">
              <a:alpha val="36080"/>
            </a:srgbClr>
          </a:solidFill>
          <a:ln>
            <a:noFill/>
          </a:ln>
        </p:spPr>
        <p:txBody>
          <a:bodyPr anchorCtr="0" anchor="ctr" bIns="67950" lIns="67950" spcFirstLastPara="1" rIns="67950" wrap="square" tIns="67950">
            <a:noAutofit/>
          </a:bodyPr>
          <a:lstStyle/>
          <a:p>
            <a:pPr indent="0" lvl="0" marL="0" rtl="0" algn="l">
              <a:spcBef>
                <a:spcPts val="0"/>
              </a:spcBef>
              <a:spcAft>
                <a:spcPts val="0"/>
              </a:spcAft>
              <a:buNone/>
            </a:pPr>
            <a:r>
              <a:t/>
            </a:r>
            <a:endParaRPr sz="1040">
              <a:solidFill>
                <a:schemeClr val="lt1"/>
              </a:solidFill>
            </a:endParaRPr>
          </a:p>
        </p:txBody>
      </p:sp>
      <p:sp>
        <p:nvSpPr>
          <p:cNvPr id="310" name="Google Shape;310;p36"/>
          <p:cNvSpPr/>
          <p:nvPr/>
        </p:nvSpPr>
        <p:spPr>
          <a:xfrm>
            <a:off x="1275076" y="2400455"/>
            <a:ext cx="475800" cy="475800"/>
          </a:xfrm>
          <a:prstGeom prst="ellipse">
            <a:avLst/>
          </a:prstGeom>
          <a:solidFill>
            <a:srgbClr val="FFFFFF">
              <a:alpha val="36080"/>
            </a:srgbClr>
          </a:solidFill>
          <a:ln>
            <a:noFill/>
          </a:ln>
        </p:spPr>
        <p:txBody>
          <a:bodyPr anchorCtr="0" anchor="ctr" bIns="67950" lIns="67950" spcFirstLastPara="1" rIns="67950" wrap="square" tIns="67950">
            <a:noAutofit/>
          </a:bodyPr>
          <a:lstStyle/>
          <a:p>
            <a:pPr indent="0" lvl="0" marL="0" rtl="0" algn="l">
              <a:spcBef>
                <a:spcPts val="0"/>
              </a:spcBef>
              <a:spcAft>
                <a:spcPts val="0"/>
              </a:spcAft>
              <a:buNone/>
            </a:pPr>
            <a:r>
              <a:t/>
            </a:r>
            <a:endParaRPr sz="1040">
              <a:solidFill>
                <a:schemeClr val="lt1"/>
              </a:solidFill>
            </a:endParaRPr>
          </a:p>
        </p:txBody>
      </p:sp>
      <p:sp>
        <p:nvSpPr>
          <p:cNvPr id="311" name="Google Shape;311;p36"/>
          <p:cNvSpPr txBox="1"/>
          <p:nvPr>
            <p:ph idx="6" type="title"/>
          </p:nvPr>
        </p:nvSpPr>
        <p:spPr>
          <a:xfrm>
            <a:off x="716100" y="1289472"/>
            <a:ext cx="7711800" cy="547500"/>
          </a:xfrm>
          <a:prstGeom prst="rect">
            <a:avLst/>
          </a:prstGeom>
        </p:spPr>
        <p:txBody>
          <a:bodyPr anchorCtr="0" anchor="t" bIns="91425" lIns="731500" spcFirstLastPara="1" rIns="731500" wrap="square" tIns="91425">
            <a:noAutofit/>
          </a:bodyPr>
          <a:lstStyle/>
          <a:p>
            <a:pPr indent="0" lvl="0" marL="0" rtl="0" algn="ctr">
              <a:spcBef>
                <a:spcPts val="0"/>
              </a:spcBef>
              <a:spcAft>
                <a:spcPts val="0"/>
              </a:spcAft>
              <a:buNone/>
            </a:pPr>
            <a:r>
              <a:rPr lang="en" sz="2400">
                <a:latin typeface="Roboto"/>
                <a:ea typeface="Roboto"/>
                <a:cs typeface="Roboto"/>
                <a:sym typeface="Roboto"/>
              </a:rPr>
              <a:t>Methodology</a:t>
            </a:r>
            <a:endParaRPr sz="2400">
              <a:latin typeface="Roboto"/>
              <a:ea typeface="Roboto"/>
              <a:cs typeface="Roboto"/>
              <a:sym typeface="Roboto"/>
            </a:endParaRPr>
          </a:p>
        </p:txBody>
      </p:sp>
      <p:sp>
        <p:nvSpPr>
          <p:cNvPr id="312" name="Google Shape;312;p36"/>
          <p:cNvSpPr txBox="1"/>
          <p:nvPr>
            <p:ph idx="3" type="subTitle"/>
          </p:nvPr>
        </p:nvSpPr>
        <p:spPr>
          <a:xfrm flipH="1">
            <a:off x="2628096" y="3389179"/>
            <a:ext cx="1538400" cy="407700"/>
          </a:xfrm>
          <a:prstGeom prst="rect">
            <a:avLst/>
          </a:prstGeom>
        </p:spPr>
        <p:txBody>
          <a:bodyPr anchorCtr="0" anchor="t" bIns="67950" lIns="67950" spcFirstLastPara="1" rIns="67950" wrap="square" tIns="67950">
            <a:noAutofit/>
          </a:bodyPr>
          <a:lstStyle/>
          <a:p>
            <a:pPr indent="0" lvl="0" marL="0" rtl="0" algn="ctr">
              <a:spcBef>
                <a:spcPts val="0"/>
              </a:spcBef>
              <a:spcAft>
                <a:spcPts val="0"/>
              </a:spcAft>
              <a:buNone/>
            </a:pPr>
            <a:r>
              <a:rPr lang="en" sz="944">
                <a:latin typeface="Roboto"/>
                <a:ea typeface="Roboto"/>
                <a:cs typeface="Roboto"/>
                <a:sym typeface="Roboto"/>
              </a:rPr>
              <a:t>Collecting data and ensuring data quality with SQL</a:t>
            </a:r>
            <a:endParaRPr sz="944">
              <a:latin typeface="Roboto"/>
              <a:ea typeface="Roboto"/>
              <a:cs typeface="Roboto"/>
              <a:sym typeface="Roboto"/>
            </a:endParaRPr>
          </a:p>
          <a:p>
            <a:pPr indent="0" lvl="0" marL="0" rtl="0" algn="ctr">
              <a:spcBef>
                <a:spcPts val="1374"/>
              </a:spcBef>
              <a:spcAft>
                <a:spcPts val="0"/>
              </a:spcAft>
              <a:buNone/>
            </a:pPr>
            <a:r>
              <a:t/>
            </a:r>
            <a:endParaRPr sz="1040">
              <a:latin typeface="Roboto"/>
              <a:ea typeface="Roboto"/>
              <a:cs typeface="Roboto"/>
              <a:sym typeface="Roboto"/>
            </a:endParaRPr>
          </a:p>
        </p:txBody>
      </p:sp>
      <p:sp>
        <p:nvSpPr>
          <p:cNvPr id="313" name="Google Shape;313;p36"/>
          <p:cNvSpPr txBox="1"/>
          <p:nvPr>
            <p:ph type="title"/>
          </p:nvPr>
        </p:nvSpPr>
        <p:spPr>
          <a:xfrm>
            <a:off x="710525" y="3183800"/>
            <a:ext cx="1578900" cy="271800"/>
          </a:xfrm>
          <a:prstGeom prst="rect">
            <a:avLst/>
          </a:prstGeom>
        </p:spPr>
        <p:txBody>
          <a:bodyPr anchorCtr="0" anchor="b" bIns="67950" lIns="67950" spcFirstLastPara="1" rIns="67950" wrap="square" tIns="67950">
            <a:noAutofit/>
          </a:bodyPr>
          <a:lstStyle/>
          <a:p>
            <a:pPr indent="0" lvl="0" marL="0" rtl="0" algn="ctr">
              <a:spcBef>
                <a:spcPts val="0"/>
              </a:spcBef>
              <a:spcAft>
                <a:spcPts val="0"/>
              </a:spcAft>
              <a:buNone/>
            </a:pPr>
            <a:r>
              <a:rPr lang="en" sz="1635">
                <a:latin typeface="Roboto"/>
                <a:ea typeface="Roboto"/>
                <a:cs typeface="Roboto"/>
                <a:sym typeface="Roboto"/>
              </a:rPr>
              <a:t>Business Understanding</a:t>
            </a:r>
            <a:endParaRPr sz="1635">
              <a:latin typeface="Roboto"/>
              <a:ea typeface="Roboto"/>
              <a:cs typeface="Roboto"/>
              <a:sym typeface="Roboto"/>
            </a:endParaRPr>
          </a:p>
        </p:txBody>
      </p:sp>
      <p:sp>
        <p:nvSpPr>
          <p:cNvPr id="314" name="Google Shape;314;p36"/>
          <p:cNvSpPr txBox="1"/>
          <p:nvPr>
            <p:ph idx="1" type="subTitle"/>
          </p:nvPr>
        </p:nvSpPr>
        <p:spPr>
          <a:xfrm>
            <a:off x="450289" y="3380092"/>
            <a:ext cx="2125500" cy="407700"/>
          </a:xfrm>
          <a:prstGeom prst="rect">
            <a:avLst/>
          </a:prstGeom>
        </p:spPr>
        <p:txBody>
          <a:bodyPr anchorCtr="0" anchor="t" bIns="67950" lIns="67950" spcFirstLastPara="1" rIns="67950" wrap="square" tIns="67950">
            <a:noAutofit/>
          </a:bodyPr>
          <a:lstStyle/>
          <a:p>
            <a:pPr indent="0" lvl="0" marL="0" rtl="0" algn="ctr">
              <a:spcBef>
                <a:spcPts val="0"/>
              </a:spcBef>
              <a:spcAft>
                <a:spcPts val="0"/>
              </a:spcAft>
              <a:buNone/>
            </a:pPr>
            <a:r>
              <a:rPr lang="en" sz="944">
                <a:latin typeface="Roboto"/>
                <a:ea typeface="Roboto"/>
                <a:cs typeface="Roboto"/>
                <a:sym typeface="Roboto"/>
              </a:rPr>
              <a:t>Understanding business problems, setting objectives, and project scope</a:t>
            </a:r>
            <a:endParaRPr sz="944">
              <a:latin typeface="Roboto"/>
              <a:ea typeface="Roboto"/>
              <a:cs typeface="Roboto"/>
              <a:sym typeface="Roboto"/>
            </a:endParaRPr>
          </a:p>
          <a:p>
            <a:pPr indent="0" lvl="0" marL="0" rtl="0" algn="ctr">
              <a:spcBef>
                <a:spcPts val="1374"/>
              </a:spcBef>
              <a:spcAft>
                <a:spcPts val="0"/>
              </a:spcAft>
              <a:buNone/>
            </a:pPr>
            <a:r>
              <a:t/>
            </a:r>
            <a:endParaRPr sz="1040">
              <a:latin typeface="Roboto"/>
              <a:ea typeface="Roboto"/>
              <a:cs typeface="Roboto"/>
              <a:sym typeface="Roboto"/>
            </a:endParaRPr>
          </a:p>
        </p:txBody>
      </p:sp>
      <p:sp>
        <p:nvSpPr>
          <p:cNvPr id="315" name="Google Shape;315;p36"/>
          <p:cNvSpPr txBox="1"/>
          <p:nvPr>
            <p:ph idx="2" type="title"/>
          </p:nvPr>
        </p:nvSpPr>
        <p:spPr>
          <a:xfrm flipH="1">
            <a:off x="2628176" y="3192875"/>
            <a:ext cx="1538400" cy="271800"/>
          </a:xfrm>
          <a:prstGeom prst="rect">
            <a:avLst/>
          </a:prstGeom>
        </p:spPr>
        <p:txBody>
          <a:bodyPr anchorCtr="0" anchor="b" bIns="67950" lIns="67950" spcFirstLastPara="1" rIns="67950" wrap="square" tIns="67950">
            <a:noAutofit/>
          </a:bodyPr>
          <a:lstStyle/>
          <a:p>
            <a:pPr indent="0" lvl="0" marL="0" rtl="0" algn="ctr">
              <a:spcBef>
                <a:spcPts val="0"/>
              </a:spcBef>
              <a:spcAft>
                <a:spcPts val="0"/>
              </a:spcAft>
              <a:buNone/>
            </a:pPr>
            <a:r>
              <a:rPr lang="en" sz="1635">
                <a:latin typeface="Roboto"/>
                <a:ea typeface="Roboto"/>
                <a:cs typeface="Roboto"/>
                <a:sym typeface="Roboto"/>
              </a:rPr>
              <a:t>Data Processing</a:t>
            </a:r>
            <a:endParaRPr sz="1635">
              <a:latin typeface="Roboto"/>
              <a:ea typeface="Roboto"/>
              <a:cs typeface="Roboto"/>
              <a:sym typeface="Roboto"/>
            </a:endParaRPr>
          </a:p>
        </p:txBody>
      </p:sp>
      <p:sp>
        <p:nvSpPr>
          <p:cNvPr id="316" name="Google Shape;316;p36"/>
          <p:cNvSpPr txBox="1"/>
          <p:nvPr>
            <p:ph idx="7" type="title"/>
          </p:nvPr>
        </p:nvSpPr>
        <p:spPr>
          <a:xfrm>
            <a:off x="4236457" y="2989708"/>
            <a:ext cx="2125500" cy="271800"/>
          </a:xfrm>
          <a:prstGeom prst="rect">
            <a:avLst/>
          </a:prstGeom>
        </p:spPr>
        <p:txBody>
          <a:bodyPr anchorCtr="0" anchor="b" bIns="67950" lIns="67950" spcFirstLastPara="1" rIns="67950" wrap="square" tIns="67950">
            <a:noAutofit/>
          </a:bodyPr>
          <a:lstStyle/>
          <a:p>
            <a:pPr indent="0" lvl="0" marL="0" rtl="0" algn="ctr">
              <a:spcBef>
                <a:spcPts val="0"/>
              </a:spcBef>
              <a:spcAft>
                <a:spcPts val="0"/>
              </a:spcAft>
              <a:buNone/>
            </a:pPr>
            <a:r>
              <a:rPr lang="en" sz="1635"/>
              <a:t>Analyst</a:t>
            </a:r>
            <a:endParaRPr sz="1635"/>
          </a:p>
        </p:txBody>
      </p:sp>
      <p:sp>
        <p:nvSpPr>
          <p:cNvPr id="317" name="Google Shape;317;p36"/>
          <p:cNvSpPr txBox="1"/>
          <p:nvPr>
            <p:ph idx="8" type="subTitle"/>
          </p:nvPr>
        </p:nvSpPr>
        <p:spPr>
          <a:xfrm>
            <a:off x="4366213" y="3186925"/>
            <a:ext cx="1866000" cy="407700"/>
          </a:xfrm>
          <a:prstGeom prst="rect">
            <a:avLst/>
          </a:prstGeom>
        </p:spPr>
        <p:txBody>
          <a:bodyPr anchorCtr="0" anchor="t" bIns="67950" lIns="67950" spcFirstLastPara="1" rIns="67950" wrap="square" tIns="67950">
            <a:noAutofit/>
          </a:bodyPr>
          <a:lstStyle/>
          <a:p>
            <a:pPr indent="0" lvl="0" marL="0" rtl="0" algn="ctr">
              <a:spcBef>
                <a:spcPts val="0"/>
              </a:spcBef>
              <a:spcAft>
                <a:spcPts val="0"/>
              </a:spcAft>
              <a:buNone/>
            </a:pPr>
            <a:r>
              <a:rPr lang="en" sz="944">
                <a:latin typeface="Roboto"/>
                <a:ea typeface="Roboto"/>
                <a:cs typeface="Roboto"/>
                <a:sym typeface="Roboto"/>
              </a:rPr>
              <a:t>Performing data analysis to generate insights with pyt</a:t>
            </a:r>
            <a:r>
              <a:rPr lang="en" sz="944">
                <a:latin typeface="Roboto"/>
                <a:ea typeface="Roboto"/>
                <a:cs typeface="Roboto"/>
                <a:sym typeface="Roboto"/>
              </a:rPr>
              <a:t>hon and Tableau</a:t>
            </a:r>
            <a:endParaRPr sz="944">
              <a:latin typeface="Roboto"/>
              <a:ea typeface="Roboto"/>
              <a:cs typeface="Roboto"/>
              <a:sym typeface="Roboto"/>
            </a:endParaRPr>
          </a:p>
          <a:p>
            <a:pPr indent="0" lvl="0" marL="0" rtl="0" algn="ctr">
              <a:spcBef>
                <a:spcPts val="1374"/>
              </a:spcBef>
              <a:spcAft>
                <a:spcPts val="0"/>
              </a:spcAft>
              <a:buNone/>
            </a:pPr>
            <a:r>
              <a:t/>
            </a:r>
            <a:endParaRPr sz="1040">
              <a:latin typeface="Roboto"/>
              <a:ea typeface="Roboto"/>
              <a:cs typeface="Roboto"/>
              <a:sym typeface="Roboto"/>
            </a:endParaRPr>
          </a:p>
        </p:txBody>
      </p:sp>
      <p:sp>
        <p:nvSpPr>
          <p:cNvPr id="318" name="Google Shape;318;p36"/>
          <p:cNvSpPr txBox="1"/>
          <p:nvPr>
            <p:ph idx="9" type="title"/>
          </p:nvPr>
        </p:nvSpPr>
        <p:spPr>
          <a:xfrm flipH="1">
            <a:off x="6364999" y="2983300"/>
            <a:ext cx="1999500" cy="271800"/>
          </a:xfrm>
          <a:prstGeom prst="rect">
            <a:avLst/>
          </a:prstGeom>
        </p:spPr>
        <p:txBody>
          <a:bodyPr anchorCtr="0" anchor="b" bIns="67950" lIns="67950" spcFirstLastPara="1" rIns="67950" wrap="square" tIns="67950">
            <a:noAutofit/>
          </a:bodyPr>
          <a:lstStyle/>
          <a:p>
            <a:pPr indent="0" lvl="0" marL="0" rtl="0" algn="ctr">
              <a:spcBef>
                <a:spcPts val="0"/>
              </a:spcBef>
              <a:spcAft>
                <a:spcPts val="0"/>
              </a:spcAft>
              <a:buNone/>
            </a:pPr>
            <a:r>
              <a:rPr lang="en" sz="1635"/>
              <a:t>Data Visualization</a:t>
            </a:r>
            <a:endParaRPr sz="1635"/>
          </a:p>
        </p:txBody>
      </p:sp>
      <p:sp>
        <p:nvSpPr>
          <p:cNvPr id="319" name="Google Shape;319;p36"/>
          <p:cNvSpPr txBox="1"/>
          <p:nvPr>
            <p:ph idx="13" type="subTitle"/>
          </p:nvPr>
        </p:nvSpPr>
        <p:spPr>
          <a:xfrm flipH="1">
            <a:off x="6431925" y="3166125"/>
            <a:ext cx="1866000" cy="687900"/>
          </a:xfrm>
          <a:prstGeom prst="rect">
            <a:avLst/>
          </a:prstGeom>
        </p:spPr>
        <p:txBody>
          <a:bodyPr anchorCtr="0" anchor="t" bIns="67950" lIns="67950" spcFirstLastPara="1" rIns="67950" wrap="square" tIns="67950">
            <a:noAutofit/>
          </a:bodyPr>
          <a:lstStyle/>
          <a:p>
            <a:pPr indent="0" lvl="0" marL="0" rtl="0" algn="ctr">
              <a:spcBef>
                <a:spcPts val="0"/>
              </a:spcBef>
              <a:spcAft>
                <a:spcPts val="0"/>
              </a:spcAft>
              <a:buNone/>
            </a:pPr>
            <a:r>
              <a:rPr lang="en" sz="944">
                <a:latin typeface="Roboto"/>
                <a:ea typeface="Roboto"/>
                <a:cs typeface="Roboto"/>
                <a:sym typeface="Roboto"/>
              </a:rPr>
              <a:t>Interpret and immerse the insight into domain knowledge by using chart in Python or Tableau</a:t>
            </a:r>
            <a:endParaRPr sz="1040">
              <a:latin typeface="Roboto"/>
              <a:ea typeface="Roboto"/>
              <a:cs typeface="Roboto"/>
              <a:sym typeface="Roboto"/>
            </a:endParaRPr>
          </a:p>
        </p:txBody>
      </p:sp>
      <p:sp>
        <p:nvSpPr>
          <p:cNvPr id="320" name="Google Shape;320;p36"/>
          <p:cNvSpPr txBox="1"/>
          <p:nvPr>
            <p:ph idx="4" type="title"/>
          </p:nvPr>
        </p:nvSpPr>
        <p:spPr>
          <a:xfrm>
            <a:off x="1239958" y="2451516"/>
            <a:ext cx="546000" cy="373800"/>
          </a:xfrm>
          <a:prstGeom prst="rect">
            <a:avLst/>
          </a:prstGeom>
        </p:spPr>
        <p:txBody>
          <a:bodyPr anchorCtr="0" anchor="b" bIns="67950" lIns="67950" spcFirstLastPara="1" rIns="67950" wrap="square" tIns="67950">
            <a:noAutofit/>
          </a:bodyPr>
          <a:lstStyle/>
          <a:p>
            <a:pPr indent="0" lvl="0" marL="0" rtl="0" algn="ctr">
              <a:spcBef>
                <a:spcPts val="0"/>
              </a:spcBef>
              <a:spcAft>
                <a:spcPts val="0"/>
              </a:spcAft>
              <a:buNone/>
            </a:pPr>
            <a:r>
              <a:rPr lang="en" sz="1858"/>
              <a:t>01</a:t>
            </a:r>
            <a:endParaRPr sz="1858"/>
          </a:p>
        </p:txBody>
      </p:sp>
      <p:sp>
        <p:nvSpPr>
          <p:cNvPr id="321" name="Google Shape;321;p36"/>
          <p:cNvSpPr txBox="1"/>
          <p:nvPr>
            <p:ph idx="14" type="title"/>
          </p:nvPr>
        </p:nvSpPr>
        <p:spPr>
          <a:xfrm>
            <a:off x="5026126" y="2454635"/>
            <a:ext cx="546000" cy="373800"/>
          </a:xfrm>
          <a:prstGeom prst="rect">
            <a:avLst/>
          </a:prstGeom>
        </p:spPr>
        <p:txBody>
          <a:bodyPr anchorCtr="0" anchor="b" bIns="67950" lIns="67950" spcFirstLastPara="1" rIns="67950" wrap="square" tIns="67950">
            <a:noAutofit/>
          </a:bodyPr>
          <a:lstStyle/>
          <a:p>
            <a:pPr indent="0" lvl="0" marL="0" rtl="0" algn="ctr">
              <a:spcBef>
                <a:spcPts val="0"/>
              </a:spcBef>
              <a:spcAft>
                <a:spcPts val="0"/>
              </a:spcAft>
              <a:buNone/>
            </a:pPr>
            <a:r>
              <a:rPr lang="en" sz="1858"/>
              <a:t>03</a:t>
            </a:r>
            <a:endParaRPr sz="1858"/>
          </a:p>
        </p:txBody>
      </p:sp>
      <p:sp>
        <p:nvSpPr>
          <p:cNvPr id="322" name="Google Shape;322;p36"/>
          <p:cNvSpPr txBox="1"/>
          <p:nvPr>
            <p:ph idx="5" type="title"/>
          </p:nvPr>
        </p:nvSpPr>
        <p:spPr>
          <a:xfrm flipH="1">
            <a:off x="3124345" y="2451500"/>
            <a:ext cx="546000" cy="373800"/>
          </a:xfrm>
          <a:prstGeom prst="rect">
            <a:avLst/>
          </a:prstGeom>
        </p:spPr>
        <p:txBody>
          <a:bodyPr anchorCtr="0" anchor="b" bIns="67950" lIns="67950" spcFirstLastPara="1" rIns="67950" wrap="square" tIns="67950">
            <a:noAutofit/>
          </a:bodyPr>
          <a:lstStyle/>
          <a:p>
            <a:pPr indent="0" lvl="0" marL="0" rtl="0" algn="ctr">
              <a:spcBef>
                <a:spcPts val="0"/>
              </a:spcBef>
              <a:spcAft>
                <a:spcPts val="0"/>
              </a:spcAft>
              <a:buNone/>
            </a:pPr>
            <a:r>
              <a:rPr lang="en" sz="1858"/>
              <a:t>02</a:t>
            </a:r>
            <a:endParaRPr sz="1858"/>
          </a:p>
        </p:txBody>
      </p:sp>
      <p:sp>
        <p:nvSpPr>
          <p:cNvPr id="323" name="Google Shape;323;p36"/>
          <p:cNvSpPr txBox="1"/>
          <p:nvPr>
            <p:ph idx="15" type="title"/>
          </p:nvPr>
        </p:nvSpPr>
        <p:spPr>
          <a:xfrm flipH="1">
            <a:off x="7091850" y="2448233"/>
            <a:ext cx="546000" cy="373800"/>
          </a:xfrm>
          <a:prstGeom prst="rect">
            <a:avLst/>
          </a:prstGeom>
        </p:spPr>
        <p:txBody>
          <a:bodyPr anchorCtr="0" anchor="b" bIns="67950" lIns="67950" spcFirstLastPara="1" rIns="67950" wrap="square" tIns="67950">
            <a:noAutofit/>
          </a:bodyPr>
          <a:lstStyle/>
          <a:p>
            <a:pPr indent="0" lvl="0" marL="0" rtl="0" algn="ctr">
              <a:spcBef>
                <a:spcPts val="0"/>
              </a:spcBef>
              <a:spcAft>
                <a:spcPts val="0"/>
              </a:spcAft>
              <a:buNone/>
            </a:pPr>
            <a:r>
              <a:rPr lang="en" sz="1858"/>
              <a:t>04</a:t>
            </a:r>
            <a:endParaRPr sz="1858"/>
          </a:p>
        </p:txBody>
      </p:sp>
      <p:sp>
        <p:nvSpPr>
          <p:cNvPr id="324" name="Google Shape;324;p36"/>
          <p:cNvSpPr/>
          <p:nvPr/>
        </p:nvSpPr>
        <p:spPr>
          <a:xfrm>
            <a:off x="-25" y="4737050"/>
            <a:ext cx="9144000" cy="320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325" name="Google Shape;325;p36"/>
          <p:cNvSpPr txBox="1"/>
          <p:nvPr>
            <p:ph idx="3" type="subTitle"/>
          </p:nvPr>
        </p:nvSpPr>
        <p:spPr>
          <a:xfrm>
            <a:off x="379200" y="4718275"/>
            <a:ext cx="8385600" cy="31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Roboto"/>
                <a:ea typeface="Roboto"/>
                <a:cs typeface="Roboto"/>
                <a:sym typeface="Roboto"/>
              </a:rPr>
              <a:t>“The data shown has been adjusted for educational purposes and does not reflect the company’s actual business conditions.”</a:t>
            </a:r>
            <a:endParaRPr b="1" sz="1000">
              <a:solidFill>
                <a:schemeClr val="dk1"/>
              </a:solidFill>
              <a:latin typeface="Roboto"/>
              <a:ea typeface="Roboto"/>
              <a:cs typeface="Roboto"/>
              <a:sym typeface="Roboto"/>
            </a:endParaRPr>
          </a:p>
          <a:p>
            <a:pPr indent="0" lvl="0" marL="0" rtl="0" algn="ctr">
              <a:spcBef>
                <a:spcPts val="0"/>
              </a:spcBef>
              <a:spcAft>
                <a:spcPts val="0"/>
              </a:spcAft>
              <a:buNone/>
            </a:pPr>
            <a:r>
              <a:t/>
            </a:r>
            <a:endParaRPr b="1" sz="1000">
              <a:solidFill>
                <a:schemeClr val="dk1"/>
              </a:solidFill>
              <a:latin typeface="Roboto"/>
              <a:ea typeface="Roboto"/>
              <a:cs typeface="Roboto"/>
              <a:sym typeface="Roboto"/>
            </a:endParaRPr>
          </a:p>
        </p:txBody>
      </p:sp>
      <p:pic>
        <p:nvPicPr>
          <p:cNvPr id="326" name="Google Shape;326;p36" title="Salinan Logo RevoU x OCA x Telkom.png"/>
          <p:cNvPicPr preferRelativeResize="0"/>
          <p:nvPr/>
        </p:nvPicPr>
        <p:blipFill rotWithShape="1">
          <a:blip r:embed="rId3">
            <a:alphaModFix/>
          </a:blip>
          <a:srcRect b="14850" l="0" r="0" t="17832"/>
          <a:stretch/>
        </p:blipFill>
        <p:spPr>
          <a:xfrm>
            <a:off x="0" y="28023"/>
            <a:ext cx="3300485" cy="822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7"/>
          <p:cNvSpPr/>
          <p:nvPr/>
        </p:nvSpPr>
        <p:spPr>
          <a:xfrm>
            <a:off x="7693825" y="2797500"/>
            <a:ext cx="35600" cy="87750"/>
          </a:xfrm>
          <a:custGeom>
            <a:rect b="b" l="l" r="r" t="t"/>
            <a:pathLst>
              <a:path extrusionOk="0" h="3510" w="1424">
                <a:moveTo>
                  <a:pt x="0" y="0"/>
                </a:moveTo>
                <a:lnTo>
                  <a:pt x="0" y="0"/>
                </a:lnTo>
                <a:lnTo>
                  <a:pt x="0" y="0"/>
                </a:lnTo>
                <a:lnTo>
                  <a:pt x="0" y="0"/>
                </a:lnTo>
                <a:lnTo>
                  <a:pt x="141" y="281"/>
                </a:lnTo>
                <a:lnTo>
                  <a:pt x="321" y="622"/>
                </a:lnTo>
                <a:lnTo>
                  <a:pt x="522" y="1043"/>
                </a:lnTo>
                <a:lnTo>
                  <a:pt x="742" y="1564"/>
                </a:lnTo>
                <a:lnTo>
                  <a:pt x="983" y="2166"/>
                </a:lnTo>
                <a:lnTo>
                  <a:pt x="1203" y="2808"/>
                </a:lnTo>
                <a:lnTo>
                  <a:pt x="1424" y="3510"/>
                </a:lnTo>
                <a:lnTo>
                  <a:pt x="1424" y="3510"/>
                </a:lnTo>
                <a:lnTo>
                  <a:pt x="1203" y="2808"/>
                </a:lnTo>
                <a:lnTo>
                  <a:pt x="983" y="2166"/>
                </a:lnTo>
                <a:lnTo>
                  <a:pt x="742" y="1564"/>
                </a:lnTo>
                <a:lnTo>
                  <a:pt x="522" y="1043"/>
                </a:lnTo>
                <a:lnTo>
                  <a:pt x="321" y="622"/>
                </a:lnTo>
                <a:lnTo>
                  <a:pt x="141" y="281"/>
                </a:lnTo>
                <a:lnTo>
                  <a:pt x="0" y="0"/>
                </a:lnTo>
                <a:lnTo>
                  <a:pt x="0" y="0"/>
                </a:lnTo>
                <a:close/>
              </a:path>
            </a:pathLst>
          </a:custGeom>
          <a:solidFill>
            <a:srgbClr val="FF9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7"/>
          <p:cNvSpPr/>
          <p:nvPr/>
        </p:nvSpPr>
        <p:spPr>
          <a:xfrm rot="10800000">
            <a:off x="7485303" y="138669"/>
            <a:ext cx="1658700" cy="1658700"/>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7"/>
          <p:cNvSpPr/>
          <p:nvPr/>
        </p:nvSpPr>
        <p:spPr>
          <a:xfrm rot="10800000">
            <a:off x="7268586" y="-952428"/>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4" name="Google Shape;334;p37"/>
          <p:cNvPicPr preferRelativeResize="0"/>
          <p:nvPr/>
        </p:nvPicPr>
        <p:blipFill>
          <a:blip r:embed="rId3">
            <a:alphaModFix/>
          </a:blip>
          <a:stretch>
            <a:fillRect/>
          </a:stretch>
        </p:blipFill>
        <p:spPr>
          <a:xfrm>
            <a:off x="3199175" y="863026"/>
            <a:ext cx="4591749" cy="3661126"/>
          </a:xfrm>
          <a:prstGeom prst="rect">
            <a:avLst/>
          </a:prstGeom>
          <a:noFill/>
          <a:ln>
            <a:noFill/>
          </a:ln>
        </p:spPr>
      </p:pic>
      <p:sp>
        <p:nvSpPr>
          <p:cNvPr id="335" name="Google Shape;335;p37"/>
          <p:cNvSpPr txBox="1"/>
          <p:nvPr>
            <p:ph type="title"/>
          </p:nvPr>
        </p:nvSpPr>
        <p:spPr>
          <a:xfrm>
            <a:off x="342875" y="2797488"/>
            <a:ext cx="2856300" cy="68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latin typeface="Roboto"/>
                <a:ea typeface="Roboto"/>
                <a:cs typeface="Roboto"/>
                <a:sym typeface="Roboto"/>
              </a:rPr>
              <a:t>Root Cause Analysis</a:t>
            </a:r>
            <a:endParaRPr sz="2400">
              <a:latin typeface="Roboto"/>
              <a:ea typeface="Roboto"/>
              <a:cs typeface="Roboto"/>
              <a:sym typeface="Roboto"/>
            </a:endParaRPr>
          </a:p>
        </p:txBody>
      </p:sp>
      <p:sp>
        <p:nvSpPr>
          <p:cNvPr id="336" name="Google Shape;336;p37"/>
          <p:cNvSpPr/>
          <p:nvPr/>
        </p:nvSpPr>
        <p:spPr>
          <a:xfrm>
            <a:off x="-25" y="4737050"/>
            <a:ext cx="9144000" cy="320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337" name="Google Shape;337;p37"/>
          <p:cNvSpPr txBox="1"/>
          <p:nvPr>
            <p:ph idx="1" type="subTitle"/>
          </p:nvPr>
        </p:nvSpPr>
        <p:spPr>
          <a:xfrm>
            <a:off x="379200" y="4718275"/>
            <a:ext cx="8385600" cy="31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Roboto"/>
                <a:ea typeface="Roboto"/>
                <a:cs typeface="Roboto"/>
                <a:sym typeface="Roboto"/>
              </a:rPr>
              <a:t>“The data shown has been adjusted for educational purposes and does not reflect the company’s actual business conditions.”</a:t>
            </a:r>
            <a:endParaRPr b="1" sz="1000">
              <a:solidFill>
                <a:schemeClr val="dk1"/>
              </a:solidFill>
              <a:latin typeface="Roboto"/>
              <a:ea typeface="Roboto"/>
              <a:cs typeface="Roboto"/>
              <a:sym typeface="Roboto"/>
            </a:endParaRPr>
          </a:p>
          <a:p>
            <a:pPr indent="0" lvl="0" marL="0" rtl="0" algn="ctr">
              <a:spcBef>
                <a:spcPts val="0"/>
              </a:spcBef>
              <a:spcAft>
                <a:spcPts val="0"/>
              </a:spcAft>
              <a:buNone/>
            </a:pPr>
            <a:r>
              <a:t/>
            </a:r>
            <a:endParaRPr b="1" sz="1000">
              <a:solidFill>
                <a:schemeClr val="dk1"/>
              </a:solidFill>
              <a:latin typeface="Roboto"/>
              <a:ea typeface="Roboto"/>
              <a:cs typeface="Roboto"/>
              <a:sym typeface="Roboto"/>
            </a:endParaRPr>
          </a:p>
        </p:txBody>
      </p:sp>
      <p:pic>
        <p:nvPicPr>
          <p:cNvPr id="338" name="Google Shape;338;p37" title="Salinan Logo RevoU x OCA x Telkom.png"/>
          <p:cNvPicPr preferRelativeResize="0"/>
          <p:nvPr/>
        </p:nvPicPr>
        <p:blipFill rotWithShape="1">
          <a:blip r:embed="rId4">
            <a:alphaModFix/>
          </a:blip>
          <a:srcRect b="14850" l="0" r="0" t="17832"/>
          <a:stretch/>
        </p:blipFill>
        <p:spPr>
          <a:xfrm>
            <a:off x="0" y="28023"/>
            <a:ext cx="3300485" cy="822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8">
            <a:hlinkClick r:id="rId3"/>
          </p:cNvPr>
          <p:cNvSpPr txBox="1"/>
          <p:nvPr>
            <p:ph type="title"/>
          </p:nvPr>
        </p:nvSpPr>
        <p:spPr>
          <a:xfrm>
            <a:off x="3901200" y="677975"/>
            <a:ext cx="4557000" cy="669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2400">
                <a:solidFill>
                  <a:schemeClr val="hlink"/>
                </a:solidFill>
                <a:uFill>
                  <a:noFill/>
                </a:uFill>
                <a:hlinkClick r:id="rId4"/>
              </a:rPr>
              <a:t>Dashbo</a:t>
            </a:r>
            <a:r>
              <a:rPr lang="en" sz="2400">
                <a:solidFill>
                  <a:schemeClr val="hlink"/>
                </a:solidFill>
                <a:uFill>
                  <a:noFill/>
                </a:uFill>
                <a:hlinkClick r:id="rId5"/>
              </a:rPr>
              <a:t>ard Layout</a:t>
            </a:r>
            <a:endParaRPr sz="2400">
              <a:solidFill>
                <a:schemeClr val="hlink"/>
              </a:solidFill>
            </a:endParaRPr>
          </a:p>
        </p:txBody>
      </p:sp>
      <p:pic>
        <p:nvPicPr>
          <p:cNvPr id="344" name="Google Shape;344;p38" title="Dashboard 1.png"/>
          <p:cNvPicPr preferRelativeResize="0"/>
          <p:nvPr/>
        </p:nvPicPr>
        <p:blipFill>
          <a:blip r:embed="rId6">
            <a:alphaModFix/>
          </a:blip>
          <a:stretch>
            <a:fillRect/>
          </a:stretch>
        </p:blipFill>
        <p:spPr>
          <a:xfrm>
            <a:off x="521450" y="1346975"/>
            <a:ext cx="7914426" cy="3299674"/>
          </a:xfrm>
          <a:prstGeom prst="rect">
            <a:avLst/>
          </a:prstGeom>
          <a:noFill/>
          <a:ln>
            <a:noFill/>
          </a:ln>
        </p:spPr>
      </p:pic>
      <p:sp>
        <p:nvSpPr>
          <p:cNvPr id="345" name="Google Shape;345;p38"/>
          <p:cNvSpPr/>
          <p:nvPr/>
        </p:nvSpPr>
        <p:spPr>
          <a:xfrm>
            <a:off x="-25" y="4737050"/>
            <a:ext cx="9144000" cy="320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346" name="Google Shape;346;p38"/>
          <p:cNvSpPr txBox="1"/>
          <p:nvPr>
            <p:ph idx="4294967295" type="subTitle"/>
          </p:nvPr>
        </p:nvSpPr>
        <p:spPr>
          <a:xfrm>
            <a:off x="379200" y="4718275"/>
            <a:ext cx="8385600" cy="31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Roboto"/>
                <a:ea typeface="Roboto"/>
                <a:cs typeface="Roboto"/>
                <a:sym typeface="Roboto"/>
              </a:rPr>
              <a:t>“The data shown has been adjusted for educational purposes and does not reflect the company’s actual business conditions.”</a:t>
            </a:r>
            <a:endParaRPr b="1" sz="1000">
              <a:solidFill>
                <a:schemeClr val="dk1"/>
              </a:solidFill>
              <a:latin typeface="Roboto"/>
              <a:ea typeface="Roboto"/>
              <a:cs typeface="Roboto"/>
              <a:sym typeface="Roboto"/>
            </a:endParaRPr>
          </a:p>
          <a:p>
            <a:pPr indent="0" lvl="0" marL="0" rtl="0" algn="l">
              <a:spcBef>
                <a:spcPts val="0"/>
              </a:spcBef>
              <a:spcAft>
                <a:spcPts val="0"/>
              </a:spcAft>
              <a:buNone/>
            </a:pPr>
            <a:r>
              <a:t/>
            </a:r>
            <a:endParaRPr b="1" sz="1000">
              <a:solidFill>
                <a:schemeClr val="dk1"/>
              </a:solidFill>
              <a:latin typeface="Roboto"/>
              <a:ea typeface="Roboto"/>
              <a:cs typeface="Roboto"/>
              <a:sym typeface="Roboto"/>
            </a:endParaRPr>
          </a:p>
        </p:txBody>
      </p:sp>
      <p:pic>
        <p:nvPicPr>
          <p:cNvPr id="347" name="Google Shape;347;p38" title="Salinan Logo RevoU x OCA x Telkom.png"/>
          <p:cNvPicPr preferRelativeResize="0"/>
          <p:nvPr/>
        </p:nvPicPr>
        <p:blipFill rotWithShape="1">
          <a:blip r:embed="rId7">
            <a:alphaModFix/>
          </a:blip>
          <a:srcRect b="14850" l="0" r="0" t="17832"/>
          <a:stretch/>
        </p:blipFill>
        <p:spPr>
          <a:xfrm>
            <a:off x="0" y="28023"/>
            <a:ext cx="3300485" cy="822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pic>
        <p:nvPicPr>
          <p:cNvPr id="352" name="Google Shape;352;p39" title="Dashboard 1 (2).png"/>
          <p:cNvPicPr preferRelativeResize="0"/>
          <p:nvPr/>
        </p:nvPicPr>
        <p:blipFill>
          <a:blip r:embed="rId3">
            <a:alphaModFix/>
          </a:blip>
          <a:stretch>
            <a:fillRect/>
          </a:stretch>
        </p:blipFill>
        <p:spPr>
          <a:xfrm>
            <a:off x="521450" y="1373825"/>
            <a:ext cx="7936752" cy="3336375"/>
          </a:xfrm>
          <a:prstGeom prst="rect">
            <a:avLst/>
          </a:prstGeom>
          <a:noFill/>
          <a:ln>
            <a:noFill/>
          </a:ln>
        </p:spPr>
      </p:pic>
      <p:sp>
        <p:nvSpPr>
          <p:cNvPr id="353" name="Google Shape;353;p39"/>
          <p:cNvSpPr/>
          <p:nvPr/>
        </p:nvSpPr>
        <p:spPr>
          <a:xfrm>
            <a:off x="-25" y="4737050"/>
            <a:ext cx="9144000" cy="320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354" name="Google Shape;354;p39"/>
          <p:cNvSpPr txBox="1"/>
          <p:nvPr>
            <p:ph idx="4294967295" type="subTitle"/>
          </p:nvPr>
        </p:nvSpPr>
        <p:spPr>
          <a:xfrm>
            <a:off x="379200" y="4718275"/>
            <a:ext cx="8385600" cy="31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Roboto"/>
                <a:ea typeface="Roboto"/>
                <a:cs typeface="Roboto"/>
                <a:sym typeface="Roboto"/>
              </a:rPr>
              <a:t>“The data shown has been adjusted for educational purposes and does not reflect the company’s actual business conditions.”</a:t>
            </a:r>
            <a:endParaRPr b="1" sz="1000">
              <a:solidFill>
                <a:schemeClr val="dk1"/>
              </a:solidFill>
              <a:latin typeface="Roboto"/>
              <a:ea typeface="Roboto"/>
              <a:cs typeface="Roboto"/>
              <a:sym typeface="Roboto"/>
            </a:endParaRPr>
          </a:p>
          <a:p>
            <a:pPr indent="0" lvl="0" marL="0" rtl="0" algn="l">
              <a:spcBef>
                <a:spcPts val="0"/>
              </a:spcBef>
              <a:spcAft>
                <a:spcPts val="0"/>
              </a:spcAft>
              <a:buNone/>
            </a:pPr>
            <a:r>
              <a:t/>
            </a:r>
            <a:endParaRPr b="1" sz="1000">
              <a:solidFill>
                <a:schemeClr val="dk1"/>
              </a:solidFill>
              <a:latin typeface="Roboto"/>
              <a:ea typeface="Roboto"/>
              <a:cs typeface="Roboto"/>
              <a:sym typeface="Roboto"/>
            </a:endParaRPr>
          </a:p>
        </p:txBody>
      </p:sp>
      <p:sp>
        <p:nvSpPr>
          <p:cNvPr id="355" name="Google Shape;355;p39">
            <a:hlinkClick r:id="rId4"/>
          </p:cNvPr>
          <p:cNvSpPr txBox="1"/>
          <p:nvPr>
            <p:ph type="title"/>
          </p:nvPr>
        </p:nvSpPr>
        <p:spPr>
          <a:xfrm>
            <a:off x="3901200" y="677975"/>
            <a:ext cx="4557000" cy="669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2400">
                <a:solidFill>
                  <a:schemeClr val="hlink"/>
                </a:solidFill>
                <a:uFill>
                  <a:noFill/>
                </a:uFill>
                <a:hlinkClick r:id="rId5"/>
              </a:rPr>
              <a:t>Dashboard Layout</a:t>
            </a:r>
            <a:endParaRPr sz="2400">
              <a:solidFill>
                <a:schemeClr val="hlink"/>
              </a:solidFill>
            </a:endParaRPr>
          </a:p>
        </p:txBody>
      </p:sp>
      <p:pic>
        <p:nvPicPr>
          <p:cNvPr id="356" name="Google Shape;356;p39" title="Salinan Logo RevoU x OCA x Telkom.png"/>
          <p:cNvPicPr preferRelativeResize="0"/>
          <p:nvPr/>
        </p:nvPicPr>
        <p:blipFill rotWithShape="1">
          <a:blip r:embed="rId6">
            <a:alphaModFix/>
          </a:blip>
          <a:srcRect b="14850" l="0" r="0" t="17832"/>
          <a:stretch/>
        </p:blipFill>
        <p:spPr>
          <a:xfrm>
            <a:off x="0" y="28023"/>
            <a:ext cx="3300485" cy="822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id="361" name="Google Shape;361;p40" title="Dashboard 1 (3).png"/>
          <p:cNvPicPr preferRelativeResize="0"/>
          <p:nvPr/>
        </p:nvPicPr>
        <p:blipFill>
          <a:blip r:embed="rId3">
            <a:alphaModFix/>
          </a:blip>
          <a:stretch>
            <a:fillRect/>
          </a:stretch>
        </p:blipFill>
        <p:spPr>
          <a:xfrm>
            <a:off x="521450" y="1346975"/>
            <a:ext cx="7936752" cy="3336425"/>
          </a:xfrm>
          <a:prstGeom prst="rect">
            <a:avLst/>
          </a:prstGeom>
          <a:noFill/>
          <a:ln>
            <a:noFill/>
          </a:ln>
        </p:spPr>
      </p:pic>
      <p:sp>
        <p:nvSpPr>
          <p:cNvPr id="362" name="Google Shape;362;p40"/>
          <p:cNvSpPr/>
          <p:nvPr/>
        </p:nvSpPr>
        <p:spPr>
          <a:xfrm>
            <a:off x="-25" y="4737050"/>
            <a:ext cx="9144000" cy="320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363" name="Google Shape;363;p40"/>
          <p:cNvSpPr txBox="1"/>
          <p:nvPr>
            <p:ph idx="4294967295" type="subTitle"/>
          </p:nvPr>
        </p:nvSpPr>
        <p:spPr>
          <a:xfrm>
            <a:off x="379200" y="4718275"/>
            <a:ext cx="8385600" cy="31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Roboto"/>
                <a:ea typeface="Roboto"/>
                <a:cs typeface="Roboto"/>
                <a:sym typeface="Roboto"/>
              </a:rPr>
              <a:t>“The data shown has been adjusted for educational purposes and does not reflect the company’s actual business conditions.”</a:t>
            </a:r>
            <a:endParaRPr b="1" sz="1000">
              <a:solidFill>
                <a:schemeClr val="dk1"/>
              </a:solidFill>
              <a:latin typeface="Roboto"/>
              <a:ea typeface="Roboto"/>
              <a:cs typeface="Roboto"/>
              <a:sym typeface="Roboto"/>
            </a:endParaRPr>
          </a:p>
          <a:p>
            <a:pPr indent="0" lvl="0" marL="0" rtl="0" algn="l">
              <a:spcBef>
                <a:spcPts val="0"/>
              </a:spcBef>
              <a:spcAft>
                <a:spcPts val="0"/>
              </a:spcAft>
              <a:buNone/>
            </a:pPr>
            <a:r>
              <a:t/>
            </a:r>
            <a:endParaRPr b="1" sz="1000">
              <a:solidFill>
                <a:schemeClr val="dk1"/>
              </a:solidFill>
              <a:latin typeface="Roboto"/>
              <a:ea typeface="Roboto"/>
              <a:cs typeface="Roboto"/>
              <a:sym typeface="Roboto"/>
            </a:endParaRPr>
          </a:p>
        </p:txBody>
      </p:sp>
      <p:sp>
        <p:nvSpPr>
          <p:cNvPr id="364" name="Google Shape;364;p40">
            <a:hlinkClick r:id="rId4"/>
          </p:cNvPr>
          <p:cNvSpPr txBox="1"/>
          <p:nvPr>
            <p:ph type="title"/>
          </p:nvPr>
        </p:nvSpPr>
        <p:spPr>
          <a:xfrm>
            <a:off x="3901200" y="677975"/>
            <a:ext cx="4557000" cy="669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2400">
                <a:solidFill>
                  <a:schemeClr val="hlink"/>
                </a:solidFill>
                <a:uFill>
                  <a:noFill/>
                </a:uFill>
                <a:hlinkClick r:id="rId5"/>
              </a:rPr>
              <a:t>Dashboard Layout</a:t>
            </a:r>
            <a:endParaRPr sz="2400">
              <a:solidFill>
                <a:schemeClr val="hlink"/>
              </a:solidFill>
            </a:endParaRPr>
          </a:p>
        </p:txBody>
      </p:sp>
      <p:pic>
        <p:nvPicPr>
          <p:cNvPr id="365" name="Google Shape;365;p40" title="Salinan Logo RevoU x OCA x Telkom.png"/>
          <p:cNvPicPr preferRelativeResize="0"/>
          <p:nvPr/>
        </p:nvPicPr>
        <p:blipFill rotWithShape="1">
          <a:blip r:embed="rId6">
            <a:alphaModFix/>
          </a:blip>
          <a:srcRect b="14850" l="0" r="0" t="17832"/>
          <a:stretch/>
        </p:blipFill>
        <p:spPr>
          <a:xfrm>
            <a:off x="0" y="28023"/>
            <a:ext cx="3300485" cy="822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1"/>
          <p:cNvSpPr txBox="1"/>
          <p:nvPr>
            <p:ph idx="1" type="subTitle"/>
          </p:nvPr>
        </p:nvSpPr>
        <p:spPr>
          <a:xfrm>
            <a:off x="1185150" y="3367512"/>
            <a:ext cx="6773700" cy="36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Tools &amp; Methods - Python &amp; Tableau</a:t>
            </a:r>
            <a:endParaRPr/>
          </a:p>
          <a:p>
            <a:pPr indent="0" lvl="0" marL="0" rtl="0" algn="ctr">
              <a:spcBef>
                <a:spcPts val="0"/>
              </a:spcBef>
              <a:spcAft>
                <a:spcPts val="0"/>
              </a:spcAft>
              <a:buNone/>
            </a:pPr>
            <a:r>
              <a:t/>
            </a:r>
            <a:endParaRPr/>
          </a:p>
        </p:txBody>
      </p:sp>
      <p:sp>
        <p:nvSpPr>
          <p:cNvPr id="371" name="Google Shape;371;p41"/>
          <p:cNvSpPr/>
          <p:nvPr/>
        </p:nvSpPr>
        <p:spPr>
          <a:xfrm>
            <a:off x="4049000" y="1410288"/>
            <a:ext cx="1046100" cy="1046100"/>
          </a:xfrm>
          <a:prstGeom prst="ellipse">
            <a:avLst/>
          </a:prstGeom>
          <a:solidFill>
            <a:srgbClr val="FFFFFF">
              <a:alpha val="36080"/>
            </a:srgbClr>
          </a:solidFill>
          <a:ln>
            <a:noFill/>
          </a:ln>
        </p:spPr>
        <p:txBody>
          <a:bodyPr anchorCtr="0" anchor="ctr" bIns="73150" lIns="73150" spcFirstLastPara="1" rIns="73150" wrap="square" tIns="73150">
            <a:noAutofit/>
          </a:bodyPr>
          <a:lstStyle/>
          <a:p>
            <a:pPr indent="0" lvl="0" marL="0" rtl="0" algn="l">
              <a:spcBef>
                <a:spcPts val="0"/>
              </a:spcBef>
              <a:spcAft>
                <a:spcPts val="0"/>
              </a:spcAft>
              <a:buNone/>
            </a:pPr>
            <a:r>
              <a:t/>
            </a:r>
            <a:endParaRPr sz="1120">
              <a:solidFill>
                <a:schemeClr val="lt1"/>
              </a:solidFill>
            </a:endParaRPr>
          </a:p>
        </p:txBody>
      </p:sp>
      <p:sp>
        <p:nvSpPr>
          <p:cNvPr id="372" name="Google Shape;372;p41"/>
          <p:cNvSpPr txBox="1"/>
          <p:nvPr>
            <p:ph type="title"/>
          </p:nvPr>
        </p:nvSpPr>
        <p:spPr>
          <a:xfrm>
            <a:off x="1182600" y="2681039"/>
            <a:ext cx="6778800" cy="843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Analyst</a:t>
            </a:r>
            <a:endParaRPr/>
          </a:p>
        </p:txBody>
      </p:sp>
      <p:sp>
        <p:nvSpPr>
          <p:cNvPr id="373" name="Google Shape;373;p41"/>
          <p:cNvSpPr txBox="1"/>
          <p:nvPr>
            <p:ph idx="2" type="title"/>
          </p:nvPr>
        </p:nvSpPr>
        <p:spPr>
          <a:xfrm>
            <a:off x="4076368" y="1567416"/>
            <a:ext cx="991200" cy="731700"/>
          </a:xfrm>
          <a:prstGeom prst="rect">
            <a:avLst/>
          </a:prstGeom>
        </p:spPr>
        <p:txBody>
          <a:bodyPr anchorCtr="0" anchor="b" bIns="73150" lIns="73150" spcFirstLastPara="1" rIns="73150" wrap="square" tIns="73150">
            <a:noAutofit/>
          </a:bodyPr>
          <a:lstStyle/>
          <a:p>
            <a:pPr indent="0" lvl="0" marL="0" rtl="0" algn="ctr">
              <a:spcBef>
                <a:spcPts val="0"/>
              </a:spcBef>
              <a:spcAft>
                <a:spcPts val="0"/>
              </a:spcAft>
              <a:buNone/>
            </a:pPr>
            <a:r>
              <a:rPr lang="en" sz="4401"/>
              <a:t>02</a:t>
            </a:r>
            <a:endParaRPr sz="4001"/>
          </a:p>
        </p:txBody>
      </p:sp>
      <p:sp>
        <p:nvSpPr>
          <p:cNvPr id="374" name="Google Shape;374;p41"/>
          <p:cNvSpPr/>
          <p:nvPr/>
        </p:nvSpPr>
        <p:spPr>
          <a:xfrm>
            <a:off x="-25" y="4737050"/>
            <a:ext cx="9144000" cy="320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375" name="Google Shape;375;p41"/>
          <p:cNvSpPr txBox="1"/>
          <p:nvPr>
            <p:ph idx="1" type="subTitle"/>
          </p:nvPr>
        </p:nvSpPr>
        <p:spPr>
          <a:xfrm>
            <a:off x="379200" y="4718275"/>
            <a:ext cx="8385600" cy="31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Roboto"/>
                <a:ea typeface="Roboto"/>
                <a:cs typeface="Roboto"/>
                <a:sym typeface="Roboto"/>
              </a:rPr>
              <a:t>“The data shown has been adjusted for educational purposes and does not reflect the company’s actual business conditions.”</a:t>
            </a:r>
            <a:endParaRPr b="1" sz="1000">
              <a:solidFill>
                <a:schemeClr val="dk1"/>
              </a:solidFill>
              <a:latin typeface="Roboto"/>
              <a:ea typeface="Roboto"/>
              <a:cs typeface="Roboto"/>
              <a:sym typeface="Roboto"/>
            </a:endParaRPr>
          </a:p>
          <a:p>
            <a:pPr indent="0" lvl="0" marL="0" rtl="0" algn="ctr">
              <a:spcBef>
                <a:spcPts val="0"/>
              </a:spcBef>
              <a:spcAft>
                <a:spcPts val="0"/>
              </a:spcAft>
              <a:buNone/>
            </a:pPr>
            <a:r>
              <a:t/>
            </a:r>
            <a:endParaRPr b="1" sz="1000">
              <a:solidFill>
                <a:schemeClr val="dk1"/>
              </a:solidFill>
              <a:latin typeface="Roboto"/>
              <a:ea typeface="Roboto"/>
              <a:cs typeface="Roboto"/>
              <a:sym typeface="Roboto"/>
            </a:endParaRPr>
          </a:p>
        </p:txBody>
      </p:sp>
      <p:pic>
        <p:nvPicPr>
          <p:cNvPr id="376" name="Google Shape;376;p41" title="Salinan Logo RevoU x OCA x Telkom.png"/>
          <p:cNvPicPr preferRelativeResize="0"/>
          <p:nvPr/>
        </p:nvPicPr>
        <p:blipFill rotWithShape="1">
          <a:blip r:embed="rId3">
            <a:alphaModFix/>
          </a:blip>
          <a:srcRect b="14850" l="0" r="0" t="17832"/>
          <a:stretch/>
        </p:blipFill>
        <p:spPr>
          <a:xfrm>
            <a:off x="0" y="28023"/>
            <a:ext cx="3300485" cy="822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80" name="Shape 380"/>
        <p:cNvGrpSpPr/>
        <p:nvPr/>
      </p:nvGrpSpPr>
      <p:grpSpPr>
        <a:xfrm>
          <a:off x="0" y="0"/>
          <a:ext cx="0" cy="0"/>
          <a:chOff x="0" y="0"/>
          <a:chExt cx="0" cy="0"/>
        </a:xfrm>
      </p:grpSpPr>
      <p:sp>
        <p:nvSpPr>
          <p:cNvPr id="381" name="Google Shape;381;p42"/>
          <p:cNvSpPr txBox="1"/>
          <p:nvPr>
            <p:ph idx="4294967295" type="title"/>
          </p:nvPr>
        </p:nvSpPr>
        <p:spPr>
          <a:xfrm>
            <a:off x="-117425" y="1762975"/>
            <a:ext cx="6110400" cy="1434900"/>
          </a:xfrm>
          <a:prstGeom prst="rect">
            <a:avLst/>
          </a:prstGeom>
        </p:spPr>
        <p:txBody>
          <a:bodyPr anchorCtr="0" anchor="t" bIns="91425" lIns="731500" spcFirstLastPara="1" rIns="731500" wrap="square" tIns="91425">
            <a:noAutofit/>
          </a:bodyPr>
          <a:lstStyle/>
          <a:p>
            <a:pPr indent="0" lvl="0" marL="0" rtl="0" algn="l">
              <a:spcBef>
                <a:spcPts val="0"/>
              </a:spcBef>
              <a:spcAft>
                <a:spcPts val="0"/>
              </a:spcAft>
              <a:buNone/>
            </a:pPr>
            <a:r>
              <a:rPr b="1" lang="en" sz="3000">
                <a:solidFill>
                  <a:srgbClr val="212121"/>
                </a:solidFill>
                <a:latin typeface="Roboto"/>
                <a:ea typeface="Roboto"/>
                <a:cs typeface="Roboto"/>
                <a:sym typeface="Roboto"/>
              </a:rPr>
              <a:t>WhatsApp drives volume, </a:t>
            </a:r>
            <a:br>
              <a:rPr b="1" lang="en" sz="3000">
                <a:solidFill>
                  <a:srgbClr val="212121"/>
                </a:solidFill>
                <a:latin typeface="Roboto"/>
                <a:ea typeface="Roboto"/>
                <a:cs typeface="Roboto"/>
                <a:sym typeface="Roboto"/>
              </a:rPr>
            </a:br>
            <a:r>
              <a:rPr b="1" lang="en" sz="3000">
                <a:solidFill>
                  <a:srgbClr val="212121"/>
                </a:solidFill>
                <a:latin typeface="Roboto"/>
                <a:ea typeface="Roboto"/>
                <a:cs typeface="Roboto"/>
                <a:sym typeface="Roboto"/>
              </a:rPr>
              <a:t>SMS drives revenue, </a:t>
            </a:r>
            <a:br>
              <a:rPr b="1" lang="en" sz="3000">
                <a:solidFill>
                  <a:srgbClr val="212121"/>
                </a:solidFill>
                <a:latin typeface="Roboto"/>
                <a:ea typeface="Roboto"/>
                <a:cs typeface="Roboto"/>
                <a:sym typeface="Roboto"/>
              </a:rPr>
            </a:br>
            <a:r>
              <a:rPr b="1" lang="en" sz="3000">
                <a:solidFill>
                  <a:srgbClr val="212121"/>
                </a:solidFill>
                <a:latin typeface="Roboto"/>
                <a:ea typeface="Roboto"/>
                <a:cs typeface="Roboto"/>
                <a:sym typeface="Roboto"/>
              </a:rPr>
              <a:t>enabling a balanced omnichannel strategy.</a:t>
            </a:r>
            <a:endParaRPr b="1" sz="3000">
              <a:solidFill>
                <a:srgbClr val="212121"/>
              </a:solidFill>
              <a:latin typeface="Roboto"/>
              <a:ea typeface="Roboto"/>
              <a:cs typeface="Roboto"/>
              <a:sym typeface="Roboto"/>
            </a:endParaRPr>
          </a:p>
        </p:txBody>
      </p:sp>
      <p:pic>
        <p:nvPicPr>
          <p:cNvPr id="382" name="Google Shape;382;p42" title="pricing_1728450.png"/>
          <p:cNvPicPr preferRelativeResize="0"/>
          <p:nvPr/>
        </p:nvPicPr>
        <p:blipFill>
          <a:blip r:embed="rId3">
            <a:alphaModFix/>
          </a:blip>
          <a:stretch>
            <a:fillRect/>
          </a:stretch>
        </p:blipFill>
        <p:spPr>
          <a:xfrm>
            <a:off x="5923575" y="1547050"/>
            <a:ext cx="2443226" cy="2443226"/>
          </a:xfrm>
          <a:prstGeom prst="rect">
            <a:avLst/>
          </a:prstGeom>
          <a:noFill/>
          <a:ln>
            <a:noFill/>
          </a:ln>
        </p:spPr>
      </p:pic>
      <p:pic>
        <p:nvPicPr>
          <p:cNvPr id="383" name="Google Shape;383;p42" title="Salinan Logo RevoU x OCA x Telkom.png"/>
          <p:cNvPicPr preferRelativeResize="0"/>
          <p:nvPr/>
        </p:nvPicPr>
        <p:blipFill rotWithShape="1">
          <a:blip r:embed="rId4">
            <a:alphaModFix/>
          </a:blip>
          <a:srcRect b="14850" l="0" r="0" t="17832"/>
          <a:stretch/>
        </p:blipFill>
        <p:spPr>
          <a:xfrm>
            <a:off x="0" y="28023"/>
            <a:ext cx="3300485" cy="822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7" name="Shape 387"/>
        <p:cNvGrpSpPr/>
        <p:nvPr/>
      </p:nvGrpSpPr>
      <p:grpSpPr>
        <a:xfrm>
          <a:off x="0" y="0"/>
          <a:ext cx="0" cy="0"/>
          <a:chOff x="0" y="0"/>
          <a:chExt cx="0" cy="0"/>
        </a:xfrm>
      </p:grpSpPr>
      <p:sp>
        <p:nvSpPr>
          <p:cNvPr id="388" name="Google Shape;388;p43"/>
          <p:cNvSpPr txBox="1"/>
          <p:nvPr>
            <p:ph idx="1" type="subTitle"/>
          </p:nvPr>
        </p:nvSpPr>
        <p:spPr>
          <a:xfrm>
            <a:off x="4174275" y="2017050"/>
            <a:ext cx="3999900" cy="12831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rgbClr val="212121"/>
              </a:buClr>
              <a:buSzPts val="1100"/>
              <a:buChar char="●"/>
            </a:pPr>
            <a:r>
              <a:rPr lang="en" sz="1100">
                <a:solidFill>
                  <a:srgbClr val="212121"/>
                </a:solidFill>
                <a:latin typeface="Roboto"/>
                <a:ea typeface="Roboto"/>
                <a:cs typeface="Roboto"/>
                <a:sym typeface="Roboto"/>
              </a:rPr>
              <a:t>Total Channel Whatsapp </a:t>
            </a:r>
            <a:r>
              <a:rPr b="1" lang="en" sz="1100">
                <a:solidFill>
                  <a:srgbClr val="212121"/>
                </a:solidFill>
                <a:latin typeface="Roboto"/>
                <a:ea typeface="Roboto"/>
                <a:cs typeface="Roboto"/>
                <a:sym typeface="Roboto"/>
              </a:rPr>
              <a:t>50.000 Transaction</a:t>
            </a:r>
            <a:endParaRPr b="1" sz="1100">
              <a:solidFill>
                <a:srgbClr val="212121"/>
              </a:solidFill>
              <a:latin typeface="Roboto"/>
              <a:ea typeface="Roboto"/>
              <a:cs typeface="Roboto"/>
              <a:sym typeface="Roboto"/>
            </a:endParaRPr>
          </a:p>
          <a:p>
            <a:pPr indent="-298450" lvl="0" marL="457200" rtl="0" algn="l">
              <a:spcBef>
                <a:spcPts val="0"/>
              </a:spcBef>
              <a:spcAft>
                <a:spcPts val="0"/>
              </a:spcAft>
              <a:buClr>
                <a:srgbClr val="212121"/>
              </a:buClr>
              <a:buSzPts val="1100"/>
              <a:buChar char="●"/>
            </a:pPr>
            <a:r>
              <a:rPr lang="en" sz="1100">
                <a:solidFill>
                  <a:srgbClr val="212121"/>
                </a:solidFill>
                <a:latin typeface="Roboto"/>
                <a:ea typeface="Roboto"/>
                <a:cs typeface="Roboto"/>
                <a:sym typeface="Roboto"/>
              </a:rPr>
              <a:t>Total Channel Email </a:t>
            </a:r>
            <a:r>
              <a:rPr b="1" lang="en" sz="1100">
                <a:solidFill>
                  <a:srgbClr val="212121"/>
                </a:solidFill>
                <a:latin typeface="Roboto"/>
                <a:ea typeface="Roboto"/>
                <a:cs typeface="Roboto"/>
                <a:sym typeface="Roboto"/>
              </a:rPr>
              <a:t>40.000 Transaction</a:t>
            </a:r>
            <a:endParaRPr b="1" sz="1100">
              <a:solidFill>
                <a:srgbClr val="212121"/>
              </a:solidFill>
              <a:latin typeface="Roboto"/>
              <a:ea typeface="Roboto"/>
              <a:cs typeface="Roboto"/>
              <a:sym typeface="Roboto"/>
            </a:endParaRPr>
          </a:p>
          <a:p>
            <a:pPr indent="-298450" lvl="0" marL="457200" rtl="0" algn="l">
              <a:spcBef>
                <a:spcPts val="0"/>
              </a:spcBef>
              <a:spcAft>
                <a:spcPts val="0"/>
              </a:spcAft>
              <a:buClr>
                <a:srgbClr val="212121"/>
              </a:buClr>
              <a:buSzPts val="1100"/>
              <a:buFont typeface="Arial"/>
              <a:buChar char="●"/>
            </a:pPr>
            <a:r>
              <a:rPr lang="en" sz="1100">
                <a:solidFill>
                  <a:srgbClr val="212121"/>
                </a:solidFill>
                <a:latin typeface="Roboto"/>
                <a:ea typeface="Roboto"/>
                <a:cs typeface="Roboto"/>
                <a:sym typeface="Roboto"/>
              </a:rPr>
              <a:t>Total Channel SMS </a:t>
            </a:r>
            <a:r>
              <a:rPr b="1" lang="en" sz="1100">
                <a:solidFill>
                  <a:srgbClr val="212121"/>
                </a:solidFill>
                <a:latin typeface="Roboto"/>
                <a:ea typeface="Roboto"/>
                <a:cs typeface="Roboto"/>
                <a:sym typeface="Roboto"/>
              </a:rPr>
              <a:t>20.000 Transaction</a:t>
            </a:r>
            <a:endParaRPr b="1" sz="1100">
              <a:solidFill>
                <a:srgbClr val="212121"/>
              </a:solidFill>
              <a:latin typeface="Roboto"/>
              <a:ea typeface="Roboto"/>
              <a:cs typeface="Roboto"/>
              <a:sym typeface="Roboto"/>
            </a:endParaRPr>
          </a:p>
          <a:p>
            <a:pPr indent="-298450" lvl="0" marL="457200" rtl="0" algn="l">
              <a:spcBef>
                <a:spcPts val="0"/>
              </a:spcBef>
              <a:spcAft>
                <a:spcPts val="0"/>
              </a:spcAft>
              <a:buClr>
                <a:srgbClr val="212121"/>
              </a:buClr>
              <a:buSzPts val="1100"/>
              <a:buFont typeface="Arial"/>
              <a:buChar char="●"/>
            </a:pPr>
            <a:r>
              <a:rPr lang="en" sz="1100">
                <a:solidFill>
                  <a:srgbClr val="212121"/>
                </a:solidFill>
                <a:latin typeface="Roboto"/>
                <a:ea typeface="Roboto"/>
                <a:cs typeface="Roboto"/>
                <a:sym typeface="Roboto"/>
              </a:rPr>
              <a:t>Total Channel Call </a:t>
            </a:r>
            <a:r>
              <a:rPr b="1" lang="en" sz="1100">
                <a:solidFill>
                  <a:srgbClr val="212121"/>
                </a:solidFill>
                <a:latin typeface="Roboto"/>
                <a:ea typeface="Roboto"/>
                <a:cs typeface="Roboto"/>
                <a:sym typeface="Roboto"/>
              </a:rPr>
              <a:t>12.749 Transaction</a:t>
            </a:r>
            <a:endParaRPr b="1" sz="1100">
              <a:solidFill>
                <a:srgbClr val="212121"/>
              </a:solidFill>
              <a:latin typeface="Roboto"/>
              <a:ea typeface="Roboto"/>
              <a:cs typeface="Roboto"/>
              <a:sym typeface="Roboto"/>
            </a:endParaRPr>
          </a:p>
          <a:p>
            <a:pPr indent="-298450" lvl="0" marL="457200" rtl="0" algn="l">
              <a:spcBef>
                <a:spcPts val="0"/>
              </a:spcBef>
              <a:spcAft>
                <a:spcPts val="0"/>
              </a:spcAft>
              <a:buClr>
                <a:srgbClr val="212121"/>
              </a:buClr>
              <a:buSzPts val="1100"/>
              <a:buChar char="●"/>
            </a:pPr>
            <a:r>
              <a:rPr b="1" lang="en" sz="1100">
                <a:solidFill>
                  <a:srgbClr val="212121"/>
                </a:solidFill>
                <a:latin typeface="Roboto"/>
                <a:ea typeface="Roboto"/>
                <a:cs typeface="Roboto"/>
                <a:sym typeface="Roboto"/>
              </a:rPr>
              <a:t>Active Users: 20 Companies </a:t>
            </a:r>
            <a:r>
              <a:rPr lang="en" sz="1100">
                <a:solidFill>
                  <a:srgbClr val="212121"/>
                </a:solidFill>
                <a:latin typeface="Roboto"/>
                <a:ea typeface="Roboto"/>
                <a:cs typeface="Roboto"/>
                <a:sym typeface="Roboto"/>
              </a:rPr>
              <a:t>(100% Multi-channel).</a:t>
            </a:r>
            <a:endParaRPr b="1" sz="1100">
              <a:solidFill>
                <a:srgbClr val="212121"/>
              </a:solidFill>
              <a:latin typeface="Roboto"/>
              <a:ea typeface="Roboto"/>
              <a:cs typeface="Roboto"/>
              <a:sym typeface="Roboto"/>
            </a:endParaRPr>
          </a:p>
        </p:txBody>
      </p:sp>
      <p:sp>
        <p:nvSpPr>
          <p:cNvPr id="389" name="Google Shape;389;p43"/>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43"/>
          <p:cNvSpPr/>
          <p:nvPr/>
        </p:nvSpPr>
        <p:spPr>
          <a:xfrm rot="-8512697">
            <a:off x="7397200" y="3654695"/>
            <a:ext cx="2419597" cy="2419597"/>
          </a:xfrm>
          <a:prstGeom prst="donut">
            <a:avLst>
              <a:gd fmla="val 17784" name="adj"/>
            </a:avLst>
          </a:prstGeom>
          <a:gradFill>
            <a:gsLst>
              <a:gs pos="0">
                <a:srgbClr val="869FB1"/>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lt2"/>
              </a:highlight>
            </a:endParaRPr>
          </a:p>
        </p:txBody>
      </p:sp>
      <p:sp>
        <p:nvSpPr>
          <p:cNvPr id="391" name="Google Shape;391;p43"/>
          <p:cNvSpPr txBox="1"/>
          <p:nvPr>
            <p:ph type="title"/>
          </p:nvPr>
        </p:nvSpPr>
        <p:spPr>
          <a:xfrm>
            <a:off x="716100" y="850925"/>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2400">
                <a:solidFill>
                  <a:srgbClr val="212121"/>
                </a:solidFill>
                <a:latin typeface="Roboto"/>
                <a:ea typeface="Roboto"/>
                <a:cs typeface="Roboto"/>
                <a:sym typeface="Roboto"/>
              </a:rPr>
              <a:t>Volume Transaction</a:t>
            </a:r>
            <a:endParaRPr sz="2400">
              <a:solidFill>
                <a:srgbClr val="212121"/>
              </a:solidFill>
              <a:latin typeface="Roboto"/>
              <a:ea typeface="Roboto"/>
              <a:cs typeface="Roboto"/>
              <a:sym typeface="Roboto"/>
            </a:endParaRPr>
          </a:p>
        </p:txBody>
      </p:sp>
      <p:sp>
        <p:nvSpPr>
          <p:cNvPr id="392" name="Google Shape;392;p43"/>
          <p:cNvSpPr txBox="1"/>
          <p:nvPr>
            <p:ph idx="1" type="subTitle"/>
          </p:nvPr>
        </p:nvSpPr>
        <p:spPr>
          <a:xfrm>
            <a:off x="4251125" y="3028575"/>
            <a:ext cx="4521000" cy="870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sz="1200">
                <a:solidFill>
                  <a:srgbClr val="212121"/>
                </a:solidFill>
                <a:latin typeface="Roboto"/>
                <a:ea typeface="Roboto"/>
                <a:cs typeface="Roboto"/>
                <a:sym typeface="Roboto"/>
              </a:rPr>
              <a:t>WhatsApp dominates transaction volume</a:t>
            </a:r>
            <a:r>
              <a:rPr lang="en" sz="1200">
                <a:solidFill>
                  <a:srgbClr val="212121"/>
                </a:solidFill>
                <a:latin typeface="Roboto"/>
                <a:ea typeface="Roboto"/>
                <a:cs typeface="Roboto"/>
                <a:sym typeface="Roboto"/>
              </a:rPr>
              <a:t>, while all active companies consistently use multiple channels, indicating strong demand for omnichannel communication.</a:t>
            </a:r>
            <a:endParaRPr sz="1200">
              <a:solidFill>
                <a:srgbClr val="212121"/>
              </a:solidFill>
              <a:latin typeface="Roboto"/>
              <a:ea typeface="Roboto"/>
              <a:cs typeface="Roboto"/>
              <a:sym typeface="Roboto"/>
            </a:endParaRPr>
          </a:p>
        </p:txBody>
      </p:sp>
      <p:sp>
        <p:nvSpPr>
          <p:cNvPr id="393" name="Google Shape;393;p43"/>
          <p:cNvSpPr txBox="1"/>
          <p:nvPr>
            <p:ph idx="1" type="subTitle"/>
          </p:nvPr>
        </p:nvSpPr>
        <p:spPr>
          <a:xfrm>
            <a:off x="1394925" y="3898875"/>
            <a:ext cx="1801800" cy="36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212121"/>
                </a:solidFill>
                <a:latin typeface="Roboto"/>
                <a:ea typeface="Roboto"/>
                <a:cs typeface="Roboto"/>
                <a:sym typeface="Roboto"/>
              </a:rPr>
              <a:t>Total Volume </a:t>
            </a:r>
            <a:r>
              <a:rPr b="1" lang="en" sz="1200">
                <a:solidFill>
                  <a:srgbClr val="212121"/>
                </a:solidFill>
                <a:latin typeface="Roboto"/>
                <a:ea typeface="Roboto"/>
                <a:cs typeface="Roboto"/>
                <a:sym typeface="Roboto"/>
              </a:rPr>
              <a:t>122749</a:t>
            </a:r>
            <a:endParaRPr b="1" sz="1200">
              <a:solidFill>
                <a:srgbClr val="212121"/>
              </a:solidFill>
              <a:latin typeface="Roboto"/>
              <a:ea typeface="Roboto"/>
              <a:cs typeface="Roboto"/>
              <a:sym typeface="Roboto"/>
            </a:endParaRPr>
          </a:p>
        </p:txBody>
      </p:sp>
      <p:pic>
        <p:nvPicPr>
          <p:cNvPr id="394" name="Google Shape;394;p43"/>
          <p:cNvPicPr preferRelativeResize="0"/>
          <p:nvPr/>
        </p:nvPicPr>
        <p:blipFill>
          <a:blip r:embed="rId3">
            <a:alphaModFix/>
          </a:blip>
          <a:stretch>
            <a:fillRect/>
          </a:stretch>
        </p:blipFill>
        <p:spPr>
          <a:xfrm>
            <a:off x="503675" y="1805163"/>
            <a:ext cx="3584291" cy="2093724"/>
          </a:xfrm>
          <a:prstGeom prst="rect">
            <a:avLst/>
          </a:prstGeom>
          <a:noFill/>
          <a:ln>
            <a:noFill/>
          </a:ln>
        </p:spPr>
      </p:pic>
      <p:sp>
        <p:nvSpPr>
          <p:cNvPr id="395" name="Google Shape;395;p43"/>
          <p:cNvSpPr/>
          <p:nvPr/>
        </p:nvSpPr>
        <p:spPr>
          <a:xfrm>
            <a:off x="756150" y="1922075"/>
            <a:ext cx="1593600" cy="1997700"/>
          </a:xfrm>
          <a:prstGeom prst="rect">
            <a:avLst/>
          </a:prstGeom>
          <a:noFill/>
          <a:ln cap="flat" cmpd="sng" w="19050">
            <a:solidFill>
              <a:srgbClr val="980000"/>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396" name="Google Shape;396;p43"/>
          <p:cNvSpPr/>
          <p:nvPr/>
        </p:nvSpPr>
        <p:spPr>
          <a:xfrm>
            <a:off x="0" y="4737050"/>
            <a:ext cx="9198300" cy="320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397" name="Google Shape;397;p43"/>
          <p:cNvSpPr txBox="1"/>
          <p:nvPr>
            <p:ph idx="1" type="subTitle"/>
          </p:nvPr>
        </p:nvSpPr>
        <p:spPr>
          <a:xfrm>
            <a:off x="361050" y="4718700"/>
            <a:ext cx="8421900" cy="42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000">
                <a:latin typeface="Roboto"/>
                <a:ea typeface="Roboto"/>
                <a:cs typeface="Roboto"/>
                <a:sym typeface="Roboto"/>
              </a:rPr>
              <a:t>“The data shown has been adjusted for educational purposes and does not reflect the company’s actual business conditions.”</a:t>
            </a:r>
            <a:endParaRPr b="1" sz="1000">
              <a:latin typeface="Roboto"/>
              <a:ea typeface="Roboto"/>
              <a:cs typeface="Roboto"/>
              <a:sym typeface="Roboto"/>
            </a:endParaRPr>
          </a:p>
        </p:txBody>
      </p:sp>
      <p:pic>
        <p:nvPicPr>
          <p:cNvPr id="398" name="Google Shape;398;p43" title="Salinan Logo RevoU x OCA x Telkom.png"/>
          <p:cNvPicPr preferRelativeResize="0"/>
          <p:nvPr/>
        </p:nvPicPr>
        <p:blipFill rotWithShape="1">
          <a:blip r:embed="rId4">
            <a:alphaModFix/>
          </a:blip>
          <a:srcRect b="14850" l="0" r="0" t="17832"/>
          <a:stretch/>
        </p:blipFill>
        <p:spPr>
          <a:xfrm>
            <a:off x="0" y="28023"/>
            <a:ext cx="3300485" cy="822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2" name="Shape 402"/>
        <p:cNvGrpSpPr/>
        <p:nvPr/>
      </p:nvGrpSpPr>
      <p:grpSpPr>
        <a:xfrm>
          <a:off x="0" y="0"/>
          <a:ext cx="0" cy="0"/>
          <a:chOff x="0" y="0"/>
          <a:chExt cx="0" cy="0"/>
        </a:xfrm>
      </p:grpSpPr>
      <p:sp>
        <p:nvSpPr>
          <p:cNvPr id="403" name="Google Shape;403;p44"/>
          <p:cNvSpPr txBox="1"/>
          <p:nvPr>
            <p:ph idx="1" type="subTitle"/>
          </p:nvPr>
        </p:nvSpPr>
        <p:spPr>
          <a:xfrm>
            <a:off x="4081675" y="2061988"/>
            <a:ext cx="4092600" cy="12831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rgbClr val="212121"/>
              </a:buClr>
              <a:buSzPts val="1100"/>
              <a:buChar char="●"/>
            </a:pPr>
            <a:r>
              <a:rPr lang="en" sz="1100">
                <a:solidFill>
                  <a:srgbClr val="212121"/>
                </a:solidFill>
                <a:latin typeface="Roboto"/>
                <a:ea typeface="Roboto"/>
                <a:cs typeface="Roboto"/>
                <a:sym typeface="Roboto"/>
              </a:rPr>
              <a:t>SMS is </a:t>
            </a:r>
            <a:r>
              <a:rPr b="1" lang="en" sz="1100">
                <a:solidFill>
                  <a:srgbClr val="212121"/>
                </a:solidFill>
                <a:latin typeface="Roboto"/>
                <a:ea typeface="Roboto"/>
                <a:cs typeface="Roboto"/>
                <a:sym typeface="Roboto"/>
              </a:rPr>
              <a:t>Revenue King</a:t>
            </a:r>
            <a:r>
              <a:rPr lang="en" sz="1100">
                <a:solidFill>
                  <a:srgbClr val="212121"/>
                </a:solidFill>
                <a:latin typeface="Roboto"/>
                <a:ea typeface="Roboto"/>
                <a:cs typeface="Roboto"/>
                <a:sym typeface="Roboto"/>
              </a:rPr>
              <a:t> (Unexpected, but facts)</a:t>
            </a:r>
            <a:endParaRPr b="1" sz="1100">
              <a:solidFill>
                <a:srgbClr val="212121"/>
              </a:solidFill>
              <a:latin typeface="Roboto"/>
              <a:ea typeface="Roboto"/>
              <a:cs typeface="Roboto"/>
              <a:sym typeface="Roboto"/>
            </a:endParaRPr>
          </a:p>
          <a:p>
            <a:pPr indent="-298450" lvl="0" marL="457200" rtl="0" algn="l">
              <a:spcBef>
                <a:spcPts val="0"/>
              </a:spcBef>
              <a:spcAft>
                <a:spcPts val="0"/>
              </a:spcAft>
              <a:buClr>
                <a:srgbClr val="212121"/>
              </a:buClr>
              <a:buSzPts val="1100"/>
              <a:buChar char="●"/>
            </a:pPr>
            <a:r>
              <a:rPr lang="en" sz="1100">
                <a:solidFill>
                  <a:srgbClr val="212121"/>
                </a:solidFill>
                <a:latin typeface="Roboto"/>
                <a:ea typeface="Roboto"/>
                <a:cs typeface="Roboto"/>
                <a:sym typeface="Roboto"/>
              </a:rPr>
              <a:t>WhatsApp is </a:t>
            </a:r>
            <a:r>
              <a:rPr b="1" lang="en" sz="1100">
                <a:solidFill>
                  <a:srgbClr val="212121"/>
                </a:solidFill>
                <a:latin typeface="Roboto"/>
                <a:ea typeface="Roboto"/>
                <a:cs typeface="Roboto"/>
                <a:sym typeface="Roboto"/>
              </a:rPr>
              <a:t>High Volume</a:t>
            </a:r>
            <a:r>
              <a:rPr lang="en" sz="1100">
                <a:solidFill>
                  <a:srgbClr val="212121"/>
                </a:solidFill>
                <a:latin typeface="Roboto"/>
                <a:ea typeface="Roboto"/>
                <a:cs typeface="Roboto"/>
                <a:sym typeface="Roboto"/>
              </a:rPr>
              <a:t> but </a:t>
            </a:r>
            <a:r>
              <a:rPr b="1" lang="en" sz="1100">
                <a:solidFill>
                  <a:srgbClr val="212121"/>
                </a:solidFill>
                <a:latin typeface="Roboto"/>
                <a:ea typeface="Roboto"/>
                <a:cs typeface="Roboto"/>
                <a:sym typeface="Roboto"/>
              </a:rPr>
              <a:t> Mid Revenue</a:t>
            </a:r>
            <a:endParaRPr b="1" sz="1100">
              <a:solidFill>
                <a:srgbClr val="212121"/>
              </a:solidFill>
              <a:latin typeface="Roboto"/>
              <a:ea typeface="Roboto"/>
              <a:cs typeface="Roboto"/>
              <a:sym typeface="Roboto"/>
            </a:endParaRPr>
          </a:p>
          <a:p>
            <a:pPr indent="-298450" lvl="0" marL="457200" rtl="0" algn="l">
              <a:spcBef>
                <a:spcPts val="0"/>
              </a:spcBef>
              <a:spcAft>
                <a:spcPts val="0"/>
              </a:spcAft>
              <a:buClr>
                <a:srgbClr val="212121"/>
              </a:buClr>
              <a:buSzPts val="1100"/>
              <a:buFont typeface="Arial"/>
              <a:buChar char="●"/>
            </a:pPr>
            <a:r>
              <a:rPr lang="en" sz="1100">
                <a:solidFill>
                  <a:srgbClr val="212121"/>
                </a:solidFill>
                <a:latin typeface="Roboto"/>
                <a:ea typeface="Roboto"/>
                <a:cs typeface="Roboto"/>
                <a:sym typeface="Roboto"/>
              </a:rPr>
              <a:t>Email is </a:t>
            </a:r>
            <a:r>
              <a:rPr b="1" lang="en" sz="1100">
                <a:solidFill>
                  <a:srgbClr val="212121"/>
                </a:solidFill>
                <a:latin typeface="Roboto"/>
                <a:ea typeface="Roboto"/>
                <a:cs typeface="Roboto"/>
                <a:sym typeface="Roboto"/>
              </a:rPr>
              <a:t>Low Revenue</a:t>
            </a:r>
            <a:r>
              <a:rPr lang="en" sz="1100">
                <a:solidFill>
                  <a:srgbClr val="212121"/>
                </a:solidFill>
                <a:latin typeface="Roboto"/>
                <a:ea typeface="Roboto"/>
                <a:cs typeface="Roboto"/>
                <a:sym typeface="Roboto"/>
              </a:rPr>
              <a:t> Channel</a:t>
            </a:r>
            <a:endParaRPr b="1" sz="1100">
              <a:solidFill>
                <a:srgbClr val="212121"/>
              </a:solidFill>
              <a:latin typeface="Roboto"/>
              <a:ea typeface="Roboto"/>
              <a:cs typeface="Roboto"/>
              <a:sym typeface="Roboto"/>
            </a:endParaRPr>
          </a:p>
          <a:p>
            <a:pPr indent="-298450" lvl="0" marL="457200" rtl="0" algn="l">
              <a:spcBef>
                <a:spcPts val="0"/>
              </a:spcBef>
              <a:spcAft>
                <a:spcPts val="0"/>
              </a:spcAft>
              <a:buClr>
                <a:srgbClr val="212121"/>
              </a:buClr>
              <a:buSzPts val="1100"/>
              <a:buFont typeface="Arial"/>
              <a:buChar char="●"/>
            </a:pPr>
            <a:r>
              <a:rPr lang="en" sz="1100">
                <a:solidFill>
                  <a:srgbClr val="212121"/>
                </a:solidFill>
                <a:latin typeface="Roboto"/>
                <a:ea typeface="Roboto"/>
                <a:cs typeface="Roboto"/>
                <a:sym typeface="Roboto"/>
              </a:rPr>
              <a:t>Call is </a:t>
            </a:r>
            <a:r>
              <a:rPr b="1" lang="en" sz="1100">
                <a:solidFill>
                  <a:srgbClr val="212121"/>
                </a:solidFill>
                <a:latin typeface="Roboto"/>
                <a:ea typeface="Roboto"/>
                <a:cs typeface="Roboto"/>
                <a:sym typeface="Roboto"/>
              </a:rPr>
              <a:t>Niche Channel</a:t>
            </a:r>
            <a:r>
              <a:rPr lang="en" sz="1100">
                <a:solidFill>
                  <a:srgbClr val="212121"/>
                </a:solidFill>
                <a:latin typeface="Roboto"/>
                <a:ea typeface="Roboto"/>
                <a:cs typeface="Roboto"/>
                <a:sym typeface="Roboto"/>
              </a:rPr>
              <a:t> (Low Volume but Revenue oke)</a:t>
            </a:r>
            <a:endParaRPr sz="1100">
              <a:solidFill>
                <a:srgbClr val="212121"/>
              </a:solidFill>
              <a:latin typeface="Roboto"/>
              <a:ea typeface="Roboto"/>
              <a:cs typeface="Roboto"/>
              <a:sym typeface="Roboto"/>
            </a:endParaRPr>
          </a:p>
          <a:p>
            <a:pPr indent="-298450" lvl="0" marL="457200" rtl="0" algn="l">
              <a:spcBef>
                <a:spcPts val="0"/>
              </a:spcBef>
              <a:spcAft>
                <a:spcPts val="0"/>
              </a:spcAft>
              <a:buClr>
                <a:srgbClr val="212121"/>
              </a:buClr>
              <a:buSzPts val="1100"/>
              <a:buChar char="●"/>
            </a:pPr>
            <a:r>
              <a:rPr b="1" lang="en" sz="1100">
                <a:solidFill>
                  <a:srgbClr val="212121"/>
                </a:solidFill>
                <a:latin typeface="Roboto"/>
                <a:ea typeface="Roboto"/>
                <a:cs typeface="Roboto"/>
                <a:sym typeface="Roboto"/>
              </a:rPr>
              <a:t>Total All Revenue Rp. 25.946.420</a:t>
            </a:r>
            <a:r>
              <a:rPr lang="en" sz="1100">
                <a:solidFill>
                  <a:srgbClr val="212121"/>
                </a:solidFill>
                <a:latin typeface="Roboto"/>
                <a:ea typeface="Roboto"/>
                <a:cs typeface="Roboto"/>
                <a:sym typeface="Roboto"/>
              </a:rPr>
              <a:t>.</a:t>
            </a:r>
            <a:endParaRPr b="1" sz="1100">
              <a:solidFill>
                <a:srgbClr val="212121"/>
              </a:solidFill>
              <a:latin typeface="Roboto"/>
              <a:ea typeface="Roboto"/>
              <a:cs typeface="Roboto"/>
              <a:sym typeface="Roboto"/>
            </a:endParaRPr>
          </a:p>
        </p:txBody>
      </p:sp>
      <p:sp>
        <p:nvSpPr>
          <p:cNvPr id="404" name="Google Shape;404;p44"/>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44"/>
          <p:cNvSpPr/>
          <p:nvPr/>
        </p:nvSpPr>
        <p:spPr>
          <a:xfrm rot="-8512697">
            <a:off x="-1654550" y="1821495"/>
            <a:ext cx="2419597" cy="2419597"/>
          </a:xfrm>
          <a:prstGeom prst="donut">
            <a:avLst>
              <a:gd fmla="val 17784" name="adj"/>
            </a:avLst>
          </a:prstGeom>
          <a:gradFill>
            <a:gsLst>
              <a:gs pos="0">
                <a:srgbClr val="869FB1"/>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lt2"/>
              </a:highlight>
            </a:endParaRPr>
          </a:p>
        </p:txBody>
      </p:sp>
      <p:pic>
        <p:nvPicPr>
          <p:cNvPr id="406" name="Google Shape;406;p44"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407" name="Google Shape;407;p44"/>
          <p:cNvSpPr txBox="1"/>
          <p:nvPr>
            <p:ph type="title"/>
          </p:nvPr>
        </p:nvSpPr>
        <p:spPr>
          <a:xfrm>
            <a:off x="716100" y="789775"/>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2400">
                <a:solidFill>
                  <a:srgbClr val="212121"/>
                </a:solidFill>
                <a:latin typeface="Roboto"/>
                <a:ea typeface="Roboto"/>
                <a:cs typeface="Roboto"/>
                <a:sym typeface="Roboto"/>
              </a:rPr>
              <a:t>Revenue</a:t>
            </a:r>
            <a:endParaRPr sz="2400">
              <a:solidFill>
                <a:srgbClr val="212121"/>
              </a:solidFill>
              <a:latin typeface="Roboto"/>
              <a:ea typeface="Roboto"/>
              <a:cs typeface="Roboto"/>
              <a:sym typeface="Roboto"/>
            </a:endParaRPr>
          </a:p>
        </p:txBody>
      </p:sp>
      <p:sp>
        <p:nvSpPr>
          <p:cNvPr id="408" name="Google Shape;408;p44"/>
          <p:cNvSpPr txBox="1"/>
          <p:nvPr>
            <p:ph idx="1" type="subTitle"/>
          </p:nvPr>
        </p:nvSpPr>
        <p:spPr>
          <a:xfrm>
            <a:off x="1535100" y="1416050"/>
            <a:ext cx="6073800" cy="46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212121"/>
                </a:solidFill>
                <a:latin typeface="Roboto"/>
                <a:ea typeface="Roboto"/>
                <a:cs typeface="Roboto"/>
                <a:sym typeface="Roboto"/>
              </a:rPr>
              <a:t>Revenue Concentration Risk,</a:t>
            </a:r>
            <a:r>
              <a:rPr b="1" lang="en" sz="1200">
                <a:solidFill>
                  <a:srgbClr val="212121"/>
                </a:solidFill>
                <a:latin typeface="Roboto"/>
                <a:ea typeface="Roboto"/>
                <a:cs typeface="Roboto"/>
                <a:sym typeface="Roboto"/>
              </a:rPr>
              <a:t> &gt;85% of revenue comes from SMS + WhatsApp.</a:t>
            </a:r>
            <a:endParaRPr sz="1200">
              <a:solidFill>
                <a:srgbClr val="212121"/>
              </a:solidFill>
              <a:latin typeface="Roboto"/>
              <a:ea typeface="Roboto"/>
              <a:cs typeface="Roboto"/>
              <a:sym typeface="Roboto"/>
            </a:endParaRPr>
          </a:p>
        </p:txBody>
      </p:sp>
      <p:pic>
        <p:nvPicPr>
          <p:cNvPr id="409" name="Google Shape;409;p44"/>
          <p:cNvPicPr preferRelativeResize="0"/>
          <p:nvPr/>
        </p:nvPicPr>
        <p:blipFill>
          <a:blip r:embed="rId4">
            <a:alphaModFix/>
          </a:blip>
          <a:stretch>
            <a:fillRect/>
          </a:stretch>
        </p:blipFill>
        <p:spPr>
          <a:xfrm>
            <a:off x="1366351" y="1804688"/>
            <a:ext cx="2389750" cy="2090400"/>
          </a:xfrm>
          <a:prstGeom prst="rect">
            <a:avLst/>
          </a:prstGeom>
          <a:noFill/>
          <a:ln>
            <a:noFill/>
          </a:ln>
        </p:spPr>
      </p:pic>
      <p:sp>
        <p:nvSpPr>
          <p:cNvPr id="410" name="Google Shape;410;p44"/>
          <p:cNvSpPr txBox="1"/>
          <p:nvPr>
            <p:ph idx="1" type="subTitle"/>
          </p:nvPr>
        </p:nvSpPr>
        <p:spPr>
          <a:xfrm>
            <a:off x="1532675" y="3779013"/>
            <a:ext cx="2057100" cy="46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212121"/>
                </a:solidFill>
                <a:latin typeface="Roboto"/>
                <a:ea typeface="Roboto"/>
                <a:cs typeface="Roboto"/>
                <a:sym typeface="Roboto"/>
              </a:rPr>
              <a:t>Total All Revenue</a:t>
            </a:r>
            <a:endParaRPr sz="1200">
              <a:solidFill>
                <a:srgbClr val="212121"/>
              </a:solidFill>
              <a:latin typeface="Roboto"/>
              <a:ea typeface="Roboto"/>
              <a:cs typeface="Roboto"/>
              <a:sym typeface="Roboto"/>
            </a:endParaRPr>
          </a:p>
          <a:p>
            <a:pPr indent="0" lvl="0" marL="0" marR="0" rtl="0" algn="ctr">
              <a:lnSpc>
                <a:spcPct val="100000"/>
              </a:lnSpc>
              <a:spcBef>
                <a:spcPts val="0"/>
              </a:spcBef>
              <a:spcAft>
                <a:spcPts val="0"/>
              </a:spcAft>
              <a:buNone/>
            </a:pPr>
            <a:r>
              <a:rPr b="1" lang="en" sz="1200">
                <a:solidFill>
                  <a:srgbClr val="212121"/>
                </a:solidFill>
                <a:latin typeface="Roboto"/>
                <a:ea typeface="Roboto"/>
                <a:cs typeface="Roboto"/>
                <a:sym typeface="Roboto"/>
              </a:rPr>
              <a:t>Rp. 25.946.420</a:t>
            </a:r>
            <a:endParaRPr b="1" sz="1200">
              <a:solidFill>
                <a:srgbClr val="212121"/>
              </a:solidFill>
              <a:latin typeface="Roboto"/>
              <a:ea typeface="Roboto"/>
              <a:cs typeface="Roboto"/>
              <a:sym typeface="Roboto"/>
            </a:endParaRPr>
          </a:p>
        </p:txBody>
      </p:sp>
      <p:sp>
        <p:nvSpPr>
          <p:cNvPr id="411" name="Google Shape;411;p44"/>
          <p:cNvSpPr/>
          <p:nvPr/>
        </p:nvSpPr>
        <p:spPr>
          <a:xfrm>
            <a:off x="0" y="4737050"/>
            <a:ext cx="9198300" cy="320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412" name="Google Shape;412;p44"/>
          <p:cNvSpPr txBox="1"/>
          <p:nvPr>
            <p:ph idx="1" type="subTitle"/>
          </p:nvPr>
        </p:nvSpPr>
        <p:spPr>
          <a:xfrm>
            <a:off x="361050" y="4718700"/>
            <a:ext cx="8421900" cy="42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000">
                <a:latin typeface="Roboto"/>
                <a:ea typeface="Roboto"/>
                <a:cs typeface="Roboto"/>
                <a:sym typeface="Roboto"/>
              </a:rPr>
              <a:t>“The data shown has been adjusted for educational purposes and does not reflect the company’s actual business conditions.”</a:t>
            </a:r>
            <a:endParaRPr b="1" sz="1000">
              <a:latin typeface="Roboto"/>
              <a:ea typeface="Roboto"/>
              <a:cs typeface="Roboto"/>
              <a:sym typeface="Roboto"/>
            </a:endParaRPr>
          </a:p>
        </p:txBody>
      </p:sp>
      <p:sp>
        <p:nvSpPr>
          <p:cNvPr id="413" name="Google Shape;413;p44"/>
          <p:cNvSpPr/>
          <p:nvPr/>
        </p:nvSpPr>
        <p:spPr>
          <a:xfrm>
            <a:off x="1366350" y="2204825"/>
            <a:ext cx="731400" cy="619200"/>
          </a:xfrm>
          <a:prstGeom prst="rect">
            <a:avLst/>
          </a:prstGeom>
          <a:noFill/>
          <a:ln cap="flat" cmpd="sng" w="19050">
            <a:solidFill>
              <a:srgbClr val="CC0000"/>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414" name="Google Shape;414;p44"/>
          <p:cNvSpPr/>
          <p:nvPr/>
        </p:nvSpPr>
        <p:spPr>
          <a:xfrm>
            <a:off x="3062900" y="3292950"/>
            <a:ext cx="731400" cy="619200"/>
          </a:xfrm>
          <a:prstGeom prst="rect">
            <a:avLst/>
          </a:prstGeom>
          <a:noFill/>
          <a:ln cap="flat" cmpd="sng" w="19050">
            <a:solidFill>
              <a:srgbClr val="CC0000"/>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8" name="Shape 418"/>
        <p:cNvGrpSpPr/>
        <p:nvPr/>
      </p:nvGrpSpPr>
      <p:grpSpPr>
        <a:xfrm>
          <a:off x="0" y="0"/>
          <a:ext cx="0" cy="0"/>
          <a:chOff x="0" y="0"/>
          <a:chExt cx="0" cy="0"/>
        </a:xfrm>
      </p:grpSpPr>
      <p:sp>
        <p:nvSpPr>
          <p:cNvPr id="419" name="Google Shape;419;p45"/>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45"/>
          <p:cNvSpPr txBox="1"/>
          <p:nvPr>
            <p:ph idx="1" type="subTitle"/>
          </p:nvPr>
        </p:nvSpPr>
        <p:spPr>
          <a:xfrm>
            <a:off x="3666475" y="2293188"/>
            <a:ext cx="5086200" cy="1626600"/>
          </a:xfrm>
          <a:prstGeom prst="rect">
            <a:avLst/>
          </a:prstGeom>
        </p:spPr>
        <p:txBody>
          <a:bodyPr anchorCtr="0" anchor="t" bIns="91425" lIns="91425" spcFirstLastPara="1" rIns="91425" wrap="square" tIns="91425">
            <a:noAutofit/>
          </a:bodyPr>
          <a:lstStyle/>
          <a:p>
            <a:pPr indent="-298450" lvl="0" marL="457200" rtl="0" algn="just">
              <a:spcBef>
                <a:spcPts val="0"/>
              </a:spcBef>
              <a:spcAft>
                <a:spcPts val="0"/>
              </a:spcAft>
              <a:buClr>
                <a:srgbClr val="212121"/>
              </a:buClr>
              <a:buSzPts val="1100"/>
              <a:buChar char="●"/>
            </a:pPr>
            <a:r>
              <a:rPr lang="en" sz="1100">
                <a:solidFill>
                  <a:srgbClr val="212121"/>
                </a:solidFill>
                <a:latin typeface="Roboto"/>
                <a:ea typeface="Roboto"/>
                <a:cs typeface="Roboto"/>
                <a:sym typeface="Roboto"/>
              </a:rPr>
              <a:t>SMS is a </a:t>
            </a:r>
            <a:r>
              <a:rPr b="1" lang="en" sz="1100">
                <a:solidFill>
                  <a:srgbClr val="212121"/>
                </a:solidFill>
                <a:latin typeface="Roboto"/>
                <a:ea typeface="Roboto"/>
                <a:cs typeface="Roboto"/>
                <a:sym typeface="Roboto"/>
              </a:rPr>
              <a:t>premium channel.</a:t>
            </a:r>
            <a:r>
              <a:rPr lang="en" sz="1100">
                <a:solidFill>
                  <a:srgbClr val="212121"/>
                </a:solidFill>
                <a:latin typeface="Roboto"/>
                <a:ea typeface="Roboto"/>
                <a:cs typeface="Roboto"/>
                <a:sym typeface="Roboto"/>
              </a:rPr>
              <a:t> Although the volume is not the largest, each transaction 2.5x of WhatsApp &amp; 12x of email.</a:t>
            </a:r>
            <a:endParaRPr b="1"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Char char="●"/>
            </a:pPr>
            <a:r>
              <a:rPr lang="en" sz="1100">
                <a:solidFill>
                  <a:srgbClr val="212121"/>
                </a:solidFill>
                <a:latin typeface="Roboto"/>
                <a:ea typeface="Roboto"/>
                <a:cs typeface="Roboto"/>
                <a:sym typeface="Roboto"/>
              </a:rPr>
              <a:t>WhatsApp is a </a:t>
            </a:r>
            <a:r>
              <a:rPr b="1" lang="en" sz="1100">
                <a:solidFill>
                  <a:srgbClr val="212121"/>
                </a:solidFill>
                <a:latin typeface="Roboto"/>
                <a:ea typeface="Roboto"/>
                <a:cs typeface="Roboto"/>
                <a:sym typeface="Roboto"/>
              </a:rPr>
              <a:t>massive volume driver</a:t>
            </a:r>
            <a:r>
              <a:rPr lang="en" sz="1100">
                <a:solidFill>
                  <a:srgbClr val="212121"/>
                </a:solidFill>
                <a:latin typeface="Roboto"/>
                <a:ea typeface="Roboto"/>
                <a:cs typeface="Roboto"/>
                <a:sym typeface="Roboto"/>
              </a:rPr>
              <a:t>, but pricing/value per transaction is still moderate.</a:t>
            </a:r>
            <a:endParaRPr b="1"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Font typeface="Arial"/>
              <a:buChar char="●"/>
            </a:pPr>
            <a:r>
              <a:rPr lang="en" sz="1100">
                <a:solidFill>
                  <a:srgbClr val="212121"/>
                </a:solidFill>
                <a:latin typeface="Roboto"/>
                <a:ea typeface="Roboto"/>
                <a:cs typeface="Roboto"/>
                <a:sym typeface="Roboto"/>
              </a:rPr>
              <a:t>Email is a </a:t>
            </a:r>
            <a:r>
              <a:rPr b="1" lang="en" sz="1100">
                <a:solidFill>
                  <a:srgbClr val="212121"/>
                </a:solidFill>
                <a:latin typeface="Roboto"/>
                <a:ea typeface="Roboto"/>
                <a:cs typeface="Roboto"/>
                <a:sym typeface="Roboto"/>
              </a:rPr>
              <a:t>cheap channel</a:t>
            </a:r>
            <a:r>
              <a:rPr lang="en" sz="1100">
                <a:solidFill>
                  <a:srgbClr val="212121"/>
                </a:solidFill>
                <a:latin typeface="Roboto"/>
                <a:ea typeface="Roboto"/>
                <a:cs typeface="Roboto"/>
                <a:sym typeface="Roboto"/>
              </a:rPr>
              <a:t>. It's suitable for large scale, but it contributes almost </a:t>
            </a:r>
            <a:r>
              <a:rPr b="1" lang="en" sz="1100">
                <a:solidFill>
                  <a:srgbClr val="212121"/>
                </a:solidFill>
                <a:latin typeface="Roboto"/>
                <a:ea typeface="Roboto"/>
                <a:cs typeface="Roboto"/>
                <a:sym typeface="Roboto"/>
              </a:rPr>
              <a:t>nothing to revenue</a:t>
            </a:r>
            <a:r>
              <a:rPr lang="en" sz="1100">
                <a:solidFill>
                  <a:srgbClr val="212121"/>
                </a:solidFill>
                <a:latin typeface="Roboto"/>
                <a:ea typeface="Roboto"/>
                <a:cs typeface="Roboto"/>
                <a:sym typeface="Roboto"/>
              </a:rPr>
              <a:t>.</a:t>
            </a:r>
            <a:endParaRPr b="1"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Char char="●"/>
            </a:pPr>
            <a:r>
              <a:rPr lang="en" sz="1100">
                <a:solidFill>
                  <a:srgbClr val="212121"/>
                </a:solidFill>
                <a:latin typeface="Roboto"/>
                <a:ea typeface="Roboto"/>
                <a:cs typeface="Roboto"/>
                <a:sym typeface="Roboto"/>
              </a:rPr>
              <a:t>Calls are </a:t>
            </a:r>
            <a:r>
              <a:rPr b="1" lang="en" sz="1100">
                <a:solidFill>
                  <a:srgbClr val="212121"/>
                </a:solidFill>
                <a:latin typeface="Roboto"/>
                <a:ea typeface="Roboto"/>
                <a:cs typeface="Roboto"/>
                <a:sym typeface="Roboto"/>
              </a:rPr>
              <a:t>relatively expensive to operate</a:t>
            </a:r>
            <a:r>
              <a:rPr lang="en" sz="1100">
                <a:solidFill>
                  <a:srgbClr val="212121"/>
                </a:solidFill>
                <a:latin typeface="Roboto"/>
                <a:ea typeface="Roboto"/>
                <a:cs typeface="Roboto"/>
                <a:sym typeface="Roboto"/>
              </a:rPr>
              <a:t>. This channel is for specific cases, not mass usage.</a:t>
            </a:r>
            <a:endParaRPr b="1" sz="1100">
              <a:solidFill>
                <a:srgbClr val="212121"/>
              </a:solidFill>
              <a:latin typeface="Roboto"/>
              <a:ea typeface="Roboto"/>
              <a:cs typeface="Roboto"/>
              <a:sym typeface="Roboto"/>
            </a:endParaRPr>
          </a:p>
        </p:txBody>
      </p:sp>
      <p:sp>
        <p:nvSpPr>
          <p:cNvPr id="421" name="Google Shape;421;p45"/>
          <p:cNvSpPr/>
          <p:nvPr/>
        </p:nvSpPr>
        <p:spPr>
          <a:xfrm rot="-8512697">
            <a:off x="7593150" y="-710455"/>
            <a:ext cx="2419597" cy="2419597"/>
          </a:xfrm>
          <a:prstGeom prst="donut">
            <a:avLst>
              <a:gd fmla="val 17784" name="adj"/>
            </a:avLst>
          </a:prstGeom>
          <a:gradFill>
            <a:gsLst>
              <a:gs pos="0">
                <a:srgbClr val="869FB1"/>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lt2"/>
              </a:highlight>
            </a:endParaRPr>
          </a:p>
        </p:txBody>
      </p:sp>
      <p:sp>
        <p:nvSpPr>
          <p:cNvPr id="422" name="Google Shape;422;p45"/>
          <p:cNvSpPr txBox="1"/>
          <p:nvPr>
            <p:ph type="title"/>
          </p:nvPr>
        </p:nvSpPr>
        <p:spPr>
          <a:xfrm>
            <a:off x="716100" y="101710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2400">
                <a:solidFill>
                  <a:srgbClr val="212121"/>
                </a:solidFill>
                <a:latin typeface="Roboto"/>
                <a:ea typeface="Roboto"/>
                <a:cs typeface="Roboto"/>
                <a:sym typeface="Roboto"/>
              </a:rPr>
              <a:t>Average Per Transaction</a:t>
            </a:r>
            <a:endParaRPr sz="2400">
              <a:solidFill>
                <a:srgbClr val="212121"/>
              </a:solidFill>
              <a:latin typeface="Roboto"/>
              <a:ea typeface="Roboto"/>
              <a:cs typeface="Roboto"/>
              <a:sym typeface="Roboto"/>
            </a:endParaRPr>
          </a:p>
        </p:txBody>
      </p:sp>
      <p:sp>
        <p:nvSpPr>
          <p:cNvPr id="423" name="Google Shape;423;p45"/>
          <p:cNvSpPr txBox="1"/>
          <p:nvPr>
            <p:ph idx="1" type="subTitle"/>
          </p:nvPr>
        </p:nvSpPr>
        <p:spPr>
          <a:xfrm>
            <a:off x="521450" y="1607400"/>
            <a:ext cx="79065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rgbClr val="212121"/>
                </a:solidFill>
                <a:latin typeface="Roboto"/>
                <a:ea typeface="Roboto"/>
                <a:cs typeface="Roboto"/>
                <a:sym typeface="Roboto"/>
              </a:rPr>
              <a:t>SMS delivers </a:t>
            </a:r>
            <a:r>
              <a:rPr b="1" lang="en" sz="1100">
                <a:solidFill>
                  <a:srgbClr val="212121"/>
                </a:solidFill>
                <a:latin typeface="Roboto"/>
                <a:ea typeface="Roboto"/>
                <a:cs typeface="Roboto"/>
                <a:sym typeface="Roboto"/>
              </a:rPr>
              <a:t>the highest value per transaction</a:t>
            </a:r>
            <a:r>
              <a:rPr lang="en" sz="1100">
                <a:solidFill>
                  <a:srgbClr val="212121"/>
                </a:solidFill>
                <a:latin typeface="Roboto"/>
                <a:ea typeface="Roboto"/>
                <a:cs typeface="Roboto"/>
                <a:sym typeface="Roboto"/>
              </a:rPr>
              <a:t>, while WhatsApp drives volume with monetization potential. Email is a low-cost support channel, and Call serves high-touch use cases.</a:t>
            </a:r>
            <a:endParaRPr sz="1100">
              <a:solidFill>
                <a:srgbClr val="212121"/>
              </a:solidFill>
              <a:latin typeface="Roboto"/>
              <a:ea typeface="Roboto"/>
              <a:cs typeface="Roboto"/>
              <a:sym typeface="Roboto"/>
            </a:endParaRPr>
          </a:p>
        </p:txBody>
      </p:sp>
      <p:pic>
        <p:nvPicPr>
          <p:cNvPr id="424" name="Google Shape;424;p45"/>
          <p:cNvPicPr preferRelativeResize="0"/>
          <p:nvPr/>
        </p:nvPicPr>
        <p:blipFill>
          <a:blip r:embed="rId3">
            <a:alphaModFix/>
          </a:blip>
          <a:stretch>
            <a:fillRect/>
          </a:stretch>
        </p:blipFill>
        <p:spPr>
          <a:xfrm>
            <a:off x="262750" y="2353589"/>
            <a:ext cx="3609599" cy="2116327"/>
          </a:xfrm>
          <a:prstGeom prst="rect">
            <a:avLst/>
          </a:prstGeom>
          <a:noFill/>
          <a:ln>
            <a:noFill/>
          </a:ln>
        </p:spPr>
      </p:pic>
      <p:sp>
        <p:nvSpPr>
          <p:cNvPr id="425" name="Google Shape;425;p45"/>
          <p:cNvSpPr/>
          <p:nvPr/>
        </p:nvSpPr>
        <p:spPr>
          <a:xfrm>
            <a:off x="0" y="4737050"/>
            <a:ext cx="9198300" cy="320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426" name="Google Shape;426;p45"/>
          <p:cNvSpPr txBox="1"/>
          <p:nvPr>
            <p:ph idx="1" type="subTitle"/>
          </p:nvPr>
        </p:nvSpPr>
        <p:spPr>
          <a:xfrm>
            <a:off x="361050" y="4718700"/>
            <a:ext cx="8421900" cy="42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000">
                <a:latin typeface="Roboto"/>
                <a:ea typeface="Roboto"/>
                <a:cs typeface="Roboto"/>
                <a:sym typeface="Roboto"/>
              </a:rPr>
              <a:t>“The data shown has been adjusted for educational purposes and does not reflect the company’s actual business conditions.”</a:t>
            </a:r>
            <a:endParaRPr b="1" sz="1000">
              <a:latin typeface="Roboto"/>
              <a:ea typeface="Roboto"/>
              <a:cs typeface="Roboto"/>
              <a:sym typeface="Roboto"/>
            </a:endParaRPr>
          </a:p>
        </p:txBody>
      </p:sp>
      <p:pic>
        <p:nvPicPr>
          <p:cNvPr id="427" name="Google Shape;427;p45" title="Salinan Logo RevoU x OCA x Telkom.png"/>
          <p:cNvPicPr preferRelativeResize="0"/>
          <p:nvPr/>
        </p:nvPicPr>
        <p:blipFill rotWithShape="1">
          <a:blip r:embed="rId4">
            <a:alphaModFix/>
          </a:blip>
          <a:srcRect b="14850" l="0" r="0" t="17832"/>
          <a:stretch/>
        </p:blipFill>
        <p:spPr>
          <a:xfrm>
            <a:off x="0" y="28023"/>
            <a:ext cx="3300485" cy="822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31" name="Shape 431"/>
        <p:cNvGrpSpPr/>
        <p:nvPr/>
      </p:nvGrpSpPr>
      <p:grpSpPr>
        <a:xfrm>
          <a:off x="0" y="0"/>
          <a:ext cx="0" cy="0"/>
          <a:chOff x="0" y="0"/>
          <a:chExt cx="0" cy="0"/>
        </a:xfrm>
      </p:grpSpPr>
      <p:sp>
        <p:nvSpPr>
          <p:cNvPr id="432" name="Google Shape;432;p46"/>
          <p:cNvSpPr txBox="1"/>
          <p:nvPr>
            <p:ph idx="4294967295" type="title"/>
          </p:nvPr>
        </p:nvSpPr>
        <p:spPr>
          <a:xfrm>
            <a:off x="-117425" y="2120613"/>
            <a:ext cx="6462600" cy="2393700"/>
          </a:xfrm>
          <a:prstGeom prst="rect">
            <a:avLst/>
          </a:prstGeom>
        </p:spPr>
        <p:txBody>
          <a:bodyPr anchorCtr="0" anchor="t" bIns="91425" lIns="731500" spcFirstLastPara="1" rIns="731500" wrap="square" tIns="91425">
            <a:noAutofit/>
          </a:bodyPr>
          <a:lstStyle/>
          <a:p>
            <a:pPr indent="0" lvl="0" marL="0" rtl="0" algn="l">
              <a:spcBef>
                <a:spcPts val="0"/>
              </a:spcBef>
              <a:spcAft>
                <a:spcPts val="0"/>
              </a:spcAft>
              <a:buNone/>
            </a:pPr>
            <a:r>
              <a:rPr lang="en" sz="3000">
                <a:solidFill>
                  <a:srgbClr val="212121"/>
                </a:solidFill>
                <a:latin typeface="Roboto"/>
                <a:ea typeface="Roboto"/>
                <a:cs typeface="Roboto"/>
                <a:sym typeface="Roboto"/>
              </a:rPr>
              <a:t>SMS for </a:t>
            </a:r>
            <a:r>
              <a:rPr b="1" lang="en" sz="3000">
                <a:solidFill>
                  <a:srgbClr val="212121"/>
                </a:solidFill>
                <a:latin typeface="Roboto"/>
                <a:ea typeface="Roboto"/>
                <a:cs typeface="Roboto"/>
                <a:sym typeface="Roboto"/>
              </a:rPr>
              <a:t>critical reliability</a:t>
            </a:r>
            <a:r>
              <a:rPr lang="en" sz="3000">
                <a:solidFill>
                  <a:srgbClr val="212121"/>
                </a:solidFill>
                <a:latin typeface="Roboto"/>
                <a:ea typeface="Roboto"/>
                <a:cs typeface="Roboto"/>
                <a:sym typeface="Roboto"/>
              </a:rPr>
              <a:t>, </a:t>
            </a:r>
            <a:r>
              <a:rPr b="1" lang="en" sz="3000">
                <a:solidFill>
                  <a:srgbClr val="212121"/>
                </a:solidFill>
                <a:latin typeface="Roboto"/>
                <a:ea typeface="Roboto"/>
                <a:cs typeface="Roboto"/>
                <a:sym typeface="Roboto"/>
              </a:rPr>
              <a:t>optimize </a:t>
            </a:r>
            <a:r>
              <a:rPr lang="en" sz="3000">
                <a:solidFill>
                  <a:srgbClr val="212121"/>
                </a:solidFill>
                <a:latin typeface="Roboto"/>
                <a:ea typeface="Roboto"/>
                <a:cs typeface="Roboto"/>
                <a:sym typeface="Roboto"/>
              </a:rPr>
              <a:t>WhatsApp </a:t>
            </a:r>
            <a:br>
              <a:rPr lang="en" sz="3000">
                <a:solidFill>
                  <a:srgbClr val="212121"/>
                </a:solidFill>
                <a:latin typeface="Roboto"/>
                <a:ea typeface="Roboto"/>
                <a:cs typeface="Roboto"/>
                <a:sym typeface="Roboto"/>
              </a:rPr>
            </a:br>
            <a:r>
              <a:rPr lang="en" sz="3000">
                <a:solidFill>
                  <a:srgbClr val="212121"/>
                </a:solidFill>
                <a:latin typeface="Roboto"/>
                <a:ea typeface="Roboto"/>
                <a:cs typeface="Roboto"/>
                <a:sym typeface="Roboto"/>
              </a:rPr>
              <a:t>and Email, limit Calls.</a:t>
            </a:r>
            <a:endParaRPr sz="3000">
              <a:solidFill>
                <a:srgbClr val="212121"/>
              </a:solidFill>
              <a:latin typeface="Roboto"/>
              <a:ea typeface="Roboto"/>
              <a:cs typeface="Roboto"/>
              <a:sym typeface="Roboto"/>
            </a:endParaRPr>
          </a:p>
        </p:txBody>
      </p:sp>
      <p:pic>
        <p:nvPicPr>
          <p:cNvPr id="433" name="Google Shape;433;p46" title="sms_3988094.png"/>
          <p:cNvPicPr preferRelativeResize="0"/>
          <p:nvPr/>
        </p:nvPicPr>
        <p:blipFill>
          <a:blip r:embed="rId3">
            <a:alphaModFix/>
          </a:blip>
          <a:stretch>
            <a:fillRect/>
          </a:stretch>
        </p:blipFill>
        <p:spPr>
          <a:xfrm>
            <a:off x="6040900" y="2070450"/>
            <a:ext cx="2494025" cy="2494025"/>
          </a:xfrm>
          <a:prstGeom prst="rect">
            <a:avLst/>
          </a:prstGeom>
          <a:noFill/>
          <a:ln>
            <a:noFill/>
          </a:ln>
        </p:spPr>
      </p:pic>
      <p:pic>
        <p:nvPicPr>
          <p:cNvPr id="434" name="Google Shape;434;p46" title="Salinan Logo RevoU x OCA x Telkom.png"/>
          <p:cNvPicPr preferRelativeResize="0"/>
          <p:nvPr/>
        </p:nvPicPr>
        <p:blipFill rotWithShape="1">
          <a:blip r:embed="rId4">
            <a:alphaModFix/>
          </a:blip>
          <a:srcRect b="14850" l="0" r="0" t="17832"/>
          <a:stretch/>
        </p:blipFill>
        <p:spPr>
          <a:xfrm>
            <a:off x="0" y="28023"/>
            <a:ext cx="3300485" cy="822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8" name="Shape 438"/>
        <p:cNvGrpSpPr/>
        <p:nvPr/>
      </p:nvGrpSpPr>
      <p:grpSpPr>
        <a:xfrm>
          <a:off x="0" y="0"/>
          <a:ext cx="0" cy="0"/>
          <a:chOff x="0" y="0"/>
          <a:chExt cx="0" cy="0"/>
        </a:xfrm>
      </p:grpSpPr>
      <p:pic>
        <p:nvPicPr>
          <p:cNvPr id="439" name="Google Shape;439;p47"/>
          <p:cNvPicPr preferRelativeResize="0"/>
          <p:nvPr/>
        </p:nvPicPr>
        <p:blipFill>
          <a:blip r:embed="rId3">
            <a:alphaModFix/>
          </a:blip>
          <a:stretch>
            <a:fillRect/>
          </a:stretch>
        </p:blipFill>
        <p:spPr>
          <a:xfrm>
            <a:off x="254175" y="2526436"/>
            <a:ext cx="2088401" cy="1537750"/>
          </a:xfrm>
          <a:prstGeom prst="rect">
            <a:avLst/>
          </a:prstGeom>
          <a:noFill/>
          <a:ln>
            <a:noFill/>
          </a:ln>
        </p:spPr>
      </p:pic>
      <p:sp>
        <p:nvSpPr>
          <p:cNvPr id="440" name="Google Shape;440;p47"/>
          <p:cNvSpPr txBox="1"/>
          <p:nvPr>
            <p:ph idx="1" type="subTitle"/>
          </p:nvPr>
        </p:nvSpPr>
        <p:spPr>
          <a:xfrm>
            <a:off x="4844988" y="1962363"/>
            <a:ext cx="3959100" cy="1400400"/>
          </a:xfrm>
          <a:prstGeom prst="rect">
            <a:avLst/>
          </a:prstGeom>
        </p:spPr>
        <p:txBody>
          <a:bodyPr anchorCtr="0" anchor="t" bIns="91425" lIns="91425" spcFirstLastPara="1" rIns="91425" wrap="square" tIns="91425">
            <a:noAutofit/>
          </a:bodyPr>
          <a:lstStyle/>
          <a:p>
            <a:pPr indent="-298450" lvl="0" marL="457200" rtl="0" algn="just">
              <a:spcBef>
                <a:spcPts val="0"/>
              </a:spcBef>
              <a:spcAft>
                <a:spcPts val="0"/>
              </a:spcAft>
              <a:buClr>
                <a:srgbClr val="212121"/>
              </a:buClr>
              <a:buSzPts val="1100"/>
              <a:buFont typeface="Arial"/>
              <a:buChar char="●"/>
            </a:pPr>
            <a:r>
              <a:rPr lang="en" sz="1100">
                <a:solidFill>
                  <a:srgbClr val="212121"/>
                </a:solidFill>
                <a:latin typeface="Roboto"/>
                <a:ea typeface="Roboto"/>
                <a:cs typeface="Roboto"/>
                <a:sym typeface="Roboto"/>
              </a:rPr>
              <a:t>SMS Is the </a:t>
            </a:r>
            <a:r>
              <a:rPr b="1" lang="en" sz="1100">
                <a:solidFill>
                  <a:srgbClr val="212121"/>
                </a:solidFill>
                <a:latin typeface="Roboto"/>
                <a:ea typeface="Roboto"/>
                <a:cs typeface="Roboto"/>
                <a:sym typeface="Roboto"/>
              </a:rPr>
              <a:t>Most Reliable </a:t>
            </a:r>
            <a:r>
              <a:rPr lang="en" sz="1100">
                <a:solidFill>
                  <a:srgbClr val="212121"/>
                </a:solidFill>
                <a:latin typeface="Roboto"/>
                <a:ea typeface="Roboto"/>
                <a:cs typeface="Roboto"/>
                <a:sym typeface="Roboto"/>
              </a:rPr>
              <a:t>and </a:t>
            </a:r>
            <a:r>
              <a:rPr b="1" lang="en" sz="1100">
                <a:solidFill>
                  <a:srgbClr val="212121"/>
                </a:solidFill>
                <a:latin typeface="Roboto"/>
                <a:ea typeface="Roboto"/>
                <a:cs typeface="Roboto"/>
                <a:sym typeface="Roboto"/>
              </a:rPr>
              <a:t>Effective </a:t>
            </a:r>
            <a:r>
              <a:rPr lang="en" sz="1100">
                <a:solidFill>
                  <a:srgbClr val="212121"/>
                </a:solidFill>
                <a:latin typeface="Roboto"/>
                <a:ea typeface="Roboto"/>
                <a:cs typeface="Roboto"/>
                <a:sym typeface="Roboto"/>
              </a:rPr>
              <a:t>Channel.</a:t>
            </a:r>
            <a:endParaRPr b="1"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Font typeface="Roboto"/>
              <a:buChar char="●"/>
            </a:pPr>
            <a:r>
              <a:rPr lang="en" sz="1100">
                <a:solidFill>
                  <a:srgbClr val="212121"/>
                </a:solidFill>
                <a:latin typeface="Roboto"/>
                <a:ea typeface="Roboto"/>
                <a:cs typeface="Roboto"/>
                <a:sym typeface="Roboto"/>
              </a:rPr>
              <a:t>WhatsApp Performs Well but Suffers from Latency Issues.</a:t>
            </a:r>
            <a:endParaRPr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Font typeface="Arial"/>
              <a:buChar char="●"/>
            </a:pPr>
            <a:r>
              <a:rPr lang="en" sz="1100">
                <a:solidFill>
                  <a:srgbClr val="212121"/>
                </a:solidFill>
                <a:latin typeface="Roboto"/>
                <a:ea typeface="Roboto"/>
                <a:cs typeface="Roboto"/>
                <a:sym typeface="Roboto"/>
              </a:rPr>
              <a:t>Email Is Moderately Effective with </a:t>
            </a:r>
            <a:r>
              <a:rPr b="1" lang="en" sz="1100">
                <a:solidFill>
                  <a:srgbClr val="212121"/>
                </a:solidFill>
                <a:latin typeface="Roboto"/>
                <a:ea typeface="Roboto"/>
                <a:cs typeface="Roboto"/>
                <a:sym typeface="Roboto"/>
              </a:rPr>
              <a:t>Higher Pending Risk.</a:t>
            </a:r>
            <a:endParaRPr b="1"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Font typeface="Roboto"/>
              <a:buChar char="●"/>
            </a:pPr>
            <a:r>
              <a:rPr b="1" lang="en" sz="1100">
                <a:solidFill>
                  <a:srgbClr val="212121"/>
                </a:solidFill>
                <a:latin typeface="Roboto"/>
                <a:ea typeface="Roboto"/>
                <a:cs typeface="Roboto"/>
                <a:sym typeface="Roboto"/>
              </a:rPr>
              <a:t>Call Channel Is Highly Ineffective Due to User Behavior</a:t>
            </a:r>
            <a:endParaRPr b="1" sz="1100">
              <a:solidFill>
                <a:srgbClr val="212121"/>
              </a:solidFill>
              <a:latin typeface="Roboto"/>
              <a:ea typeface="Roboto"/>
              <a:cs typeface="Roboto"/>
              <a:sym typeface="Roboto"/>
            </a:endParaRPr>
          </a:p>
        </p:txBody>
      </p:sp>
      <p:sp>
        <p:nvSpPr>
          <p:cNvPr id="441" name="Google Shape;441;p47"/>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47"/>
          <p:cNvSpPr/>
          <p:nvPr/>
        </p:nvSpPr>
        <p:spPr>
          <a:xfrm rot="-8512697">
            <a:off x="7393600" y="3975820"/>
            <a:ext cx="2419597" cy="2419597"/>
          </a:xfrm>
          <a:prstGeom prst="donut">
            <a:avLst>
              <a:gd fmla="val 17784" name="adj"/>
            </a:avLst>
          </a:prstGeom>
          <a:gradFill>
            <a:gsLst>
              <a:gs pos="0">
                <a:srgbClr val="869FB1"/>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lt2"/>
              </a:highlight>
            </a:endParaRPr>
          </a:p>
        </p:txBody>
      </p:sp>
      <p:sp>
        <p:nvSpPr>
          <p:cNvPr id="443" name="Google Shape;443;p47"/>
          <p:cNvSpPr txBox="1"/>
          <p:nvPr>
            <p:ph type="title"/>
          </p:nvPr>
        </p:nvSpPr>
        <p:spPr>
          <a:xfrm>
            <a:off x="692438" y="107930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2400">
                <a:solidFill>
                  <a:srgbClr val="212121"/>
                </a:solidFill>
                <a:latin typeface="Roboto"/>
                <a:ea typeface="Roboto"/>
                <a:cs typeface="Roboto"/>
                <a:sym typeface="Roboto"/>
              </a:rPr>
              <a:t>Quality of Service</a:t>
            </a:r>
            <a:endParaRPr sz="2400">
              <a:solidFill>
                <a:srgbClr val="212121"/>
              </a:solidFill>
              <a:latin typeface="Roboto"/>
              <a:ea typeface="Roboto"/>
              <a:cs typeface="Roboto"/>
              <a:sym typeface="Roboto"/>
            </a:endParaRPr>
          </a:p>
        </p:txBody>
      </p:sp>
      <p:sp>
        <p:nvSpPr>
          <p:cNvPr id="444" name="Google Shape;444;p47"/>
          <p:cNvSpPr txBox="1"/>
          <p:nvPr>
            <p:ph idx="1" type="subTitle"/>
          </p:nvPr>
        </p:nvSpPr>
        <p:spPr>
          <a:xfrm>
            <a:off x="4930713" y="3290775"/>
            <a:ext cx="3959100" cy="773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200">
                <a:solidFill>
                  <a:srgbClr val="212121"/>
                </a:solidFill>
                <a:latin typeface="Roboto"/>
                <a:ea typeface="Roboto"/>
                <a:cs typeface="Roboto"/>
                <a:sym typeface="Roboto"/>
              </a:rPr>
              <a:t>SMS is the most </a:t>
            </a:r>
            <a:r>
              <a:rPr b="1" lang="en" sz="1200">
                <a:solidFill>
                  <a:srgbClr val="212121"/>
                </a:solidFill>
                <a:latin typeface="Roboto"/>
                <a:ea typeface="Roboto"/>
                <a:cs typeface="Roboto"/>
                <a:sym typeface="Roboto"/>
              </a:rPr>
              <a:t>reliable channel</a:t>
            </a:r>
            <a:r>
              <a:rPr lang="en" sz="1200">
                <a:solidFill>
                  <a:srgbClr val="212121"/>
                </a:solidFill>
                <a:latin typeface="Roboto"/>
                <a:ea typeface="Roboto"/>
                <a:cs typeface="Roboto"/>
                <a:sym typeface="Roboto"/>
              </a:rPr>
              <a:t>, WhatsApp and Email show delivery </a:t>
            </a:r>
            <a:r>
              <a:rPr b="1" lang="en" sz="1200">
                <a:solidFill>
                  <a:srgbClr val="212121"/>
                </a:solidFill>
                <a:latin typeface="Roboto"/>
                <a:ea typeface="Roboto"/>
                <a:cs typeface="Roboto"/>
                <a:sym typeface="Roboto"/>
              </a:rPr>
              <a:t>delays</a:t>
            </a:r>
            <a:r>
              <a:rPr lang="en" sz="1200">
                <a:solidFill>
                  <a:srgbClr val="212121"/>
                </a:solidFill>
                <a:latin typeface="Roboto"/>
                <a:ea typeface="Roboto"/>
                <a:cs typeface="Roboto"/>
                <a:sym typeface="Roboto"/>
              </a:rPr>
              <a:t>, while Call is </a:t>
            </a:r>
            <a:r>
              <a:rPr b="1" lang="en" sz="1200">
                <a:solidFill>
                  <a:srgbClr val="212121"/>
                </a:solidFill>
                <a:latin typeface="Roboto"/>
                <a:ea typeface="Roboto"/>
                <a:cs typeface="Roboto"/>
                <a:sym typeface="Roboto"/>
              </a:rPr>
              <a:t>highly ineffective</a:t>
            </a:r>
            <a:r>
              <a:rPr lang="en" sz="1200">
                <a:solidFill>
                  <a:srgbClr val="212121"/>
                </a:solidFill>
                <a:latin typeface="Roboto"/>
                <a:ea typeface="Roboto"/>
                <a:cs typeface="Roboto"/>
                <a:sym typeface="Roboto"/>
              </a:rPr>
              <a:t> due to user non-response rather than technical failure.</a:t>
            </a:r>
            <a:endParaRPr sz="1200">
              <a:solidFill>
                <a:srgbClr val="212121"/>
              </a:solidFill>
              <a:latin typeface="Roboto"/>
              <a:ea typeface="Roboto"/>
              <a:cs typeface="Roboto"/>
              <a:sym typeface="Roboto"/>
            </a:endParaRPr>
          </a:p>
        </p:txBody>
      </p:sp>
      <p:pic>
        <p:nvPicPr>
          <p:cNvPr id="445" name="Google Shape;445;p47" title="Effectiveness per channel.png"/>
          <p:cNvPicPr preferRelativeResize="0"/>
          <p:nvPr/>
        </p:nvPicPr>
        <p:blipFill rotWithShape="1">
          <a:blip r:embed="rId4">
            <a:alphaModFix/>
          </a:blip>
          <a:srcRect b="79035" l="89509" r="785" t="2152"/>
          <a:stretch/>
        </p:blipFill>
        <p:spPr>
          <a:xfrm>
            <a:off x="1540784" y="1940761"/>
            <a:ext cx="948647" cy="746163"/>
          </a:xfrm>
          <a:prstGeom prst="rect">
            <a:avLst/>
          </a:prstGeom>
          <a:noFill/>
          <a:ln>
            <a:noFill/>
          </a:ln>
        </p:spPr>
      </p:pic>
      <p:pic>
        <p:nvPicPr>
          <p:cNvPr id="446" name="Google Shape;446;p47"/>
          <p:cNvPicPr preferRelativeResize="0"/>
          <p:nvPr/>
        </p:nvPicPr>
        <p:blipFill>
          <a:blip r:embed="rId5">
            <a:alphaModFix/>
          </a:blip>
          <a:stretch>
            <a:fillRect/>
          </a:stretch>
        </p:blipFill>
        <p:spPr>
          <a:xfrm>
            <a:off x="2241838" y="1908175"/>
            <a:ext cx="2603149" cy="1837149"/>
          </a:xfrm>
          <a:prstGeom prst="rect">
            <a:avLst/>
          </a:prstGeom>
          <a:noFill/>
          <a:ln>
            <a:noFill/>
          </a:ln>
        </p:spPr>
      </p:pic>
      <p:sp>
        <p:nvSpPr>
          <p:cNvPr id="447" name="Google Shape;447;p47"/>
          <p:cNvSpPr/>
          <p:nvPr/>
        </p:nvSpPr>
        <p:spPr>
          <a:xfrm>
            <a:off x="0" y="4737050"/>
            <a:ext cx="9198300" cy="320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448" name="Google Shape;448;p47"/>
          <p:cNvSpPr txBox="1"/>
          <p:nvPr>
            <p:ph idx="1" type="subTitle"/>
          </p:nvPr>
        </p:nvSpPr>
        <p:spPr>
          <a:xfrm>
            <a:off x="361050" y="4718700"/>
            <a:ext cx="8421900" cy="42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000">
                <a:latin typeface="Roboto"/>
                <a:ea typeface="Roboto"/>
                <a:cs typeface="Roboto"/>
                <a:sym typeface="Roboto"/>
              </a:rPr>
              <a:t>“The data shown has been adjusted for educational purposes and does not reflect the company’s actual business conditions.”</a:t>
            </a:r>
            <a:endParaRPr b="1" sz="1000">
              <a:latin typeface="Roboto"/>
              <a:ea typeface="Roboto"/>
              <a:cs typeface="Roboto"/>
              <a:sym typeface="Roboto"/>
            </a:endParaRPr>
          </a:p>
        </p:txBody>
      </p:sp>
      <p:pic>
        <p:nvPicPr>
          <p:cNvPr id="449" name="Google Shape;449;p47" title="Salinan Logo RevoU x OCA x Telkom.png"/>
          <p:cNvPicPr preferRelativeResize="0"/>
          <p:nvPr/>
        </p:nvPicPr>
        <p:blipFill rotWithShape="1">
          <a:blip r:embed="rId6">
            <a:alphaModFix/>
          </a:blip>
          <a:srcRect b="14850" l="0" r="0" t="17832"/>
          <a:stretch/>
        </p:blipFill>
        <p:spPr>
          <a:xfrm>
            <a:off x="0" y="28023"/>
            <a:ext cx="3300485" cy="8229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3" name="Shape 453"/>
        <p:cNvGrpSpPr/>
        <p:nvPr/>
      </p:nvGrpSpPr>
      <p:grpSpPr>
        <a:xfrm>
          <a:off x="0" y="0"/>
          <a:ext cx="0" cy="0"/>
          <a:chOff x="0" y="0"/>
          <a:chExt cx="0" cy="0"/>
        </a:xfrm>
      </p:grpSpPr>
      <p:pic>
        <p:nvPicPr>
          <p:cNvPr id="454" name="Google Shape;454;p48"/>
          <p:cNvPicPr preferRelativeResize="0"/>
          <p:nvPr/>
        </p:nvPicPr>
        <p:blipFill>
          <a:blip r:embed="rId3">
            <a:alphaModFix/>
          </a:blip>
          <a:stretch>
            <a:fillRect/>
          </a:stretch>
        </p:blipFill>
        <p:spPr>
          <a:xfrm>
            <a:off x="4371975" y="1515450"/>
            <a:ext cx="1877140" cy="1400400"/>
          </a:xfrm>
          <a:prstGeom prst="rect">
            <a:avLst/>
          </a:prstGeom>
          <a:noFill/>
          <a:ln>
            <a:noFill/>
          </a:ln>
        </p:spPr>
      </p:pic>
      <p:sp>
        <p:nvSpPr>
          <p:cNvPr id="455" name="Google Shape;455;p48"/>
          <p:cNvSpPr txBox="1"/>
          <p:nvPr>
            <p:ph idx="1" type="subTitle"/>
          </p:nvPr>
        </p:nvSpPr>
        <p:spPr>
          <a:xfrm>
            <a:off x="4185675" y="2868225"/>
            <a:ext cx="4242300" cy="1400400"/>
          </a:xfrm>
          <a:prstGeom prst="rect">
            <a:avLst/>
          </a:prstGeom>
        </p:spPr>
        <p:txBody>
          <a:bodyPr anchorCtr="0" anchor="t" bIns="91425" lIns="91425" spcFirstLastPara="1" rIns="91425" wrap="square" tIns="91425">
            <a:noAutofit/>
          </a:bodyPr>
          <a:lstStyle/>
          <a:p>
            <a:pPr indent="-292100" lvl="0" marL="457200" rtl="0" algn="just">
              <a:spcBef>
                <a:spcPts val="0"/>
              </a:spcBef>
              <a:spcAft>
                <a:spcPts val="0"/>
              </a:spcAft>
              <a:buClr>
                <a:srgbClr val="212121"/>
              </a:buClr>
              <a:buSzPts val="1000"/>
              <a:buChar char="●"/>
            </a:pPr>
            <a:r>
              <a:rPr lang="en" sz="1000">
                <a:solidFill>
                  <a:srgbClr val="212121"/>
                </a:solidFill>
                <a:latin typeface="Roboto"/>
                <a:ea typeface="Roboto"/>
                <a:cs typeface="Roboto"/>
                <a:sym typeface="Roboto"/>
              </a:rPr>
              <a:t>Overall Delivery Effectiveness Is </a:t>
            </a:r>
            <a:r>
              <a:rPr b="1" lang="en" sz="1000">
                <a:solidFill>
                  <a:srgbClr val="212121"/>
                </a:solidFill>
                <a:latin typeface="Roboto"/>
                <a:ea typeface="Roboto"/>
                <a:cs typeface="Roboto"/>
                <a:sym typeface="Roboto"/>
              </a:rPr>
              <a:t>Strong</a:t>
            </a:r>
            <a:r>
              <a:rPr lang="en" sz="1000">
                <a:solidFill>
                  <a:srgbClr val="212121"/>
                </a:solidFill>
                <a:latin typeface="Roboto"/>
                <a:ea typeface="Roboto"/>
                <a:cs typeface="Roboto"/>
                <a:sym typeface="Roboto"/>
              </a:rPr>
              <a:t>, but </a:t>
            </a:r>
            <a:r>
              <a:rPr b="1" lang="en" sz="1000">
                <a:solidFill>
                  <a:srgbClr val="212121"/>
                </a:solidFill>
                <a:latin typeface="Roboto"/>
                <a:ea typeface="Roboto"/>
                <a:cs typeface="Roboto"/>
                <a:sym typeface="Roboto"/>
              </a:rPr>
              <a:t>Delays </a:t>
            </a:r>
            <a:r>
              <a:rPr lang="en" sz="1000">
                <a:solidFill>
                  <a:srgbClr val="212121"/>
                </a:solidFill>
                <a:latin typeface="Roboto"/>
                <a:ea typeface="Roboto"/>
                <a:cs typeface="Roboto"/>
                <a:sym typeface="Roboto"/>
              </a:rPr>
              <a:t>Remain a Concern</a:t>
            </a:r>
            <a:endParaRPr sz="1000">
              <a:solidFill>
                <a:srgbClr val="212121"/>
              </a:solidFill>
              <a:latin typeface="Roboto"/>
              <a:ea typeface="Roboto"/>
              <a:cs typeface="Roboto"/>
              <a:sym typeface="Roboto"/>
            </a:endParaRPr>
          </a:p>
          <a:p>
            <a:pPr indent="-292100" lvl="0" marL="457200" rtl="0" algn="just">
              <a:spcBef>
                <a:spcPts val="0"/>
              </a:spcBef>
              <a:spcAft>
                <a:spcPts val="0"/>
              </a:spcAft>
              <a:buClr>
                <a:srgbClr val="212121"/>
              </a:buClr>
              <a:buSzPts val="1000"/>
              <a:buChar char="●"/>
            </a:pPr>
            <a:r>
              <a:rPr lang="en" sz="1000">
                <a:solidFill>
                  <a:srgbClr val="212121"/>
                </a:solidFill>
                <a:latin typeface="Roboto"/>
                <a:ea typeface="Roboto"/>
                <a:cs typeface="Roboto"/>
                <a:sym typeface="Roboto"/>
              </a:rPr>
              <a:t>SMS is the </a:t>
            </a:r>
            <a:r>
              <a:rPr b="1" lang="en" sz="1000">
                <a:solidFill>
                  <a:srgbClr val="212121"/>
                </a:solidFill>
                <a:latin typeface="Roboto"/>
                <a:ea typeface="Roboto"/>
                <a:cs typeface="Roboto"/>
                <a:sym typeface="Roboto"/>
              </a:rPr>
              <a:t>most reliable channel.</a:t>
            </a:r>
            <a:r>
              <a:rPr lang="en" sz="1000">
                <a:solidFill>
                  <a:srgbClr val="212121"/>
                </a:solidFill>
                <a:latin typeface="Roboto"/>
                <a:ea typeface="Roboto"/>
                <a:cs typeface="Roboto"/>
                <a:sym typeface="Roboto"/>
              </a:rPr>
              <a:t> There are </a:t>
            </a:r>
            <a:r>
              <a:rPr b="1" lang="en" sz="1000">
                <a:solidFill>
                  <a:srgbClr val="212121"/>
                </a:solidFill>
                <a:latin typeface="Roboto"/>
                <a:ea typeface="Roboto"/>
                <a:cs typeface="Roboto"/>
                <a:sym typeface="Roboto"/>
              </a:rPr>
              <a:t>almost zero issues</a:t>
            </a:r>
            <a:r>
              <a:rPr lang="en" sz="1000">
                <a:solidFill>
                  <a:srgbClr val="212121"/>
                </a:solidFill>
                <a:latin typeface="Roboto"/>
                <a:ea typeface="Roboto"/>
                <a:cs typeface="Roboto"/>
                <a:sym typeface="Roboto"/>
              </a:rPr>
              <a:t>, making it </a:t>
            </a:r>
            <a:r>
              <a:rPr b="1" lang="en" sz="1000">
                <a:solidFill>
                  <a:srgbClr val="212121"/>
                </a:solidFill>
                <a:latin typeface="Roboto"/>
                <a:ea typeface="Roboto"/>
                <a:cs typeface="Roboto"/>
                <a:sym typeface="Roboto"/>
              </a:rPr>
              <a:t>suitable for critical communication.</a:t>
            </a:r>
            <a:endParaRPr b="1" sz="1000">
              <a:solidFill>
                <a:srgbClr val="212121"/>
              </a:solidFill>
              <a:latin typeface="Roboto"/>
              <a:ea typeface="Roboto"/>
              <a:cs typeface="Roboto"/>
              <a:sym typeface="Roboto"/>
            </a:endParaRPr>
          </a:p>
          <a:p>
            <a:pPr indent="-292100" lvl="0" marL="457200" rtl="0" algn="just">
              <a:spcBef>
                <a:spcPts val="0"/>
              </a:spcBef>
              <a:spcAft>
                <a:spcPts val="0"/>
              </a:spcAft>
              <a:buClr>
                <a:srgbClr val="212121"/>
              </a:buClr>
              <a:buSzPts val="1000"/>
              <a:buFont typeface="Arial"/>
              <a:buChar char="●"/>
            </a:pPr>
            <a:r>
              <a:rPr lang="en" sz="1000">
                <a:solidFill>
                  <a:srgbClr val="212121"/>
                </a:solidFill>
                <a:latin typeface="Roboto"/>
                <a:ea typeface="Roboto"/>
                <a:cs typeface="Roboto"/>
                <a:sym typeface="Roboto"/>
              </a:rPr>
              <a:t>The </a:t>
            </a:r>
            <a:r>
              <a:rPr b="1" lang="en" sz="1000">
                <a:solidFill>
                  <a:srgbClr val="212121"/>
                </a:solidFill>
                <a:latin typeface="Roboto"/>
                <a:ea typeface="Roboto"/>
                <a:cs typeface="Roboto"/>
                <a:sym typeface="Roboto"/>
              </a:rPr>
              <a:t>main problem</a:t>
            </a:r>
            <a:r>
              <a:rPr lang="en" sz="1000">
                <a:solidFill>
                  <a:srgbClr val="212121"/>
                </a:solidFill>
                <a:latin typeface="Roboto"/>
                <a:ea typeface="Roboto"/>
                <a:cs typeface="Roboto"/>
                <a:sym typeface="Roboto"/>
              </a:rPr>
              <a:t> with </a:t>
            </a:r>
            <a:r>
              <a:rPr b="1" lang="en" sz="1000">
                <a:solidFill>
                  <a:srgbClr val="212121"/>
                </a:solidFill>
                <a:latin typeface="Roboto"/>
                <a:ea typeface="Roboto"/>
                <a:cs typeface="Roboto"/>
                <a:sym typeface="Roboto"/>
              </a:rPr>
              <a:t>Whatsatpp &amp; Email </a:t>
            </a:r>
            <a:r>
              <a:rPr lang="en" sz="1000">
                <a:solidFill>
                  <a:srgbClr val="212121"/>
                </a:solidFill>
                <a:latin typeface="Roboto"/>
                <a:ea typeface="Roboto"/>
                <a:cs typeface="Roboto"/>
                <a:sym typeface="Roboto"/>
              </a:rPr>
              <a:t>is not that it fails, but that </a:t>
            </a:r>
            <a:r>
              <a:rPr b="1" lang="en" sz="1000">
                <a:solidFill>
                  <a:srgbClr val="212121"/>
                </a:solidFill>
                <a:latin typeface="Roboto"/>
                <a:ea typeface="Roboto"/>
                <a:cs typeface="Roboto"/>
                <a:sym typeface="Roboto"/>
              </a:rPr>
              <a:t>it has a high pending rate</a:t>
            </a:r>
            <a:r>
              <a:rPr lang="en" sz="1000">
                <a:solidFill>
                  <a:srgbClr val="212121"/>
                </a:solidFill>
                <a:latin typeface="Roboto"/>
                <a:ea typeface="Roboto"/>
                <a:cs typeface="Roboto"/>
                <a:sym typeface="Roboto"/>
              </a:rPr>
              <a:t>.</a:t>
            </a:r>
            <a:endParaRPr b="1" sz="1000">
              <a:solidFill>
                <a:srgbClr val="212121"/>
              </a:solidFill>
              <a:latin typeface="Roboto"/>
              <a:ea typeface="Roboto"/>
              <a:cs typeface="Roboto"/>
              <a:sym typeface="Roboto"/>
            </a:endParaRPr>
          </a:p>
          <a:p>
            <a:pPr indent="-292100" lvl="0" marL="457200" rtl="0" algn="just">
              <a:spcBef>
                <a:spcPts val="0"/>
              </a:spcBef>
              <a:spcAft>
                <a:spcPts val="0"/>
              </a:spcAft>
              <a:buClr>
                <a:srgbClr val="212121"/>
              </a:buClr>
              <a:buSzPts val="1000"/>
              <a:buChar char="●"/>
            </a:pPr>
            <a:r>
              <a:rPr lang="en" sz="1000">
                <a:solidFill>
                  <a:srgbClr val="212121"/>
                </a:solidFill>
                <a:latin typeface="Roboto"/>
                <a:ea typeface="Roboto"/>
                <a:cs typeface="Roboto"/>
                <a:sym typeface="Roboto"/>
              </a:rPr>
              <a:t>Calls are </a:t>
            </a:r>
            <a:r>
              <a:rPr b="1" lang="en" sz="1000">
                <a:solidFill>
                  <a:srgbClr val="212121"/>
                </a:solidFill>
                <a:latin typeface="Roboto"/>
                <a:ea typeface="Roboto"/>
                <a:cs typeface="Roboto"/>
                <a:sym typeface="Roboto"/>
              </a:rPr>
              <a:t>not scalable and highly inefficient.</a:t>
            </a:r>
            <a:r>
              <a:rPr lang="en" sz="1000">
                <a:solidFill>
                  <a:srgbClr val="212121"/>
                </a:solidFill>
                <a:latin typeface="Roboto"/>
                <a:ea typeface="Roboto"/>
                <a:cs typeface="Roboto"/>
                <a:sym typeface="Roboto"/>
              </a:rPr>
              <a:t> The majority of calls are not connected, </a:t>
            </a:r>
            <a:r>
              <a:rPr b="1" lang="en" sz="1000">
                <a:solidFill>
                  <a:srgbClr val="212121"/>
                </a:solidFill>
                <a:latin typeface="Roboto"/>
                <a:ea typeface="Roboto"/>
                <a:cs typeface="Roboto"/>
                <a:sym typeface="Roboto"/>
              </a:rPr>
              <a:t>not due to technical issues, but rather user behavior (RNA)</a:t>
            </a:r>
            <a:r>
              <a:rPr lang="en" sz="1000">
                <a:solidFill>
                  <a:srgbClr val="212121"/>
                </a:solidFill>
                <a:latin typeface="Roboto"/>
                <a:ea typeface="Roboto"/>
                <a:cs typeface="Roboto"/>
                <a:sym typeface="Roboto"/>
              </a:rPr>
              <a:t>.</a:t>
            </a:r>
            <a:endParaRPr b="1" sz="1000">
              <a:solidFill>
                <a:srgbClr val="212121"/>
              </a:solidFill>
              <a:latin typeface="Roboto"/>
              <a:ea typeface="Roboto"/>
              <a:cs typeface="Roboto"/>
              <a:sym typeface="Roboto"/>
            </a:endParaRPr>
          </a:p>
        </p:txBody>
      </p:sp>
      <p:sp>
        <p:nvSpPr>
          <p:cNvPr id="456" name="Google Shape;456;p48"/>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48"/>
          <p:cNvSpPr/>
          <p:nvPr/>
        </p:nvSpPr>
        <p:spPr>
          <a:xfrm rot="-8512697">
            <a:off x="-1654550" y="1821495"/>
            <a:ext cx="2419597" cy="2419597"/>
          </a:xfrm>
          <a:prstGeom prst="donut">
            <a:avLst>
              <a:gd fmla="val 17784" name="adj"/>
            </a:avLst>
          </a:prstGeom>
          <a:gradFill>
            <a:gsLst>
              <a:gs pos="0">
                <a:srgbClr val="869FB1"/>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lt2"/>
              </a:highlight>
            </a:endParaRPr>
          </a:p>
        </p:txBody>
      </p:sp>
      <p:sp>
        <p:nvSpPr>
          <p:cNvPr id="458" name="Google Shape;458;p48"/>
          <p:cNvSpPr txBox="1"/>
          <p:nvPr>
            <p:ph type="title"/>
          </p:nvPr>
        </p:nvSpPr>
        <p:spPr>
          <a:xfrm>
            <a:off x="716100" y="777375"/>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2400">
                <a:solidFill>
                  <a:srgbClr val="212121"/>
                </a:solidFill>
                <a:latin typeface="Roboto"/>
                <a:ea typeface="Roboto"/>
                <a:cs typeface="Roboto"/>
                <a:sym typeface="Roboto"/>
              </a:rPr>
              <a:t>Quality of Service</a:t>
            </a:r>
            <a:endParaRPr sz="2400">
              <a:solidFill>
                <a:srgbClr val="212121"/>
              </a:solidFill>
              <a:latin typeface="Roboto"/>
              <a:ea typeface="Roboto"/>
              <a:cs typeface="Roboto"/>
              <a:sym typeface="Roboto"/>
            </a:endParaRPr>
          </a:p>
        </p:txBody>
      </p:sp>
      <p:pic>
        <p:nvPicPr>
          <p:cNvPr id="459" name="Google Shape;459;p48"/>
          <p:cNvPicPr preferRelativeResize="0"/>
          <p:nvPr/>
        </p:nvPicPr>
        <p:blipFill>
          <a:blip r:embed="rId4">
            <a:alphaModFix/>
          </a:blip>
          <a:stretch>
            <a:fillRect/>
          </a:stretch>
        </p:blipFill>
        <p:spPr>
          <a:xfrm>
            <a:off x="599100" y="1467025"/>
            <a:ext cx="3732422" cy="2330988"/>
          </a:xfrm>
          <a:prstGeom prst="rect">
            <a:avLst/>
          </a:prstGeom>
          <a:noFill/>
          <a:ln>
            <a:noFill/>
          </a:ln>
        </p:spPr>
      </p:pic>
      <p:sp>
        <p:nvSpPr>
          <p:cNvPr id="460" name="Google Shape;460;p48"/>
          <p:cNvSpPr/>
          <p:nvPr/>
        </p:nvSpPr>
        <p:spPr>
          <a:xfrm>
            <a:off x="5173925" y="1643850"/>
            <a:ext cx="494700" cy="1192500"/>
          </a:xfrm>
          <a:prstGeom prst="rect">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461" name="Google Shape;461;p48"/>
          <p:cNvSpPr/>
          <p:nvPr/>
        </p:nvSpPr>
        <p:spPr>
          <a:xfrm>
            <a:off x="0" y="4737050"/>
            <a:ext cx="9198300" cy="320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462" name="Google Shape;462;p48"/>
          <p:cNvSpPr txBox="1"/>
          <p:nvPr>
            <p:ph idx="1" type="subTitle"/>
          </p:nvPr>
        </p:nvSpPr>
        <p:spPr>
          <a:xfrm>
            <a:off x="361050" y="4718700"/>
            <a:ext cx="8421900" cy="42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000">
                <a:latin typeface="Roboto"/>
                <a:ea typeface="Roboto"/>
                <a:cs typeface="Roboto"/>
                <a:sym typeface="Roboto"/>
              </a:rPr>
              <a:t>“The data shown has been adjusted for educational purposes and does not reflect the company’s actual business conditions.”</a:t>
            </a:r>
            <a:endParaRPr b="1" sz="1000">
              <a:latin typeface="Roboto"/>
              <a:ea typeface="Roboto"/>
              <a:cs typeface="Roboto"/>
              <a:sym typeface="Roboto"/>
            </a:endParaRPr>
          </a:p>
        </p:txBody>
      </p:sp>
      <p:pic>
        <p:nvPicPr>
          <p:cNvPr id="463" name="Google Shape;463;p48" title="Salinan Logo RevoU x OCA x Telkom.png"/>
          <p:cNvPicPr preferRelativeResize="0"/>
          <p:nvPr/>
        </p:nvPicPr>
        <p:blipFill rotWithShape="1">
          <a:blip r:embed="rId5">
            <a:alphaModFix/>
          </a:blip>
          <a:srcRect b="14850" l="0" r="0" t="17832"/>
          <a:stretch/>
        </p:blipFill>
        <p:spPr>
          <a:xfrm>
            <a:off x="0" y="28023"/>
            <a:ext cx="3300485" cy="822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67" name="Shape 467"/>
        <p:cNvGrpSpPr/>
        <p:nvPr/>
      </p:nvGrpSpPr>
      <p:grpSpPr>
        <a:xfrm>
          <a:off x="0" y="0"/>
          <a:ext cx="0" cy="0"/>
          <a:chOff x="0" y="0"/>
          <a:chExt cx="0" cy="0"/>
        </a:xfrm>
      </p:grpSpPr>
      <p:sp>
        <p:nvSpPr>
          <p:cNvPr id="468" name="Google Shape;468;p49"/>
          <p:cNvSpPr txBox="1"/>
          <p:nvPr>
            <p:ph idx="4294967295" type="title"/>
          </p:nvPr>
        </p:nvSpPr>
        <p:spPr>
          <a:xfrm>
            <a:off x="0" y="2123925"/>
            <a:ext cx="6462600" cy="2393700"/>
          </a:xfrm>
          <a:prstGeom prst="rect">
            <a:avLst/>
          </a:prstGeom>
        </p:spPr>
        <p:txBody>
          <a:bodyPr anchorCtr="0" anchor="t" bIns="91425" lIns="731500" spcFirstLastPara="1" rIns="731500" wrap="square" tIns="91425">
            <a:noAutofit/>
          </a:bodyPr>
          <a:lstStyle/>
          <a:p>
            <a:pPr indent="0" lvl="0" marL="0" rtl="0" algn="l">
              <a:spcBef>
                <a:spcPts val="0"/>
              </a:spcBef>
              <a:spcAft>
                <a:spcPts val="0"/>
              </a:spcAft>
              <a:buNone/>
            </a:pPr>
            <a:r>
              <a:rPr lang="en" sz="3000">
                <a:solidFill>
                  <a:srgbClr val="212121"/>
                </a:solidFill>
                <a:latin typeface="Roboto"/>
                <a:ea typeface="Roboto"/>
                <a:cs typeface="Roboto"/>
                <a:sym typeface="Roboto"/>
              </a:rPr>
              <a:t>Engagement </a:t>
            </a:r>
            <a:r>
              <a:rPr b="1" lang="en" sz="3000">
                <a:solidFill>
                  <a:srgbClr val="212121"/>
                </a:solidFill>
                <a:latin typeface="Roboto"/>
                <a:ea typeface="Roboto"/>
                <a:cs typeface="Roboto"/>
                <a:sym typeface="Roboto"/>
              </a:rPr>
              <a:t>stable</a:t>
            </a:r>
            <a:r>
              <a:rPr lang="en" sz="3000">
                <a:solidFill>
                  <a:srgbClr val="212121"/>
                </a:solidFill>
                <a:latin typeface="Roboto"/>
                <a:ea typeface="Roboto"/>
                <a:cs typeface="Roboto"/>
                <a:sym typeface="Roboto"/>
              </a:rPr>
              <a:t>, </a:t>
            </a:r>
            <a:br>
              <a:rPr lang="en" sz="3000">
                <a:solidFill>
                  <a:srgbClr val="212121"/>
                </a:solidFill>
                <a:latin typeface="Roboto"/>
                <a:ea typeface="Roboto"/>
                <a:cs typeface="Roboto"/>
                <a:sym typeface="Roboto"/>
              </a:rPr>
            </a:br>
            <a:r>
              <a:rPr lang="en" sz="3000">
                <a:solidFill>
                  <a:srgbClr val="212121"/>
                </a:solidFill>
                <a:latin typeface="Roboto"/>
                <a:ea typeface="Roboto"/>
                <a:cs typeface="Roboto"/>
                <a:sym typeface="Roboto"/>
              </a:rPr>
              <a:t>volume </a:t>
            </a:r>
            <a:r>
              <a:rPr b="1" lang="en" sz="3000">
                <a:solidFill>
                  <a:srgbClr val="212121"/>
                </a:solidFill>
                <a:latin typeface="Roboto"/>
                <a:ea typeface="Roboto"/>
                <a:cs typeface="Roboto"/>
                <a:sym typeface="Roboto"/>
              </a:rPr>
              <a:t>concentrated</a:t>
            </a:r>
            <a:r>
              <a:rPr lang="en" sz="3000">
                <a:solidFill>
                  <a:srgbClr val="212121"/>
                </a:solidFill>
                <a:latin typeface="Roboto"/>
                <a:ea typeface="Roboto"/>
                <a:cs typeface="Roboto"/>
                <a:sym typeface="Roboto"/>
              </a:rPr>
              <a:t>, </a:t>
            </a:r>
            <a:br>
              <a:rPr lang="en" sz="3000">
                <a:solidFill>
                  <a:srgbClr val="212121"/>
                </a:solidFill>
                <a:latin typeface="Roboto"/>
                <a:ea typeface="Roboto"/>
                <a:cs typeface="Roboto"/>
                <a:sym typeface="Roboto"/>
              </a:rPr>
            </a:br>
            <a:r>
              <a:rPr lang="en" sz="3000">
                <a:solidFill>
                  <a:srgbClr val="212121"/>
                </a:solidFill>
                <a:latin typeface="Roboto"/>
                <a:ea typeface="Roboto"/>
                <a:cs typeface="Roboto"/>
                <a:sym typeface="Roboto"/>
              </a:rPr>
              <a:t>email </a:t>
            </a:r>
            <a:r>
              <a:rPr b="1" lang="en" sz="3000">
                <a:solidFill>
                  <a:srgbClr val="212121"/>
                </a:solidFill>
                <a:latin typeface="Roboto"/>
                <a:ea typeface="Roboto"/>
                <a:cs typeface="Roboto"/>
                <a:sym typeface="Roboto"/>
              </a:rPr>
              <a:t>declining</a:t>
            </a:r>
            <a:r>
              <a:rPr lang="en" sz="3000">
                <a:solidFill>
                  <a:srgbClr val="212121"/>
                </a:solidFill>
                <a:latin typeface="Roboto"/>
                <a:ea typeface="Roboto"/>
                <a:cs typeface="Roboto"/>
                <a:sym typeface="Roboto"/>
              </a:rPr>
              <a:t>, WhatsApp drives </a:t>
            </a:r>
            <a:r>
              <a:rPr b="1" lang="en" sz="3000">
                <a:solidFill>
                  <a:srgbClr val="212121"/>
                </a:solidFill>
                <a:latin typeface="Roboto"/>
                <a:ea typeface="Roboto"/>
                <a:cs typeface="Roboto"/>
                <a:sym typeface="Roboto"/>
              </a:rPr>
              <a:t>upsell opportunities</a:t>
            </a:r>
            <a:r>
              <a:rPr lang="en" sz="3000">
                <a:solidFill>
                  <a:srgbClr val="212121"/>
                </a:solidFill>
                <a:latin typeface="Roboto"/>
                <a:ea typeface="Roboto"/>
                <a:cs typeface="Roboto"/>
                <a:sym typeface="Roboto"/>
              </a:rPr>
              <a:t>.</a:t>
            </a:r>
            <a:endParaRPr sz="3000">
              <a:solidFill>
                <a:srgbClr val="212121"/>
              </a:solidFill>
              <a:latin typeface="Roboto"/>
              <a:ea typeface="Roboto"/>
              <a:cs typeface="Roboto"/>
              <a:sym typeface="Roboto"/>
            </a:endParaRPr>
          </a:p>
        </p:txBody>
      </p:sp>
      <p:pic>
        <p:nvPicPr>
          <p:cNvPr id="469" name="Google Shape;469;p49" title="usp_5030066.png"/>
          <p:cNvPicPr preferRelativeResize="0"/>
          <p:nvPr/>
        </p:nvPicPr>
        <p:blipFill>
          <a:blip r:embed="rId3">
            <a:alphaModFix/>
          </a:blip>
          <a:stretch>
            <a:fillRect/>
          </a:stretch>
        </p:blipFill>
        <p:spPr>
          <a:xfrm>
            <a:off x="5963275" y="1100925"/>
            <a:ext cx="2376600" cy="2376600"/>
          </a:xfrm>
          <a:prstGeom prst="rect">
            <a:avLst/>
          </a:prstGeom>
          <a:noFill/>
          <a:ln>
            <a:noFill/>
          </a:ln>
        </p:spPr>
      </p:pic>
      <p:pic>
        <p:nvPicPr>
          <p:cNvPr id="470" name="Google Shape;470;p49" title="Salinan Logo RevoU x OCA x Telkom.png"/>
          <p:cNvPicPr preferRelativeResize="0"/>
          <p:nvPr/>
        </p:nvPicPr>
        <p:blipFill rotWithShape="1">
          <a:blip r:embed="rId4">
            <a:alphaModFix/>
          </a:blip>
          <a:srcRect b="14850" l="0" r="0" t="17832"/>
          <a:stretch/>
        </p:blipFill>
        <p:spPr>
          <a:xfrm>
            <a:off x="0" y="28023"/>
            <a:ext cx="3300485" cy="8229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4" name="Shape 474"/>
        <p:cNvGrpSpPr/>
        <p:nvPr/>
      </p:nvGrpSpPr>
      <p:grpSpPr>
        <a:xfrm>
          <a:off x="0" y="0"/>
          <a:ext cx="0" cy="0"/>
          <a:chOff x="0" y="0"/>
          <a:chExt cx="0" cy="0"/>
        </a:xfrm>
      </p:grpSpPr>
      <p:sp>
        <p:nvSpPr>
          <p:cNvPr id="475" name="Google Shape;475;p50"/>
          <p:cNvSpPr txBox="1"/>
          <p:nvPr>
            <p:ph idx="1" type="subTitle"/>
          </p:nvPr>
        </p:nvSpPr>
        <p:spPr>
          <a:xfrm>
            <a:off x="5461300" y="1833275"/>
            <a:ext cx="3504000" cy="2075100"/>
          </a:xfrm>
          <a:prstGeom prst="rect">
            <a:avLst/>
          </a:prstGeom>
        </p:spPr>
        <p:txBody>
          <a:bodyPr anchorCtr="0" anchor="t" bIns="91425" lIns="91425" spcFirstLastPara="1" rIns="91425" wrap="square" tIns="91425">
            <a:noAutofit/>
          </a:bodyPr>
          <a:lstStyle/>
          <a:p>
            <a:pPr indent="-298450" lvl="0" marL="457200" rtl="0" algn="just">
              <a:spcBef>
                <a:spcPts val="0"/>
              </a:spcBef>
              <a:spcAft>
                <a:spcPts val="0"/>
              </a:spcAft>
              <a:buClr>
                <a:srgbClr val="212121"/>
              </a:buClr>
              <a:buSzPts val="1100"/>
              <a:buChar char="●"/>
            </a:pPr>
            <a:r>
              <a:rPr lang="en" sz="1100">
                <a:solidFill>
                  <a:srgbClr val="212121"/>
                </a:solidFill>
                <a:latin typeface="Roboto"/>
                <a:ea typeface="Roboto"/>
                <a:cs typeface="Roboto"/>
                <a:sym typeface="Roboto"/>
              </a:rPr>
              <a:t>High Activity </a:t>
            </a:r>
            <a:r>
              <a:rPr b="1" lang="en" sz="1100">
                <a:solidFill>
                  <a:srgbClr val="212121"/>
                </a:solidFill>
                <a:latin typeface="Roboto"/>
                <a:ea typeface="Roboto"/>
                <a:cs typeface="Roboto"/>
                <a:sym typeface="Roboto"/>
              </a:rPr>
              <a:t>Does Not</a:t>
            </a:r>
            <a:r>
              <a:rPr lang="en" sz="1100">
                <a:solidFill>
                  <a:srgbClr val="212121"/>
                </a:solidFill>
                <a:latin typeface="Roboto"/>
                <a:ea typeface="Roboto"/>
                <a:cs typeface="Roboto"/>
                <a:sym typeface="Roboto"/>
              </a:rPr>
              <a:t> Always Mean High Volume.</a:t>
            </a:r>
            <a:endParaRPr b="1"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Font typeface="Arial"/>
              <a:buChar char="●"/>
            </a:pPr>
            <a:r>
              <a:rPr b="1" lang="en" sz="1100">
                <a:solidFill>
                  <a:srgbClr val="000000"/>
                </a:solidFill>
                <a:latin typeface="Roboto"/>
                <a:ea typeface="Roboto"/>
                <a:cs typeface="Roboto"/>
                <a:sym typeface="Roboto"/>
              </a:rPr>
              <a:t>Extreme Volume Concentration </a:t>
            </a:r>
            <a:r>
              <a:rPr lang="en" sz="1100">
                <a:solidFill>
                  <a:srgbClr val="000000"/>
                </a:solidFill>
                <a:latin typeface="Roboto"/>
                <a:ea typeface="Roboto"/>
                <a:cs typeface="Roboto"/>
                <a:sym typeface="Roboto"/>
              </a:rPr>
              <a:t>Among a Few Key Clients.</a:t>
            </a:r>
            <a:endParaRPr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Char char="●"/>
            </a:pPr>
            <a:r>
              <a:rPr lang="en" sz="1100">
                <a:solidFill>
                  <a:srgbClr val="212121"/>
                </a:solidFill>
                <a:latin typeface="Roboto"/>
                <a:ea typeface="Roboto"/>
                <a:cs typeface="Roboto"/>
                <a:sym typeface="Roboto"/>
              </a:rPr>
              <a:t>Industry Pattern: </a:t>
            </a:r>
            <a:r>
              <a:rPr b="1" lang="en" sz="1100">
                <a:solidFill>
                  <a:srgbClr val="212121"/>
                </a:solidFill>
                <a:latin typeface="Roboto"/>
                <a:ea typeface="Roboto"/>
                <a:cs typeface="Roboto"/>
                <a:sym typeface="Roboto"/>
              </a:rPr>
              <a:t>Volume-Driven</a:t>
            </a:r>
            <a:r>
              <a:rPr lang="en" sz="1100">
                <a:solidFill>
                  <a:srgbClr val="212121"/>
                </a:solidFill>
                <a:latin typeface="Roboto"/>
                <a:ea typeface="Roboto"/>
                <a:cs typeface="Roboto"/>
                <a:sym typeface="Roboto"/>
              </a:rPr>
              <a:t> vs </a:t>
            </a:r>
            <a:r>
              <a:rPr b="1" lang="en" sz="1100">
                <a:solidFill>
                  <a:srgbClr val="212121"/>
                </a:solidFill>
                <a:latin typeface="Roboto"/>
                <a:ea typeface="Roboto"/>
                <a:cs typeface="Roboto"/>
                <a:sym typeface="Roboto"/>
              </a:rPr>
              <a:t>Usage-Driven</a:t>
            </a:r>
            <a:endParaRPr b="1"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Font typeface="Arial"/>
              <a:buChar char="●"/>
            </a:pPr>
            <a:r>
              <a:rPr lang="en" sz="1100">
                <a:solidFill>
                  <a:srgbClr val="212121"/>
                </a:solidFill>
                <a:latin typeface="Roboto"/>
                <a:ea typeface="Roboto"/>
                <a:cs typeface="Roboto"/>
                <a:sym typeface="Roboto"/>
              </a:rPr>
              <a:t>Long-Tenured Clients </a:t>
            </a:r>
            <a:r>
              <a:rPr b="1" lang="en" sz="1100">
                <a:solidFill>
                  <a:srgbClr val="212121"/>
                </a:solidFill>
                <a:latin typeface="Roboto"/>
                <a:ea typeface="Roboto"/>
                <a:cs typeface="Roboto"/>
                <a:sym typeface="Roboto"/>
              </a:rPr>
              <a:t>Are Not Always</a:t>
            </a:r>
            <a:r>
              <a:rPr lang="en" sz="1100">
                <a:solidFill>
                  <a:srgbClr val="212121"/>
                </a:solidFill>
                <a:latin typeface="Roboto"/>
                <a:ea typeface="Roboto"/>
                <a:cs typeface="Roboto"/>
                <a:sym typeface="Roboto"/>
              </a:rPr>
              <a:t> Top Contributors</a:t>
            </a:r>
            <a:endParaRPr sz="1100">
              <a:solidFill>
                <a:srgbClr val="212121"/>
              </a:solidFill>
              <a:latin typeface="Roboto"/>
              <a:ea typeface="Roboto"/>
              <a:cs typeface="Roboto"/>
              <a:sym typeface="Roboto"/>
            </a:endParaRPr>
          </a:p>
          <a:p>
            <a:pPr indent="-298450" lvl="0" marL="457200" rtl="0" algn="just">
              <a:spcBef>
                <a:spcPts val="0"/>
              </a:spcBef>
              <a:spcAft>
                <a:spcPts val="0"/>
              </a:spcAft>
              <a:buClr>
                <a:srgbClr val="212121"/>
              </a:buClr>
              <a:buSzPts val="1100"/>
              <a:buFont typeface="Roboto"/>
              <a:buChar char="●"/>
            </a:pPr>
            <a:r>
              <a:rPr lang="en" sz="1100">
                <a:solidFill>
                  <a:srgbClr val="212121"/>
                </a:solidFill>
                <a:latin typeface="Roboto"/>
                <a:ea typeface="Roboto"/>
                <a:cs typeface="Roboto"/>
                <a:sym typeface="Roboto"/>
              </a:rPr>
              <a:t>Top Users Are Very Active, but Volume Is </a:t>
            </a:r>
            <a:r>
              <a:rPr b="1" lang="en" sz="1100">
                <a:solidFill>
                  <a:srgbClr val="212121"/>
                </a:solidFill>
                <a:latin typeface="Roboto"/>
                <a:ea typeface="Roboto"/>
                <a:cs typeface="Roboto"/>
                <a:sym typeface="Roboto"/>
              </a:rPr>
              <a:t>Highly Concentrated</a:t>
            </a:r>
            <a:r>
              <a:rPr lang="en" sz="1100">
                <a:solidFill>
                  <a:srgbClr val="212121"/>
                </a:solidFill>
                <a:latin typeface="Roboto"/>
                <a:ea typeface="Roboto"/>
                <a:cs typeface="Roboto"/>
                <a:sym typeface="Roboto"/>
              </a:rPr>
              <a:t> 3 top users (</a:t>
            </a:r>
            <a:r>
              <a:rPr b="1" lang="en" sz="1100">
                <a:solidFill>
                  <a:srgbClr val="212121"/>
                </a:solidFill>
                <a:latin typeface="Roboto"/>
                <a:ea typeface="Roboto"/>
                <a:cs typeface="Roboto"/>
                <a:sym typeface="Roboto"/>
              </a:rPr>
              <a:t>Travel, Finance, Real Estate</a:t>
            </a:r>
            <a:r>
              <a:rPr lang="en" sz="1100">
                <a:solidFill>
                  <a:srgbClr val="212121"/>
                </a:solidFill>
                <a:latin typeface="Roboto"/>
                <a:ea typeface="Roboto"/>
                <a:cs typeface="Roboto"/>
                <a:sym typeface="Roboto"/>
              </a:rPr>
              <a:t>) around </a:t>
            </a:r>
            <a:r>
              <a:rPr b="1" lang="en" sz="1100">
                <a:solidFill>
                  <a:srgbClr val="212121"/>
                </a:solidFill>
                <a:latin typeface="Roboto"/>
                <a:ea typeface="Roboto"/>
                <a:cs typeface="Roboto"/>
                <a:sym typeface="Roboto"/>
              </a:rPr>
              <a:t>24.5K</a:t>
            </a:r>
            <a:endParaRPr sz="1100">
              <a:solidFill>
                <a:srgbClr val="212121"/>
              </a:solidFill>
              <a:latin typeface="Roboto"/>
              <a:ea typeface="Roboto"/>
              <a:cs typeface="Roboto"/>
              <a:sym typeface="Roboto"/>
            </a:endParaRPr>
          </a:p>
        </p:txBody>
      </p:sp>
      <p:sp>
        <p:nvSpPr>
          <p:cNvPr id="476" name="Google Shape;476;p50"/>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50"/>
          <p:cNvSpPr txBox="1"/>
          <p:nvPr>
            <p:ph type="title"/>
          </p:nvPr>
        </p:nvSpPr>
        <p:spPr>
          <a:xfrm>
            <a:off x="716100" y="64690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2400">
                <a:solidFill>
                  <a:srgbClr val="212121"/>
                </a:solidFill>
                <a:latin typeface="Roboto"/>
                <a:ea typeface="Roboto"/>
                <a:cs typeface="Roboto"/>
                <a:sym typeface="Roboto"/>
              </a:rPr>
              <a:t>Top Users</a:t>
            </a:r>
            <a:endParaRPr sz="2400">
              <a:solidFill>
                <a:srgbClr val="212121"/>
              </a:solidFill>
              <a:latin typeface="Roboto"/>
              <a:ea typeface="Roboto"/>
              <a:cs typeface="Roboto"/>
              <a:sym typeface="Roboto"/>
            </a:endParaRPr>
          </a:p>
        </p:txBody>
      </p:sp>
      <p:sp>
        <p:nvSpPr>
          <p:cNvPr id="478" name="Google Shape;478;p50"/>
          <p:cNvSpPr txBox="1"/>
          <p:nvPr>
            <p:ph idx="1" type="subTitle"/>
          </p:nvPr>
        </p:nvSpPr>
        <p:spPr>
          <a:xfrm>
            <a:off x="1515225" y="3765200"/>
            <a:ext cx="7271400" cy="773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100">
                <a:solidFill>
                  <a:srgbClr val="212121"/>
                </a:solidFill>
                <a:latin typeface="Roboto"/>
                <a:ea typeface="Roboto"/>
                <a:cs typeface="Roboto"/>
                <a:sym typeface="Roboto"/>
              </a:rPr>
              <a:t>While most clients are consistently active, message volume is </a:t>
            </a:r>
            <a:r>
              <a:rPr b="1" lang="en" sz="1100">
                <a:solidFill>
                  <a:srgbClr val="212121"/>
                </a:solidFill>
                <a:latin typeface="Roboto"/>
                <a:ea typeface="Roboto"/>
                <a:cs typeface="Roboto"/>
                <a:sym typeface="Roboto"/>
              </a:rPr>
              <a:t>highly concentrated</a:t>
            </a:r>
            <a:r>
              <a:rPr lang="en" sz="1100">
                <a:solidFill>
                  <a:srgbClr val="212121"/>
                </a:solidFill>
                <a:latin typeface="Roboto"/>
                <a:ea typeface="Roboto"/>
                <a:cs typeface="Roboto"/>
                <a:sym typeface="Roboto"/>
              </a:rPr>
              <a:t> among a </a:t>
            </a:r>
            <a:r>
              <a:rPr b="1" lang="en" sz="1100">
                <a:solidFill>
                  <a:srgbClr val="212121"/>
                </a:solidFill>
                <a:latin typeface="Roboto"/>
                <a:ea typeface="Roboto"/>
                <a:cs typeface="Roboto"/>
                <a:sym typeface="Roboto"/>
              </a:rPr>
              <a:t>few key users</a:t>
            </a:r>
            <a:r>
              <a:rPr lang="en" sz="1100">
                <a:solidFill>
                  <a:srgbClr val="212121"/>
                </a:solidFill>
                <a:latin typeface="Roboto"/>
                <a:ea typeface="Roboto"/>
                <a:cs typeface="Roboto"/>
                <a:sym typeface="Roboto"/>
              </a:rPr>
              <a:t>, indicating </a:t>
            </a:r>
            <a:r>
              <a:rPr b="1" lang="en" sz="1100">
                <a:solidFill>
                  <a:srgbClr val="212121"/>
                </a:solidFill>
                <a:latin typeface="Roboto"/>
                <a:ea typeface="Roboto"/>
                <a:cs typeface="Roboto"/>
                <a:sym typeface="Roboto"/>
              </a:rPr>
              <a:t>dependency risk</a:t>
            </a:r>
            <a:r>
              <a:rPr lang="en" sz="1100">
                <a:solidFill>
                  <a:srgbClr val="212121"/>
                </a:solidFill>
                <a:latin typeface="Roboto"/>
                <a:ea typeface="Roboto"/>
                <a:cs typeface="Roboto"/>
                <a:sym typeface="Roboto"/>
              </a:rPr>
              <a:t> and </a:t>
            </a:r>
            <a:r>
              <a:rPr b="1" lang="en" sz="1100">
                <a:solidFill>
                  <a:srgbClr val="212121"/>
                </a:solidFill>
                <a:latin typeface="Roboto"/>
                <a:ea typeface="Roboto"/>
                <a:cs typeface="Roboto"/>
                <a:sym typeface="Roboto"/>
              </a:rPr>
              <a:t>strong upselling potential</a:t>
            </a:r>
            <a:r>
              <a:rPr lang="en" sz="1100">
                <a:solidFill>
                  <a:srgbClr val="212121"/>
                </a:solidFill>
                <a:latin typeface="Roboto"/>
                <a:ea typeface="Roboto"/>
                <a:cs typeface="Roboto"/>
                <a:sym typeface="Roboto"/>
              </a:rPr>
              <a:t> among highly engaged but low-volume clients.</a:t>
            </a:r>
            <a:endParaRPr sz="1100">
              <a:solidFill>
                <a:srgbClr val="212121"/>
              </a:solidFill>
              <a:latin typeface="Roboto"/>
              <a:ea typeface="Roboto"/>
              <a:cs typeface="Roboto"/>
              <a:sym typeface="Roboto"/>
            </a:endParaRPr>
          </a:p>
        </p:txBody>
      </p:sp>
      <p:sp>
        <p:nvSpPr>
          <p:cNvPr id="479" name="Google Shape;479;p50"/>
          <p:cNvSpPr txBox="1"/>
          <p:nvPr>
            <p:ph type="title"/>
          </p:nvPr>
        </p:nvSpPr>
        <p:spPr>
          <a:xfrm>
            <a:off x="716100" y="972592"/>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b="0" lang="en" sz="2100">
                <a:solidFill>
                  <a:srgbClr val="212121"/>
                </a:solidFill>
                <a:latin typeface="Roboto"/>
                <a:ea typeface="Roboto"/>
                <a:cs typeface="Roboto"/>
                <a:sym typeface="Roboto"/>
              </a:rPr>
              <a:t>Volume &amp; Active Days</a:t>
            </a:r>
            <a:endParaRPr b="0" sz="2100">
              <a:solidFill>
                <a:srgbClr val="212121"/>
              </a:solidFill>
              <a:latin typeface="Roboto"/>
              <a:ea typeface="Roboto"/>
              <a:cs typeface="Roboto"/>
              <a:sym typeface="Roboto"/>
            </a:endParaRPr>
          </a:p>
        </p:txBody>
      </p:sp>
      <p:pic>
        <p:nvPicPr>
          <p:cNvPr id="480" name="Google Shape;480;p50"/>
          <p:cNvPicPr preferRelativeResize="0"/>
          <p:nvPr/>
        </p:nvPicPr>
        <p:blipFill>
          <a:blip r:embed="rId3">
            <a:alphaModFix/>
          </a:blip>
          <a:stretch>
            <a:fillRect/>
          </a:stretch>
        </p:blipFill>
        <p:spPr>
          <a:xfrm>
            <a:off x="3303888" y="1833275"/>
            <a:ext cx="2247064" cy="1697524"/>
          </a:xfrm>
          <a:prstGeom prst="rect">
            <a:avLst/>
          </a:prstGeom>
          <a:noFill/>
          <a:ln>
            <a:noFill/>
          </a:ln>
        </p:spPr>
      </p:pic>
      <p:sp>
        <p:nvSpPr>
          <p:cNvPr id="481" name="Google Shape;481;p50"/>
          <p:cNvSpPr/>
          <p:nvPr/>
        </p:nvSpPr>
        <p:spPr>
          <a:xfrm>
            <a:off x="4768625" y="2786775"/>
            <a:ext cx="856200" cy="744000"/>
          </a:xfrm>
          <a:prstGeom prst="rect">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pic>
        <p:nvPicPr>
          <p:cNvPr id="482" name="Google Shape;482;p50" title="Screenshot 2026-01-03 121317.png"/>
          <p:cNvPicPr preferRelativeResize="0"/>
          <p:nvPr/>
        </p:nvPicPr>
        <p:blipFill>
          <a:blip r:embed="rId4">
            <a:alphaModFix/>
          </a:blip>
          <a:stretch>
            <a:fillRect/>
          </a:stretch>
        </p:blipFill>
        <p:spPr>
          <a:xfrm>
            <a:off x="44200" y="1745838"/>
            <a:ext cx="3278437" cy="1931925"/>
          </a:xfrm>
          <a:prstGeom prst="rect">
            <a:avLst/>
          </a:prstGeom>
          <a:noFill/>
          <a:ln>
            <a:noFill/>
          </a:ln>
        </p:spPr>
      </p:pic>
      <p:sp>
        <p:nvSpPr>
          <p:cNvPr id="483" name="Google Shape;483;p50"/>
          <p:cNvSpPr/>
          <p:nvPr/>
        </p:nvSpPr>
        <p:spPr>
          <a:xfrm>
            <a:off x="0" y="4737050"/>
            <a:ext cx="9198300" cy="320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484" name="Google Shape;484;p50"/>
          <p:cNvSpPr txBox="1"/>
          <p:nvPr>
            <p:ph idx="1" type="subTitle"/>
          </p:nvPr>
        </p:nvSpPr>
        <p:spPr>
          <a:xfrm>
            <a:off x="361050" y="4718700"/>
            <a:ext cx="8421900" cy="42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000">
                <a:latin typeface="Roboto"/>
                <a:ea typeface="Roboto"/>
                <a:cs typeface="Roboto"/>
                <a:sym typeface="Roboto"/>
              </a:rPr>
              <a:t>“The data shown has been adjusted for educational purposes and does not reflect the company’s actual business conditions.”</a:t>
            </a:r>
            <a:endParaRPr b="1" sz="1000">
              <a:latin typeface="Roboto"/>
              <a:ea typeface="Roboto"/>
              <a:cs typeface="Roboto"/>
              <a:sym typeface="Roboto"/>
            </a:endParaRPr>
          </a:p>
        </p:txBody>
      </p:sp>
      <p:pic>
        <p:nvPicPr>
          <p:cNvPr id="485" name="Google Shape;485;p50" title="Salinan Logo RevoU x OCA x Telkom.png"/>
          <p:cNvPicPr preferRelativeResize="0"/>
          <p:nvPr/>
        </p:nvPicPr>
        <p:blipFill rotWithShape="1">
          <a:blip r:embed="rId5">
            <a:alphaModFix/>
          </a:blip>
          <a:srcRect b="14850" l="0" r="0" t="17832"/>
          <a:stretch/>
        </p:blipFill>
        <p:spPr>
          <a:xfrm>
            <a:off x="0" y="28023"/>
            <a:ext cx="3300485" cy="8229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9" name="Shape 489"/>
        <p:cNvGrpSpPr/>
        <p:nvPr/>
      </p:nvGrpSpPr>
      <p:grpSpPr>
        <a:xfrm>
          <a:off x="0" y="0"/>
          <a:ext cx="0" cy="0"/>
          <a:chOff x="0" y="0"/>
          <a:chExt cx="0" cy="0"/>
        </a:xfrm>
      </p:grpSpPr>
      <p:sp>
        <p:nvSpPr>
          <p:cNvPr id="490" name="Google Shape;490;p51"/>
          <p:cNvSpPr txBox="1"/>
          <p:nvPr>
            <p:ph idx="1" type="subTitle"/>
          </p:nvPr>
        </p:nvSpPr>
        <p:spPr>
          <a:xfrm>
            <a:off x="3029025" y="2887175"/>
            <a:ext cx="5715000" cy="1400400"/>
          </a:xfrm>
          <a:prstGeom prst="rect">
            <a:avLst/>
          </a:prstGeom>
        </p:spPr>
        <p:txBody>
          <a:bodyPr anchorCtr="0" anchor="t" bIns="91425" lIns="91425" spcFirstLastPara="1" rIns="91425" wrap="square" tIns="91425">
            <a:noAutofit/>
          </a:bodyPr>
          <a:lstStyle/>
          <a:p>
            <a:pPr indent="-298450" lvl="0" marL="457200" rtl="0" algn="just">
              <a:spcBef>
                <a:spcPts val="0"/>
              </a:spcBef>
              <a:spcAft>
                <a:spcPts val="0"/>
              </a:spcAft>
              <a:buClr>
                <a:srgbClr val="212121"/>
              </a:buClr>
              <a:buSzPts val="1100"/>
              <a:buChar char="●"/>
            </a:pPr>
            <a:r>
              <a:rPr lang="en" sz="1100">
                <a:solidFill>
                  <a:srgbClr val="000000"/>
                </a:solidFill>
                <a:latin typeface="Roboto"/>
                <a:ea typeface="Roboto"/>
                <a:cs typeface="Roboto"/>
                <a:sym typeface="Roboto"/>
              </a:rPr>
              <a:t>Users are most responsive in the </a:t>
            </a:r>
            <a:r>
              <a:rPr b="1" lang="en" sz="1100">
                <a:solidFill>
                  <a:srgbClr val="000000"/>
                </a:solidFill>
                <a:latin typeface="Roboto"/>
                <a:ea typeface="Roboto"/>
                <a:cs typeface="Roboto"/>
                <a:sym typeface="Roboto"/>
              </a:rPr>
              <a:t>evening window</a:t>
            </a:r>
            <a:r>
              <a:rPr lang="en" sz="1100">
                <a:solidFill>
                  <a:srgbClr val="000000"/>
                </a:solidFill>
                <a:latin typeface="Roboto"/>
                <a:ea typeface="Roboto"/>
                <a:cs typeface="Roboto"/>
                <a:sym typeface="Roboto"/>
              </a:rPr>
              <a:t>, making it the optimal time for high-impact blast messages.</a:t>
            </a:r>
            <a:endParaRPr sz="1100">
              <a:solidFill>
                <a:srgbClr val="000000"/>
              </a:solidFill>
              <a:latin typeface="Roboto"/>
              <a:ea typeface="Roboto"/>
              <a:cs typeface="Roboto"/>
              <a:sym typeface="Roboto"/>
            </a:endParaRPr>
          </a:p>
          <a:p>
            <a:pPr indent="-298450" lvl="0" marL="457200" rtl="0" algn="just">
              <a:spcBef>
                <a:spcPts val="0"/>
              </a:spcBef>
              <a:spcAft>
                <a:spcPts val="0"/>
              </a:spcAft>
              <a:buClr>
                <a:srgbClr val="000000"/>
              </a:buClr>
              <a:buSzPts val="1100"/>
              <a:buFont typeface="Arial"/>
              <a:buChar char="●"/>
            </a:pPr>
            <a:r>
              <a:rPr b="1" lang="en" sz="1100">
                <a:solidFill>
                  <a:srgbClr val="000000"/>
                </a:solidFill>
                <a:latin typeface="Roboto"/>
                <a:ea typeface="Roboto"/>
                <a:cs typeface="Roboto"/>
                <a:sym typeface="Roboto"/>
              </a:rPr>
              <a:t>Consistent Engagement</a:t>
            </a:r>
            <a:r>
              <a:rPr lang="en" sz="1100">
                <a:solidFill>
                  <a:srgbClr val="000000"/>
                </a:solidFill>
                <a:latin typeface="Roboto"/>
                <a:ea typeface="Roboto"/>
                <a:cs typeface="Roboto"/>
                <a:sym typeface="Roboto"/>
              </a:rPr>
              <a:t> Throughout the Week.</a:t>
            </a:r>
            <a:endParaRPr sz="1100">
              <a:solidFill>
                <a:srgbClr val="000000"/>
              </a:solidFill>
              <a:latin typeface="Roboto"/>
              <a:ea typeface="Roboto"/>
              <a:cs typeface="Roboto"/>
              <a:sym typeface="Roboto"/>
            </a:endParaRPr>
          </a:p>
          <a:p>
            <a:pPr indent="-298450" lvl="0" marL="457200" rtl="0" algn="just">
              <a:spcBef>
                <a:spcPts val="0"/>
              </a:spcBef>
              <a:spcAft>
                <a:spcPts val="0"/>
              </a:spcAft>
              <a:buClr>
                <a:srgbClr val="000000"/>
              </a:buClr>
              <a:buSzPts val="1100"/>
              <a:buFont typeface="Arial"/>
              <a:buChar char="●"/>
            </a:pPr>
            <a:r>
              <a:rPr b="1" lang="en" sz="1100">
                <a:solidFill>
                  <a:srgbClr val="000000"/>
                </a:solidFill>
                <a:latin typeface="Roboto"/>
                <a:ea typeface="Roboto"/>
                <a:cs typeface="Roboto"/>
                <a:sym typeface="Roboto"/>
              </a:rPr>
              <a:t>Low Engagement </a:t>
            </a:r>
            <a:r>
              <a:rPr lang="en" sz="1100">
                <a:solidFill>
                  <a:srgbClr val="000000"/>
                </a:solidFill>
                <a:latin typeface="Roboto"/>
                <a:ea typeface="Roboto"/>
                <a:cs typeface="Roboto"/>
                <a:sym typeface="Roboto"/>
              </a:rPr>
              <a:t>During Early Morning Hours</a:t>
            </a:r>
            <a:endParaRPr sz="1100">
              <a:solidFill>
                <a:srgbClr val="000000"/>
              </a:solidFill>
              <a:latin typeface="Roboto"/>
              <a:ea typeface="Roboto"/>
              <a:cs typeface="Roboto"/>
              <a:sym typeface="Roboto"/>
            </a:endParaRPr>
          </a:p>
        </p:txBody>
      </p:sp>
      <p:sp>
        <p:nvSpPr>
          <p:cNvPr id="491" name="Google Shape;491;p51"/>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51"/>
          <p:cNvSpPr txBox="1"/>
          <p:nvPr>
            <p:ph type="title"/>
          </p:nvPr>
        </p:nvSpPr>
        <p:spPr>
          <a:xfrm>
            <a:off x="716100" y="64690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2400">
                <a:solidFill>
                  <a:srgbClr val="212121"/>
                </a:solidFill>
                <a:latin typeface="Roboto"/>
                <a:ea typeface="Roboto"/>
                <a:cs typeface="Roboto"/>
                <a:sym typeface="Roboto"/>
              </a:rPr>
              <a:t>Traffic Users</a:t>
            </a:r>
            <a:endParaRPr sz="2400">
              <a:solidFill>
                <a:srgbClr val="212121"/>
              </a:solidFill>
              <a:latin typeface="Roboto"/>
              <a:ea typeface="Roboto"/>
              <a:cs typeface="Roboto"/>
              <a:sym typeface="Roboto"/>
            </a:endParaRPr>
          </a:p>
        </p:txBody>
      </p:sp>
      <p:sp>
        <p:nvSpPr>
          <p:cNvPr id="493" name="Google Shape;493;p51"/>
          <p:cNvSpPr txBox="1"/>
          <p:nvPr>
            <p:ph idx="1" type="subTitle"/>
          </p:nvPr>
        </p:nvSpPr>
        <p:spPr>
          <a:xfrm>
            <a:off x="3116259" y="3717099"/>
            <a:ext cx="5627400" cy="9861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sz="1200">
                <a:solidFill>
                  <a:srgbClr val="212121"/>
                </a:solidFill>
                <a:latin typeface="Roboto"/>
                <a:ea typeface="Roboto"/>
                <a:cs typeface="Roboto"/>
                <a:sym typeface="Roboto"/>
              </a:rPr>
              <a:t>User engagement peaks</a:t>
            </a:r>
            <a:r>
              <a:rPr lang="en" sz="1200">
                <a:solidFill>
                  <a:srgbClr val="212121"/>
                </a:solidFill>
                <a:latin typeface="Roboto"/>
                <a:ea typeface="Roboto"/>
                <a:cs typeface="Roboto"/>
                <a:sym typeface="Roboto"/>
              </a:rPr>
              <a:t> in the evening </a:t>
            </a:r>
            <a:r>
              <a:rPr b="1" lang="en" sz="1200">
                <a:solidFill>
                  <a:srgbClr val="212121"/>
                </a:solidFill>
                <a:latin typeface="Roboto"/>
                <a:ea typeface="Roboto"/>
                <a:cs typeface="Roboto"/>
                <a:sym typeface="Roboto"/>
              </a:rPr>
              <a:t>(15.00–23.00)</a:t>
            </a:r>
            <a:r>
              <a:rPr lang="en" sz="1200">
                <a:solidFill>
                  <a:srgbClr val="212121"/>
                </a:solidFill>
                <a:latin typeface="Roboto"/>
                <a:ea typeface="Roboto"/>
                <a:cs typeface="Roboto"/>
                <a:sym typeface="Roboto"/>
              </a:rPr>
              <a:t> and remains </a:t>
            </a:r>
            <a:r>
              <a:rPr b="1" lang="en" sz="1200">
                <a:solidFill>
                  <a:srgbClr val="212121"/>
                </a:solidFill>
                <a:latin typeface="Roboto"/>
                <a:ea typeface="Roboto"/>
                <a:cs typeface="Roboto"/>
                <a:sym typeface="Roboto"/>
              </a:rPr>
              <a:t>stable throughout the week</a:t>
            </a:r>
            <a:r>
              <a:rPr lang="en" sz="1200">
                <a:solidFill>
                  <a:srgbClr val="212121"/>
                </a:solidFill>
                <a:latin typeface="Roboto"/>
                <a:ea typeface="Roboto"/>
                <a:cs typeface="Roboto"/>
                <a:sym typeface="Roboto"/>
              </a:rPr>
              <a:t>, with the highest activity on </a:t>
            </a:r>
            <a:r>
              <a:rPr b="1" lang="en" sz="1200">
                <a:solidFill>
                  <a:srgbClr val="212121"/>
                </a:solidFill>
                <a:latin typeface="Roboto"/>
                <a:ea typeface="Roboto"/>
                <a:cs typeface="Roboto"/>
                <a:sym typeface="Roboto"/>
              </a:rPr>
              <a:t>Wednesday - Fridays</a:t>
            </a:r>
            <a:r>
              <a:rPr lang="en" sz="1200">
                <a:solidFill>
                  <a:srgbClr val="212121"/>
                </a:solidFill>
                <a:latin typeface="Roboto"/>
                <a:ea typeface="Roboto"/>
                <a:cs typeface="Roboto"/>
                <a:sym typeface="Roboto"/>
              </a:rPr>
              <a:t>, making evenings on weekdays the optimal window for blast messaging.</a:t>
            </a:r>
            <a:endParaRPr sz="1200">
              <a:solidFill>
                <a:srgbClr val="212121"/>
              </a:solidFill>
              <a:latin typeface="Roboto"/>
              <a:ea typeface="Roboto"/>
              <a:cs typeface="Roboto"/>
              <a:sym typeface="Roboto"/>
            </a:endParaRPr>
          </a:p>
        </p:txBody>
      </p:sp>
      <p:pic>
        <p:nvPicPr>
          <p:cNvPr id="494" name="Google Shape;494;p51"/>
          <p:cNvPicPr preferRelativeResize="0"/>
          <p:nvPr/>
        </p:nvPicPr>
        <p:blipFill rotWithShape="1">
          <a:blip r:embed="rId3">
            <a:alphaModFix/>
          </a:blip>
          <a:srcRect b="0" l="0" r="15017" t="0"/>
          <a:stretch/>
        </p:blipFill>
        <p:spPr>
          <a:xfrm>
            <a:off x="169400" y="1739657"/>
            <a:ext cx="2946849" cy="1721047"/>
          </a:xfrm>
          <a:prstGeom prst="rect">
            <a:avLst/>
          </a:prstGeom>
          <a:noFill/>
          <a:ln>
            <a:noFill/>
          </a:ln>
        </p:spPr>
      </p:pic>
      <p:pic>
        <p:nvPicPr>
          <p:cNvPr id="495" name="Google Shape;495;p51"/>
          <p:cNvPicPr preferRelativeResize="0"/>
          <p:nvPr/>
        </p:nvPicPr>
        <p:blipFill rotWithShape="1">
          <a:blip r:embed="rId3">
            <a:alphaModFix/>
          </a:blip>
          <a:srcRect b="89400" l="84608" r="0" t="0"/>
          <a:stretch/>
        </p:blipFill>
        <p:spPr>
          <a:xfrm>
            <a:off x="169400" y="1332700"/>
            <a:ext cx="1190662" cy="406956"/>
          </a:xfrm>
          <a:prstGeom prst="rect">
            <a:avLst/>
          </a:prstGeom>
          <a:noFill/>
          <a:ln>
            <a:noFill/>
          </a:ln>
        </p:spPr>
      </p:pic>
      <p:pic>
        <p:nvPicPr>
          <p:cNvPr id="496" name="Google Shape;496;p51"/>
          <p:cNvPicPr preferRelativeResize="0"/>
          <p:nvPr/>
        </p:nvPicPr>
        <p:blipFill rotWithShape="1">
          <a:blip r:embed="rId4">
            <a:alphaModFix/>
          </a:blip>
          <a:srcRect b="0" l="0" r="0" t="1507"/>
          <a:stretch/>
        </p:blipFill>
        <p:spPr>
          <a:xfrm>
            <a:off x="3116250" y="1434200"/>
            <a:ext cx="3029124" cy="1523675"/>
          </a:xfrm>
          <a:prstGeom prst="rect">
            <a:avLst/>
          </a:prstGeom>
          <a:noFill/>
          <a:ln>
            <a:noFill/>
          </a:ln>
        </p:spPr>
      </p:pic>
      <p:pic>
        <p:nvPicPr>
          <p:cNvPr id="497" name="Google Shape;497;p51"/>
          <p:cNvPicPr preferRelativeResize="0"/>
          <p:nvPr/>
        </p:nvPicPr>
        <p:blipFill rotWithShape="1">
          <a:blip r:embed="rId5">
            <a:alphaModFix/>
          </a:blip>
          <a:srcRect b="0" l="0" r="1342" t="0"/>
          <a:stretch/>
        </p:blipFill>
        <p:spPr>
          <a:xfrm>
            <a:off x="6235250" y="1477375"/>
            <a:ext cx="2721699" cy="1480500"/>
          </a:xfrm>
          <a:prstGeom prst="rect">
            <a:avLst/>
          </a:prstGeom>
          <a:noFill/>
          <a:ln>
            <a:noFill/>
          </a:ln>
        </p:spPr>
      </p:pic>
      <p:sp>
        <p:nvSpPr>
          <p:cNvPr id="498" name="Google Shape;498;p51"/>
          <p:cNvSpPr/>
          <p:nvPr/>
        </p:nvSpPr>
        <p:spPr>
          <a:xfrm>
            <a:off x="0" y="4737050"/>
            <a:ext cx="9198300" cy="320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499" name="Google Shape;499;p51"/>
          <p:cNvSpPr txBox="1"/>
          <p:nvPr>
            <p:ph idx="1" type="subTitle"/>
          </p:nvPr>
        </p:nvSpPr>
        <p:spPr>
          <a:xfrm>
            <a:off x="361050" y="4718700"/>
            <a:ext cx="8421900" cy="42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000">
                <a:latin typeface="Roboto"/>
                <a:ea typeface="Roboto"/>
                <a:cs typeface="Roboto"/>
                <a:sym typeface="Roboto"/>
              </a:rPr>
              <a:t>“The data shown has been adjusted for educational purposes and does not reflect the company’s actual business conditions.”</a:t>
            </a:r>
            <a:endParaRPr b="1" sz="1000">
              <a:latin typeface="Roboto"/>
              <a:ea typeface="Roboto"/>
              <a:cs typeface="Roboto"/>
              <a:sym typeface="Roboto"/>
            </a:endParaRPr>
          </a:p>
        </p:txBody>
      </p:sp>
      <p:pic>
        <p:nvPicPr>
          <p:cNvPr id="500" name="Google Shape;500;p51" title="Salinan Logo RevoU x OCA x Telkom.png"/>
          <p:cNvPicPr preferRelativeResize="0"/>
          <p:nvPr/>
        </p:nvPicPr>
        <p:blipFill rotWithShape="1">
          <a:blip r:embed="rId6">
            <a:alphaModFix/>
          </a:blip>
          <a:srcRect b="14850" l="0" r="0" t="17832"/>
          <a:stretch/>
        </p:blipFill>
        <p:spPr>
          <a:xfrm>
            <a:off x="0" y="28023"/>
            <a:ext cx="3300485" cy="8229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4" name="Shape 504"/>
        <p:cNvGrpSpPr/>
        <p:nvPr/>
      </p:nvGrpSpPr>
      <p:grpSpPr>
        <a:xfrm>
          <a:off x="0" y="0"/>
          <a:ext cx="0" cy="0"/>
          <a:chOff x="0" y="0"/>
          <a:chExt cx="0" cy="0"/>
        </a:xfrm>
      </p:grpSpPr>
      <p:sp>
        <p:nvSpPr>
          <p:cNvPr id="505" name="Google Shape;505;p52"/>
          <p:cNvSpPr txBox="1"/>
          <p:nvPr>
            <p:ph idx="1" type="subTitle"/>
          </p:nvPr>
        </p:nvSpPr>
        <p:spPr>
          <a:xfrm>
            <a:off x="819450" y="3579775"/>
            <a:ext cx="7505100" cy="685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100">
                <a:solidFill>
                  <a:srgbClr val="000000"/>
                </a:solidFill>
                <a:latin typeface="Roboto"/>
                <a:ea typeface="Roboto"/>
                <a:cs typeface="Roboto"/>
                <a:sym typeface="Roboto"/>
              </a:rPr>
              <a:t>The overall traffic </a:t>
            </a:r>
            <a:r>
              <a:rPr b="1" lang="en" sz="1100">
                <a:solidFill>
                  <a:srgbClr val="000000"/>
                </a:solidFill>
                <a:latin typeface="Roboto"/>
                <a:ea typeface="Roboto"/>
                <a:cs typeface="Roboto"/>
                <a:sym typeface="Roboto"/>
              </a:rPr>
              <a:t>decline </a:t>
            </a:r>
            <a:r>
              <a:rPr lang="en" sz="1100">
                <a:solidFill>
                  <a:srgbClr val="000000"/>
                </a:solidFill>
                <a:latin typeface="Roboto"/>
                <a:ea typeface="Roboto"/>
                <a:cs typeface="Roboto"/>
                <a:sym typeface="Roboto"/>
              </a:rPr>
              <a:t>is primarily driven by the </a:t>
            </a:r>
            <a:r>
              <a:rPr b="1" lang="en" sz="1100">
                <a:solidFill>
                  <a:srgbClr val="000000"/>
                </a:solidFill>
                <a:latin typeface="Roboto"/>
                <a:ea typeface="Roboto"/>
                <a:cs typeface="Roboto"/>
                <a:sym typeface="Roboto"/>
              </a:rPr>
              <a:t>decrease in Email usage</a:t>
            </a:r>
            <a:r>
              <a:rPr lang="en" sz="1100">
                <a:solidFill>
                  <a:srgbClr val="000000"/>
                </a:solidFill>
                <a:latin typeface="Roboto"/>
                <a:ea typeface="Roboto"/>
                <a:cs typeface="Roboto"/>
                <a:sym typeface="Roboto"/>
              </a:rPr>
              <a:t>, while the shift in user behavior toward WhatsApp highlights churn risk among Email-dependent clients and revenue opportunities through WhatsApp-focused engagement.</a:t>
            </a:r>
            <a:endParaRPr sz="1100">
              <a:solidFill>
                <a:srgbClr val="000000"/>
              </a:solidFill>
              <a:latin typeface="Roboto"/>
              <a:ea typeface="Roboto"/>
              <a:cs typeface="Roboto"/>
              <a:sym typeface="Roboto"/>
            </a:endParaRPr>
          </a:p>
        </p:txBody>
      </p:sp>
      <p:sp>
        <p:nvSpPr>
          <p:cNvPr id="506" name="Google Shape;506;p52"/>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52"/>
          <p:cNvSpPr txBox="1"/>
          <p:nvPr>
            <p:ph type="title"/>
          </p:nvPr>
        </p:nvSpPr>
        <p:spPr>
          <a:xfrm>
            <a:off x="2479600" y="877925"/>
            <a:ext cx="40233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2400">
                <a:solidFill>
                  <a:srgbClr val="212121"/>
                </a:solidFill>
                <a:latin typeface="Roboto"/>
                <a:ea typeface="Roboto"/>
                <a:cs typeface="Roboto"/>
                <a:sym typeface="Roboto"/>
              </a:rPr>
              <a:t>Trend </a:t>
            </a:r>
            <a:r>
              <a:rPr lang="en" sz="2400">
                <a:solidFill>
                  <a:srgbClr val="212121"/>
                </a:solidFill>
                <a:latin typeface="Roboto"/>
                <a:ea typeface="Roboto"/>
                <a:cs typeface="Roboto"/>
                <a:sym typeface="Roboto"/>
              </a:rPr>
              <a:t>Users</a:t>
            </a:r>
            <a:endParaRPr sz="2400">
              <a:solidFill>
                <a:srgbClr val="212121"/>
              </a:solidFill>
              <a:latin typeface="Roboto"/>
              <a:ea typeface="Roboto"/>
              <a:cs typeface="Roboto"/>
              <a:sym typeface="Roboto"/>
            </a:endParaRPr>
          </a:p>
        </p:txBody>
      </p:sp>
      <p:pic>
        <p:nvPicPr>
          <p:cNvPr id="508" name="Google Shape;508;p52"/>
          <p:cNvPicPr preferRelativeResize="0"/>
          <p:nvPr/>
        </p:nvPicPr>
        <p:blipFill>
          <a:blip r:embed="rId3">
            <a:alphaModFix/>
          </a:blip>
          <a:stretch>
            <a:fillRect/>
          </a:stretch>
        </p:blipFill>
        <p:spPr>
          <a:xfrm>
            <a:off x="531976" y="1704600"/>
            <a:ext cx="3799500" cy="1885374"/>
          </a:xfrm>
          <a:prstGeom prst="rect">
            <a:avLst/>
          </a:prstGeom>
          <a:noFill/>
          <a:ln>
            <a:noFill/>
          </a:ln>
        </p:spPr>
      </p:pic>
      <p:pic>
        <p:nvPicPr>
          <p:cNvPr id="509" name="Google Shape;509;p52"/>
          <p:cNvPicPr preferRelativeResize="0"/>
          <p:nvPr/>
        </p:nvPicPr>
        <p:blipFill>
          <a:blip r:embed="rId4">
            <a:alphaModFix/>
          </a:blip>
          <a:stretch>
            <a:fillRect/>
          </a:stretch>
        </p:blipFill>
        <p:spPr>
          <a:xfrm>
            <a:off x="5060425" y="1783625"/>
            <a:ext cx="3631075" cy="1806350"/>
          </a:xfrm>
          <a:prstGeom prst="rect">
            <a:avLst/>
          </a:prstGeom>
          <a:noFill/>
          <a:ln>
            <a:noFill/>
          </a:ln>
        </p:spPr>
      </p:pic>
      <p:sp>
        <p:nvSpPr>
          <p:cNvPr id="510" name="Google Shape;510;p52"/>
          <p:cNvSpPr txBox="1"/>
          <p:nvPr>
            <p:ph idx="1" type="subTitle"/>
          </p:nvPr>
        </p:nvSpPr>
        <p:spPr>
          <a:xfrm>
            <a:off x="700400" y="1417925"/>
            <a:ext cx="1361700" cy="365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sz="1200">
                <a:solidFill>
                  <a:srgbClr val="000000"/>
                </a:solidFill>
                <a:latin typeface="Arial"/>
                <a:ea typeface="Arial"/>
                <a:cs typeface="Arial"/>
                <a:sym typeface="Arial"/>
              </a:rPr>
              <a:t>Daily Usage</a:t>
            </a:r>
            <a:endParaRPr b="1" sz="1200">
              <a:solidFill>
                <a:srgbClr val="000000"/>
              </a:solidFill>
              <a:latin typeface="Arial"/>
              <a:ea typeface="Arial"/>
              <a:cs typeface="Arial"/>
              <a:sym typeface="Arial"/>
            </a:endParaRPr>
          </a:p>
        </p:txBody>
      </p:sp>
      <p:sp>
        <p:nvSpPr>
          <p:cNvPr id="511" name="Google Shape;511;p52"/>
          <p:cNvSpPr txBox="1"/>
          <p:nvPr>
            <p:ph idx="1" type="subTitle"/>
          </p:nvPr>
        </p:nvSpPr>
        <p:spPr>
          <a:xfrm>
            <a:off x="5060425" y="1505275"/>
            <a:ext cx="1361700" cy="365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sz="1200">
                <a:solidFill>
                  <a:srgbClr val="000000"/>
                </a:solidFill>
                <a:latin typeface="Arial"/>
                <a:ea typeface="Arial"/>
                <a:cs typeface="Arial"/>
                <a:sym typeface="Arial"/>
              </a:rPr>
              <a:t>Monthly </a:t>
            </a:r>
            <a:r>
              <a:rPr b="1" lang="en" sz="1200">
                <a:solidFill>
                  <a:srgbClr val="000000"/>
                </a:solidFill>
                <a:latin typeface="Arial"/>
                <a:ea typeface="Arial"/>
                <a:cs typeface="Arial"/>
                <a:sym typeface="Arial"/>
              </a:rPr>
              <a:t>Usage</a:t>
            </a:r>
            <a:endParaRPr b="1" sz="1200">
              <a:solidFill>
                <a:srgbClr val="000000"/>
              </a:solidFill>
              <a:latin typeface="Arial"/>
              <a:ea typeface="Arial"/>
              <a:cs typeface="Arial"/>
              <a:sym typeface="Arial"/>
            </a:endParaRPr>
          </a:p>
        </p:txBody>
      </p:sp>
      <p:sp>
        <p:nvSpPr>
          <p:cNvPr id="512" name="Google Shape;512;p52"/>
          <p:cNvSpPr/>
          <p:nvPr/>
        </p:nvSpPr>
        <p:spPr>
          <a:xfrm>
            <a:off x="0" y="4737050"/>
            <a:ext cx="9198300" cy="320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513" name="Google Shape;513;p52"/>
          <p:cNvSpPr txBox="1"/>
          <p:nvPr>
            <p:ph idx="1" type="subTitle"/>
          </p:nvPr>
        </p:nvSpPr>
        <p:spPr>
          <a:xfrm>
            <a:off x="361050" y="4718700"/>
            <a:ext cx="8421900" cy="42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000">
                <a:latin typeface="Roboto"/>
                <a:ea typeface="Roboto"/>
                <a:cs typeface="Roboto"/>
                <a:sym typeface="Roboto"/>
              </a:rPr>
              <a:t>“The data shown has been adjusted for educational purposes and does not reflect the company’s actual business conditions.”</a:t>
            </a:r>
            <a:endParaRPr b="1" sz="1000">
              <a:latin typeface="Roboto"/>
              <a:ea typeface="Roboto"/>
              <a:cs typeface="Roboto"/>
              <a:sym typeface="Roboto"/>
            </a:endParaRPr>
          </a:p>
        </p:txBody>
      </p:sp>
      <p:pic>
        <p:nvPicPr>
          <p:cNvPr id="514" name="Google Shape;514;p52" title="Salinan Logo RevoU x OCA x Telkom.png"/>
          <p:cNvPicPr preferRelativeResize="0"/>
          <p:nvPr/>
        </p:nvPicPr>
        <p:blipFill rotWithShape="1">
          <a:blip r:embed="rId5">
            <a:alphaModFix/>
          </a:blip>
          <a:srcRect b="14850" l="0" r="0" t="17832"/>
          <a:stretch/>
        </p:blipFill>
        <p:spPr>
          <a:xfrm>
            <a:off x="0" y="28023"/>
            <a:ext cx="3300485" cy="8229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8" name="Shape 518"/>
        <p:cNvGrpSpPr/>
        <p:nvPr/>
      </p:nvGrpSpPr>
      <p:grpSpPr>
        <a:xfrm>
          <a:off x="0" y="0"/>
          <a:ext cx="0" cy="0"/>
          <a:chOff x="0" y="0"/>
          <a:chExt cx="0" cy="0"/>
        </a:xfrm>
      </p:grpSpPr>
      <p:sp>
        <p:nvSpPr>
          <p:cNvPr id="519" name="Google Shape;519;p53"/>
          <p:cNvSpPr txBox="1"/>
          <p:nvPr>
            <p:ph idx="1" type="subTitle"/>
          </p:nvPr>
        </p:nvSpPr>
        <p:spPr>
          <a:xfrm>
            <a:off x="4593850" y="1783750"/>
            <a:ext cx="4236300" cy="2203800"/>
          </a:xfrm>
          <a:prstGeom prst="rect">
            <a:avLst/>
          </a:prstGeom>
          <a:noFill/>
        </p:spPr>
        <p:txBody>
          <a:bodyPr anchorCtr="0" anchor="t" bIns="91425" lIns="91425" spcFirstLastPara="1" rIns="91425" wrap="square" tIns="91425">
            <a:noAutofit/>
          </a:bodyPr>
          <a:lstStyle/>
          <a:p>
            <a:pPr indent="-184150" lvl="0" marL="285750" rtl="0" algn="just">
              <a:spcBef>
                <a:spcPts val="0"/>
              </a:spcBef>
              <a:spcAft>
                <a:spcPts val="0"/>
              </a:spcAft>
              <a:buClr>
                <a:srgbClr val="212121"/>
              </a:buClr>
              <a:buSzPts val="1100"/>
              <a:buFont typeface="Arial"/>
              <a:buChar char="●"/>
            </a:pPr>
            <a:r>
              <a:rPr b="1" lang="en" sz="1100">
                <a:solidFill>
                  <a:srgbClr val="212121"/>
                </a:solidFill>
                <a:latin typeface="Roboto"/>
                <a:ea typeface="Roboto"/>
                <a:cs typeface="Roboto"/>
                <a:sym typeface="Roboto"/>
              </a:rPr>
              <a:t>Relatively Low Churn Risk</a:t>
            </a:r>
            <a:r>
              <a:rPr lang="en" sz="1100">
                <a:solidFill>
                  <a:srgbClr val="212121"/>
                </a:solidFill>
                <a:latin typeface="Roboto"/>
                <a:ea typeface="Roboto"/>
                <a:cs typeface="Roboto"/>
                <a:sym typeface="Roboto"/>
              </a:rPr>
              <a:t> for High-Volume &amp; High-Engagement Users</a:t>
            </a:r>
            <a:endParaRPr sz="1100">
              <a:solidFill>
                <a:srgbClr val="212121"/>
              </a:solidFill>
              <a:latin typeface="Roboto"/>
              <a:ea typeface="Roboto"/>
              <a:cs typeface="Roboto"/>
              <a:sym typeface="Roboto"/>
            </a:endParaRPr>
          </a:p>
          <a:p>
            <a:pPr indent="-184150" lvl="0" marL="285750" rtl="0" algn="just">
              <a:spcBef>
                <a:spcPts val="0"/>
              </a:spcBef>
              <a:spcAft>
                <a:spcPts val="0"/>
              </a:spcAft>
              <a:buClr>
                <a:srgbClr val="212121"/>
              </a:buClr>
              <a:buSzPts val="1100"/>
              <a:buFont typeface="Arial"/>
              <a:buChar char="●"/>
            </a:pPr>
            <a:r>
              <a:rPr b="1" lang="en" sz="1100">
                <a:solidFill>
                  <a:srgbClr val="212121"/>
                </a:solidFill>
                <a:latin typeface="Roboto"/>
                <a:ea typeface="Roboto"/>
                <a:cs typeface="Roboto"/>
                <a:sym typeface="Roboto"/>
              </a:rPr>
              <a:t>Early Warning</a:t>
            </a:r>
            <a:r>
              <a:rPr lang="en" sz="1100">
                <a:solidFill>
                  <a:srgbClr val="212121"/>
                </a:solidFill>
                <a:latin typeface="Roboto"/>
                <a:ea typeface="Roboto"/>
                <a:cs typeface="Roboto"/>
                <a:sym typeface="Roboto"/>
              </a:rPr>
              <a:t>: Usage &amp; Revenue Drop Begins to Appear</a:t>
            </a:r>
            <a:endParaRPr sz="1100">
              <a:solidFill>
                <a:srgbClr val="212121"/>
              </a:solidFill>
              <a:latin typeface="Roboto"/>
              <a:ea typeface="Roboto"/>
              <a:cs typeface="Roboto"/>
              <a:sym typeface="Roboto"/>
            </a:endParaRPr>
          </a:p>
          <a:p>
            <a:pPr indent="-184150" lvl="0" marL="285750" rtl="0" algn="just">
              <a:spcBef>
                <a:spcPts val="0"/>
              </a:spcBef>
              <a:spcAft>
                <a:spcPts val="0"/>
              </a:spcAft>
              <a:buClr>
                <a:srgbClr val="212121"/>
              </a:buClr>
              <a:buSzPts val="1100"/>
              <a:buChar char="●"/>
            </a:pPr>
            <a:r>
              <a:rPr b="1" lang="en" sz="1100">
                <a:solidFill>
                  <a:srgbClr val="212121"/>
                </a:solidFill>
                <a:latin typeface="Roboto"/>
                <a:ea typeface="Roboto"/>
                <a:cs typeface="Roboto"/>
                <a:sym typeface="Roboto"/>
              </a:rPr>
              <a:t>Upsell Opportunity</a:t>
            </a:r>
            <a:r>
              <a:rPr lang="en" sz="1100">
                <a:solidFill>
                  <a:srgbClr val="212121"/>
                </a:solidFill>
                <a:latin typeface="Roboto"/>
                <a:ea typeface="Roboto"/>
                <a:cs typeface="Roboto"/>
                <a:sym typeface="Roboto"/>
              </a:rPr>
              <a:t> pada High-Active, Low-Volume Users</a:t>
            </a:r>
            <a:endParaRPr b="1" sz="1100">
              <a:solidFill>
                <a:srgbClr val="212121"/>
              </a:solidFill>
              <a:latin typeface="Roboto"/>
              <a:ea typeface="Roboto"/>
              <a:cs typeface="Roboto"/>
              <a:sym typeface="Roboto"/>
            </a:endParaRPr>
          </a:p>
        </p:txBody>
      </p:sp>
      <p:sp>
        <p:nvSpPr>
          <p:cNvPr id="520" name="Google Shape;520;p53"/>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53"/>
          <p:cNvSpPr/>
          <p:nvPr/>
        </p:nvSpPr>
        <p:spPr>
          <a:xfrm rot="-8512697">
            <a:off x="7428225" y="-721355"/>
            <a:ext cx="2419597" cy="2419597"/>
          </a:xfrm>
          <a:prstGeom prst="donut">
            <a:avLst>
              <a:gd fmla="val 17784" name="adj"/>
            </a:avLst>
          </a:prstGeom>
          <a:gradFill>
            <a:gsLst>
              <a:gs pos="0">
                <a:srgbClr val="869FB1"/>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lt2"/>
              </a:highlight>
            </a:endParaRPr>
          </a:p>
        </p:txBody>
      </p:sp>
      <p:sp>
        <p:nvSpPr>
          <p:cNvPr id="522" name="Google Shape;522;p53"/>
          <p:cNvSpPr txBox="1"/>
          <p:nvPr>
            <p:ph type="title"/>
          </p:nvPr>
        </p:nvSpPr>
        <p:spPr>
          <a:xfrm>
            <a:off x="716100" y="64690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2400">
                <a:solidFill>
                  <a:srgbClr val="212121"/>
                </a:solidFill>
                <a:latin typeface="Roboto"/>
                <a:ea typeface="Roboto"/>
                <a:cs typeface="Roboto"/>
                <a:sym typeface="Roboto"/>
              </a:rPr>
              <a:t>Customer Behavior</a:t>
            </a:r>
            <a:endParaRPr sz="2400">
              <a:solidFill>
                <a:srgbClr val="212121"/>
              </a:solidFill>
              <a:latin typeface="Roboto"/>
              <a:ea typeface="Roboto"/>
              <a:cs typeface="Roboto"/>
              <a:sym typeface="Roboto"/>
            </a:endParaRPr>
          </a:p>
        </p:txBody>
      </p:sp>
      <p:sp>
        <p:nvSpPr>
          <p:cNvPr id="523" name="Google Shape;523;p53"/>
          <p:cNvSpPr txBox="1"/>
          <p:nvPr>
            <p:ph idx="1" type="subTitle"/>
          </p:nvPr>
        </p:nvSpPr>
        <p:spPr>
          <a:xfrm>
            <a:off x="4678900" y="3165725"/>
            <a:ext cx="3948000" cy="555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100">
                <a:solidFill>
                  <a:srgbClr val="212121"/>
                </a:solidFill>
                <a:latin typeface="Roboto"/>
                <a:ea typeface="Roboto"/>
                <a:cs typeface="Roboto"/>
                <a:sym typeface="Roboto"/>
              </a:rPr>
              <a:t>Top users show </a:t>
            </a:r>
            <a:r>
              <a:rPr b="1" lang="en" sz="1100">
                <a:solidFill>
                  <a:srgbClr val="212121"/>
                </a:solidFill>
                <a:latin typeface="Roboto"/>
                <a:ea typeface="Roboto"/>
                <a:cs typeface="Roboto"/>
                <a:sym typeface="Roboto"/>
              </a:rPr>
              <a:t>strong engagement</a:t>
            </a:r>
            <a:r>
              <a:rPr lang="en" sz="1100">
                <a:solidFill>
                  <a:srgbClr val="212121"/>
                </a:solidFill>
                <a:latin typeface="Roboto"/>
                <a:ea typeface="Roboto"/>
                <a:cs typeface="Roboto"/>
                <a:sym typeface="Roboto"/>
              </a:rPr>
              <a:t> and </a:t>
            </a:r>
            <a:r>
              <a:rPr b="1" lang="en" sz="1100">
                <a:solidFill>
                  <a:srgbClr val="212121"/>
                </a:solidFill>
                <a:latin typeface="Roboto"/>
                <a:ea typeface="Roboto"/>
                <a:cs typeface="Roboto"/>
                <a:sym typeface="Roboto"/>
              </a:rPr>
              <a:t>low churn risk</a:t>
            </a:r>
            <a:r>
              <a:rPr lang="en" sz="1100">
                <a:solidFill>
                  <a:srgbClr val="212121"/>
                </a:solidFill>
                <a:latin typeface="Roboto"/>
                <a:ea typeface="Roboto"/>
                <a:cs typeface="Roboto"/>
                <a:sym typeface="Roboto"/>
              </a:rPr>
              <a:t>, but volume is highly concentrated among a few key accounts, highlighting dependency risk and significant </a:t>
            </a:r>
            <a:r>
              <a:rPr b="1" lang="en" sz="1100">
                <a:solidFill>
                  <a:srgbClr val="212121"/>
                </a:solidFill>
                <a:latin typeface="Roboto"/>
                <a:ea typeface="Roboto"/>
                <a:cs typeface="Roboto"/>
                <a:sym typeface="Roboto"/>
              </a:rPr>
              <a:t>upsell potential</a:t>
            </a:r>
            <a:r>
              <a:rPr lang="en" sz="1100">
                <a:solidFill>
                  <a:srgbClr val="212121"/>
                </a:solidFill>
                <a:latin typeface="Roboto"/>
                <a:ea typeface="Roboto"/>
                <a:cs typeface="Roboto"/>
                <a:sym typeface="Roboto"/>
              </a:rPr>
              <a:t> among consistently active yet low-volume clients.</a:t>
            </a:r>
            <a:endParaRPr sz="1100">
              <a:solidFill>
                <a:srgbClr val="212121"/>
              </a:solidFill>
              <a:latin typeface="Roboto"/>
              <a:ea typeface="Roboto"/>
              <a:cs typeface="Roboto"/>
              <a:sym typeface="Roboto"/>
            </a:endParaRPr>
          </a:p>
        </p:txBody>
      </p:sp>
      <p:sp>
        <p:nvSpPr>
          <p:cNvPr id="524" name="Google Shape;524;p53"/>
          <p:cNvSpPr txBox="1"/>
          <p:nvPr>
            <p:ph type="title"/>
          </p:nvPr>
        </p:nvSpPr>
        <p:spPr>
          <a:xfrm>
            <a:off x="716100" y="922492"/>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b="0" lang="en" sz="2100">
                <a:solidFill>
                  <a:srgbClr val="212121"/>
                </a:solidFill>
                <a:latin typeface="Roboto"/>
                <a:ea typeface="Roboto"/>
                <a:cs typeface="Roboto"/>
                <a:sym typeface="Roboto"/>
              </a:rPr>
              <a:t>Top Users</a:t>
            </a:r>
            <a:endParaRPr b="0" sz="2100">
              <a:solidFill>
                <a:srgbClr val="212121"/>
              </a:solidFill>
              <a:latin typeface="Roboto"/>
              <a:ea typeface="Roboto"/>
              <a:cs typeface="Roboto"/>
              <a:sym typeface="Roboto"/>
            </a:endParaRPr>
          </a:p>
        </p:txBody>
      </p:sp>
      <p:pic>
        <p:nvPicPr>
          <p:cNvPr id="525" name="Google Shape;525;p53"/>
          <p:cNvPicPr preferRelativeResize="0"/>
          <p:nvPr/>
        </p:nvPicPr>
        <p:blipFill>
          <a:blip r:embed="rId3">
            <a:alphaModFix/>
          </a:blip>
          <a:stretch>
            <a:fillRect/>
          </a:stretch>
        </p:blipFill>
        <p:spPr>
          <a:xfrm>
            <a:off x="211925" y="1275949"/>
            <a:ext cx="2077225" cy="1534000"/>
          </a:xfrm>
          <a:prstGeom prst="rect">
            <a:avLst/>
          </a:prstGeom>
          <a:noFill/>
          <a:ln>
            <a:noFill/>
          </a:ln>
        </p:spPr>
      </p:pic>
      <p:pic>
        <p:nvPicPr>
          <p:cNvPr id="526" name="Google Shape;526;p53"/>
          <p:cNvPicPr preferRelativeResize="0"/>
          <p:nvPr/>
        </p:nvPicPr>
        <p:blipFill>
          <a:blip r:embed="rId4">
            <a:alphaModFix/>
          </a:blip>
          <a:stretch>
            <a:fillRect/>
          </a:stretch>
        </p:blipFill>
        <p:spPr>
          <a:xfrm>
            <a:off x="173149" y="2718900"/>
            <a:ext cx="2220609" cy="1534000"/>
          </a:xfrm>
          <a:prstGeom prst="rect">
            <a:avLst/>
          </a:prstGeom>
          <a:noFill/>
          <a:ln>
            <a:noFill/>
          </a:ln>
        </p:spPr>
      </p:pic>
      <p:pic>
        <p:nvPicPr>
          <p:cNvPr id="527" name="Google Shape;527;p53"/>
          <p:cNvPicPr preferRelativeResize="0"/>
          <p:nvPr/>
        </p:nvPicPr>
        <p:blipFill>
          <a:blip r:embed="rId5">
            <a:alphaModFix/>
          </a:blip>
          <a:stretch>
            <a:fillRect/>
          </a:stretch>
        </p:blipFill>
        <p:spPr>
          <a:xfrm>
            <a:off x="2458300" y="1760700"/>
            <a:ext cx="2220600" cy="2319351"/>
          </a:xfrm>
          <a:prstGeom prst="rect">
            <a:avLst/>
          </a:prstGeom>
          <a:noFill/>
          <a:ln>
            <a:noFill/>
          </a:ln>
        </p:spPr>
      </p:pic>
      <p:sp>
        <p:nvSpPr>
          <p:cNvPr id="528" name="Google Shape;528;p53"/>
          <p:cNvSpPr/>
          <p:nvPr/>
        </p:nvSpPr>
        <p:spPr>
          <a:xfrm>
            <a:off x="0" y="4737050"/>
            <a:ext cx="9198300" cy="320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529" name="Google Shape;529;p53"/>
          <p:cNvSpPr txBox="1"/>
          <p:nvPr>
            <p:ph idx="1" type="subTitle"/>
          </p:nvPr>
        </p:nvSpPr>
        <p:spPr>
          <a:xfrm>
            <a:off x="361050" y="4718700"/>
            <a:ext cx="8421900" cy="42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000">
                <a:latin typeface="Roboto"/>
                <a:ea typeface="Roboto"/>
                <a:cs typeface="Roboto"/>
                <a:sym typeface="Roboto"/>
              </a:rPr>
              <a:t>“The data shown has been adjusted for educational purposes and does not reflect the company’s actual business conditions.”</a:t>
            </a:r>
            <a:endParaRPr b="1" sz="1000">
              <a:latin typeface="Roboto"/>
              <a:ea typeface="Roboto"/>
              <a:cs typeface="Roboto"/>
              <a:sym typeface="Roboto"/>
            </a:endParaRPr>
          </a:p>
        </p:txBody>
      </p:sp>
      <p:pic>
        <p:nvPicPr>
          <p:cNvPr id="530" name="Google Shape;530;p53" title="Salinan Logo RevoU x OCA x Telkom.png"/>
          <p:cNvPicPr preferRelativeResize="0"/>
          <p:nvPr/>
        </p:nvPicPr>
        <p:blipFill rotWithShape="1">
          <a:blip r:embed="rId6">
            <a:alphaModFix/>
          </a:blip>
          <a:srcRect b="14850" l="0" r="0" t="17832"/>
          <a:stretch/>
        </p:blipFill>
        <p:spPr>
          <a:xfrm>
            <a:off x="0" y="28023"/>
            <a:ext cx="3300485" cy="8229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34" name="Shape 534"/>
        <p:cNvGrpSpPr/>
        <p:nvPr/>
      </p:nvGrpSpPr>
      <p:grpSpPr>
        <a:xfrm>
          <a:off x="0" y="0"/>
          <a:ext cx="0" cy="0"/>
          <a:chOff x="0" y="0"/>
          <a:chExt cx="0" cy="0"/>
        </a:xfrm>
      </p:grpSpPr>
      <p:sp>
        <p:nvSpPr>
          <p:cNvPr id="535" name="Google Shape;535;p54"/>
          <p:cNvSpPr txBox="1"/>
          <p:nvPr>
            <p:ph idx="4294967295" type="title"/>
          </p:nvPr>
        </p:nvSpPr>
        <p:spPr>
          <a:xfrm>
            <a:off x="1186000" y="850925"/>
            <a:ext cx="6462600" cy="679200"/>
          </a:xfrm>
          <a:prstGeom prst="rect">
            <a:avLst/>
          </a:prstGeom>
        </p:spPr>
        <p:txBody>
          <a:bodyPr anchorCtr="0" anchor="ctr" bIns="91425" lIns="731500" spcFirstLastPara="1" rIns="731500" wrap="square" tIns="91425">
            <a:noAutofit/>
          </a:bodyPr>
          <a:lstStyle/>
          <a:p>
            <a:pPr indent="0" lvl="0" marL="0" rtl="0" algn="ctr">
              <a:spcBef>
                <a:spcPts val="0"/>
              </a:spcBef>
              <a:spcAft>
                <a:spcPts val="0"/>
              </a:spcAft>
              <a:buNone/>
            </a:pPr>
            <a:r>
              <a:rPr b="1" lang="en">
                <a:solidFill>
                  <a:srgbClr val="212121"/>
                </a:solidFill>
                <a:latin typeface="Comic Sans MS"/>
                <a:ea typeface="Comic Sans MS"/>
                <a:cs typeface="Comic Sans MS"/>
                <a:sym typeface="Comic Sans MS"/>
              </a:rPr>
              <a:t>Insight Summary</a:t>
            </a:r>
            <a:endParaRPr b="1">
              <a:solidFill>
                <a:srgbClr val="212121"/>
              </a:solidFill>
              <a:latin typeface="Comic Sans MS"/>
              <a:ea typeface="Comic Sans MS"/>
              <a:cs typeface="Comic Sans MS"/>
              <a:sym typeface="Comic Sans MS"/>
            </a:endParaRPr>
          </a:p>
        </p:txBody>
      </p:sp>
      <p:sp>
        <p:nvSpPr>
          <p:cNvPr id="536" name="Google Shape;536;p54"/>
          <p:cNvSpPr txBox="1"/>
          <p:nvPr>
            <p:ph idx="4294967295" type="title"/>
          </p:nvPr>
        </p:nvSpPr>
        <p:spPr>
          <a:xfrm>
            <a:off x="-117425" y="2709425"/>
            <a:ext cx="3928500" cy="1434900"/>
          </a:xfrm>
          <a:prstGeom prst="rect">
            <a:avLst/>
          </a:prstGeom>
        </p:spPr>
        <p:txBody>
          <a:bodyPr anchorCtr="0" anchor="t" bIns="91425" lIns="731500" spcFirstLastPara="1" rIns="731500" wrap="square" tIns="91425">
            <a:noAutofit/>
          </a:bodyPr>
          <a:lstStyle/>
          <a:p>
            <a:pPr indent="0" lvl="0" marL="0" rtl="0" algn="l">
              <a:spcBef>
                <a:spcPts val="0"/>
              </a:spcBef>
              <a:spcAft>
                <a:spcPts val="0"/>
              </a:spcAft>
              <a:buNone/>
            </a:pPr>
            <a:r>
              <a:rPr lang="en" sz="1800">
                <a:solidFill>
                  <a:srgbClr val="212121"/>
                </a:solidFill>
                <a:latin typeface="Roboto"/>
                <a:ea typeface="Roboto"/>
                <a:cs typeface="Roboto"/>
                <a:sym typeface="Roboto"/>
              </a:rPr>
              <a:t>WhatsApp drives </a:t>
            </a:r>
            <a:r>
              <a:rPr b="1" lang="en" sz="1800">
                <a:solidFill>
                  <a:srgbClr val="212121"/>
                </a:solidFill>
                <a:latin typeface="Roboto"/>
                <a:ea typeface="Roboto"/>
                <a:cs typeface="Roboto"/>
                <a:sym typeface="Roboto"/>
              </a:rPr>
              <a:t>volume</a:t>
            </a:r>
            <a:r>
              <a:rPr lang="en" sz="1800">
                <a:solidFill>
                  <a:srgbClr val="212121"/>
                </a:solidFill>
                <a:latin typeface="Roboto"/>
                <a:ea typeface="Roboto"/>
                <a:cs typeface="Roboto"/>
                <a:sym typeface="Roboto"/>
              </a:rPr>
              <a:t>, SMS drives </a:t>
            </a:r>
            <a:r>
              <a:rPr b="1" lang="en" sz="1800">
                <a:solidFill>
                  <a:srgbClr val="212121"/>
                </a:solidFill>
                <a:latin typeface="Roboto"/>
                <a:ea typeface="Roboto"/>
                <a:cs typeface="Roboto"/>
                <a:sym typeface="Roboto"/>
              </a:rPr>
              <a:t>revenue</a:t>
            </a:r>
            <a:r>
              <a:rPr lang="en" sz="1800">
                <a:solidFill>
                  <a:srgbClr val="212121"/>
                </a:solidFill>
                <a:latin typeface="Roboto"/>
                <a:ea typeface="Roboto"/>
                <a:cs typeface="Roboto"/>
                <a:sym typeface="Roboto"/>
              </a:rPr>
              <a:t>, enabling a balanced omnichannel strategy.</a:t>
            </a:r>
            <a:endParaRPr sz="1800">
              <a:solidFill>
                <a:srgbClr val="212121"/>
              </a:solidFill>
              <a:latin typeface="Roboto"/>
              <a:ea typeface="Roboto"/>
              <a:cs typeface="Roboto"/>
              <a:sym typeface="Roboto"/>
            </a:endParaRPr>
          </a:p>
        </p:txBody>
      </p:sp>
      <p:pic>
        <p:nvPicPr>
          <p:cNvPr id="537" name="Google Shape;537;p54" title="pricing_1728450.png"/>
          <p:cNvPicPr preferRelativeResize="0"/>
          <p:nvPr/>
        </p:nvPicPr>
        <p:blipFill>
          <a:blip r:embed="rId3">
            <a:alphaModFix/>
          </a:blip>
          <a:stretch>
            <a:fillRect/>
          </a:stretch>
        </p:blipFill>
        <p:spPr>
          <a:xfrm>
            <a:off x="639700" y="1745325"/>
            <a:ext cx="964100" cy="964100"/>
          </a:xfrm>
          <a:prstGeom prst="rect">
            <a:avLst/>
          </a:prstGeom>
          <a:noFill/>
          <a:ln>
            <a:noFill/>
          </a:ln>
        </p:spPr>
      </p:pic>
      <p:sp>
        <p:nvSpPr>
          <p:cNvPr id="538" name="Google Shape;538;p54"/>
          <p:cNvSpPr txBox="1"/>
          <p:nvPr>
            <p:ph idx="4294967295" type="title"/>
          </p:nvPr>
        </p:nvSpPr>
        <p:spPr>
          <a:xfrm>
            <a:off x="2669370" y="2764664"/>
            <a:ext cx="3612000" cy="1599300"/>
          </a:xfrm>
          <a:prstGeom prst="rect">
            <a:avLst/>
          </a:prstGeom>
        </p:spPr>
        <p:txBody>
          <a:bodyPr anchorCtr="0" anchor="t" bIns="91425" lIns="731500" spcFirstLastPara="1" rIns="731500" wrap="square" tIns="91425">
            <a:noAutofit/>
          </a:bodyPr>
          <a:lstStyle/>
          <a:p>
            <a:pPr indent="0" lvl="0" marL="0" rtl="0" algn="ctr">
              <a:spcBef>
                <a:spcPts val="0"/>
              </a:spcBef>
              <a:spcAft>
                <a:spcPts val="0"/>
              </a:spcAft>
              <a:buNone/>
            </a:pPr>
            <a:r>
              <a:rPr lang="en" sz="1800">
                <a:solidFill>
                  <a:srgbClr val="212121"/>
                </a:solidFill>
                <a:latin typeface="Roboto"/>
                <a:ea typeface="Roboto"/>
                <a:cs typeface="Roboto"/>
                <a:sym typeface="Roboto"/>
              </a:rPr>
              <a:t>SMS for </a:t>
            </a:r>
            <a:r>
              <a:rPr b="1" lang="en" sz="1800">
                <a:solidFill>
                  <a:srgbClr val="212121"/>
                </a:solidFill>
                <a:latin typeface="Roboto"/>
                <a:ea typeface="Roboto"/>
                <a:cs typeface="Roboto"/>
                <a:sym typeface="Roboto"/>
              </a:rPr>
              <a:t>critical reliability</a:t>
            </a:r>
            <a:r>
              <a:rPr lang="en" sz="1800">
                <a:solidFill>
                  <a:srgbClr val="212121"/>
                </a:solidFill>
                <a:latin typeface="Roboto"/>
                <a:ea typeface="Roboto"/>
                <a:cs typeface="Roboto"/>
                <a:sym typeface="Roboto"/>
              </a:rPr>
              <a:t>, </a:t>
            </a:r>
            <a:r>
              <a:rPr b="1" lang="en" sz="1800">
                <a:solidFill>
                  <a:srgbClr val="212121"/>
                </a:solidFill>
                <a:latin typeface="Roboto"/>
                <a:ea typeface="Roboto"/>
                <a:cs typeface="Roboto"/>
                <a:sym typeface="Roboto"/>
              </a:rPr>
              <a:t>optimize </a:t>
            </a:r>
            <a:r>
              <a:rPr lang="en" sz="1800">
                <a:solidFill>
                  <a:srgbClr val="212121"/>
                </a:solidFill>
                <a:latin typeface="Roboto"/>
                <a:ea typeface="Roboto"/>
                <a:cs typeface="Roboto"/>
                <a:sym typeface="Roboto"/>
              </a:rPr>
              <a:t>WhatsApp and Email, limit Calls.</a:t>
            </a:r>
            <a:endParaRPr sz="1800">
              <a:solidFill>
                <a:srgbClr val="212121"/>
              </a:solidFill>
              <a:latin typeface="Roboto"/>
              <a:ea typeface="Roboto"/>
              <a:cs typeface="Roboto"/>
              <a:sym typeface="Roboto"/>
            </a:endParaRPr>
          </a:p>
        </p:txBody>
      </p:sp>
      <p:pic>
        <p:nvPicPr>
          <p:cNvPr id="539" name="Google Shape;539;p54" title="sms_3988094.png"/>
          <p:cNvPicPr preferRelativeResize="0"/>
          <p:nvPr/>
        </p:nvPicPr>
        <p:blipFill>
          <a:blip r:embed="rId4">
            <a:alphaModFix/>
          </a:blip>
          <a:stretch>
            <a:fillRect/>
          </a:stretch>
        </p:blipFill>
        <p:spPr>
          <a:xfrm>
            <a:off x="4089950" y="1761970"/>
            <a:ext cx="964100" cy="964110"/>
          </a:xfrm>
          <a:prstGeom prst="rect">
            <a:avLst/>
          </a:prstGeom>
          <a:noFill/>
          <a:ln>
            <a:noFill/>
          </a:ln>
        </p:spPr>
      </p:pic>
      <p:sp>
        <p:nvSpPr>
          <p:cNvPr id="540" name="Google Shape;540;p54"/>
          <p:cNvSpPr txBox="1"/>
          <p:nvPr>
            <p:ph idx="4294967295" type="title"/>
          </p:nvPr>
        </p:nvSpPr>
        <p:spPr>
          <a:xfrm>
            <a:off x="5413816" y="2717559"/>
            <a:ext cx="3796800" cy="2393700"/>
          </a:xfrm>
          <a:prstGeom prst="rect">
            <a:avLst/>
          </a:prstGeom>
        </p:spPr>
        <p:txBody>
          <a:bodyPr anchorCtr="0" anchor="t" bIns="91425" lIns="731500" spcFirstLastPara="1" rIns="731500" wrap="square" tIns="91425">
            <a:noAutofit/>
          </a:bodyPr>
          <a:lstStyle/>
          <a:p>
            <a:pPr indent="0" lvl="0" marL="0" rtl="0" algn="r">
              <a:spcBef>
                <a:spcPts val="0"/>
              </a:spcBef>
              <a:spcAft>
                <a:spcPts val="0"/>
              </a:spcAft>
              <a:buNone/>
            </a:pPr>
            <a:r>
              <a:rPr lang="en" sz="1800">
                <a:solidFill>
                  <a:srgbClr val="212121"/>
                </a:solidFill>
                <a:latin typeface="Roboto"/>
                <a:ea typeface="Roboto"/>
                <a:cs typeface="Roboto"/>
                <a:sym typeface="Roboto"/>
              </a:rPr>
              <a:t>Engagement </a:t>
            </a:r>
            <a:r>
              <a:rPr b="1" lang="en" sz="1800">
                <a:solidFill>
                  <a:srgbClr val="212121"/>
                </a:solidFill>
                <a:latin typeface="Roboto"/>
                <a:ea typeface="Roboto"/>
                <a:cs typeface="Roboto"/>
                <a:sym typeface="Roboto"/>
              </a:rPr>
              <a:t>stable</a:t>
            </a:r>
            <a:r>
              <a:rPr lang="en" sz="1800">
                <a:solidFill>
                  <a:srgbClr val="212121"/>
                </a:solidFill>
                <a:latin typeface="Roboto"/>
                <a:ea typeface="Roboto"/>
                <a:cs typeface="Roboto"/>
                <a:sym typeface="Roboto"/>
              </a:rPr>
              <a:t>, </a:t>
            </a:r>
            <a:br>
              <a:rPr lang="en" sz="1800">
                <a:solidFill>
                  <a:srgbClr val="212121"/>
                </a:solidFill>
                <a:latin typeface="Roboto"/>
                <a:ea typeface="Roboto"/>
                <a:cs typeface="Roboto"/>
                <a:sym typeface="Roboto"/>
              </a:rPr>
            </a:br>
            <a:r>
              <a:rPr lang="en" sz="1800">
                <a:solidFill>
                  <a:srgbClr val="212121"/>
                </a:solidFill>
                <a:latin typeface="Roboto"/>
                <a:ea typeface="Roboto"/>
                <a:cs typeface="Roboto"/>
                <a:sym typeface="Roboto"/>
              </a:rPr>
              <a:t>volume </a:t>
            </a:r>
            <a:r>
              <a:rPr b="1" lang="en" sz="1800">
                <a:solidFill>
                  <a:srgbClr val="212121"/>
                </a:solidFill>
                <a:latin typeface="Roboto"/>
                <a:ea typeface="Roboto"/>
                <a:cs typeface="Roboto"/>
                <a:sym typeface="Roboto"/>
              </a:rPr>
              <a:t>concentrated</a:t>
            </a:r>
            <a:r>
              <a:rPr lang="en" sz="1800">
                <a:solidFill>
                  <a:srgbClr val="212121"/>
                </a:solidFill>
                <a:latin typeface="Roboto"/>
                <a:ea typeface="Roboto"/>
                <a:cs typeface="Roboto"/>
                <a:sym typeface="Roboto"/>
              </a:rPr>
              <a:t>, </a:t>
            </a:r>
            <a:br>
              <a:rPr lang="en" sz="1800">
                <a:solidFill>
                  <a:srgbClr val="212121"/>
                </a:solidFill>
                <a:latin typeface="Roboto"/>
                <a:ea typeface="Roboto"/>
                <a:cs typeface="Roboto"/>
                <a:sym typeface="Roboto"/>
              </a:rPr>
            </a:br>
            <a:r>
              <a:rPr lang="en" sz="1800">
                <a:solidFill>
                  <a:srgbClr val="212121"/>
                </a:solidFill>
                <a:latin typeface="Roboto"/>
                <a:ea typeface="Roboto"/>
                <a:cs typeface="Roboto"/>
                <a:sym typeface="Roboto"/>
              </a:rPr>
              <a:t>email </a:t>
            </a:r>
            <a:r>
              <a:rPr b="1" lang="en" sz="1800">
                <a:solidFill>
                  <a:srgbClr val="212121"/>
                </a:solidFill>
                <a:latin typeface="Roboto"/>
                <a:ea typeface="Roboto"/>
                <a:cs typeface="Roboto"/>
                <a:sym typeface="Roboto"/>
              </a:rPr>
              <a:t>declining</a:t>
            </a:r>
            <a:r>
              <a:rPr lang="en" sz="1800">
                <a:solidFill>
                  <a:srgbClr val="212121"/>
                </a:solidFill>
                <a:latin typeface="Roboto"/>
                <a:ea typeface="Roboto"/>
                <a:cs typeface="Roboto"/>
                <a:sym typeface="Roboto"/>
              </a:rPr>
              <a:t>, WhatsApp drives </a:t>
            </a:r>
            <a:r>
              <a:rPr b="1" lang="en" sz="1800">
                <a:solidFill>
                  <a:srgbClr val="212121"/>
                </a:solidFill>
                <a:latin typeface="Roboto"/>
                <a:ea typeface="Roboto"/>
                <a:cs typeface="Roboto"/>
                <a:sym typeface="Roboto"/>
              </a:rPr>
              <a:t>upsell opportunities</a:t>
            </a:r>
            <a:r>
              <a:rPr lang="en" sz="1800">
                <a:solidFill>
                  <a:srgbClr val="212121"/>
                </a:solidFill>
                <a:latin typeface="Roboto"/>
                <a:ea typeface="Roboto"/>
                <a:cs typeface="Roboto"/>
                <a:sym typeface="Roboto"/>
              </a:rPr>
              <a:t>.</a:t>
            </a:r>
            <a:endParaRPr sz="1800">
              <a:solidFill>
                <a:srgbClr val="212121"/>
              </a:solidFill>
              <a:latin typeface="Roboto"/>
              <a:ea typeface="Roboto"/>
              <a:cs typeface="Roboto"/>
              <a:sym typeface="Roboto"/>
            </a:endParaRPr>
          </a:p>
        </p:txBody>
      </p:sp>
      <p:pic>
        <p:nvPicPr>
          <p:cNvPr id="541" name="Google Shape;541;p54" title="usp_5030066.png"/>
          <p:cNvPicPr preferRelativeResize="0"/>
          <p:nvPr/>
        </p:nvPicPr>
        <p:blipFill>
          <a:blip r:embed="rId5">
            <a:alphaModFix/>
          </a:blip>
          <a:stretch>
            <a:fillRect/>
          </a:stretch>
        </p:blipFill>
        <p:spPr>
          <a:xfrm>
            <a:off x="7167650" y="1742500"/>
            <a:ext cx="964100" cy="964100"/>
          </a:xfrm>
          <a:prstGeom prst="rect">
            <a:avLst/>
          </a:prstGeom>
          <a:noFill/>
          <a:ln>
            <a:noFill/>
          </a:ln>
        </p:spPr>
      </p:pic>
      <p:pic>
        <p:nvPicPr>
          <p:cNvPr id="542" name="Google Shape;542;p54" title="Salinan Logo RevoU x OCA x Telkom.png"/>
          <p:cNvPicPr preferRelativeResize="0"/>
          <p:nvPr/>
        </p:nvPicPr>
        <p:blipFill rotWithShape="1">
          <a:blip r:embed="rId6">
            <a:alphaModFix/>
          </a:blip>
          <a:srcRect b="14850" l="0" r="0" t="17832"/>
          <a:stretch/>
        </p:blipFill>
        <p:spPr>
          <a:xfrm>
            <a:off x="0" y="28023"/>
            <a:ext cx="3300485" cy="822900"/>
          </a:xfrm>
          <a:prstGeom prst="rect">
            <a:avLst/>
          </a:prstGeom>
          <a:noFill/>
          <a:ln>
            <a:noFill/>
          </a:ln>
        </p:spPr>
      </p:pic>
      <p:sp>
        <p:nvSpPr>
          <p:cNvPr id="543" name="Google Shape;543;p54"/>
          <p:cNvSpPr/>
          <p:nvPr/>
        </p:nvSpPr>
        <p:spPr>
          <a:xfrm>
            <a:off x="0" y="4737050"/>
            <a:ext cx="9198300" cy="320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544" name="Google Shape;544;p54"/>
          <p:cNvSpPr txBox="1"/>
          <p:nvPr>
            <p:ph idx="4294967295" type="subTitle"/>
          </p:nvPr>
        </p:nvSpPr>
        <p:spPr>
          <a:xfrm>
            <a:off x="361050" y="4718700"/>
            <a:ext cx="8421900" cy="42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lt1"/>
                </a:solidFill>
                <a:latin typeface="Roboto"/>
                <a:ea typeface="Roboto"/>
                <a:cs typeface="Roboto"/>
                <a:sym typeface="Roboto"/>
              </a:rPr>
              <a:t>“The data shown has been adjusted for educational purposes and does not reflect the company’s actual business conditions.”</a:t>
            </a:r>
            <a:endParaRPr b="1" sz="1000">
              <a:solidFill>
                <a:schemeClr val="lt1"/>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5"/>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55"/>
          <p:cNvSpPr/>
          <p:nvPr/>
        </p:nvSpPr>
        <p:spPr>
          <a:xfrm rot="-8512697">
            <a:off x="-1550150" y="2095470"/>
            <a:ext cx="2419597" cy="2419597"/>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1" name="Google Shape;551;p55"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552" name="Google Shape;552;p55"/>
          <p:cNvSpPr txBox="1"/>
          <p:nvPr>
            <p:ph type="title"/>
          </p:nvPr>
        </p:nvSpPr>
        <p:spPr>
          <a:xfrm>
            <a:off x="716100" y="58545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latin typeface="Roboto"/>
                <a:ea typeface="Roboto"/>
                <a:cs typeface="Roboto"/>
                <a:sym typeface="Roboto"/>
              </a:rPr>
              <a:t>Recommendations</a:t>
            </a:r>
            <a:endParaRPr sz="3600">
              <a:latin typeface="Roboto"/>
              <a:ea typeface="Roboto"/>
              <a:cs typeface="Roboto"/>
              <a:sym typeface="Roboto"/>
            </a:endParaRPr>
          </a:p>
        </p:txBody>
      </p:sp>
      <p:sp>
        <p:nvSpPr>
          <p:cNvPr id="553" name="Google Shape;553;p55"/>
          <p:cNvSpPr txBox="1"/>
          <p:nvPr/>
        </p:nvSpPr>
        <p:spPr>
          <a:xfrm>
            <a:off x="2387375" y="1478528"/>
            <a:ext cx="5276100" cy="603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Roboto"/>
                <a:ea typeface="Roboto"/>
                <a:cs typeface="Roboto"/>
                <a:sym typeface="Roboto"/>
              </a:rPr>
              <a:t>Reduce Dependency Risk through Volume Diversification</a:t>
            </a:r>
            <a:endParaRPr b="1" sz="1800">
              <a:solidFill>
                <a:schemeClr val="lt1"/>
              </a:solidFill>
              <a:latin typeface="Roboto"/>
              <a:ea typeface="Roboto"/>
              <a:cs typeface="Roboto"/>
              <a:sym typeface="Roboto"/>
            </a:endParaRPr>
          </a:p>
        </p:txBody>
      </p:sp>
      <p:sp>
        <p:nvSpPr>
          <p:cNvPr id="554" name="Google Shape;554;p55"/>
          <p:cNvSpPr txBox="1"/>
          <p:nvPr>
            <p:ph idx="1" type="subTitle"/>
          </p:nvPr>
        </p:nvSpPr>
        <p:spPr>
          <a:xfrm>
            <a:off x="2387375" y="1929425"/>
            <a:ext cx="4530000" cy="87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F8FAFB"/>
                </a:solidFill>
                <a:latin typeface="Roboto"/>
                <a:ea typeface="Roboto"/>
                <a:cs typeface="Roboto"/>
                <a:sym typeface="Roboto"/>
              </a:rPr>
              <a:t>Action:</a:t>
            </a:r>
            <a:r>
              <a:rPr lang="en" sz="1200">
                <a:solidFill>
                  <a:srgbClr val="F8FAFB"/>
                </a:solidFill>
                <a:latin typeface="Roboto"/>
                <a:ea typeface="Roboto"/>
                <a:cs typeface="Roboto"/>
                <a:sym typeface="Roboto"/>
              </a:rPr>
              <a:t> Encourage increased volume from existing active but low-volume clients through bundling packages and usage incentives.</a:t>
            </a:r>
            <a:endParaRPr sz="1200">
              <a:solidFill>
                <a:srgbClr val="F8FAFB"/>
              </a:solidFill>
              <a:latin typeface="Roboto"/>
              <a:ea typeface="Roboto"/>
              <a:cs typeface="Roboto"/>
              <a:sym typeface="Roboto"/>
            </a:endParaRPr>
          </a:p>
          <a:p>
            <a:pPr indent="0" lvl="0" marL="0" rtl="0" algn="l">
              <a:spcBef>
                <a:spcPts val="0"/>
              </a:spcBef>
              <a:spcAft>
                <a:spcPts val="0"/>
              </a:spcAft>
              <a:buNone/>
            </a:pPr>
            <a:r>
              <a:t/>
            </a:r>
            <a:endParaRPr sz="1200">
              <a:solidFill>
                <a:srgbClr val="F8FAFB"/>
              </a:solidFill>
              <a:latin typeface="Roboto"/>
              <a:ea typeface="Roboto"/>
              <a:cs typeface="Roboto"/>
              <a:sym typeface="Roboto"/>
            </a:endParaRPr>
          </a:p>
        </p:txBody>
      </p:sp>
      <p:pic>
        <p:nvPicPr>
          <p:cNvPr id="555" name="Google Shape;555;p55" title="diversification_15546383.png"/>
          <p:cNvPicPr preferRelativeResize="0"/>
          <p:nvPr/>
        </p:nvPicPr>
        <p:blipFill>
          <a:blip r:embed="rId4">
            <a:alphaModFix/>
          </a:blip>
          <a:stretch>
            <a:fillRect/>
          </a:stretch>
        </p:blipFill>
        <p:spPr>
          <a:xfrm>
            <a:off x="1480522" y="1558750"/>
            <a:ext cx="870328" cy="870300"/>
          </a:xfrm>
          <a:prstGeom prst="rect">
            <a:avLst/>
          </a:prstGeom>
          <a:noFill/>
          <a:ln>
            <a:noFill/>
          </a:ln>
        </p:spPr>
      </p:pic>
      <p:pic>
        <p:nvPicPr>
          <p:cNvPr id="556" name="Google Shape;556;p55" title="money-currency_3532917.png"/>
          <p:cNvPicPr preferRelativeResize="0"/>
          <p:nvPr/>
        </p:nvPicPr>
        <p:blipFill>
          <a:blip r:embed="rId5">
            <a:alphaModFix/>
          </a:blip>
          <a:stretch>
            <a:fillRect/>
          </a:stretch>
        </p:blipFill>
        <p:spPr>
          <a:xfrm>
            <a:off x="3226142" y="2757435"/>
            <a:ext cx="870324" cy="870335"/>
          </a:xfrm>
          <a:prstGeom prst="rect">
            <a:avLst/>
          </a:prstGeom>
          <a:noFill/>
          <a:ln>
            <a:noFill/>
          </a:ln>
        </p:spPr>
      </p:pic>
      <p:sp>
        <p:nvSpPr>
          <p:cNvPr id="557" name="Google Shape;557;p55"/>
          <p:cNvSpPr txBox="1"/>
          <p:nvPr/>
        </p:nvSpPr>
        <p:spPr>
          <a:xfrm>
            <a:off x="2797692" y="3627782"/>
            <a:ext cx="1662900" cy="6996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064">
                <a:solidFill>
                  <a:schemeClr val="lt1"/>
                </a:solidFill>
                <a:latin typeface="Roboto"/>
                <a:ea typeface="Roboto"/>
                <a:cs typeface="Roboto"/>
                <a:sym typeface="Roboto"/>
              </a:rPr>
              <a:t>INCREASE REVENUE</a:t>
            </a:r>
            <a:endParaRPr b="1" sz="1064">
              <a:solidFill>
                <a:schemeClr val="lt1"/>
              </a:solidFill>
              <a:latin typeface="Roboto"/>
              <a:ea typeface="Roboto"/>
              <a:cs typeface="Roboto"/>
              <a:sym typeface="Roboto"/>
            </a:endParaRPr>
          </a:p>
        </p:txBody>
      </p:sp>
      <p:sp>
        <p:nvSpPr>
          <p:cNvPr id="558" name="Google Shape;558;p55"/>
          <p:cNvSpPr txBox="1"/>
          <p:nvPr/>
        </p:nvSpPr>
        <p:spPr>
          <a:xfrm>
            <a:off x="2797692" y="3812050"/>
            <a:ext cx="1662900" cy="4767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447">
                <a:solidFill>
                  <a:schemeClr val="lt1"/>
                </a:solidFill>
                <a:latin typeface="Roboto"/>
                <a:ea typeface="Roboto"/>
                <a:cs typeface="Roboto"/>
                <a:sym typeface="Roboto"/>
              </a:rPr>
              <a:t>Rp. 1.667.700</a:t>
            </a:r>
            <a:endParaRPr b="1" sz="1447">
              <a:solidFill>
                <a:schemeClr val="lt1"/>
              </a:solidFill>
              <a:latin typeface="Roboto"/>
              <a:ea typeface="Roboto"/>
              <a:cs typeface="Roboto"/>
              <a:sym typeface="Roboto"/>
            </a:endParaRPr>
          </a:p>
        </p:txBody>
      </p:sp>
      <p:pic>
        <p:nvPicPr>
          <p:cNvPr id="559" name="Google Shape;559;p55" title="interest-rate_6536324.png"/>
          <p:cNvPicPr preferRelativeResize="0"/>
          <p:nvPr/>
        </p:nvPicPr>
        <p:blipFill>
          <a:blip r:embed="rId6">
            <a:alphaModFix/>
          </a:blip>
          <a:stretch>
            <a:fillRect/>
          </a:stretch>
        </p:blipFill>
        <p:spPr>
          <a:xfrm>
            <a:off x="5215767" y="2812115"/>
            <a:ext cx="760975" cy="760975"/>
          </a:xfrm>
          <a:prstGeom prst="rect">
            <a:avLst/>
          </a:prstGeom>
          <a:noFill/>
          <a:ln>
            <a:noFill/>
          </a:ln>
        </p:spPr>
      </p:pic>
      <p:sp>
        <p:nvSpPr>
          <p:cNvPr id="560" name="Google Shape;560;p55"/>
          <p:cNvSpPr txBox="1"/>
          <p:nvPr/>
        </p:nvSpPr>
        <p:spPr>
          <a:xfrm>
            <a:off x="4764804" y="3627782"/>
            <a:ext cx="1662900" cy="6996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064">
                <a:solidFill>
                  <a:schemeClr val="lt1"/>
                </a:solidFill>
                <a:latin typeface="Roboto"/>
                <a:ea typeface="Roboto"/>
                <a:cs typeface="Roboto"/>
                <a:sym typeface="Roboto"/>
              </a:rPr>
              <a:t>RATE </a:t>
            </a:r>
            <a:r>
              <a:rPr b="1" lang="en" sz="1064">
                <a:solidFill>
                  <a:schemeClr val="lt1"/>
                </a:solidFill>
                <a:latin typeface="Roboto"/>
                <a:ea typeface="Roboto"/>
                <a:cs typeface="Roboto"/>
                <a:sym typeface="Roboto"/>
              </a:rPr>
              <a:t>REVENUE</a:t>
            </a:r>
            <a:endParaRPr b="1" sz="1064">
              <a:solidFill>
                <a:schemeClr val="lt1"/>
              </a:solidFill>
              <a:latin typeface="Roboto"/>
              <a:ea typeface="Roboto"/>
              <a:cs typeface="Roboto"/>
              <a:sym typeface="Roboto"/>
            </a:endParaRPr>
          </a:p>
        </p:txBody>
      </p:sp>
      <p:sp>
        <p:nvSpPr>
          <p:cNvPr id="561" name="Google Shape;561;p55"/>
          <p:cNvSpPr txBox="1"/>
          <p:nvPr/>
        </p:nvSpPr>
        <p:spPr>
          <a:xfrm>
            <a:off x="4764804" y="3812050"/>
            <a:ext cx="1662900" cy="4767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447">
                <a:solidFill>
                  <a:schemeClr val="lt1"/>
                </a:solidFill>
                <a:latin typeface="Roboto"/>
                <a:ea typeface="Roboto"/>
                <a:cs typeface="Roboto"/>
                <a:sym typeface="Roboto"/>
              </a:rPr>
              <a:t>6.91%</a:t>
            </a:r>
            <a:endParaRPr b="1" sz="1447">
              <a:solidFill>
                <a:schemeClr val="lt1"/>
              </a:solidFill>
              <a:latin typeface="Roboto"/>
              <a:ea typeface="Roboto"/>
              <a:cs typeface="Roboto"/>
              <a:sym typeface="Roboto"/>
            </a:endParaRPr>
          </a:p>
        </p:txBody>
      </p:sp>
      <p:sp>
        <p:nvSpPr>
          <p:cNvPr id="562" name="Google Shape;562;p55"/>
          <p:cNvSpPr/>
          <p:nvPr/>
        </p:nvSpPr>
        <p:spPr>
          <a:xfrm>
            <a:off x="-25" y="4737050"/>
            <a:ext cx="9144000" cy="320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563" name="Google Shape;563;p55"/>
          <p:cNvSpPr txBox="1"/>
          <p:nvPr>
            <p:ph idx="1" type="subTitle"/>
          </p:nvPr>
        </p:nvSpPr>
        <p:spPr>
          <a:xfrm>
            <a:off x="379200" y="4718275"/>
            <a:ext cx="8385600" cy="31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Roboto"/>
                <a:ea typeface="Roboto"/>
                <a:cs typeface="Roboto"/>
                <a:sym typeface="Roboto"/>
              </a:rPr>
              <a:t>“The data shown has been adjusted for educational purposes and does not reflect the company’s actual business conditions.”</a:t>
            </a:r>
            <a:endParaRPr b="1" sz="1000">
              <a:solidFill>
                <a:schemeClr val="dk1"/>
              </a:solidFill>
              <a:latin typeface="Roboto"/>
              <a:ea typeface="Roboto"/>
              <a:cs typeface="Roboto"/>
              <a:sym typeface="Roboto"/>
            </a:endParaRPr>
          </a:p>
          <a:p>
            <a:pPr indent="0" lvl="0" marL="0" rtl="0" algn="ctr">
              <a:spcBef>
                <a:spcPts val="0"/>
              </a:spcBef>
              <a:spcAft>
                <a:spcPts val="0"/>
              </a:spcAft>
              <a:buNone/>
            </a:pPr>
            <a:r>
              <a:t/>
            </a:r>
            <a:endParaRPr b="1" sz="1000">
              <a:solidFill>
                <a:schemeClr val="dk1"/>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56"/>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56"/>
          <p:cNvSpPr/>
          <p:nvPr/>
        </p:nvSpPr>
        <p:spPr>
          <a:xfrm rot="-8512697">
            <a:off x="-1550150" y="2095470"/>
            <a:ext cx="2419597" cy="2419597"/>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0" name="Google Shape;570;p56"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571" name="Google Shape;571;p56"/>
          <p:cNvSpPr txBox="1"/>
          <p:nvPr>
            <p:ph type="title"/>
          </p:nvPr>
        </p:nvSpPr>
        <p:spPr>
          <a:xfrm>
            <a:off x="716100" y="58545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latin typeface="Roboto"/>
                <a:ea typeface="Roboto"/>
                <a:cs typeface="Roboto"/>
                <a:sym typeface="Roboto"/>
              </a:rPr>
              <a:t>Recommendations</a:t>
            </a:r>
            <a:endParaRPr sz="3600">
              <a:latin typeface="Roboto"/>
              <a:ea typeface="Roboto"/>
              <a:cs typeface="Roboto"/>
              <a:sym typeface="Roboto"/>
            </a:endParaRPr>
          </a:p>
        </p:txBody>
      </p:sp>
      <p:sp>
        <p:nvSpPr>
          <p:cNvPr id="572" name="Google Shape;572;p56"/>
          <p:cNvSpPr txBox="1"/>
          <p:nvPr/>
        </p:nvSpPr>
        <p:spPr>
          <a:xfrm>
            <a:off x="2399200" y="1563203"/>
            <a:ext cx="5276100" cy="603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Roboto"/>
                <a:ea typeface="Roboto"/>
                <a:cs typeface="Roboto"/>
                <a:sym typeface="Roboto"/>
              </a:rPr>
              <a:t>Shift Revenue Growth to WhatsApp-Centric Strategy</a:t>
            </a:r>
            <a:endParaRPr b="1" sz="1800">
              <a:solidFill>
                <a:schemeClr val="lt1"/>
              </a:solidFill>
              <a:latin typeface="Roboto"/>
              <a:ea typeface="Roboto"/>
              <a:cs typeface="Roboto"/>
              <a:sym typeface="Roboto"/>
            </a:endParaRPr>
          </a:p>
        </p:txBody>
      </p:sp>
      <p:sp>
        <p:nvSpPr>
          <p:cNvPr id="573" name="Google Shape;573;p56"/>
          <p:cNvSpPr txBox="1"/>
          <p:nvPr>
            <p:ph idx="1" type="subTitle"/>
          </p:nvPr>
        </p:nvSpPr>
        <p:spPr>
          <a:xfrm>
            <a:off x="2399200" y="2014100"/>
            <a:ext cx="4530000" cy="87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F8FAFB"/>
                </a:solidFill>
                <a:latin typeface="Roboto"/>
                <a:ea typeface="Roboto"/>
                <a:cs typeface="Roboto"/>
                <a:sym typeface="Roboto"/>
              </a:rPr>
              <a:t>Action:</a:t>
            </a:r>
            <a:r>
              <a:rPr lang="en" sz="1200">
                <a:solidFill>
                  <a:srgbClr val="F8FAFB"/>
                </a:solidFill>
                <a:latin typeface="Roboto"/>
                <a:ea typeface="Roboto"/>
                <a:cs typeface="Roboto"/>
                <a:sym typeface="Roboto"/>
              </a:rPr>
              <a:t> </a:t>
            </a:r>
            <a:r>
              <a:rPr lang="en" sz="1200">
                <a:solidFill>
                  <a:srgbClr val="F8FAFB"/>
                </a:solidFill>
                <a:latin typeface="Roboto"/>
                <a:ea typeface="Roboto"/>
                <a:cs typeface="Roboto"/>
                <a:sym typeface="Roboto"/>
              </a:rPr>
              <a:t>Focus on WhatsApp as the primary channel for upsells, automation, and value-added services.</a:t>
            </a:r>
            <a:endParaRPr sz="1200">
              <a:solidFill>
                <a:srgbClr val="F8FAFB"/>
              </a:solidFill>
              <a:latin typeface="Roboto"/>
              <a:ea typeface="Roboto"/>
              <a:cs typeface="Roboto"/>
              <a:sym typeface="Roboto"/>
            </a:endParaRPr>
          </a:p>
          <a:p>
            <a:pPr indent="0" lvl="0" marL="0" rtl="0" algn="l">
              <a:spcBef>
                <a:spcPts val="0"/>
              </a:spcBef>
              <a:spcAft>
                <a:spcPts val="0"/>
              </a:spcAft>
              <a:buNone/>
            </a:pPr>
            <a:r>
              <a:t/>
            </a:r>
            <a:endParaRPr sz="1200">
              <a:solidFill>
                <a:srgbClr val="F8FAFB"/>
              </a:solidFill>
              <a:latin typeface="Roboto"/>
              <a:ea typeface="Roboto"/>
              <a:cs typeface="Roboto"/>
              <a:sym typeface="Roboto"/>
            </a:endParaRPr>
          </a:p>
        </p:txBody>
      </p:sp>
      <p:pic>
        <p:nvPicPr>
          <p:cNvPr id="574" name="Google Shape;574;p56" title="whatsapp_2335318.png"/>
          <p:cNvPicPr preferRelativeResize="0"/>
          <p:nvPr/>
        </p:nvPicPr>
        <p:blipFill>
          <a:blip r:embed="rId4">
            <a:alphaModFix/>
          </a:blip>
          <a:stretch>
            <a:fillRect/>
          </a:stretch>
        </p:blipFill>
        <p:spPr>
          <a:xfrm>
            <a:off x="1468699" y="1563200"/>
            <a:ext cx="870278" cy="870300"/>
          </a:xfrm>
          <a:prstGeom prst="rect">
            <a:avLst/>
          </a:prstGeom>
          <a:noFill/>
          <a:ln>
            <a:noFill/>
          </a:ln>
        </p:spPr>
      </p:pic>
      <p:pic>
        <p:nvPicPr>
          <p:cNvPr id="575" name="Google Shape;575;p56" title="interest-rate_6536324.png"/>
          <p:cNvPicPr preferRelativeResize="0"/>
          <p:nvPr/>
        </p:nvPicPr>
        <p:blipFill>
          <a:blip r:embed="rId5">
            <a:alphaModFix/>
          </a:blip>
          <a:stretch>
            <a:fillRect/>
          </a:stretch>
        </p:blipFill>
        <p:spPr>
          <a:xfrm>
            <a:off x="2178799" y="2990264"/>
            <a:ext cx="804950" cy="804950"/>
          </a:xfrm>
          <a:prstGeom prst="rect">
            <a:avLst/>
          </a:prstGeom>
          <a:noFill/>
          <a:ln>
            <a:noFill/>
          </a:ln>
        </p:spPr>
      </p:pic>
      <p:sp>
        <p:nvSpPr>
          <p:cNvPr id="576" name="Google Shape;576;p56"/>
          <p:cNvSpPr txBox="1"/>
          <p:nvPr/>
        </p:nvSpPr>
        <p:spPr>
          <a:xfrm>
            <a:off x="2915047" y="3301375"/>
            <a:ext cx="1079400" cy="6996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GROWTH REVENUE</a:t>
            </a:r>
            <a:endParaRPr b="1">
              <a:solidFill>
                <a:schemeClr val="lt1"/>
              </a:solidFill>
              <a:latin typeface="Roboto"/>
              <a:ea typeface="Roboto"/>
              <a:cs typeface="Roboto"/>
              <a:sym typeface="Roboto"/>
            </a:endParaRPr>
          </a:p>
        </p:txBody>
      </p:sp>
      <p:sp>
        <p:nvSpPr>
          <p:cNvPr id="577" name="Google Shape;577;p56"/>
          <p:cNvSpPr txBox="1"/>
          <p:nvPr/>
        </p:nvSpPr>
        <p:spPr>
          <a:xfrm>
            <a:off x="4058627" y="3301375"/>
            <a:ext cx="1030800" cy="4767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247">
                <a:solidFill>
                  <a:srgbClr val="00FF00"/>
                </a:solidFill>
                <a:latin typeface="Roboto"/>
                <a:ea typeface="Roboto"/>
                <a:cs typeface="Roboto"/>
                <a:sym typeface="Roboto"/>
              </a:rPr>
              <a:t>Whatsapp</a:t>
            </a:r>
            <a:endParaRPr b="1" sz="1247">
              <a:solidFill>
                <a:srgbClr val="00FF00"/>
              </a:solidFill>
              <a:latin typeface="Roboto"/>
              <a:ea typeface="Roboto"/>
              <a:cs typeface="Roboto"/>
              <a:sym typeface="Roboto"/>
            </a:endParaRPr>
          </a:p>
          <a:p>
            <a:pPr indent="0" lvl="0" marL="0" rtl="0" algn="ctr">
              <a:spcBef>
                <a:spcPts val="0"/>
              </a:spcBef>
              <a:spcAft>
                <a:spcPts val="0"/>
              </a:spcAft>
              <a:buNone/>
            </a:pPr>
            <a:r>
              <a:rPr b="1" lang="en" sz="1247">
                <a:solidFill>
                  <a:schemeClr val="lt1"/>
                </a:solidFill>
                <a:latin typeface="Roboto"/>
                <a:ea typeface="Roboto"/>
                <a:cs typeface="Roboto"/>
                <a:sym typeface="Roboto"/>
              </a:rPr>
              <a:t>55.2%</a:t>
            </a:r>
            <a:endParaRPr b="1" sz="1247">
              <a:solidFill>
                <a:schemeClr val="lt1"/>
              </a:solidFill>
              <a:latin typeface="Roboto"/>
              <a:ea typeface="Roboto"/>
              <a:cs typeface="Roboto"/>
              <a:sym typeface="Roboto"/>
            </a:endParaRPr>
          </a:p>
        </p:txBody>
      </p:sp>
      <p:sp>
        <p:nvSpPr>
          <p:cNvPr id="578" name="Google Shape;578;p56"/>
          <p:cNvSpPr txBox="1"/>
          <p:nvPr/>
        </p:nvSpPr>
        <p:spPr>
          <a:xfrm>
            <a:off x="4845652" y="3301375"/>
            <a:ext cx="1030800" cy="4767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247">
                <a:solidFill>
                  <a:srgbClr val="FF6B65"/>
                </a:solidFill>
                <a:latin typeface="Roboto"/>
                <a:ea typeface="Roboto"/>
                <a:cs typeface="Roboto"/>
                <a:sym typeface="Roboto"/>
              </a:rPr>
              <a:t>Email</a:t>
            </a:r>
            <a:endParaRPr b="1" sz="1247">
              <a:solidFill>
                <a:srgbClr val="FF6B65"/>
              </a:solidFill>
              <a:latin typeface="Roboto"/>
              <a:ea typeface="Roboto"/>
              <a:cs typeface="Roboto"/>
              <a:sym typeface="Roboto"/>
            </a:endParaRPr>
          </a:p>
          <a:p>
            <a:pPr indent="0" lvl="0" marL="0" rtl="0" algn="ctr">
              <a:spcBef>
                <a:spcPts val="0"/>
              </a:spcBef>
              <a:spcAft>
                <a:spcPts val="0"/>
              </a:spcAft>
              <a:buNone/>
            </a:pPr>
            <a:r>
              <a:rPr b="1" lang="en" sz="1247">
                <a:solidFill>
                  <a:schemeClr val="lt1"/>
                </a:solidFill>
                <a:latin typeface="Roboto"/>
                <a:ea typeface="Roboto"/>
                <a:cs typeface="Roboto"/>
                <a:sym typeface="Roboto"/>
              </a:rPr>
              <a:t>-</a:t>
            </a:r>
            <a:r>
              <a:rPr b="1" lang="en" sz="1247">
                <a:solidFill>
                  <a:schemeClr val="lt1"/>
                </a:solidFill>
                <a:latin typeface="Roboto"/>
                <a:ea typeface="Roboto"/>
                <a:cs typeface="Roboto"/>
                <a:sym typeface="Roboto"/>
              </a:rPr>
              <a:t>5%</a:t>
            </a:r>
            <a:endParaRPr b="1" sz="1247">
              <a:solidFill>
                <a:schemeClr val="lt1"/>
              </a:solidFill>
              <a:latin typeface="Roboto"/>
              <a:ea typeface="Roboto"/>
              <a:cs typeface="Roboto"/>
              <a:sym typeface="Roboto"/>
            </a:endParaRPr>
          </a:p>
        </p:txBody>
      </p:sp>
      <p:sp>
        <p:nvSpPr>
          <p:cNvPr id="579" name="Google Shape;579;p56"/>
          <p:cNvSpPr txBox="1"/>
          <p:nvPr/>
        </p:nvSpPr>
        <p:spPr>
          <a:xfrm>
            <a:off x="5476502" y="3301375"/>
            <a:ext cx="1030800" cy="4767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247">
                <a:solidFill>
                  <a:srgbClr val="FF9900"/>
                </a:solidFill>
                <a:latin typeface="Roboto"/>
                <a:ea typeface="Roboto"/>
                <a:cs typeface="Roboto"/>
                <a:sym typeface="Roboto"/>
              </a:rPr>
              <a:t>SMS</a:t>
            </a:r>
            <a:endParaRPr b="1" sz="1247">
              <a:solidFill>
                <a:srgbClr val="FF9900"/>
              </a:solidFill>
              <a:latin typeface="Roboto"/>
              <a:ea typeface="Roboto"/>
              <a:cs typeface="Roboto"/>
              <a:sym typeface="Roboto"/>
            </a:endParaRPr>
          </a:p>
          <a:p>
            <a:pPr indent="0" lvl="0" marL="0" rtl="0" algn="ctr">
              <a:spcBef>
                <a:spcPts val="0"/>
              </a:spcBef>
              <a:spcAft>
                <a:spcPts val="0"/>
              </a:spcAft>
              <a:buNone/>
            </a:pPr>
            <a:r>
              <a:rPr b="1" lang="en" sz="1247">
                <a:solidFill>
                  <a:schemeClr val="lt1"/>
                </a:solidFill>
                <a:latin typeface="Roboto"/>
                <a:ea typeface="Roboto"/>
                <a:cs typeface="Roboto"/>
                <a:sym typeface="Roboto"/>
              </a:rPr>
              <a:t>-5%</a:t>
            </a:r>
            <a:endParaRPr b="1" sz="1247">
              <a:solidFill>
                <a:schemeClr val="lt1"/>
              </a:solidFill>
              <a:latin typeface="Roboto"/>
              <a:ea typeface="Roboto"/>
              <a:cs typeface="Roboto"/>
              <a:sym typeface="Roboto"/>
            </a:endParaRPr>
          </a:p>
        </p:txBody>
      </p:sp>
      <p:sp>
        <p:nvSpPr>
          <p:cNvPr id="580" name="Google Shape;580;p56"/>
          <p:cNvSpPr txBox="1"/>
          <p:nvPr/>
        </p:nvSpPr>
        <p:spPr>
          <a:xfrm>
            <a:off x="6109627" y="3301375"/>
            <a:ext cx="1030800" cy="4767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247">
                <a:solidFill>
                  <a:srgbClr val="FFFF00"/>
                </a:solidFill>
                <a:latin typeface="Roboto"/>
                <a:ea typeface="Roboto"/>
                <a:cs typeface="Roboto"/>
                <a:sym typeface="Roboto"/>
              </a:rPr>
              <a:t>CALL</a:t>
            </a:r>
            <a:endParaRPr b="1" sz="1247">
              <a:solidFill>
                <a:srgbClr val="FFFF00"/>
              </a:solidFill>
              <a:latin typeface="Roboto"/>
              <a:ea typeface="Roboto"/>
              <a:cs typeface="Roboto"/>
              <a:sym typeface="Roboto"/>
            </a:endParaRPr>
          </a:p>
          <a:p>
            <a:pPr indent="0" lvl="0" marL="0" rtl="0" algn="ctr">
              <a:spcBef>
                <a:spcPts val="0"/>
              </a:spcBef>
              <a:spcAft>
                <a:spcPts val="0"/>
              </a:spcAft>
              <a:buNone/>
            </a:pPr>
            <a:r>
              <a:rPr b="1" lang="en" sz="1247">
                <a:solidFill>
                  <a:schemeClr val="lt1"/>
                </a:solidFill>
                <a:latin typeface="Roboto"/>
                <a:ea typeface="Roboto"/>
                <a:cs typeface="Roboto"/>
                <a:sym typeface="Roboto"/>
              </a:rPr>
              <a:t>-5%</a:t>
            </a:r>
            <a:endParaRPr b="1" sz="1247">
              <a:solidFill>
                <a:schemeClr val="lt1"/>
              </a:solidFill>
              <a:latin typeface="Roboto"/>
              <a:ea typeface="Roboto"/>
              <a:cs typeface="Roboto"/>
              <a:sym typeface="Roboto"/>
            </a:endParaRPr>
          </a:p>
        </p:txBody>
      </p:sp>
      <p:sp>
        <p:nvSpPr>
          <p:cNvPr id="581" name="Google Shape;581;p56"/>
          <p:cNvSpPr/>
          <p:nvPr/>
        </p:nvSpPr>
        <p:spPr>
          <a:xfrm>
            <a:off x="-25" y="4737050"/>
            <a:ext cx="9144000" cy="320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582" name="Google Shape;582;p56"/>
          <p:cNvSpPr txBox="1"/>
          <p:nvPr>
            <p:ph idx="1" type="subTitle"/>
          </p:nvPr>
        </p:nvSpPr>
        <p:spPr>
          <a:xfrm>
            <a:off x="379200" y="4718275"/>
            <a:ext cx="8385600" cy="31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Roboto"/>
                <a:ea typeface="Roboto"/>
                <a:cs typeface="Roboto"/>
                <a:sym typeface="Roboto"/>
              </a:rPr>
              <a:t>“The data shown has been adjusted for educational purposes and does not reflect the company’s actual business conditions.”</a:t>
            </a:r>
            <a:endParaRPr b="1" sz="1000">
              <a:solidFill>
                <a:schemeClr val="dk1"/>
              </a:solidFill>
              <a:latin typeface="Roboto"/>
              <a:ea typeface="Roboto"/>
              <a:cs typeface="Roboto"/>
              <a:sym typeface="Roboto"/>
            </a:endParaRPr>
          </a:p>
          <a:p>
            <a:pPr indent="0" lvl="0" marL="0" rtl="0" algn="ctr">
              <a:spcBef>
                <a:spcPts val="0"/>
              </a:spcBef>
              <a:spcAft>
                <a:spcPts val="0"/>
              </a:spcAft>
              <a:buNone/>
            </a:pPr>
            <a:r>
              <a:t/>
            </a:r>
            <a:endParaRPr b="1" sz="1000">
              <a:solidFill>
                <a:schemeClr val="dk1"/>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57"/>
          <p:cNvSpPr/>
          <p:nvPr/>
        </p:nvSpPr>
        <p:spPr>
          <a:xfrm rot="311328">
            <a:off x="-974057" y="-596825"/>
            <a:ext cx="1658597" cy="1658597"/>
          </a:xfrm>
          <a:prstGeom prst="donut">
            <a:avLst>
              <a:gd fmla="val 18304" name="adj"/>
            </a:avLst>
          </a:prstGeom>
          <a:gradFill>
            <a:gsLst>
              <a:gs pos="0">
                <a:schemeClr val="lt1"/>
              </a:gs>
              <a:gs pos="69000">
                <a:srgbClr val="FFFFFF">
                  <a:alpha val="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57"/>
          <p:cNvSpPr/>
          <p:nvPr/>
        </p:nvSpPr>
        <p:spPr>
          <a:xfrm rot="-8512697">
            <a:off x="-1550150" y="2095470"/>
            <a:ext cx="2419597" cy="2419597"/>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89" name="Google Shape;589;p57"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590" name="Google Shape;590;p57"/>
          <p:cNvSpPr txBox="1"/>
          <p:nvPr>
            <p:ph type="title"/>
          </p:nvPr>
        </p:nvSpPr>
        <p:spPr>
          <a:xfrm>
            <a:off x="716100" y="585450"/>
            <a:ext cx="7711800" cy="685800"/>
          </a:xfrm>
          <a:prstGeom prst="rect">
            <a:avLst/>
          </a:prstGeom>
        </p:spPr>
        <p:txBody>
          <a:bodyPr anchorCtr="0" anchor="b" bIns="91425" lIns="731500" spcFirstLastPara="1" rIns="731500" wrap="square" tIns="91425">
            <a:noAutofit/>
          </a:bodyPr>
          <a:lstStyle/>
          <a:p>
            <a:pPr indent="0" lvl="0" marL="0" rtl="0" algn="ctr">
              <a:spcBef>
                <a:spcPts val="0"/>
              </a:spcBef>
              <a:spcAft>
                <a:spcPts val="0"/>
              </a:spcAft>
              <a:buNone/>
            </a:pPr>
            <a:r>
              <a:rPr lang="en" sz="3600">
                <a:latin typeface="Roboto"/>
                <a:ea typeface="Roboto"/>
                <a:cs typeface="Roboto"/>
                <a:sym typeface="Roboto"/>
              </a:rPr>
              <a:t>Recommendations</a:t>
            </a:r>
            <a:endParaRPr sz="3600">
              <a:latin typeface="Roboto"/>
              <a:ea typeface="Roboto"/>
              <a:cs typeface="Roboto"/>
              <a:sym typeface="Roboto"/>
            </a:endParaRPr>
          </a:p>
        </p:txBody>
      </p:sp>
      <p:sp>
        <p:nvSpPr>
          <p:cNvPr id="591" name="Google Shape;591;p57"/>
          <p:cNvSpPr txBox="1"/>
          <p:nvPr/>
        </p:nvSpPr>
        <p:spPr>
          <a:xfrm>
            <a:off x="2472863" y="1467953"/>
            <a:ext cx="5276100" cy="603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Roboto"/>
                <a:ea typeface="Roboto"/>
                <a:cs typeface="Roboto"/>
                <a:sym typeface="Roboto"/>
              </a:rPr>
              <a:t>Protect SMS as Critical Revenue Backbone</a:t>
            </a:r>
            <a:endParaRPr b="1" sz="1800">
              <a:solidFill>
                <a:schemeClr val="lt1"/>
              </a:solidFill>
              <a:latin typeface="Roboto"/>
              <a:ea typeface="Roboto"/>
              <a:cs typeface="Roboto"/>
              <a:sym typeface="Roboto"/>
            </a:endParaRPr>
          </a:p>
        </p:txBody>
      </p:sp>
      <p:sp>
        <p:nvSpPr>
          <p:cNvPr id="592" name="Google Shape;592;p57"/>
          <p:cNvSpPr txBox="1"/>
          <p:nvPr>
            <p:ph idx="1" type="subTitle"/>
          </p:nvPr>
        </p:nvSpPr>
        <p:spPr>
          <a:xfrm>
            <a:off x="2472863" y="1918850"/>
            <a:ext cx="4530000" cy="87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F8FAFB"/>
                </a:solidFill>
                <a:latin typeface="Roboto"/>
                <a:ea typeface="Roboto"/>
                <a:cs typeface="Roboto"/>
                <a:sym typeface="Roboto"/>
              </a:rPr>
              <a:t>Action:</a:t>
            </a:r>
            <a:r>
              <a:rPr lang="en" sz="1200">
                <a:solidFill>
                  <a:srgbClr val="F8FAFB"/>
                </a:solidFill>
                <a:latin typeface="Roboto"/>
                <a:ea typeface="Roboto"/>
                <a:cs typeface="Roboto"/>
                <a:sym typeface="Roboto"/>
              </a:rPr>
              <a:t> </a:t>
            </a:r>
            <a:r>
              <a:rPr lang="en" sz="1200">
                <a:solidFill>
                  <a:srgbClr val="F8FAFB"/>
                </a:solidFill>
                <a:latin typeface="Roboto"/>
                <a:ea typeface="Roboto"/>
                <a:cs typeface="Roboto"/>
                <a:sym typeface="Roboto"/>
              </a:rPr>
              <a:t>Maintain the quality, pricing power, and positioning of SMS as a critical channel, not a mass blast.</a:t>
            </a:r>
            <a:endParaRPr sz="1200">
              <a:solidFill>
                <a:srgbClr val="F8FAFB"/>
              </a:solidFill>
              <a:latin typeface="Roboto"/>
              <a:ea typeface="Roboto"/>
              <a:cs typeface="Roboto"/>
              <a:sym typeface="Roboto"/>
            </a:endParaRPr>
          </a:p>
          <a:p>
            <a:pPr indent="0" lvl="0" marL="0" rtl="0" algn="l">
              <a:spcBef>
                <a:spcPts val="0"/>
              </a:spcBef>
              <a:spcAft>
                <a:spcPts val="0"/>
              </a:spcAft>
              <a:buNone/>
            </a:pPr>
            <a:r>
              <a:t/>
            </a:r>
            <a:endParaRPr sz="1200">
              <a:solidFill>
                <a:srgbClr val="F8FAFB"/>
              </a:solidFill>
              <a:latin typeface="Roboto"/>
              <a:ea typeface="Roboto"/>
              <a:cs typeface="Roboto"/>
              <a:sym typeface="Roboto"/>
            </a:endParaRPr>
          </a:p>
        </p:txBody>
      </p:sp>
      <p:pic>
        <p:nvPicPr>
          <p:cNvPr id="593" name="Google Shape;593;p57" title="sms_3988094.png"/>
          <p:cNvPicPr preferRelativeResize="0"/>
          <p:nvPr/>
        </p:nvPicPr>
        <p:blipFill>
          <a:blip r:embed="rId4">
            <a:alphaModFix/>
          </a:blip>
          <a:stretch>
            <a:fillRect/>
          </a:stretch>
        </p:blipFill>
        <p:spPr>
          <a:xfrm>
            <a:off x="1395031" y="1632895"/>
            <a:ext cx="1035924" cy="1035924"/>
          </a:xfrm>
          <a:prstGeom prst="rect">
            <a:avLst/>
          </a:prstGeom>
          <a:noFill/>
          <a:ln>
            <a:noFill/>
          </a:ln>
        </p:spPr>
      </p:pic>
      <p:pic>
        <p:nvPicPr>
          <p:cNvPr id="594" name="Google Shape;594;p57" title="money-currency_3532917.png"/>
          <p:cNvPicPr preferRelativeResize="0"/>
          <p:nvPr/>
        </p:nvPicPr>
        <p:blipFill>
          <a:blip r:embed="rId5">
            <a:alphaModFix/>
          </a:blip>
          <a:stretch>
            <a:fillRect/>
          </a:stretch>
        </p:blipFill>
        <p:spPr>
          <a:xfrm>
            <a:off x="3311630" y="2746860"/>
            <a:ext cx="870324" cy="870335"/>
          </a:xfrm>
          <a:prstGeom prst="rect">
            <a:avLst/>
          </a:prstGeom>
          <a:noFill/>
          <a:ln>
            <a:noFill/>
          </a:ln>
        </p:spPr>
      </p:pic>
      <p:sp>
        <p:nvSpPr>
          <p:cNvPr id="595" name="Google Shape;595;p57"/>
          <p:cNvSpPr txBox="1"/>
          <p:nvPr/>
        </p:nvSpPr>
        <p:spPr>
          <a:xfrm>
            <a:off x="2883179" y="3617207"/>
            <a:ext cx="1662900" cy="6996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064">
                <a:solidFill>
                  <a:schemeClr val="lt1"/>
                </a:solidFill>
                <a:latin typeface="Roboto"/>
                <a:ea typeface="Roboto"/>
                <a:cs typeface="Roboto"/>
                <a:sym typeface="Roboto"/>
              </a:rPr>
              <a:t>INCREASE REVENUE</a:t>
            </a:r>
            <a:endParaRPr b="1" sz="1064">
              <a:solidFill>
                <a:schemeClr val="lt1"/>
              </a:solidFill>
              <a:latin typeface="Roboto"/>
              <a:ea typeface="Roboto"/>
              <a:cs typeface="Roboto"/>
              <a:sym typeface="Roboto"/>
            </a:endParaRPr>
          </a:p>
        </p:txBody>
      </p:sp>
      <p:sp>
        <p:nvSpPr>
          <p:cNvPr id="596" name="Google Shape;596;p57"/>
          <p:cNvSpPr txBox="1"/>
          <p:nvPr/>
        </p:nvSpPr>
        <p:spPr>
          <a:xfrm>
            <a:off x="2702162" y="3801475"/>
            <a:ext cx="2025000" cy="4767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447">
                <a:solidFill>
                  <a:schemeClr val="lt1"/>
                </a:solidFill>
                <a:latin typeface="Roboto"/>
                <a:ea typeface="Roboto"/>
                <a:cs typeface="Roboto"/>
                <a:sym typeface="Roboto"/>
              </a:rPr>
              <a:t>Rp. </a:t>
            </a:r>
            <a:r>
              <a:rPr b="1" lang="en" sz="1447">
                <a:solidFill>
                  <a:schemeClr val="lt1"/>
                </a:solidFill>
                <a:latin typeface="Roboto"/>
                <a:ea typeface="Roboto"/>
                <a:cs typeface="Roboto"/>
                <a:sym typeface="Roboto"/>
              </a:rPr>
              <a:t>307.138</a:t>
            </a:r>
            <a:endParaRPr b="1" sz="1447">
              <a:solidFill>
                <a:schemeClr val="lt1"/>
              </a:solidFill>
              <a:latin typeface="Roboto"/>
              <a:ea typeface="Roboto"/>
              <a:cs typeface="Roboto"/>
              <a:sym typeface="Roboto"/>
            </a:endParaRPr>
          </a:p>
        </p:txBody>
      </p:sp>
      <p:pic>
        <p:nvPicPr>
          <p:cNvPr id="597" name="Google Shape;597;p57" title="interest-rate_6536324.png"/>
          <p:cNvPicPr preferRelativeResize="0"/>
          <p:nvPr/>
        </p:nvPicPr>
        <p:blipFill>
          <a:blip r:embed="rId6">
            <a:alphaModFix/>
          </a:blip>
          <a:stretch>
            <a:fillRect/>
          </a:stretch>
        </p:blipFill>
        <p:spPr>
          <a:xfrm>
            <a:off x="5301254" y="2801540"/>
            <a:ext cx="760975" cy="760975"/>
          </a:xfrm>
          <a:prstGeom prst="rect">
            <a:avLst/>
          </a:prstGeom>
          <a:noFill/>
          <a:ln>
            <a:noFill/>
          </a:ln>
        </p:spPr>
      </p:pic>
      <p:sp>
        <p:nvSpPr>
          <p:cNvPr id="598" name="Google Shape;598;p57"/>
          <p:cNvSpPr txBox="1"/>
          <p:nvPr/>
        </p:nvSpPr>
        <p:spPr>
          <a:xfrm>
            <a:off x="4850292" y="3617207"/>
            <a:ext cx="1662900" cy="6996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064">
                <a:solidFill>
                  <a:schemeClr val="lt1"/>
                </a:solidFill>
                <a:latin typeface="Roboto"/>
                <a:ea typeface="Roboto"/>
                <a:cs typeface="Roboto"/>
                <a:sym typeface="Roboto"/>
              </a:rPr>
              <a:t>RATE REVENUE</a:t>
            </a:r>
            <a:endParaRPr b="1" sz="1064">
              <a:solidFill>
                <a:schemeClr val="lt1"/>
              </a:solidFill>
              <a:latin typeface="Roboto"/>
              <a:ea typeface="Roboto"/>
              <a:cs typeface="Roboto"/>
              <a:sym typeface="Roboto"/>
            </a:endParaRPr>
          </a:p>
        </p:txBody>
      </p:sp>
      <p:sp>
        <p:nvSpPr>
          <p:cNvPr id="599" name="Google Shape;599;p57"/>
          <p:cNvSpPr txBox="1"/>
          <p:nvPr/>
        </p:nvSpPr>
        <p:spPr>
          <a:xfrm>
            <a:off x="4850292" y="3801475"/>
            <a:ext cx="1662900" cy="476700"/>
          </a:xfrm>
          <a:prstGeom prst="rect">
            <a:avLst/>
          </a:prstGeom>
          <a:noFill/>
          <a:ln>
            <a:noFill/>
          </a:ln>
        </p:spPr>
        <p:txBody>
          <a:bodyPr anchorCtr="0" anchor="t" bIns="83700" lIns="83700" spcFirstLastPara="1" rIns="83700" wrap="square" tIns="83700">
            <a:noAutofit/>
          </a:bodyPr>
          <a:lstStyle/>
          <a:p>
            <a:pPr indent="0" lvl="0" marL="0" rtl="0" algn="ctr">
              <a:spcBef>
                <a:spcPts val="0"/>
              </a:spcBef>
              <a:spcAft>
                <a:spcPts val="0"/>
              </a:spcAft>
              <a:buNone/>
            </a:pPr>
            <a:r>
              <a:rPr b="1" lang="en" sz="1447">
                <a:solidFill>
                  <a:schemeClr val="lt1"/>
                </a:solidFill>
                <a:latin typeface="Roboto"/>
                <a:ea typeface="Roboto"/>
                <a:cs typeface="Roboto"/>
                <a:sym typeface="Roboto"/>
              </a:rPr>
              <a:t>2.6%</a:t>
            </a:r>
            <a:endParaRPr b="1" sz="1447">
              <a:solidFill>
                <a:schemeClr val="lt1"/>
              </a:solidFill>
              <a:latin typeface="Roboto"/>
              <a:ea typeface="Roboto"/>
              <a:cs typeface="Roboto"/>
              <a:sym typeface="Roboto"/>
            </a:endParaRPr>
          </a:p>
        </p:txBody>
      </p:sp>
      <p:sp>
        <p:nvSpPr>
          <p:cNvPr id="600" name="Google Shape;600;p57"/>
          <p:cNvSpPr/>
          <p:nvPr/>
        </p:nvSpPr>
        <p:spPr>
          <a:xfrm>
            <a:off x="-25" y="4737050"/>
            <a:ext cx="9144000" cy="320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ulish"/>
              <a:ea typeface="Mulish"/>
              <a:cs typeface="Mulish"/>
              <a:sym typeface="Mulish"/>
            </a:endParaRPr>
          </a:p>
        </p:txBody>
      </p:sp>
      <p:sp>
        <p:nvSpPr>
          <p:cNvPr id="601" name="Google Shape;601;p57"/>
          <p:cNvSpPr txBox="1"/>
          <p:nvPr>
            <p:ph idx="1" type="subTitle"/>
          </p:nvPr>
        </p:nvSpPr>
        <p:spPr>
          <a:xfrm>
            <a:off x="379200" y="4718275"/>
            <a:ext cx="8385600" cy="31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Roboto"/>
                <a:ea typeface="Roboto"/>
                <a:cs typeface="Roboto"/>
                <a:sym typeface="Roboto"/>
              </a:rPr>
              <a:t>“The data shown has been adjusted for educational purposes and does not reflect the company’s actual business conditions.”</a:t>
            </a:r>
            <a:endParaRPr b="1" sz="1000">
              <a:solidFill>
                <a:schemeClr val="dk1"/>
              </a:solidFill>
              <a:latin typeface="Roboto"/>
              <a:ea typeface="Roboto"/>
              <a:cs typeface="Roboto"/>
              <a:sym typeface="Roboto"/>
            </a:endParaRPr>
          </a:p>
          <a:p>
            <a:pPr indent="0" lvl="0" marL="0" rtl="0" algn="ctr">
              <a:spcBef>
                <a:spcPts val="0"/>
              </a:spcBef>
              <a:spcAft>
                <a:spcPts val="0"/>
              </a:spcAft>
              <a:buNone/>
            </a:pPr>
            <a:r>
              <a:t/>
            </a:r>
            <a:endParaRPr b="1" sz="1000">
              <a:solidFill>
                <a:schemeClr val="dk1"/>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58">
            <a:hlinkClick r:id="rId3"/>
          </p:cNvPr>
          <p:cNvSpPr/>
          <p:nvPr/>
        </p:nvSpPr>
        <p:spPr>
          <a:xfrm>
            <a:off x="3620231" y="2342309"/>
            <a:ext cx="658500" cy="658500"/>
          </a:xfrm>
          <a:prstGeom prst="ellipse">
            <a:avLst/>
          </a:prstGeom>
          <a:solidFill>
            <a:srgbClr val="FFFFFF">
              <a:alpha val="36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58">
            <a:hlinkClick r:id="rId4"/>
          </p:cNvPr>
          <p:cNvSpPr/>
          <p:nvPr/>
        </p:nvSpPr>
        <p:spPr>
          <a:xfrm>
            <a:off x="4865281" y="2342309"/>
            <a:ext cx="658500" cy="658500"/>
          </a:xfrm>
          <a:prstGeom prst="ellipse">
            <a:avLst/>
          </a:prstGeom>
          <a:solidFill>
            <a:srgbClr val="FFFFFF">
              <a:alpha val="36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58"/>
          <p:cNvSpPr txBox="1"/>
          <p:nvPr>
            <p:ph idx="1" type="subTitle"/>
          </p:nvPr>
        </p:nvSpPr>
        <p:spPr>
          <a:xfrm>
            <a:off x="2272950" y="1637377"/>
            <a:ext cx="4598100" cy="658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Let’s stay in touch !</a:t>
            </a:r>
            <a:endParaRPr/>
          </a:p>
          <a:p>
            <a:pPr indent="0" lvl="0" marL="0" rtl="0" algn="ctr">
              <a:spcBef>
                <a:spcPts val="0"/>
              </a:spcBef>
              <a:spcAft>
                <a:spcPts val="0"/>
              </a:spcAft>
              <a:buClr>
                <a:schemeClr val="dk1"/>
              </a:buClr>
              <a:buSzPts val="1100"/>
              <a:buFont typeface="Arial"/>
              <a:buNone/>
            </a:pPr>
            <a:r>
              <a:rPr b="1" lang="en">
                <a:solidFill>
                  <a:schemeClr val="hlink"/>
                </a:solidFill>
                <a:uFill>
                  <a:noFill/>
                </a:uFill>
                <a:hlinkClick r:id="rId5"/>
              </a:rPr>
              <a:t>m</a:t>
            </a:r>
            <a:r>
              <a:rPr b="1" lang="en">
                <a:solidFill>
                  <a:schemeClr val="hlink"/>
                </a:solidFill>
                <a:uFill>
                  <a:noFill/>
                </a:uFill>
                <a:hlinkClick r:id="rId6"/>
              </a:rPr>
              <a:t>ikhaelput@gmail.com</a:t>
            </a:r>
            <a:endParaRPr b="1"/>
          </a:p>
        </p:txBody>
      </p:sp>
      <p:sp>
        <p:nvSpPr>
          <p:cNvPr id="609" name="Google Shape;609;p58"/>
          <p:cNvSpPr txBox="1"/>
          <p:nvPr>
            <p:ph type="title"/>
          </p:nvPr>
        </p:nvSpPr>
        <p:spPr>
          <a:xfrm>
            <a:off x="2274600" y="870298"/>
            <a:ext cx="4594800" cy="914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Thanks!</a:t>
            </a:r>
            <a:endParaRPr/>
          </a:p>
        </p:txBody>
      </p:sp>
      <p:sp>
        <p:nvSpPr>
          <p:cNvPr id="610" name="Google Shape;610;p58">
            <a:hlinkClick r:id="rId7"/>
          </p:cNvPr>
          <p:cNvSpPr txBox="1"/>
          <p:nvPr/>
        </p:nvSpPr>
        <p:spPr>
          <a:xfrm>
            <a:off x="3184675" y="3000800"/>
            <a:ext cx="15297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u="sng">
                <a:solidFill>
                  <a:schemeClr val="hlink"/>
                </a:solidFill>
                <a:latin typeface="Mulish"/>
                <a:ea typeface="Mulish"/>
                <a:cs typeface="Mulish"/>
                <a:sym typeface="Mulish"/>
                <a:hlinkClick r:id="rId8"/>
              </a:rPr>
              <a:t>Code Python</a:t>
            </a:r>
            <a:endParaRPr b="1">
              <a:solidFill>
                <a:schemeClr val="lt1"/>
              </a:solidFill>
              <a:latin typeface="Mulish"/>
              <a:ea typeface="Mulish"/>
              <a:cs typeface="Mulish"/>
              <a:sym typeface="Mulish"/>
            </a:endParaRPr>
          </a:p>
        </p:txBody>
      </p:sp>
      <p:pic>
        <p:nvPicPr>
          <p:cNvPr id="611" name="Google Shape;611;p58" title="Salinan Logo RevoU x OCA x Telkom.png"/>
          <p:cNvPicPr preferRelativeResize="0"/>
          <p:nvPr/>
        </p:nvPicPr>
        <p:blipFill>
          <a:blip r:embed="rId9">
            <a:alphaModFix/>
          </a:blip>
          <a:stretch>
            <a:fillRect/>
          </a:stretch>
        </p:blipFill>
        <p:spPr>
          <a:xfrm>
            <a:off x="0" y="0"/>
            <a:ext cx="2349829" cy="870300"/>
          </a:xfrm>
          <a:prstGeom prst="rect">
            <a:avLst/>
          </a:prstGeom>
          <a:noFill/>
          <a:ln>
            <a:noFill/>
          </a:ln>
        </p:spPr>
      </p:pic>
      <p:sp>
        <p:nvSpPr>
          <p:cNvPr id="612" name="Google Shape;612;p58">
            <a:hlinkClick r:id="rId10"/>
          </p:cNvPr>
          <p:cNvSpPr txBox="1"/>
          <p:nvPr/>
        </p:nvSpPr>
        <p:spPr>
          <a:xfrm>
            <a:off x="4599475" y="2992273"/>
            <a:ext cx="11901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u="sng">
                <a:solidFill>
                  <a:schemeClr val="hlink"/>
                </a:solidFill>
                <a:latin typeface="Mulish"/>
                <a:ea typeface="Mulish"/>
                <a:cs typeface="Mulish"/>
                <a:sym typeface="Mulish"/>
                <a:hlinkClick r:id="rId11"/>
              </a:rPr>
              <a:t>Linkedin</a:t>
            </a:r>
            <a:endParaRPr b="1">
              <a:solidFill>
                <a:schemeClr val="lt1"/>
              </a:solidFill>
              <a:latin typeface="Mulish"/>
              <a:ea typeface="Mulish"/>
              <a:cs typeface="Mulish"/>
              <a:sym typeface="Mulish"/>
            </a:endParaRPr>
          </a:p>
        </p:txBody>
      </p:sp>
      <p:pic>
        <p:nvPicPr>
          <p:cNvPr id="613" name="Google Shape;613;p58" title="icon linkedin.png"/>
          <p:cNvPicPr preferRelativeResize="0"/>
          <p:nvPr/>
        </p:nvPicPr>
        <p:blipFill>
          <a:blip r:embed="rId12">
            <a:alphaModFix/>
          </a:blip>
          <a:stretch>
            <a:fillRect/>
          </a:stretch>
        </p:blipFill>
        <p:spPr>
          <a:xfrm>
            <a:off x="4926813" y="2403839"/>
            <a:ext cx="535425" cy="535425"/>
          </a:xfrm>
          <a:prstGeom prst="rect">
            <a:avLst/>
          </a:prstGeom>
          <a:noFill/>
          <a:ln>
            <a:noFill/>
          </a:ln>
        </p:spPr>
      </p:pic>
      <p:pic>
        <p:nvPicPr>
          <p:cNvPr id="614" name="Google Shape;614;p58" title="Colab.png"/>
          <p:cNvPicPr preferRelativeResize="0"/>
          <p:nvPr/>
        </p:nvPicPr>
        <p:blipFill>
          <a:blip r:embed="rId13">
            <a:alphaModFix/>
          </a:blip>
          <a:stretch>
            <a:fillRect/>
          </a:stretch>
        </p:blipFill>
        <p:spPr>
          <a:xfrm>
            <a:off x="3452951" y="2365505"/>
            <a:ext cx="993024" cy="6121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59"/>
          <p:cNvSpPr txBox="1"/>
          <p:nvPr>
            <p:ph type="title"/>
          </p:nvPr>
        </p:nvSpPr>
        <p:spPr>
          <a:xfrm>
            <a:off x="2102225" y="2239275"/>
            <a:ext cx="4809000" cy="1787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Appendix.</a:t>
            </a:r>
            <a:endParaRPr/>
          </a:p>
        </p:txBody>
      </p:sp>
      <p:sp>
        <p:nvSpPr>
          <p:cNvPr id="620" name="Google Shape;620;p59"/>
          <p:cNvSpPr/>
          <p:nvPr/>
        </p:nvSpPr>
        <p:spPr>
          <a:xfrm rot="5400000">
            <a:off x="6548425" y="-948317"/>
            <a:ext cx="2419800" cy="2419800"/>
          </a:xfrm>
          <a:prstGeom prst="donut">
            <a:avLst>
              <a:gd fmla="val 17784" name="adj"/>
            </a:avLst>
          </a:prstGeom>
          <a:gradFill>
            <a:gsLst>
              <a:gs pos="0">
                <a:schemeClr val="lt1"/>
              </a:gs>
              <a:gs pos="69000">
                <a:srgbClr val="FFFFFF">
                  <a:alpha val="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24" name="Shape 624"/>
        <p:cNvGrpSpPr/>
        <p:nvPr/>
      </p:nvGrpSpPr>
      <p:grpSpPr>
        <a:xfrm>
          <a:off x="0" y="0"/>
          <a:ext cx="0" cy="0"/>
          <a:chOff x="0" y="0"/>
          <a:chExt cx="0" cy="0"/>
        </a:xfrm>
      </p:grpSpPr>
      <p:pic>
        <p:nvPicPr>
          <p:cNvPr id="625" name="Google Shape;625;p60" title="Salinan Logo RevoU x OCA x Telkom.png"/>
          <p:cNvPicPr preferRelativeResize="0"/>
          <p:nvPr/>
        </p:nvPicPr>
        <p:blipFill>
          <a:blip r:embed="rId3">
            <a:alphaModFix/>
          </a:blip>
          <a:stretch>
            <a:fillRect/>
          </a:stretch>
        </p:blipFill>
        <p:spPr>
          <a:xfrm>
            <a:off x="0" y="0"/>
            <a:ext cx="2349829" cy="870300"/>
          </a:xfrm>
          <a:prstGeom prst="rect">
            <a:avLst/>
          </a:prstGeom>
          <a:noFill/>
          <a:ln>
            <a:noFill/>
          </a:ln>
        </p:spPr>
      </p:pic>
      <p:sp>
        <p:nvSpPr>
          <p:cNvPr id="626" name="Google Shape;626;p60">
            <a:hlinkClick r:id="rId4"/>
          </p:cNvPr>
          <p:cNvSpPr txBox="1"/>
          <p:nvPr>
            <p:ph idx="4294967295" type="title"/>
          </p:nvPr>
        </p:nvSpPr>
        <p:spPr>
          <a:xfrm>
            <a:off x="154725" y="3642450"/>
            <a:ext cx="3907200" cy="1148400"/>
          </a:xfrm>
          <a:prstGeom prst="rect">
            <a:avLst/>
          </a:prstGeom>
        </p:spPr>
        <p:txBody>
          <a:bodyPr anchorCtr="0" anchor="t" bIns="91425" lIns="731500" spcFirstLastPara="1" rIns="731500" wrap="square" tIns="91425">
            <a:noAutofit/>
          </a:bodyPr>
          <a:lstStyle/>
          <a:p>
            <a:pPr indent="0" lvl="0" marL="0" rtl="0" algn="l">
              <a:spcBef>
                <a:spcPts val="0"/>
              </a:spcBef>
              <a:spcAft>
                <a:spcPts val="0"/>
              </a:spcAft>
              <a:buNone/>
            </a:pPr>
            <a:r>
              <a:rPr b="1" lang="en" sz="3000">
                <a:solidFill>
                  <a:srgbClr val="E06666"/>
                </a:solidFill>
                <a:uFill>
                  <a:noFill/>
                </a:uFill>
                <a:latin typeface="Comic Sans MS"/>
                <a:ea typeface="Comic Sans MS"/>
                <a:cs typeface="Comic Sans MS"/>
                <a:sym typeface="Comic Sans MS"/>
                <a:hlinkClick r:id="rId5">
                  <a:extLst>
                    <a:ext uri="{A12FA001-AC4F-418D-AE19-62706E023703}">
                      <ahyp:hlinkClr val="tx"/>
                    </a:ext>
                  </a:extLst>
                </a:hlinkClick>
              </a:rPr>
              <a:t>Video </a:t>
            </a:r>
            <a:endParaRPr b="1" sz="3000">
              <a:solidFill>
                <a:srgbClr val="E06666"/>
              </a:solidFill>
              <a:latin typeface="Comic Sans MS"/>
              <a:ea typeface="Comic Sans MS"/>
              <a:cs typeface="Comic Sans MS"/>
              <a:sym typeface="Comic Sans MS"/>
            </a:endParaRPr>
          </a:p>
          <a:p>
            <a:pPr indent="0" lvl="0" marL="0" rtl="0" algn="l">
              <a:spcBef>
                <a:spcPts val="0"/>
              </a:spcBef>
              <a:spcAft>
                <a:spcPts val="0"/>
              </a:spcAft>
              <a:buNone/>
            </a:pPr>
            <a:r>
              <a:rPr b="1" lang="en" sz="3000">
                <a:solidFill>
                  <a:srgbClr val="E06666"/>
                </a:solidFill>
                <a:uFill>
                  <a:noFill/>
                </a:uFill>
                <a:latin typeface="Comic Sans MS"/>
                <a:ea typeface="Comic Sans MS"/>
                <a:cs typeface="Comic Sans MS"/>
                <a:sym typeface="Comic Sans MS"/>
                <a:hlinkClick r:id="rId6">
                  <a:extLst>
                    <a:ext uri="{A12FA001-AC4F-418D-AE19-62706E023703}">
                      <ahyp:hlinkClr val="tx"/>
                    </a:ext>
                  </a:extLst>
                </a:hlinkClick>
              </a:rPr>
              <a:t>Presentation</a:t>
            </a:r>
            <a:endParaRPr b="1" sz="3000">
              <a:solidFill>
                <a:srgbClr val="E06666"/>
              </a:solidFill>
              <a:latin typeface="Comic Sans MS"/>
              <a:ea typeface="Comic Sans MS"/>
              <a:cs typeface="Comic Sans MS"/>
              <a:sym typeface="Comic Sans MS"/>
            </a:endParaRPr>
          </a:p>
        </p:txBody>
      </p:sp>
      <p:pic>
        <p:nvPicPr>
          <p:cNvPr id="627" name="Google Shape;627;p60" title="VI - Mikhael.mp4">
            <a:hlinkClick r:id="rId7"/>
          </p:cNvPr>
          <p:cNvPicPr preferRelativeResize="0"/>
          <p:nvPr/>
        </p:nvPicPr>
        <p:blipFill>
          <a:blip r:embed="rId8">
            <a:alphaModFix/>
          </a:blip>
          <a:stretch>
            <a:fillRect/>
          </a:stretch>
        </p:blipFill>
        <p:spPr>
          <a:xfrm>
            <a:off x="3035063" y="1024838"/>
            <a:ext cx="5026474" cy="2827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7"/>
                                        </p:tgtEl>
                                        <p:attrNameLst>
                                          <p:attrName>style.visibility</p:attrName>
                                        </p:attrNameLst>
                                      </p:cBhvr>
                                      <p:to>
                                        <p:strVal val="visible"/>
                                      </p:to>
                                    </p:set>
                                    <p:animEffect filter="fade" transition="in">
                                      <p:cBhvr>
                                        <p:cTn dur="1000"/>
                                        <p:tgtEl>
                                          <p:spTgt spid="6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E2A47"/>
        </a:solidFill>
      </p:bgPr>
    </p:bg>
    <p:spTree>
      <p:nvGrpSpPr>
        <p:cNvPr id="631" name="Shape 631"/>
        <p:cNvGrpSpPr/>
        <p:nvPr/>
      </p:nvGrpSpPr>
      <p:grpSpPr>
        <a:xfrm>
          <a:off x="0" y="0"/>
          <a:ext cx="0" cy="0"/>
          <a:chOff x="0" y="0"/>
          <a:chExt cx="0" cy="0"/>
        </a:xfrm>
      </p:grpSpPr>
      <p:pic>
        <p:nvPicPr>
          <p:cNvPr id="632" name="Google Shape;632;p61">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Wireless Communications Service Provider Company Profile by Slidesgo">
  <a:themeElements>
    <a:clrScheme name="Simple Light">
      <a:dk1>
        <a:srgbClr val="294C85"/>
      </a:dk1>
      <a:lt1>
        <a:srgbClr val="FFFFFF"/>
      </a:lt1>
      <a:dk2>
        <a:srgbClr val="47AFEC"/>
      </a:dk2>
      <a:lt2>
        <a:srgbClr val="1A54B6"/>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