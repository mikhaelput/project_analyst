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3"/>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Roboto Black"/>
      <p:bold r:id="rId46"/>
      <p:boldItalic r:id="rId47"/>
    </p:embeddedFont>
    <p:embeddedFont>
      <p:font typeface="Anek Devanagari"/>
      <p:regular r:id="rId48"/>
      <p:bold r:id="rId49"/>
    </p:embeddedFont>
    <p:embeddedFont>
      <p:font typeface="Mulish"/>
      <p:regular r:id="rId50"/>
      <p:bold r:id="rId51"/>
      <p:italic r:id="rId52"/>
      <p:boldItalic r:id="rId53"/>
    </p:embeddedFont>
    <p:embeddedFont>
      <p:font typeface="Proxima Nova"/>
      <p:regular r:id="rId54"/>
      <p:bold r:id="rId55"/>
      <p:italic r:id="rId56"/>
      <p:boldItalic r:id="rId57"/>
    </p:embeddedFont>
    <p:embeddedFont>
      <p:font typeface="Roboto"/>
      <p:regular r:id="rId58"/>
      <p:bold r:id="rId59"/>
      <p:italic r:id="rId60"/>
      <p:boldItalic r:id="rId61"/>
    </p:embeddedFont>
    <p:embeddedFont>
      <p:font typeface="Anek Devanagari SemiBold"/>
      <p:regular r:id="rId62"/>
      <p:bold r:id="rId63"/>
    </p:embeddedFont>
    <p:embeddedFont>
      <p:font typeface="Proxima Nova Semibold"/>
      <p:regular r:id="rId64"/>
      <p:bold r:id="rId65"/>
      <p:boldItalic r:id="rId66"/>
    </p:embeddedFont>
    <p:embeddedFont>
      <p:font typeface="PT Sans"/>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Black-bold.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AnekDevanagari-regular.fntdata"/><Relationship Id="rId47" Type="http://schemas.openxmlformats.org/officeDocument/2006/relationships/font" Target="fonts/RobotoBlack-boldItalic.fntdata"/><Relationship Id="rId49" Type="http://schemas.openxmlformats.org/officeDocument/2006/relationships/font" Target="fonts/AnekDevanagari-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PTSans-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AnekDevanagariSemiBold-regular.fntdata"/><Relationship Id="rId61" Type="http://schemas.openxmlformats.org/officeDocument/2006/relationships/font" Target="fonts/Roboto-boldItalic.fntdata"/><Relationship Id="rId20" Type="http://schemas.openxmlformats.org/officeDocument/2006/relationships/slide" Target="slides/slide15.xml"/><Relationship Id="rId64" Type="http://schemas.openxmlformats.org/officeDocument/2006/relationships/font" Target="fonts/ProximaNovaSemibold-regular.fntdata"/><Relationship Id="rId63" Type="http://schemas.openxmlformats.org/officeDocument/2006/relationships/font" Target="fonts/AnekDevanagariSemiBold-bold.fntdata"/><Relationship Id="rId22" Type="http://schemas.openxmlformats.org/officeDocument/2006/relationships/slide" Target="slides/slide17.xml"/><Relationship Id="rId66" Type="http://schemas.openxmlformats.org/officeDocument/2006/relationships/font" Target="fonts/ProximaNovaSemibold-boldItalic.fntdata"/><Relationship Id="rId21" Type="http://schemas.openxmlformats.org/officeDocument/2006/relationships/slide" Target="slides/slide16.xml"/><Relationship Id="rId65" Type="http://schemas.openxmlformats.org/officeDocument/2006/relationships/font" Target="fonts/ProximaNovaSemibold-bold.fntdata"/><Relationship Id="rId24" Type="http://schemas.openxmlformats.org/officeDocument/2006/relationships/slide" Target="slides/slide19.xml"/><Relationship Id="rId68" Type="http://schemas.openxmlformats.org/officeDocument/2006/relationships/font" Target="fonts/PTSans-bold.fntdata"/><Relationship Id="rId23" Type="http://schemas.openxmlformats.org/officeDocument/2006/relationships/slide" Target="slides/slide18.xml"/><Relationship Id="rId67" Type="http://schemas.openxmlformats.org/officeDocument/2006/relationships/font" Target="fonts/PTSans-regular.fntdata"/><Relationship Id="rId60" Type="http://schemas.openxmlformats.org/officeDocument/2006/relationships/font" Target="fonts/Roboto-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PTSans-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ulish-bold.fntdata"/><Relationship Id="rId50" Type="http://schemas.openxmlformats.org/officeDocument/2006/relationships/font" Target="fonts/Mulish-regular.fntdata"/><Relationship Id="rId53" Type="http://schemas.openxmlformats.org/officeDocument/2006/relationships/font" Target="fonts/Mulish-boldItalic.fntdata"/><Relationship Id="rId52" Type="http://schemas.openxmlformats.org/officeDocument/2006/relationships/font" Target="fonts/Mulish-italic.fntdata"/><Relationship Id="rId11" Type="http://schemas.openxmlformats.org/officeDocument/2006/relationships/slide" Target="slides/slide6.xml"/><Relationship Id="rId55" Type="http://schemas.openxmlformats.org/officeDocument/2006/relationships/font" Target="fonts/ProximaNova-bold.fntdata"/><Relationship Id="rId10" Type="http://schemas.openxmlformats.org/officeDocument/2006/relationships/slide" Target="slides/slide5.xml"/><Relationship Id="rId54" Type="http://schemas.openxmlformats.org/officeDocument/2006/relationships/font" Target="fonts/ProximaNova-regular.fntdata"/><Relationship Id="rId13" Type="http://schemas.openxmlformats.org/officeDocument/2006/relationships/slide" Target="slides/slide8.xml"/><Relationship Id="rId57" Type="http://schemas.openxmlformats.org/officeDocument/2006/relationships/font" Target="fonts/ProximaNova-boldItalic.fntdata"/><Relationship Id="rId12" Type="http://schemas.openxmlformats.org/officeDocument/2006/relationships/slide" Target="slides/slide7.xml"/><Relationship Id="rId56" Type="http://schemas.openxmlformats.org/officeDocument/2006/relationships/font" Target="fonts/ProximaNova-italic.fntdata"/><Relationship Id="rId15" Type="http://schemas.openxmlformats.org/officeDocument/2006/relationships/slide" Target="slides/slide10.xml"/><Relationship Id="rId59" Type="http://schemas.openxmlformats.org/officeDocument/2006/relationships/font" Target="fonts/Roboto-bold.fntdata"/><Relationship Id="rId14" Type="http://schemas.openxmlformats.org/officeDocument/2006/relationships/slide" Target="slides/slide9.xml"/><Relationship Id="rId58" Type="http://schemas.openxmlformats.org/officeDocument/2006/relationships/font" Target="fonts/Robot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29635d4b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29635d4b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9208be049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9208be049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1a6bd2d86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b1a6bd2d86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b3a60cb8e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b3a60cb8e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3b525e5fd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3b525e5fd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b1a6bd2d8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b1a6bd2d8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9208be049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9208be049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1a6bd2d8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b1a6bd2d8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b3a60cb8e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b3a60cb8e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b3a60cb8ec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b3a60cb8ec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9208be049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9208be049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9208be049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9208be049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3a60cb8ec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b3a60cb8ec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9208be0497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9208be0497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9208be049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9208be049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b3a60cb8ec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b3a60cb8ec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9208be0497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9208be0497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9208be049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9208be049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9208be0497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9208be0497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b1a6bd2d86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b1a6bd2d86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9208be0497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9208be0497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9208be0497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9208be0497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3b525e5fd1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3b525e5fd1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3b525e5fd1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13b525e5fd1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13b525e5fd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13b525e5fd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9208be0497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9208be0497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9208be0497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9208be0497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9208be0497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9208be0497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9208be0497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9208be0497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b1a6bd2d86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b1a6bd2d86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b3a60cb8e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3b3a60cb8e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b3a60cb8e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b3a60cb8e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b1a6bd2d86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b1a6bd2d86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b1a6bd2d86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b1a6bd2d86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b1a6bd2d86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b1a6bd2d86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13b525e5fd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13b525e5fd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b3a60cb8e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b3a60cb8e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b1a6bd2d8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b1a6bd2d8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13b525e5fd1_0_18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13b525e5fd1_0_18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230825"/>
            <a:ext cx="6853200" cy="2028000"/>
          </a:xfrm>
          <a:prstGeom prst="rect">
            <a:avLst/>
          </a:prstGeom>
          <a:noFill/>
        </p:spPr>
        <p:txBody>
          <a:bodyPr anchorCtr="0" anchor="b" bIns="91425" lIns="91425" spcFirstLastPara="1" rIns="91425" wrap="square" tIns="91425">
            <a:noAutofit/>
          </a:bodyPr>
          <a:lstStyle>
            <a:lvl1pPr lvl="0" algn="l">
              <a:lnSpc>
                <a:spcPct val="80000"/>
              </a:lnSpc>
              <a:spcBef>
                <a:spcPts val="0"/>
              </a:spcBef>
              <a:spcAft>
                <a:spcPts val="0"/>
              </a:spcAft>
              <a:buSzPts val="4500"/>
              <a:buFont typeface="Loved by the King"/>
              <a:buNone/>
              <a:defRPr sz="5700">
                <a:latin typeface="Anek Devanagari SemiBold"/>
                <a:ea typeface="Anek Devanagari SemiBold"/>
                <a:cs typeface="Anek Devanagari SemiBold"/>
                <a:sym typeface="Anek Devanagari SemiBold"/>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p:txBody>
      </p:sp>
      <p:sp>
        <p:nvSpPr>
          <p:cNvPr id="10" name="Google Shape;10;p2"/>
          <p:cNvSpPr txBox="1"/>
          <p:nvPr>
            <p:ph idx="1" type="subTitle"/>
          </p:nvPr>
        </p:nvSpPr>
        <p:spPr>
          <a:xfrm>
            <a:off x="713225" y="3394581"/>
            <a:ext cx="5166300" cy="36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p2"/>
          <p:cNvSpPr/>
          <p:nvPr/>
        </p:nvSpPr>
        <p:spPr>
          <a:xfrm rot="10800000">
            <a:off x="-902272" y="36788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451915" y="41051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182600" y="2668052"/>
            <a:ext cx="6778800" cy="843000"/>
          </a:xfrm>
          <a:prstGeom prst="rect">
            <a:avLst/>
          </a:prstGeom>
          <a:noFill/>
        </p:spPr>
        <p:txBody>
          <a:bodyPr anchorCtr="0" anchor="b" bIns="91425" lIns="91425" spcFirstLastPara="1" rIns="91425" wrap="square" tIns="91425">
            <a:noAutofit/>
          </a:bodyPr>
          <a:lstStyle>
            <a:lvl1pPr lvl="0">
              <a:spcBef>
                <a:spcPts val="0"/>
              </a:spcBef>
              <a:spcAft>
                <a:spcPts val="0"/>
              </a:spcAft>
              <a:buSzPts val="3600"/>
              <a:buNone/>
              <a:defRPr sz="50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5" name="Google Shape;15;p3"/>
          <p:cNvSpPr txBox="1"/>
          <p:nvPr>
            <p:ph hasCustomPrompt="1" idx="2" type="title"/>
          </p:nvPr>
        </p:nvSpPr>
        <p:spPr>
          <a:xfrm>
            <a:off x="3952650" y="1463101"/>
            <a:ext cx="1238700" cy="9144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6000"/>
              <a:buNone/>
              <a:defRPr sz="5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txBox="1"/>
          <p:nvPr>
            <p:ph idx="1" type="subTitle"/>
          </p:nvPr>
        </p:nvSpPr>
        <p:spPr>
          <a:xfrm>
            <a:off x="1185150" y="3511049"/>
            <a:ext cx="6773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 name="Google Shape;17;p3"/>
          <p:cNvSpPr/>
          <p:nvPr/>
        </p:nvSpPr>
        <p:spPr>
          <a:xfrm rot="10800000">
            <a:off x="6872328" y="396598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rot="10800000">
            <a:off x="8226515" y="439228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rot="10800000">
            <a:off x="104836" y="-115490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10800000">
            <a:off x="180878" y="3676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23" name="Google Shape;23;p4"/>
          <p:cNvSpPr txBox="1"/>
          <p:nvPr>
            <p:ph idx="1" type="body"/>
          </p:nvPr>
        </p:nvSpPr>
        <p:spPr>
          <a:xfrm>
            <a:off x="716900" y="1128049"/>
            <a:ext cx="7704000" cy="548700"/>
          </a:xfrm>
          <a:prstGeom prst="rect">
            <a:avLst/>
          </a:prstGeom>
        </p:spPr>
        <p:txBody>
          <a:bodyPr anchorCtr="0" anchor="t" bIns="91425" lIns="91425" spcFirstLastPara="1" rIns="91425" wrap="square" tIns="91425">
            <a:noAutofit/>
          </a:bodyPr>
          <a:lstStyle>
            <a:lvl1pPr indent="-330200" lvl="0" marL="457200" rtl="0" algn="ctr">
              <a:lnSpc>
                <a:spcPct val="100000"/>
              </a:lnSpc>
              <a:spcBef>
                <a:spcPts val="0"/>
              </a:spcBef>
              <a:spcAft>
                <a:spcPts val="0"/>
              </a:spcAft>
              <a:buSzPts val="1600"/>
              <a:buFont typeface="Mulish SemiBold"/>
              <a:buAutoNum type="arabicPeriod"/>
              <a:defRPr sz="1100"/>
            </a:lvl1pPr>
            <a:lvl2pPr indent="-330200" lvl="1" marL="914400" rtl="0">
              <a:lnSpc>
                <a:spcPct val="100000"/>
              </a:lnSpc>
              <a:spcBef>
                <a:spcPts val="0"/>
              </a:spcBef>
              <a:spcAft>
                <a:spcPts val="0"/>
              </a:spcAft>
              <a:buSzPts val="1600"/>
              <a:buFont typeface="Roboto Condensed Light"/>
              <a:buAutoNum type="alphaLcPeriod"/>
              <a:defRPr sz="1600"/>
            </a:lvl2pPr>
            <a:lvl3pPr indent="-330200" lvl="2" marL="1371600" rtl="0">
              <a:lnSpc>
                <a:spcPct val="100000"/>
              </a:lnSpc>
              <a:spcBef>
                <a:spcPts val="0"/>
              </a:spcBef>
              <a:spcAft>
                <a:spcPts val="0"/>
              </a:spcAft>
              <a:buSzPts val="1600"/>
              <a:buFont typeface="Roboto Condensed Light"/>
              <a:buAutoNum type="romanLcPeriod"/>
              <a:defRPr sz="1600"/>
            </a:lvl3pPr>
            <a:lvl4pPr indent="-330200" lvl="3" marL="1828800" rtl="0">
              <a:lnSpc>
                <a:spcPct val="100000"/>
              </a:lnSpc>
              <a:spcBef>
                <a:spcPts val="0"/>
              </a:spcBef>
              <a:spcAft>
                <a:spcPts val="0"/>
              </a:spcAft>
              <a:buSzPts val="1600"/>
              <a:buFont typeface="Roboto Condensed Light"/>
              <a:buAutoNum type="arabicPeriod"/>
              <a:defRPr sz="1600"/>
            </a:lvl4pPr>
            <a:lvl5pPr indent="-330200" lvl="4" marL="2286000" rtl="0">
              <a:lnSpc>
                <a:spcPct val="100000"/>
              </a:lnSpc>
              <a:spcBef>
                <a:spcPts val="0"/>
              </a:spcBef>
              <a:spcAft>
                <a:spcPts val="0"/>
              </a:spcAft>
              <a:buSzPts val="1600"/>
              <a:buFont typeface="Roboto Condensed Light"/>
              <a:buAutoNum type="alphaLcPeriod"/>
              <a:defRPr sz="1600"/>
            </a:lvl5pPr>
            <a:lvl6pPr indent="-330200" lvl="5" marL="2743200" rtl="0">
              <a:lnSpc>
                <a:spcPct val="100000"/>
              </a:lnSpc>
              <a:spcBef>
                <a:spcPts val="0"/>
              </a:spcBef>
              <a:spcAft>
                <a:spcPts val="0"/>
              </a:spcAft>
              <a:buSzPts val="1600"/>
              <a:buFont typeface="Roboto Condensed Light"/>
              <a:buAutoNum type="romanLcPeriod"/>
              <a:defRPr sz="1600"/>
            </a:lvl6pPr>
            <a:lvl7pPr indent="-330200" lvl="6" marL="3200400" rtl="0">
              <a:lnSpc>
                <a:spcPct val="100000"/>
              </a:lnSpc>
              <a:spcBef>
                <a:spcPts val="0"/>
              </a:spcBef>
              <a:spcAft>
                <a:spcPts val="0"/>
              </a:spcAft>
              <a:buSzPts val="1600"/>
              <a:buFont typeface="Roboto Condensed Light"/>
              <a:buAutoNum type="arabicPeriod"/>
              <a:defRPr sz="1600"/>
            </a:lvl7pPr>
            <a:lvl8pPr indent="-330200" lvl="7" marL="3657600" rtl="0">
              <a:lnSpc>
                <a:spcPct val="100000"/>
              </a:lnSpc>
              <a:spcBef>
                <a:spcPts val="0"/>
              </a:spcBef>
              <a:spcAft>
                <a:spcPts val="0"/>
              </a:spcAft>
              <a:buSzPts val="1600"/>
              <a:buFont typeface="Roboto Condensed Light"/>
              <a:buAutoNum type="alphaLcPeriod"/>
              <a:defRPr sz="1600"/>
            </a:lvl8pPr>
            <a:lvl9pPr indent="-330200" lvl="8" marL="4114800" rtl="0">
              <a:lnSpc>
                <a:spcPct val="100000"/>
              </a:lnSpc>
              <a:spcBef>
                <a:spcPts val="0"/>
              </a:spcBef>
              <a:spcAft>
                <a:spcPts val="0"/>
              </a:spcAft>
              <a:buSzPts val="1600"/>
              <a:buFont typeface="Roboto Condensed Light"/>
              <a:buAutoNum type="romanLcPeriod"/>
              <a:defRPr sz="1600"/>
            </a:lvl9pPr>
          </a:lstStyle>
          <a:p/>
        </p:txBody>
      </p:sp>
      <p:sp>
        <p:nvSpPr>
          <p:cNvPr id="24" name="Google Shape;24;p4"/>
          <p:cNvSpPr/>
          <p:nvPr/>
        </p:nvSpPr>
        <p:spPr>
          <a:xfrm flipH="1" rot="10800000">
            <a:off x="-1817464" y="338952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rot="10800000">
            <a:off x="-1329526" y="242344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rot="10800000">
            <a:off x="8627965" y="29729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10800000">
            <a:off x="7734703" y="46316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type="title"/>
          </p:nvPr>
        </p:nvSpPr>
        <p:spPr>
          <a:xfrm>
            <a:off x="1502225" y="3007461"/>
            <a:ext cx="29133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 name="Google Shape;30;p5"/>
          <p:cNvSpPr txBox="1"/>
          <p:nvPr>
            <p:ph idx="2" type="title"/>
          </p:nvPr>
        </p:nvSpPr>
        <p:spPr>
          <a:xfrm>
            <a:off x="4728775" y="3007461"/>
            <a:ext cx="29133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 name="Google Shape;31;p5"/>
          <p:cNvSpPr txBox="1"/>
          <p:nvPr>
            <p:ph idx="1" type="subTitle"/>
          </p:nvPr>
        </p:nvSpPr>
        <p:spPr>
          <a:xfrm>
            <a:off x="4728775" y="3224086"/>
            <a:ext cx="29133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2" name="Google Shape;32;p5"/>
          <p:cNvSpPr txBox="1"/>
          <p:nvPr>
            <p:ph idx="3" type="subTitle"/>
          </p:nvPr>
        </p:nvSpPr>
        <p:spPr>
          <a:xfrm>
            <a:off x="1501925" y="3224086"/>
            <a:ext cx="29139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3" name="Google Shape;33;p5"/>
          <p:cNvSpPr txBox="1"/>
          <p:nvPr>
            <p:ph idx="4"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sz="3500"/>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34" name="Google Shape;34;p5"/>
          <p:cNvSpPr/>
          <p:nvPr/>
        </p:nvSpPr>
        <p:spPr>
          <a:xfrm flipH="1" rot="10800000">
            <a:off x="8499886" y="42101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7145699" y="46364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rot="10800000">
            <a:off x="-1153339" y="18973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flipH="1" rot="10800000">
            <a:off x="-1838397" y="37487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40" name="Google Shape;40;p6"/>
          <p:cNvSpPr/>
          <p:nvPr/>
        </p:nvSpPr>
        <p:spPr>
          <a:xfrm flipH="1" rot="10800000">
            <a:off x="-1108865" y="37340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p:nvPr/>
        </p:nvSpPr>
        <p:spPr>
          <a:xfrm flipH="1">
            <a:off x="-157685" y="4726742"/>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p:nvPr/>
        </p:nvSpPr>
        <p:spPr>
          <a:xfrm rot="10800000">
            <a:off x="8509536" y="-30045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6"/>
          <p:cNvSpPr/>
          <p:nvPr/>
        </p:nvSpPr>
        <p:spPr>
          <a:xfrm rot="10800000">
            <a:off x="8585578" y="12220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flipH="1">
            <a:off x="4685152" y="1581150"/>
            <a:ext cx="3530400" cy="6858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6" name="Google Shape;46;p7"/>
          <p:cNvSpPr txBox="1"/>
          <p:nvPr>
            <p:ph idx="1" type="subTitle"/>
          </p:nvPr>
        </p:nvSpPr>
        <p:spPr>
          <a:xfrm flipH="1">
            <a:off x="4685617" y="2282250"/>
            <a:ext cx="3530400" cy="1280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 name="Google Shape;47;p7"/>
          <p:cNvSpPr/>
          <p:nvPr/>
        </p:nvSpPr>
        <p:spPr>
          <a:xfrm rot="10800000">
            <a:off x="7182053" y="-361631"/>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7"/>
          <p:cNvSpPr/>
          <p:nvPr/>
        </p:nvSpPr>
        <p:spPr>
          <a:xfrm rot="10800000">
            <a:off x="7106011" y="-188415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p:nvPr/>
        </p:nvSpPr>
        <p:spPr>
          <a:xfrm rot="10800000">
            <a:off x="-565776" y="40946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7"/>
          <p:cNvSpPr/>
          <p:nvPr/>
        </p:nvSpPr>
        <p:spPr>
          <a:xfrm rot="10800000">
            <a:off x="726303" y="40533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p8"/>
          <p:cNvSpPr txBox="1"/>
          <p:nvPr>
            <p:ph type="title"/>
          </p:nvPr>
        </p:nvSpPr>
        <p:spPr>
          <a:xfrm>
            <a:off x="2167450" y="1678200"/>
            <a:ext cx="4809000" cy="1787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60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3" name="Google Shape;53;p8"/>
          <p:cNvSpPr/>
          <p:nvPr/>
        </p:nvSpPr>
        <p:spPr>
          <a:xfrm flipH="1" rot="-5400000">
            <a:off x="8094822" y="673016"/>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rot="10800000">
            <a:off x="-677451" y="3267710"/>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14628" y="32263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9"/>
          <p:cNvSpPr txBox="1"/>
          <p:nvPr>
            <p:ph type="title"/>
          </p:nvPr>
        </p:nvSpPr>
        <p:spPr>
          <a:xfrm>
            <a:off x="2208475" y="1518750"/>
            <a:ext cx="4727100" cy="8229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500"/>
              <a:buNone/>
              <a:defRPr sz="45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8" name="Google Shape;58;p9"/>
          <p:cNvSpPr txBox="1"/>
          <p:nvPr>
            <p:ph idx="1" type="subTitle"/>
          </p:nvPr>
        </p:nvSpPr>
        <p:spPr>
          <a:xfrm>
            <a:off x="2208475" y="2341650"/>
            <a:ext cx="4727100" cy="128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9" name="Shape 59"/>
        <p:cNvGrpSpPr/>
        <p:nvPr/>
      </p:nvGrpSpPr>
      <p:grpSpPr>
        <a:xfrm>
          <a:off x="0" y="0"/>
          <a:ext cx="0" cy="0"/>
          <a:chOff x="0" y="0"/>
          <a:chExt cx="0" cy="0"/>
        </a:xfrm>
      </p:grpSpPr>
      <p:sp>
        <p:nvSpPr>
          <p:cNvPr id="60" name="Google Shape;60;p10"/>
          <p:cNvSpPr txBox="1"/>
          <p:nvPr>
            <p:ph type="title"/>
          </p:nvPr>
        </p:nvSpPr>
        <p:spPr>
          <a:xfrm>
            <a:off x="329175" y="3757025"/>
            <a:ext cx="2895600" cy="842400"/>
          </a:xfrm>
          <a:prstGeom prst="rect">
            <a:avLst/>
          </a:prstGeom>
          <a:gradFill>
            <a:gsLst>
              <a:gs pos="0">
                <a:schemeClr val="dk2"/>
              </a:gs>
              <a:gs pos="100000">
                <a:schemeClr val="lt2"/>
              </a:gs>
            </a:gsLst>
            <a:lin ang="5400700" scaled="0"/>
          </a:gradFill>
        </p:spPr>
        <p:txBody>
          <a:bodyPr anchorCtr="0" anchor="t" bIns="91425" lIns="91425" spcFirstLastPara="1" rIns="91425" wrap="square" tIns="91425">
            <a:noAutofit/>
          </a:bodyPr>
          <a:lstStyle>
            <a:lvl1pPr lvl="0" rtl="0">
              <a:spcBef>
                <a:spcPts val="0"/>
              </a:spcBef>
              <a:spcAft>
                <a:spcPts val="0"/>
              </a:spcAft>
              <a:buSzPts val="3500"/>
              <a:buNone/>
              <a:defRPr sz="2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61" name="Google Shape;61;p10"/>
          <p:cNvSpPr/>
          <p:nvPr/>
        </p:nvSpPr>
        <p:spPr>
          <a:xfrm rot="10800000">
            <a:off x="7984478" y="5447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0"/>
          <p:cNvSpPr/>
          <p:nvPr/>
        </p:nvSpPr>
        <p:spPr>
          <a:xfrm rot="10800000">
            <a:off x="7908436" y="-9777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0"/>
          <p:cNvSpPr/>
          <p:nvPr/>
        </p:nvSpPr>
        <p:spPr>
          <a:xfrm rot="10800000">
            <a:off x="-770222" y="-57919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0"/>
          <p:cNvSpPr/>
          <p:nvPr/>
        </p:nvSpPr>
        <p:spPr>
          <a:xfrm rot="10800000">
            <a:off x="583965" y="-15289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1614915" y="1753575"/>
            <a:ext cx="5914200" cy="10860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7" name="Google Shape;67;p11"/>
          <p:cNvSpPr txBox="1"/>
          <p:nvPr>
            <p:ph idx="1" type="subTitle"/>
          </p:nvPr>
        </p:nvSpPr>
        <p:spPr>
          <a:xfrm>
            <a:off x="1613425" y="2873750"/>
            <a:ext cx="59172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68" name="Google Shape;68;p11"/>
          <p:cNvSpPr/>
          <p:nvPr/>
        </p:nvSpPr>
        <p:spPr>
          <a:xfrm rot="10800000">
            <a:off x="-233122" y="9155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1"/>
          <p:cNvSpPr/>
          <p:nvPr/>
        </p:nvSpPr>
        <p:spPr>
          <a:xfrm rot="10800000">
            <a:off x="-309164" y="-6069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1"/>
          <p:cNvSpPr/>
          <p:nvPr/>
        </p:nvSpPr>
        <p:spPr>
          <a:xfrm rot="10800000">
            <a:off x="6274349" y="35114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rot="10800000">
            <a:off x="7566428" y="34701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3" name="Shape 73"/>
        <p:cNvGrpSpPr/>
        <p:nvPr/>
      </p:nvGrpSpPr>
      <p:grpSpPr>
        <a:xfrm>
          <a:off x="0" y="0"/>
          <a:ext cx="0" cy="0"/>
          <a:chOff x="0" y="0"/>
          <a:chExt cx="0" cy="0"/>
        </a:xfrm>
      </p:grpSpPr>
      <p:sp>
        <p:nvSpPr>
          <p:cNvPr id="74" name="Google Shape;74;p13"/>
          <p:cNvSpPr txBox="1"/>
          <p:nvPr>
            <p:ph type="title"/>
          </p:nvPr>
        </p:nvSpPr>
        <p:spPr>
          <a:xfrm>
            <a:off x="1348568" y="1918708"/>
            <a:ext cx="285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5" name="Google Shape;75;p13"/>
          <p:cNvSpPr txBox="1"/>
          <p:nvPr>
            <p:ph idx="1" type="subTitle"/>
          </p:nvPr>
        </p:nvSpPr>
        <p:spPr>
          <a:xfrm>
            <a:off x="1348568" y="2208643"/>
            <a:ext cx="28596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 name="Google Shape;76;p13"/>
          <p:cNvSpPr txBox="1"/>
          <p:nvPr>
            <p:ph idx="2" type="title"/>
          </p:nvPr>
        </p:nvSpPr>
        <p:spPr>
          <a:xfrm flipH="1">
            <a:off x="4925782" y="1918700"/>
            <a:ext cx="28698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7" name="Google Shape;77;p13"/>
          <p:cNvSpPr txBox="1"/>
          <p:nvPr>
            <p:ph idx="3" type="subTitle"/>
          </p:nvPr>
        </p:nvSpPr>
        <p:spPr>
          <a:xfrm flipH="1">
            <a:off x="4925932" y="2208640"/>
            <a:ext cx="28695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 name="Google Shape;78;p13"/>
          <p:cNvSpPr txBox="1"/>
          <p:nvPr>
            <p:ph hasCustomPrompt="1" idx="4" type="title"/>
          </p:nvPr>
        </p:nvSpPr>
        <p:spPr>
          <a:xfrm>
            <a:off x="2411018" y="1192542"/>
            <a:ext cx="734700" cy="502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p:nvPr>
            <p:ph hasCustomPrompt="1" idx="5" type="title"/>
          </p:nvPr>
        </p:nvSpPr>
        <p:spPr>
          <a:xfrm flipH="1">
            <a:off x="5993332" y="1192542"/>
            <a:ext cx="734700" cy="502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p:nvPr>
            <p:ph idx="6"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1" name="Google Shape;81;p13"/>
          <p:cNvSpPr txBox="1"/>
          <p:nvPr>
            <p:ph idx="7" type="title"/>
          </p:nvPr>
        </p:nvSpPr>
        <p:spPr>
          <a:xfrm>
            <a:off x="1348568" y="3759552"/>
            <a:ext cx="285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2" name="Google Shape;82;p13"/>
          <p:cNvSpPr txBox="1"/>
          <p:nvPr>
            <p:ph idx="8" type="subTitle"/>
          </p:nvPr>
        </p:nvSpPr>
        <p:spPr>
          <a:xfrm>
            <a:off x="1348418" y="4050725"/>
            <a:ext cx="28599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3"/>
          <p:cNvSpPr txBox="1"/>
          <p:nvPr>
            <p:ph idx="9" type="title"/>
          </p:nvPr>
        </p:nvSpPr>
        <p:spPr>
          <a:xfrm flipH="1">
            <a:off x="4925782" y="3759548"/>
            <a:ext cx="28698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4" name="Google Shape;84;p13"/>
          <p:cNvSpPr txBox="1"/>
          <p:nvPr>
            <p:ph idx="13" type="subTitle"/>
          </p:nvPr>
        </p:nvSpPr>
        <p:spPr>
          <a:xfrm flipH="1">
            <a:off x="4925932" y="4050724"/>
            <a:ext cx="28695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 name="Google Shape;85;p13"/>
          <p:cNvSpPr txBox="1"/>
          <p:nvPr>
            <p:ph hasCustomPrompt="1" idx="14" type="title"/>
          </p:nvPr>
        </p:nvSpPr>
        <p:spPr>
          <a:xfrm>
            <a:off x="2411018" y="3039645"/>
            <a:ext cx="734700" cy="502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p:nvPr>
            <p:ph hasCustomPrompt="1" idx="15" type="title"/>
          </p:nvPr>
        </p:nvSpPr>
        <p:spPr>
          <a:xfrm flipH="1">
            <a:off x="5993332" y="3039645"/>
            <a:ext cx="734700" cy="502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p:nvPr/>
        </p:nvSpPr>
        <p:spPr>
          <a:xfrm rot="10800000">
            <a:off x="-902272" y="45623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flipH="1">
            <a:off x="451915" y="467628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rot="10800000">
            <a:off x="8617628" y="125324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4">
    <p:spTree>
      <p:nvGrpSpPr>
        <p:cNvPr id="90" name="Shape 90"/>
        <p:cNvGrpSpPr/>
        <p:nvPr/>
      </p:nvGrpSpPr>
      <p:grpSpPr>
        <a:xfrm>
          <a:off x="0" y="0"/>
          <a:ext cx="0" cy="0"/>
          <a:chOff x="0" y="0"/>
          <a:chExt cx="0" cy="0"/>
        </a:xfrm>
      </p:grpSpPr>
      <p:sp>
        <p:nvSpPr>
          <p:cNvPr id="91" name="Google Shape;91;p14"/>
          <p:cNvSpPr txBox="1"/>
          <p:nvPr>
            <p:ph type="title"/>
          </p:nvPr>
        </p:nvSpPr>
        <p:spPr>
          <a:xfrm>
            <a:off x="714750" y="3183525"/>
            <a:ext cx="7714500" cy="548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2" name="Google Shape;92;p14"/>
          <p:cNvSpPr txBox="1"/>
          <p:nvPr>
            <p:ph idx="1" type="subTitle"/>
          </p:nvPr>
        </p:nvSpPr>
        <p:spPr>
          <a:xfrm>
            <a:off x="714750" y="1411287"/>
            <a:ext cx="7714500" cy="1767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33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 name="Google Shape;93;p14"/>
          <p:cNvSpPr/>
          <p:nvPr/>
        </p:nvSpPr>
        <p:spPr>
          <a:xfrm rot="10800000">
            <a:off x="7364178" y="-396356"/>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rot="10800000">
            <a:off x="6166586" y="-13695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rot="10800000">
            <a:off x="164528" y="41358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rot="10800000">
            <a:off x="1518715" y="45621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5">
    <p:spTree>
      <p:nvGrpSpPr>
        <p:cNvPr id="97" name="Shape 97"/>
        <p:cNvGrpSpPr/>
        <p:nvPr/>
      </p:nvGrpSpPr>
      <p:grpSpPr>
        <a:xfrm>
          <a:off x="0" y="0"/>
          <a:ext cx="0" cy="0"/>
          <a:chOff x="0" y="0"/>
          <a:chExt cx="0" cy="0"/>
        </a:xfrm>
      </p:grpSpPr>
      <p:sp>
        <p:nvSpPr>
          <p:cNvPr id="98" name="Google Shape;98;p15"/>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99" name="Google Shape;99;p15"/>
          <p:cNvSpPr/>
          <p:nvPr/>
        </p:nvSpPr>
        <p:spPr>
          <a:xfrm flipH="1" rot="10800000">
            <a:off x="8485035" y="383475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flipH="1">
            <a:off x="7585740" y="4455767"/>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flipH="1" rot="10800000">
            <a:off x="-1800014" y="1473847"/>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rot="10800000">
            <a:off x="-1102497" y="300934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03" name="Shape 103"/>
        <p:cNvGrpSpPr/>
        <p:nvPr/>
      </p:nvGrpSpPr>
      <p:grpSpPr>
        <a:xfrm>
          <a:off x="0" y="0"/>
          <a:ext cx="0" cy="0"/>
          <a:chOff x="0" y="0"/>
          <a:chExt cx="0" cy="0"/>
        </a:xfrm>
      </p:grpSpPr>
      <p:sp>
        <p:nvSpPr>
          <p:cNvPr id="104" name="Google Shape;104;p16"/>
          <p:cNvSpPr/>
          <p:nvPr/>
        </p:nvSpPr>
        <p:spPr>
          <a:xfrm rot="10800000">
            <a:off x="7182053" y="-361631"/>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rot="10800000">
            <a:off x="7106011" y="-188415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rot="10800000">
            <a:off x="-991376" y="43541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rot="10800000">
            <a:off x="300703" y="43128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109" name="Google Shape;109;p16"/>
          <p:cNvSpPr txBox="1"/>
          <p:nvPr>
            <p:ph idx="1" type="body"/>
          </p:nvPr>
        </p:nvSpPr>
        <p:spPr>
          <a:xfrm>
            <a:off x="1193354" y="1987650"/>
            <a:ext cx="3371700" cy="1625400"/>
          </a:xfrm>
          <a:prstGeom prst="rect">
            <a:avLst/>
          </a:prstGeom>
        </p:spPr>
        <p:txBody>
          <a:bodyPr anchorCtr="0" anchor="t" bIns="91425" lIns="91425" spcFirstLastPara="1" rIns="91425" wrap="square" tIns="91425">
            <a:noAutofit/>
          </a:bodyPr>
          <a:lstStyle>
            <a:lvl1pPr indent="-330200" lvl="0" marL="457200" rtl="0" algn="r">
              <a:lnSpc>
                <a:spcPct val="100000"/>
              </a:lnSpc>
              <a:spcBef>
                <a:spcPts val="0"/>
              </a:spcBef>
              <a:spcAft>
                <a:spcPts val="0"/>
              </a:spcAft>
              <a:buClr>
                <a:schemeClr val="lt2"/>
              </a:buClr>
              <a:buSzPts val="1600"/>
              <a:buFont typeface="Mulish SemiBold"/>
              <a:buChar char="●"/>
              <a:defRPr/>
            </a:lvl1pPr>
            <a:lvl2pPr indent="-330200" lvl="1" marL="914400" rtl="0" algn="r">
              <a:lnSpc>
                <a:spcPct val="100000"/>
              </a:lnSpc>
              <a:spcBef>
                <a:spcPts val="0"/>
              </a:spcBef>
              <a:spcAft>
                <a:spcPts val="0"/>
              </a:spcAft>
              <a:buSzPts val="1600"/>
              <a:buFont typeface="Roboto Condensed Light"/>
              <a:buChar char="○"/>
              <a:defRPr sz="1600"/>
            </a:lvl2pPr>
            <a:lvl3pPr indent="-330200" lvl="2" marL="1371600" rtl="0" algn="r">
              <a:lnSpc>
                <a:spcPct val="100000"/>
              </a:lnSpc>
              <a:spcBef>
                <a:spcPts val="0"/>
              </a:spcBef>
              <a:spcAft>
                <a:spcPts val="0"/>
              </a:spcAft>
              <a:buSzPts val="1600"/>
              <a:buFont typeface="Roboto Condensed Light"/>
              <a:buChar char="■"/>
              <a:defRPr sz="1600"/>
            </a:lvl3pPr>
            <a:lvl4pPr indent="-330200" lvl="3" marL="1828800" rtl="0" algn="r">
              <a:lnSpc>
                <a:spcPct val="100000"/>
              </a:lnSpc>
              <a:spcBef>
                <a:spcPts val="0"/>
              </a:spcBef>
              <a:spcAft>
                <a:spcPts val="0"/>
              </a:spcAft>
              <a:buSzPts val="1600"/>
              <a:buFont typeface="Roboto Condensed Light"/>
              <a:buChar char="●"/>
              <a:defRPr sz="1600"/>
            </a:lvl4pPr>
            <a:lvl5pPr indent="-330200" lvl="4" marL="2286000" rtl="0" algn="r">
              <a:lnSpc>
                <a:spcPct val="100000"/>
              </a:lnSpc>
              <a:spcBef>
                <a:spcPts val="0"/>
              </a:spcBef>
              <a:spcAft>
                <a:spcPts val="0"/>
              </a:spcAft>
              <a:buSzPts val="1600"/>
              <a:buFont typeface="Roboto Condensed Light"/>
              <a:buChar char="○"/>
              <a:defRPr sz="1600"/>
            </a:lvl5pPr>
            <a:lvl6pPr indent="-330200" lvl="5" marL="2743200" rtl="0" algn="r">
              <a:lnSpc>
                <a:spcPct val="100000"/>
              </a:lnSpc>
              <a:spcBef>
                <a:spcPts val="0"/>
              </a:spcBef>
              <a:spcAft>
                <a:spcPts val="0"/>
              </a:spcAft>
              <a:buSzPts val="1600"/>
              <a:buFont typeface="Roboto Condensed Light"/>
              <a:buChar char="■"/>
              <a:defRPr sz="1600"/>
            </a:lvl6pPr>
            <a:lvl7pPr indent="-330200" lvl="6" marL="3200400" rtl="0" algn="r">
              <a:lnSpc>
                <a:spcPct val="100000"/>
              </a:lnSpc>
              <a:spcBef>
                <a:spcPts val="0"/>
              </a:spcBef>
              <a:spcAft>
                <a:spcPts val="0"/>
              </a:spcAft>
              <a:buSzPts val="1600"/>
              <a:buFont typeface="Roboto Condensed Light"/>
              <a:buChar char="●"/>
              <a:defRPr sz="1600"/>
            </a:lvl7pPr>
            <a:lvl8pPr indent="-330200" lvl="7" marL="3657600" rtl="0" algn="r">
              <a:lnSpc>
                <a:spcPct val="100000"/>
              </a:lnSpc>
              <a:spcBef>
                <a:spcPts val="0"/>
              </a:spcBef>
              <a:spcAft>
                <a:spcPts val="0"/>
              </a:spcAft>
              <a:buSzPts val="1600"/>
              <a:buFont typeface="Roboto Condensed Light"/>
              <a:buChar char="○"/>
              <a:defRPr sz="1600"/>
            </a:lvl8pPr>
            <a:lvl9pPr indent="-330200" lvl="8" marL="4114800" rtl="0" algn="r">
              <a:lnSpc>
                <a:spcPct val="100000"/>
              </a:lnSpc>
              <a:spcBef>
                <a:spcPts val="0"/>
              </a:spcBef>
              <a:spcAft>
                <a:spcPts val="0"/>
              </a:spcAft>
              <a:buSzPts val="1600"/>
              <a:buFont typeface="Roboto Condensed Light"/>
              <a:buChar char="■"/>
              <a:defRPr sz="1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4">
    <p:spTree>
      <p:nvGrpSpPr>
        <p:cNvPr id="110" name="Shape 110"/>
        <p:cNvGrpSpPr/>
        <p:nvPr/>
      </p:nvGrpSpPr>
      <p:grpSpPr>
        <a:xfrm>
          <a:off x="0" y="0"/>
          <a:ext cx="0" cy="0"/>
          <a:chOff x="0" y="0"/>
          <a:chExt cx="0" cy="0"/>
        </a:xfrm>
      </p:grpSpPr>
      <p:sp>
        <p:nvSpPr>
          <p:cNvPr id="111" name="Google Shape;111;p17"/>
          <p:cNvSpPr txBox="1"/>
          <p:nvPr>
            <p:ph idx="1" type="body"/>
          </p:nvPr>
        </p:nvSpPr>
        <p:spPr>
          <a:xfrm>
            <a:off x="755525" y="1280250"/>
            <a:ext cx="3749400" cy="28914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2"/>
              </a:buClr>
              <a:buSzPts val="1400"/>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112" name="Google Shape;112;p17"/>
          <p:cNvSpPr txBox="1"/>
          <p:nvPr>
            <p:ph idx="2" type="body"/>
          </p:nvPr>
        </p:nvSpPr>
        <p:spPr>
          <a:xfrm>
            <a:off x="4639075" y="1280250"/>
            <a:ext cx="3749400" cy="2891400"/>
          </a:xfrm>
          <a:prstGeom prst="rect">
            <a:avLst/>
          </a:prstGeom>
        </p:spPr>
        <p:txBody>
          <a:bodyPr anchorCtr="0" anchor="t" bIns="91425" lIns="91425" spcFirstLastPara="1" rIns="91425" wrap="square" tIns="91425">
            <a:noAutofit/>
          </a:bodyPr>
          <a:lstStyle>
            <a:lvl1pPr indent="-317500" lvl="0" marL="457200" rtl="0">
              <a:lnSpc>
                <a:spcPct val="100000"/>
              </a:lnSpc>
              <a:spcBef>
                <a:spcPts val="300"/>
              </a:spcBef>
              <a:spcAft>
                <a:spcPts val="0"/>
              </a:spcAft>
              <a:buClr>
                <a:schemeClr val="dk2"/>
              </a:buClr>
              <a:buSzPts val="1400"/>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113" name="Google Shape;113;p17"/>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4_2">
    <p:spTree>
      <p:nvGrpSpPr>
        <p:cNvPr id="114" name="Shape 114"/>
        <p:cNvGrpSpPr/>
        <p:nvPr/>
      </p:nvGrpSpPr>
      <p:grpSpPr>
        <a:xfrm>
          <a:off x="0" y="0"/>
          <a:ext cx="0" cy="0"/>
          <a:chOff x="0" y="0"/>
          <a:chExt cx="0" cy="0"/>
        </a:xfrm>
      </p:grpSpPr>
      <p:sp>
        <p:nvSpPr>
          <p:cNvPr id="115" name="Google Shape;115;p18"/>
          <p:cNvSpPr txBox="1"/>
          <p:nvPr>
            <p:ph type="title"/>
          </p:nvPr>
        </p:nvSpPr>
        <p:spPr>
          <a:xfrm flipH="1">
            <a:off x="1464137" y="1604600"/>
            <a:ext cx="5202900" cy="365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sz="2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6" name="Google Shape;116;p18"/>
          <p:cNvSpPr txBox="1"/>
          <p:nvPr>
            <p:ph idx="2" type="title"/>
          </p:nvPr>
        </p:nvSpPr>
        <p:spPr>
          <a:xfrm flipH="1">
            <a:off x="1464137" y="3093380"/>
            <a:ext cx="5202900" cy="365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sz="2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7" name="Google Shape;117;p18"/>
          <p:cNvSpPr txBox="1"/>
          <p:nvPr>
            <p:ph idx="1" type="subTitle"/>
          </p:nvPr>
        </p:nvSpPr>
        <p:spPr>
          <a:xfrm flipH="1">
            <a:off x="1464137" y="3305256"/>
            <a:ext cx="5202900" cy="548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8" name="Google Shape;118;p18"/>
          <p:cNvSpPr txBox="1"/>
          <p:nvPr>
            <p:ph idx="3" type="subTitle"/>
          </p:nvPr>
        </p:nvSpPr>
        <p:spPr>
          <a:xfrm flipH="1">
            <a:off x="1463537" y="1816473"/>
            <a:ext cx="5203500" cy="548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9" name="Google Shape;119;p18"/>
          <p:cNvSpPr txBox="1"/>
          <p:nvPr>
            <p:ph idx="4"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sz="3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20" name="Google Shape;120;p18"/>
          <p:cNvSpPr/>
          <p:nvPr/>
        </p:nvSpPr>
        <p:spPr>
          <a:xfrm rot="10800000">
            <a:off x="-923572" y="41701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10800000">
            <a:off x="-999614" y="264767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8"/>
          <p:cNvSpPr/>
          <p:nvPr/>
        </p:nvSpPr>
        <p:spPr>
          <a:xfrm rot="10800000">
            <a:off x="7076374" y="4117460"/>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8"/>
          <p:cNvSpPr/>
          <p:nvPr/>
        </p:nvSpPr>
        <p:spPr>
          <a:xfrm rot="10800000">
            <a:off x="8368453" y="407614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4_1">
    <p:spTree>
      <p:nvGrpSpPr>
        <p:cNvPr id="124" name="Shape 124"/>
        <p:cNvGrpSpPr/>
        <p:nvPr/>
      </p:nvGrpSpPr>
      <p:grpSpPr>
        <a:xfrm>
          <a:off x="0" y="0"/>
          <a:ext cx="0" cy="0"/>
          <a:chOff x="0" y="0"/>
          <a:chExt cx="0" cy="0"/>
        </a:xfrm>
      </p:grpSpPr>
      <p:sp>
        <p:nvSpPr>
          <p:cNvPr id="125" name="Google Shape;125;p19"/>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26" name="Google Shape;126;p19"/>
          <p:cNvSpPr txBox="1"/>
          <p:nvPr>
            <p:ph idx="1" type="subTitle"/>
          </p:nvPr>
        </p:nvSpPr>
        <p:spPr>
          <a:xfrm>
            <a:off x="721879" y="3125863"/>
            <a:ext cx="25017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7" name="Google Shape;127;p19"/>
          <p:cNvSpPr txBox="1"/>
          <p:nvPr>
            <p:ph idx="2" type="subTitle"/>
          </p:nvPr>
        </p:nvSpPr>
        <p:spPr>
          <a:xfrm>
            <a:off x="3323100" y="3125863"/>
            <a:ext cx="25017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8" name="Google Shape;128;p19"/>
          <p:cNvSpPr txBox="1"/>
          <p:nvPr>
            <p:ph idx="3" type="subTitle"/>
          </p:nvPr>
        </p:nvSpPr>
        <p:spPr>
          <a:xfrm>
            <a:off x="5920421" y="3125863"/>
            <a:ext cx="25017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9" name="Google Shape;129;p19"/>
          <p:cNvSpPr txBox="1"/>
          <p:nvPr>
            <p:ph idx="4" type="title"/>
          </p:nvPr>
        </p:nvSpPr>
        <p:spPr>
          <a:xfrm>
            <a:off x="719929" y="2903359"/>
            <a:ext cx="2505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0" name="Google Shape;130;p19"/>
          <p:cNvSpPr txBox="1"/>
          <p:nvPr>
            <p:ph idx="5" type="title"/>
          </p:nvPr>
        </p:nvSpPr>
        <p:spPr>
          <a:xfrm>
            <a:off x="3321150" y="2903359"/>
            <a:ext cx="2505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1" name="Google Shape;131;p19"/>
          <p:cNvSpPr txBox="1"/>
          <p:nvPr>
            <p:ph idx="6" type="title"/>
          </p:nvPr>
        </p:nvSpPr>
        <p:spPr>
          <a:xfrm>
            <a:off x="5918471" y="2903359"/>
            <a:ext cx="2505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2" name="Google Shape;132;p19"/>
          <p:cNvSpPr/>
          <p:nvPr/>
        </p:nvSpPr>
        <p:spPr>
          <a:xfrm rot="10800000">
            <a:off x="3364049" y="450478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4_1_1">
    <p:spTree>
      <p:nvGrpSpPr>
        <p:cNvPr id="133" name="Shape 133"/>
        <p:cNvGrpSpPr/>
        <p:nvPr/>
      </p:nvGrpSpPr>
      <p:grpSpPr>
        <a:xfrm>
          <a:off x="0" y="0"/>
          <a:ext cx="0" cy="0"/>
          <a:chOff x="0" y="0"/>
          <a:chExt cx="0" cy="0"/>
        </a:xfrm>
      </p:grpSpPr>
      <p:sp>
        <p:nvSpPr>
          <p:cNvPr id="134" name="Google Shape;134;p20"/>
          <p:cNvSpPr txBox="1"/>
          <p:nvPr>
            <p:ph type="title"/>
          </p:nvPr>
        </p:nvSpPr>
        <p:spPr>
          <a:xfrm>
            <a:off x="1913299" y="1629409"/>
            <a:ext cx="24963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5" name="Google Shape;135;p20"/>
          <p:cNvSpPr txBox="1"/>
          <p:nvPr>
            <p:ph idx="2" type="title"/>
          </p:nvPr>
        </p:nvSpPr>
        <p:spPr>
          <a:xfrm>
            <a:off x="3942981" y="3255936"/>
            <a:ext cx="25056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6" name="Google Shape;136;p20"/>
          <p:cNvSpPr txBox="1"/>
          <p:nvPr>
            <p:ph idx="3" type="title"/>
          </p:nvPr>
        </p:nvSpPr>
        <p:spPr>
          <a:xfrm>
            <a:off x="5913413" y="1629414"/>
            <a:ext cx="25056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7" name="Google Shape;137;p20"/>
          <p:cNvSpPr txBox="1"/>
          <p:nvPr>
            <p:ph idx="4"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8" name="Google Shape;138;p20"/>
          <p:cNvSpPr txBox="1"/>
          <p:nvPr>
            <p:ph idx="1" type="subTitle"/>
          </p:nvPr>
        </p:nvSpPr>
        <p:spPr>
          <a:xfrm>
            <a:off x="1913299" y="1843721"/>
            <a:ext cx="24951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9" name="Google Shape;139;p20"/>
          <p:cNvSpPr txBox="1"/>
          <p:nvPr>
            <p:ph idx="5" type="subTitle"/>
          </p:nvPr>
        </p:nvSpPr>
        <p:spPr>
          <a:xfrm>
            <a:off x="5913413" y="1843726"/>
            <a:ext cx="24951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0" name="Google Shape;140;p20"/>
          <p:cNvSpPr txBox="1"/>
          <p:nvPr>
            <p:ph idx="6" type="subTitle"/>
          </p:nvPr>
        </p:nvSpPr>
        <p:spPr>
          <a:xfrm>
            <a:off x="3942981" y="3470247"/>
            <a:ext cx="24951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1" name="Google Shape;141;p20"/>
          <p:cNvSpPr/>
          <p:nvPr/>
        </p:nvSpPr>
        <p:spPr>
          <a:xfrm rot="10800000">
            <a:off x="-929726" y="436458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0"/>
          <p:cNvSpPr/>
          <p:nvPr/>
        </p:nvSpPr>
        <p:spPr>
          <a:xfrm rot="10800000">
            <a:off x="362353" y="43232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0"/>
          <p:cNvSpPr/>
          <p:nvPr/>
        </p:nvSpPr>
        <p:spPr>
          <a:xfrm rot="10800000">
            <a:off x="8532653" y="42518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0"/>
          <p:cNvSpPr/>
          <p:nvPr/>
        </p:nvSpPr>
        <p:spPr>
          <a:xfrm rot="10800000">
            <a:off x="8456611" y="272937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45" name="Shape 145"/>
        <p:cNvGrpSpPr/>
        <p:nvPr/>
      </p:nvGrpSpPr>
      <p:grpSpPr>
        <a:xfrm>
          <a:off x="0" y="0"/>
          <a:ext cx="0" cy="0"/>
          <a:chOff x="0" y="0"/>
          <a:chExt cx="0" cy="0"/>
        </a:xfrm>
      </p:grpSpPr>
      <p:sp>
        <p:nvSpPr>
          <p:cNvPr id="146" name="Google Shape;146;p21"/>
          <p:cNvSpPr txBox="1"/>
          <p:nvPr>
            <p:ph type="title"/>
          </p:nvPr>
        </p:nvSpPr>
        <p:spPr>
          <a:xfrm>
            <a:off x="2376756" y="1649879"/>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7" name="Google Shape;147;p21"/>
          <p:cNvSpPr txBox="1"/>
          <p:nvPr>
            <p:ph idx="1" type="subTitle"/>
          </p:nvPr>
        </p:nvSpPr>
        <p:spPr>
          <a:xfrm>
            <a:off x="2376756" y="1867310"/>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8" name="Google Shape;148;p21"/>
          <p:cNvSpPr txBox="1"/>
          <p:nvPr>
            <p:ph idx="2" type="title"/>
          </p:nvPr>
        </p:nvSpPr>
        <p:spPr>
          <a:xfrm>
            <a:off x="5961696" y="1649879"/>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9" name="Google Shape;149;p21"/>
          <p:cNvSpPr txBox="1"/>
          <p:nvPr>
            <p:ph idx="3" type="subTitle"/>
          </p:nvPr>
        </p:nvSpPr>
        <p:spPr>
          <a:xfrm>
            <a:off x="5961696" y="1867310"/>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 name="Google Shape;150;p21"/>
          <p:cNvSpPr txBox="1"/>
          <p:nvPr>
            <p:ph idx="4" type="title"/>
          </p:nvPr>
        </p:nvSpPr>
        <p:spPr>
          <a:xfrm>
            <a:off x="2376756" y="3189406"/>
            <a:ext cx="1975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1" name="Google Shape;151;p21"/>
          <p:cNvSpPr txBox="1"/>
          <p:nvPr>
            <p:ph idx="5" type="subTitle"/>
          </p:nvPr>
        </p:nvSpPr>
        <p:spPr>
          <a:xfrm>
            <a:off x="2376756" y="3406837"/>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2" name="Google Shape;152;p21"/>
          <p:cNvSpPr txBox="1"/>
          <p:nvPr>
            <p:ph idx="6" type="title"/>
          </p:nvPr>
        </p:nvSpPr>
        <p:spPr>
          <a:xfrm>
            <a:off x="5961696" y="3189406"/>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3" name="Google Shape;153;p21"/>
          <p:cNvSpPr txBox="1"/>
          <p:nvPr>
            <p:ph idx="7" type="subTitle"/>
          </p:nvPr>
        </p:nvSpPr>
        <p:spPr>
          <a:xfrm>
            <a:off x="5961696" y="3406837"/>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21"/>
          <p:cNvSpPr txBox="1"/>
          <p:nvPr>
            <p:ph idx="8"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55" name="Google Shape;155;p21"/>
          <p:cNvSpPr/>
          <p:nvPr/>
        </p:nvSpPr>
        <p:spPr>
          <a:xfrm rot="10800000">
            <a:off x="-1011447" y="164988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1"/>
          <p:cNvSpPr/>
          <p:nvPr/>
        </p:nvSpPr>
        <p:spPr>
          <a:xfrm rot="10800000">
            <a:off x="-1011460" y="220645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1"/>
          <p:cNvSpPr/>
          <p:nvPr/>
        </p:nvSpPr>
        <p:spPr>
          <a:xfrm rot="10800000">
            <a:off x="8519786" y="165717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1"/>
          <p:cNvSpPr/>
          <p:nvPr/>
        </p:nvSpPr>
        <p:spPr>
          <a:xfrm flipH="1" rot="10800000">
            <a:off x="8595828" y="31796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159" name="Shape 159"/>
        <p:cNvGrpSpPr/>
        <p:nvPr/>
      </p:nvGrpSpPr>
      <p:grpSpPr>
        <a:xfrm>
          <a:off x="0" y="0"/>
          <a:ext cx="0" cy="0"/>
          <a:chOff x="0" y="0"/>
          <a:chExt cx="0" cy="0"/>
        </a:xfrm>
      </p:grpSpPr>
      <p:sp>
        <p:nvSpPr>
          <p:cNvPr id="160" name="Google Shape;160;p22"/>
          <p:cNvSpPr txBox="1"/>
          <p:nvPr>
            <p:ph type="title"/>
          </p:nvPr>
        </p:nvSpPr>
        <p:spPr>
          <a:xfrm>
            <a:off x="1023437" y="1977988"/>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1" name="Google Shape;161;p22"/>
          <p:cNvSpPr txBox="1"/>
          <p:nvPr>
            <p:ph idx="1" type="subTitle"/>
          </p:nvPr>
        </p:nvSpPr>
        <p:spPr>
          <a:xfrm>
            <a:off x="1023437" y="2193038"/>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2" name="Google Shape;162;p22"/>
          <p:cNvSpPr txBox="1"/>
          <p:nvPr>
            <p:ph idx="2" type="title"/>
          </p:nvPr>
        </p:nvSpPr>
        <p:spPr>
          <a:xfrm>
            <a:off x="3579000" y="1977988"/>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3" name="Google Shape;163;p22"/>
          <p:cNvSpPr txBox="1"/>
          <p:nvPr>
            <p:ph idx="3" type="subTitle"/>
          </p:nvPr>
        </p:nvSpPr>
        <p:spPr>
          <a:xfrm>
            <a:off x="3579000" y="2193038"/>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4" name="Google Shape;164;p22"/>
          <p:cNvSpPr txBox="1"/>
          <p:nvPr>
            <p:ph idx="4" type="title"/>
          </p:nvPr>
        </p:nvSpPr>
        <p:spPr>
          <a:xfrm>
            <a:off x="1023437" y="3774537"/>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5" name="Google Shape;165;p22"/>
          <p:cNvSpPr txBox="1"/>
          <p:nvPr>
            <p:ph idx="5" type="subTitle"/>
          </p:nvPr>
        </p:nvSpPr>
        <p:spPr>
          <a:xfrm>
            <a:off x="1023437" y="3989587"/>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6" name="Google Shape;166;p22"/>
          <p:cNvSpPr txBox="1"/>
          <p:nvPr>
            <p:ph idx="6" type="title"/>
          </p:nvPr>
        </p:nvSpPr>
        <p:spPr>
          <a:xfrm>
            <a:off x="3579000" y="3774537"/>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7" name="Google Shape;167;p22"/>
          <p:cNvSpPr txBox="1"/>
          <p:nvPr>
            <p:ph idx="7" type="subTitle"/>
          </p:nvPr>
        </p:nvSpPr>
        <p:spPr>
          <a:xfrm>
            <a:off x="3579000" y="3989587"/>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8" name="Google Shape;168;p22"/>
          <p:cNvSpPr txBox="1"/>
          <p:nvPr>
            <p:ph idx="8" type="title"/>
          </p:nvPr>
        </p:nvSpPr>
        <p:spPr>
          <a:xfrm>
            <a:off x="6134563" y="1977988"/>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9" name="Google Shape;169;p22"/>
          <p:cNvSpPr txBox="1"/>
          <p:nvPr>
            <p:ph idx="9" type="subTitle"/>
          </p:nvPr>
        </p:nvSpPr>
        <p:spPr>
          <a:xfrm>
            <a:off x="6134563" y="2193038"/>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0" name="Google Shape;170;p22"/>
          <p:cNvSpPr txBox="1"/>
          <p:nvPr>
            <p:ph idx="13" type="title"/>
          </p:nvPr>
        </p:nvSpPr>
        <p:spPr>
          <a:xfrm>
            <a:off x="6134563" y="3774537"/>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1" name="Google Shape;171;p22"/>
          <p:cNvSpPr txBox="1"/>
          <p:nvPr>
            <p:ph idx="14" type="subTitle"/>
          </p:nvPr>
        </p:nvSpPr>
        <p:spPr>
          <a:xfrm>
            <a:off x="6134563" y="3989587"/>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2" name="Google Shape;172;p22"/>
          <p:cNvSpPr txBox="1"/>
          <p:nvPr>
            <p:ph idx="15"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73" name="Google Shape;173;p22"/>
          <p:cNvSpPr/>
          <p:nvPr/>
        </p:nvSpPr>
        <p:spPr>
          <a:xfrm rot="10800000">
            <a:off x="8607028" y="272784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2"/>
          <p:cNvSpPr/>
          <p:nvPr/>
        </p:nvSpPr>
        <p:spPr>
          <a:xfrm rot="10800000">
            <a:off x="8547124" y="39143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2"/>
          <p:cNvSpPr/>
          <p:nvPr/>
        </p:nvSpPr>
        <p:spPr>
          <a:xfrm rot="10800000">
            <a:off x="-1156547" y="23485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2"/>
          <p:cNvSpPr/>
          <p:nvPr/>
        </p:nvSpPr>
        <p:spPr>
          <a:xfrm rot="10800000">
            <a:off x="-1156547" y="145624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77" name="Shape 177"/>
        <p:cNvGrpSpPr/>
        <p:nvPr/>
      </p:nvGrpSpPr>
      <p:grpSpPr>
        <a:xfrm>
          <a:off x="0" y="0"/>
          <a:ext cx="0" cy="0"/>
          <a:chOff x="0" y="0"/>
          <a:chExt cx="0" cy="0"/>
        </a:xfrm>
      </p:grpSpPr>
      <p:sp>
        <p:nvSpPr>
          <p:cNvPr id="178" name="Google Shape;178;p23"/>
          <p:cNvSpPr txBox="1"/>
          <p:nvPr>
            <p:ph hasCustomPrompt="1" type="title"/>
          </p:nvPr>
        </p:nvSpPr>
        <p:spPr>
          <a:xfrm>
            <a:off x="2233650" y="791050"/>
            <a:ext cx="4676700" cy="760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79" name="Google Shape;179;p23"/>
          <p:cNvSpPr txBox="1"/>
          <p:nvPr>
            <p:ph idx="1" type="subTitle"/>
          </p:nvPr>
        </p:nvSpPr>
        <p:spPr>
          <a:xfrm>
            <a:off x="2233650" y="1466310"/>
            <a:ext cx="4676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sz="16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80" name="Google Shape;180;p23"/>
          <p:cNvSpPr txBox="1"/>
          <p:nvPr>
            <p:ph hasCustomPrompt="1" idx="2" type="title"/>
          </p:nvPr>
        </p:nvSpPr>
        <p:spPr>
          <a:xfrm>
            <a:off x="2233650" y="2051270"/>
            <a:ext cx="4676700" cy="760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81" name="Google Shape;181;p23"/>
          <p:cNvSpPr txBox="1"/>
          <p:nvPr>
            <p:ph idx="3" type="subTitle"/>
          </p:nvPr>
        </p:nvSpPr>
        <p:spPr>
          <a:xfrm>
            <a:off x="2233650" y="2726530"/>
            <a:ext cx="4676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sz="16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82" name="Google Shape;182;p23"/>
          <p:cNvSpPr txBox="1"/>
          <p:nvPr>
            <p:ph hasCustomPrompt="1" idx="4" type="title"/>
          </p:nvPr>
        </p:nvSpPr>
        <p:spPr>
          <a:xfrm>
            <a:off x="2233650" y="3311490"/>
            <a:ext cx="4676700" cy="760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83" name="Google Shape;183;p23"/>
          <p:cNvSpPr txBox="1"/>
          <p:nvPr>
            <p:ph idx="5" type="subTitle"/>
          </p:nvPr>
        </p:nvSpPr>
        <p:spPr>
          <a:xfrm>
            <a:off x="2233650" y="3986750"/>
            <a:ext cx="4676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sz="16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84" name="Google Shape;184;p23"/>
          <p:cNvSpPr/>
          <p:nvPr/>
        </p:nvSpPr>
        <p:spPr>
          <a:xfrm rot="10800000">
            <a:off x="-959872" y="37142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3"/>
          <p:cNvSpPr/>
          <p:nvPr/>
        </p:nvSpPr>
        <p:spPr>
          <a:xfrm rot="10800000">
            <a:off x="-1035914" y="219177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3"/>
          <p:cNvSpPr/>
          <p:nvPr/>
        </p:nvSpPr>
        <p:spPr>
          <a:xfrm rot="10800000">
            <a:off x="7617578" y="9510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3"/>
          <p:cNvSpPr/>
          <p:nvPr/>
        </p:nvSpPr>
        <p:spPr>
          <a:xfrm rot="10800000">
            <a:off x="7541536" y="-5714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88" name="Shape 188"/>
        <p:cNvGrpSpPr/>
        <p:nvPr/>
      </p:nvGrpSpPr>
      <p:grpSpPr>
        <a:xfrm>
          <a:off x="0" y="0"/>
          <a:ext cx="0" cy="0"/>
          <a:chOff x="0" y="0"/>
          <a:chExt cx="0" cy="0"/>
        </a:xfrm>
      </p:grpSpPr>
      <p:sp>
        <p:nvSpPr>
          <p:cNvPr id="189" name="Google Shape;189;p24"/>
          <p:cNvSpPr txBox="1"/>
          <p:nvPr>
            <p:ph type="title"/>
          </p:nvPr>
        </p:nvSpPr>
        <p:spPr>
          <a:xfrm>
            <a:off x="808851" y="2667939"/>
            <a:ext cx="23217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0" name="Google Shape;190;p24"/>
          <p:cNvSpPr txBox="1"/>
          <p:nvPr>
            <p:ph idx="2" type="title"/>
          </p:nvPr>
        </p:nvSpPr>
        <p:spPr>
          <a:xfrm>
            <a:off x="3411150" y="2667939"/>
            <a:ext cx="23217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1" name="Google Shape;191;p24"/>
          <p:cNvSpPr txBox="1"/>
          <p:nvPr>
            <p:ph hasCustomPrompt="1" idx="3" type="title"/>
          </p:nvPr>
        </p:nvSpPr>
        <p:spPr>
          <a:xfrm>
            <a:off x="1450250" y="1762800"/>
            <a:ext cx="1038900" cy="473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22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2" name="Google Shape;192;p24"/>
          <p:cNvSpPr txBox="1"/>
          <p:nvPr>
            <p:ph idx="1" type="subTitle"/>
          </p:nvPr>
        </p:nvSpPr>
        <p:spPr>
          <a:xfrm>
            <a:off x="809901" y="2882248"/>
            <a:ext cx="2319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3" name="Google Shape;193;p24"/>
          <p:cNvSpPr txBox="1"/>
          <p:nvPr>
            <p:ph hasCustomPrompt="1" idx="4" type="title"/>
          </p:nvPr>
        </p:nvSpPr>
        <p:spPr>
          <a:xfrm>
            <a:off x="4052549" y="1762800"/>
            <a:ext cx="1038900" cy="473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22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4" name="Google Shape;194;p24"/>
          <p:cNvSpPr txBox="1"/>
          <p:nvPr>
            <p:ph idx="5" type="subTitle"/>
          </p:nvPr>
        </p:nvSpPr>
        <p:spPr>
          <a:xfrm>
            <a:off x="3412200" y="2882248"/>
            <a:ext cx="2319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5" name="Google Shape;195;p24"/>
          <p:cNvSpPr txBox="1"/>
          <p:nvPr>
            <p:ph idx="6"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96" name="Google Shape;196;p24"/>
          <p:cNvSpPr txBox="1"/>
          <p:nvPr>
            <p:ph idx="7" type="title"/>
          </p:nvPr>
        </p:nvSpPr>
        <p:spPr>
          <a:xfrm>
            <a:off x="6013449" y="2667939"/>
            <a:ext cx="23217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7" name="Google Shape;197;p24"/>
          <p:cNvSpPr txBox="1"/>
          <p:nvPr>
            <p:ph hasCustomPrompt="1" idx="8" type="title"/>
          </p:nvPr>
        </p:nvSpPr>
        <p:spPr>
          <a:xfrm>
            <a:off x="6654850" y="1762800"/>
            <a:ext cx="1038900" cy="473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22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8" name="Google Shape;198;p24"/>
          <p:cNvSpPr txBox="1"/>
          <p:nvPr>
            <p:ph idx="9" type="subTitle"/>
          </p:nvPr>
        </p:nvSpPr>
        <p:spPr>
          <a:xfrm>
            <a:off x="6014499" y="2882248"/>
            <a:ext cx="2319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9" name="Google Shape;199;p24"/>
          <p:cNvSpPr/>
          <p:nvPr/>
        </p:nvSpPr>
        <p:spPr>
          <a:xfrm rot="10800000">
            <a:off x="-683872" y="43168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4"/>
          <p:cNvSpPr/>
          <p:nvPr/>
        </p:nvSpPr>
        <p:spPr>
          <a:xfrm rot="10800000">
            <a:off x="670315" y="47431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p:nvPr/>
        </p:nvSpPr>
        <p:spPr>
          <a:xfrm rot="10800000">
            <a:off x="6326899" y="449158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4"/>
          <p:cNvSpPr/>
          <p:nvPr/>
        </p:nvSpPr>
        <p:spPr>
          <a:xfrm rot="10800000">
            <a:off x="7618978" y="44502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03" name="Shape 203"/>
        <p:cNvGrpSpPr/>
        <p:nvPr/>
      </p:nvGrpSpPr>
      <p:grpSpPr>
        <a:xfrm>
          <a:off x="0" y="0"/>
          <a:ext cx="0" cy="0"/>
          <a:chOff x="0" y="0"/>
          <a:chExt cx="0" cy="0"/>
        </a:xfrm>
      </p:grpSpPr>
      <p:sp>
        <p:nvSpPr>
          <p:cNvPr id="204" name="Google Shape;204;p25"/>
          <p:cNvSpPr txBox="1"/>
          <p:nvPr>
            <p:ph type="title"/>
          </p:nvPr>
        </p:nvSpPr>
        <p:spPr>
          <a:xfrm>
            <a:off x="2276175" y="621573"/>
            <a:ext cx="4594800" cy="9144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500"/>
              <a:buNone/>
              <a:defRPr sz="6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5" name="Google Shape;205;p25"/>
          <p:cNvSpPr txBox="1"/>
          <p:nvPr>
            <p:ph idx="1" type="subTitle"/>
          </p:nvPr>
        </p:nvSpPr>
        <p:spPr>
          <a:xfrm>
            <a:off x="2272950" y="1456534"/>
            <a:ext cx="45981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6" name="Google Shape;206;p25"/>
          <p:cNvSpPr txBox="1"/>
          <p:nvPr/>
        </p:nvSpPr>
        <p:spPr>
          <a:xfrm>
            <a:off x="2639000" y="3422375"/>
            <a:ext cx="3862200" cy="7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Mulish"/>
                <a:ea typeface="Mulish"/>
                <a:cs typeface="Mulish"/>
                <a:sym typeface="Mulish"/>
              </a:rPr>
              <a:t>CREDITS: This presentation template was created by </a:t>
            </a:r>
            <a:r>
              <a:rPr b="1" lang="en" sz="1300">
                <a:solidFill>
                  <a:schemeClr val="lt1"/>
                </a:solidFill>
                <a:uFill>
                  <a:noFill/>
                </a:uFill>
                <a:latin typeface="Mulish"/>
                <a:ea typeface="Mulish"/>
                <a:cs typeface="Mulish"/>
                <a:sym typeface="Mulish"/>
                <a:hlinkClick r:id="rId2">
                  <a:extLst>
                    <a:ext uri="{A12FA001-AC4F-418D-AE19-62706E023703}">
                      <ahyp:hlinkClr val="tx"/>
                    </a:ext>
                  </a:extLst>
                </a:hlinkClick>
              </a:rPr>
              <a:t>Slidesgo</a:t>
            </a:r>
            <a:r>
              <a:rPr lang="en" sz="1300">
                <a:solidFill>
                  <a:schemeClr val="lt1"/>
                </a:solidFill>
                <a:latin typeface="Mulish"/>
                <a:ea typeface="Mulish"/>
                <a:cs typeface="Mulish"/>
                <a:sym typeface="Mulish"/>
              </a:rPr>
              <a:t>, and includes icons by </a:t>
            </a:r>
            <a:r>
              <a:rPr b="1" lang="en" sz="1300">
                <a:solidFill>
                  <a:schemeClr val="lt1"/>
                </a:solidFill>
                <a:uFill>
                  <a:noFill/>
                </a:uFill>
                <a:latin typeface="Mulish"/>
                <a:ea typeface="Mulish"/>
                <a:cs typeface="Mulish"/>
                <a:sym typeface="Mulish"/>
                <a:hlinkClick r:id="rId3">
                  <a:extLst>
                    <a:ext uri="{A12FA001-AC4F-418D-AE19-62706E023703}">
                      <ahyp:hlinkClr val="tx"/>
                    </a:ext>
                  </a:extLst>
                </a:hlinkClick>
              </a:rPr>
              <a:t>Flaticon</a:t>
            </a:r>
            <a:r>
              <a:rPr lang="en" sz="1300">
                <a:solidFill>
                  <a:schemeClr val="lt1"/>
                </a:solidFill>
                <a:latin typeface="Mulish"/>
                <a:ea typeface="Mulish"/>
                <a:cs typeface="Mulish"/>
                <a:sym typeface="Mulish"/>
              </a:rPr>
              <a:t>, and infographics &amp; images by </a:t>
            </a:r>
            <a:r>
              <a:rPr b="1" lang="en" sz="1300">
                <a:solidFill>
                  <a:schemeClr val="lt1"/>
                </a:solidFill>
                <a:uFill>
                  <a:noFill/>
                </a:uFill>
                <a:latin typeface="Mulish"/>
                <a:ea typeface="Mulish"/>
                <a:cs typeface="Mulish"/>
                <a:sym typeface="Mulish"/>
                <a:hlinkClick r:id="rId4">
                  <a:extLst>
                    <a:ext uri="{A12FA001-AC4F-418D-AE19-62706E023703}">
                      <ahyp:hlinkClr val="tx"/>
                    </a:ext>
                  </a:extLst>
                </a:hlinkClick>
              </a:rPr>
              <a:t>Freepik</a:t>
            </a:r>
            <a:endParaRPr b="1" sz="1300">
              <a:solidFill>
                <a:schemeClr val="lt1"/>
              </a:solidFill>
              <a:latin typeface="Mulish"/>
              <a:ea typeface="Mulish"/>
              <a:cs typeface="Mulish"/>
              <a:sym typeface="Mulish"/>
            </a:endParaRPr>
          </a:p>
        </p:txBody>
      </p:sp>
      <p:sp>
        <p:nvSpPr>
          <p:cNvPr id="207" name="Google Shape;207;p25"/>
          <p:cNvSpPr/>
          <p:nvPr/>
        </p:nvSpPr>
        <p:spPr>
          <a:xfrm rot="10800000">
            <a:off x="-467847" y="7513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5"/>
          <p:cNvSpPr/>
          <p:nvPr/>
        </p:nvSpPr>
        <p:spPr>
          <a:xfrm rot="10800000">
            <a:off x="-543889" y="-77115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5"/>
          <p:cNvSpPr/>
          <p:nvPr/>
        </p:nvSpPr>
        <p:spPr>
          <a:xfrm rot="10800000">
            <a:off x="6807749" y="35114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5"/>
          <p:cNvSpPr/>
          <p:nvPr/>
        </p:nvSpPr>
        <p:spPr>
          <a:xfrm rot="10800000">
            <a:off x="8099828" y="34701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11" name="Shape 211"/>
        <p:cNvGrpSpPr/>
        <p:nvPr/>
      </p:nvGrpSpPr>
      <p:grpSpPr>
        <a:xfrm>
          <a:off x="0" y="0"/>
          <a:ext cx="0" cy="0"/>
          <a:chOff x="0" y="0"/>
          <a:chExt cx="0" cy="0"/>
        </a:xfrm>
      </p:grpSpPr>
      <p:sp>
        <p:nvSpPr>
          <p:cNvPr id="212" name="Google Shape;212;p26"/>
          <p:cNvSpPr/>
          <p:nvPr/>
        </p:nvSpPr>
        <p:spPr>
          <a:xfrm flipH="1" rot="10800000">
            <a:off x="-1108865" y="35264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6"/>
          <p:cNvSpPr/>
          <p:nvPr/>
        </p:nvSpPr>
        <p:spPr>
          <a:xfrm flipH="1">
            <a:off x="-157685" y="4519142"/>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6"/>
          <p:cNvSpPr/>
          <p:nvPr/>
        </p:nvSpPr>
        <p:spPr>
          <a:xfrm rot="10800000">
            <a:off x="6326899" y="449158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6"/>
          <p:cNvSpPr/>
          <p:nvPr/>
        </p:nvSpPr>
        <p:spPr>
          <a:xfrm rot="10800000">
            <a:off x="7618978" y="44502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16" name="Shape 216"/>
        <p:cNvGrpSpPr/>
        <p:nvPr/>
      </p:nvGrpSpPr>
      <p:grpSpPr>
        <a:xfrm>
          <a:off x="0" y="0"/>
          <a:ext cx="0" cy="0"/>
          <a:chOff x="0" y="0"/>
          <a:chExt cx="0" cy="0"/>
        </a:xfrm>
      </p:grpSpPr>
      <p:sp>
        <p:nvSpPr>
          <p:cNvPr id="217" name="Google Shape;217;p27"/>
          <p:cNvSpPr/>
          <p:nvPr/>
        </p:nvSpPr>
        <p:spPr>
          <a:xfrm rot="10800000">
            <a:off x="8425378" y="272784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7"/>
          <p:cNvSpPr/>
          <p:nvPr/>
        </p:nvSpPr>
        <p:spPr>
          <a:xfrm rot="10800000">
            <a:off x="8230524" y="39143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7"/>
          <p:cNvSpPr/>
          <p:nvPr/>
        </p:nvSpPr>
        <p:spPr>
          <a:xfrm rot="10800000">
            <a:off x="-1016397" y="23485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7"/>
          <p:cNvSpPr/>
          <p:nvPr/>
        </p:nvSpPr>
        <p:spPr>
          <a:xfrm rot="10800000">
            <a:off x="-1016397" y="145624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221" name="Shape 221"/>
        <p:cNvGrpSpPr/>
        <p:nvPr/>
      </p:nvGrpSpPr>
      <p:grpSpPr>
        <a:xfrm>
          <a:off x="0" y="0"/>
          <a:ext cx="0" cy="0"/>
          <a:chOff x="0" y="0"/>
          <a:chExt cx="0" cy="0"/>
        </a:xfrm>
      </p:grpSpPr>
      <p:sp>
        <p:nvSpPr>
          <p:cNvPr id="222" name="Google Shape;222;p28"/>
          <p:cNvSpPr txBox="1"/>
          <p:nvPr>
            <p:ph idx="1" type="subTitle"/>
          </p:nvPr>
        </p:nvSpPr>
        <p:spPr>
          <a:xfrm flipH="1">
            <a:off x="2173350" y="1717475"/>
            <a:ext cx="4797300" cy="2153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223" name="Google Shape;223;p28"/>
          <p:cNvSpPr/>
          <p:nvPr/>
        </p:nvSpPr>
        <p:spPr>
          <a:xfrm rot="10800000">
            <a:off x="7182053" y="-361631"/>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8"/>
          <p:cNvSpPr/>
          <p:nvPr/>
        </p:nvSpPr>
        <p:spPr>
          <a:xfrm rot="10800000">
            <a:off x="7106011" y="-188415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8"/>
          <p:cNvSpPr/>
          <p:nvPr/>
        </p:nvSpPr>
        <p:spPr>
          <a:xfrm rot="10800000">
            <a:off x="-565776" y="4478710"/>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8"/>
          <p:cNvSpPr/>
          <p:nvPr/>
        </p:nvSpPr>
        <p:spPr>
          <a:xfrm rot="10800000">
            <a:off x="726303" y="44373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8"/>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31" name="Shape 231"/>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32" name="Shape 232"/>
        <p:cNvGrpSpPr/>
        <p:nvPr/>
      </p:nvGrpSpPr>
      <p:grpSpPr>
        <a:xfrm>
          <a:off x="0" y="0"/>
          <a:ext cx="0" cy="0"/>
          <a:chOff x="0" y="0"/>
          <a:chExt cx="0" cy="0"/>
        </a:xfrm>
      </p:grpSpPr>
      <p:sp>
        <p:nvSpPr>
          <p:cNvPr id="233" name="Google Shape;233;p31"/>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100000">
              <a:schemeClr val="lt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6100" y="320050"/>
            <a:ext cx="7711800" cy="685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lt1"/>
              </a:buClr>
              <a:buSzPts val="3500"/>
              <a:buFont typeface="Anek Devanagari"/>
              <a:buNone/>
              <a:defRPr b="1" sz="3500">
                <a:solidFill>
                  <a:schemeClr val="lt1"/>
                </a:solidFill>
                <a:latin typeface="Anek Devanagari"/>
                <a:ea typeface="Anek Devanagari"/>
                <a:cs typeface="Anek Devanagari"/>
                <a:sym typeface="Anek Devanagari"/>
              </a:defRPr>
            </a:lvl1pPr>
            <a:lvl2pPr lvl="1" rtl="0">
              <a:spcBef>
                <a:spcPts val="0"/>
              </a:spcBef>
              <a:spcAft>
                <a:spcPts val="0"/>
              </a:spcAft>
              <a:buClr>
                <a:schemeClr val="lt1"/>
              </a:buClr>
              <a:buSzPts val="3500"/>
              <a:buNone/>
              <a:defRPr sz="3500">
                <a:solidFill>
                  <a:schemeClr val="lt1"/>
                </a:solidFill>
              </a:defRPr>
            </a:lvl2pPr>
            <a:lvl3pPr lvl="2" rtl="0">
              <a:spcBef>
                <a:spcPts val="0"/>
              </a:spcBef>
              <a:spcAft>
                <a:spcPts val="0"/>
              </a:spcAft>
              <a:buClr>
                <a:schemeClr val="lt1"/>
              </a:buClr>
              <a:buSzPts val="3500"/>
              <a:buNone/>
              <a:defRPr sz="3500">
                <a:solidFill>
                  <a:schemeClr val="lt1"/>
                </a:solidFill>
              </a:defRPr>
            </a:lvl3pPr>
            <a:lvl4pPr lvl="3" rtl="0">
              <a:spcBef>
                <a:spcPts val="0"/>
              </a:spcBef>
              <a:spcAft>
                <a:spcPts val="0"/>
              </a:spcAft>
              <a:buClr>
                <a:schemeClr val="lt1"/>
              </a:buClr>
              <a:buSzPts val="3500"/>
              <a:buNone/>
              <a:defRPr sz="3500">
                <a:solidFill>
                  <a:schemeClr val="lt1"/>
                </a:solidFill>
              </a:defRPr>
            </a:lvl4pPr>
            <a:lvl5pPr lvl="4" rtl="0">
              <a:spcBef>
                <a:spcPts val="0"/>
              </a:spcBef>
              <a:spcAft>
                <a:spcPts val="0"/>
              </a:spcAft>
              <a:buClr>
                <a:schemeClr val="lt1"/>
              </a:buClr>
              <a:buSzPts val="3500"/>
              <a:buNone/>
              <a:defRPr sz="3500">
                <a:solidFill>
                  <a:schemeClr val="lt1"/>
                </a:solidFill>
              </a:defRPr>
            </a:lvl5pPr>
            <a:lvl6pPr lvl="5" rtl="0">
              <a:spcBef>
                <a:spcPts val="0"/>
              </a:spcBef>
              <a:spcAft>
                <a:spcPts val="0"/>
              </a:spcAft>
              <a:buClr>
                <a:schemeClr val="lt1"/>
              </a:buClr>
              <a:buSzPts val="3500"/>
              <a:buNone/>
              <a:defRPr sz="3500">
                <a:solidFill>
                  <a:schemeClr val="lt1"/>
                </a:solidFill>
              </a:defRPr>
            </a:lvl6pPr>
            <a:lvl7pPr lvl="6" rtl="0">
              <a:spcBef>
                <a:spcPts val="0"/>
              </a:spcBef>
              <a:spcAft>
                <a:spcPts val="0"/>
              </a:spcAft>
              <a:buClr>
                <a:schemeClr val="lt1"/>
              </a:buClr>
              <a:buSzPts val="3500"/>
              <a:buNone/>
              <a:defRPr sz="3500">
                <a:solidFill>
                  <a:schemeClr val="lt1"/>
                </a:solidFill>
              </a:defRPr>
            </a:lvl7pPr>
            <a:lvl8pPr lvl="7" rtl="0">
              <a:spcBef>
                <a:spcPts val="0"/>
              </a:spcBef>
              <a:spcAft>
                <a:spcPts val="0"/>
              </a:spcAft>
              <a:buClr>
                <a:schemeClr val="lt1"/>
              </a:buClr>
              <a:buSzPts val="3500"/>
              <a:buNone/>
              <a:defRPr sz="3500">
                <a:solidFill>
                  <a:schemeClr val="lt1"/>
                </a:solidFill>
              </a:defRPr>
            </a:lvl8pPr>
            <a:lvl9pPr lvl="8" rtl="0">
              <a:spcBef>
                <a:spcPts val="0"/>
              </a:spcBef>
              <a:spcAft>
                <a:spcPts val="0"/>
              </a:spcAft>
              <a:buClr>
                <a:schemeClr val="lt1"/>
              </a:buClr>
              <a:buSzPts val="3500"/>
              <a:buNone/>
              <a:defRPr sz="3500">
                <a:solidFill>
                  <a:schemeClr val="lt1"/>
                </a:solidFill>
              </a:defRPr>
            </a:lvl9pPr>
          </a:lstStyle>
          <a:p/>
        </p:txBody>
      </p:sp>
      <p:sp>
        <p:nvSpPr>
          <p:cNvPr id="7" name="Google Shape;7;p1"/>
          <p:cNvSpPr txBox="1"/>
          <p:nvPr>
            <p:ph idx="1" type="body"/>
          </p:nvPr>
        </p:nvSpPr>
        <p:spPr>
          <a:xfrm>
            <a:off x="692700" y="1351875"/>
            <a:ext cx="7711800" cy="32475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1pPr>
            <a:lvl2pPr indent="-317500" lvl="1" marL="9144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2pPr>
            <a:lvl3pPr indent="-317500" lvl="2" marL="13716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3pPr>
            <a:lvl4pPr indent="-317500" lvl="3" marL="18288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4pPr>
            <a:lvl5pPr indent="-317500" lvl="4" marL="22860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5pPr>
            <a:lvl6pPr indent="-317500" lvl="5" marL="27432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6pPr>
            <a:lvl7pPr indent="-317500" lvl="6" marL="32004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7pPr>
            <a:lvl8pPr indent="-317500" lvl="7" marL="36576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8pPr>
            <a:lvl9pPr indent="-317500" lvl="8" marL="41148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28" name="Shape 228"/>
        <p:cNvGrpSpPr/>
        <p:nvPr/>
      </p:nvGrpSpPr>
      <p:grpSpPr>
        <a:xfrm>
          <a:off x="0" y="0"/>
          <a:ext cx="0" cy="0"/>
          <a:chOff x="0" y="0"/>
          <a:chExt cx="0" cy="0"/>
        </a:xfrm>
      </p:grpSpPr>
      <p:sp>
        <p:nvSpPr>
          <p:cNvPr id="229" name="Google Shape;229;p29"/>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230" name="Google Shape;230;p29"/>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31.png"/><Relationship Id="rId5" Type="http://schemas.openxmlformats.org/officeDocument/2006/relationships/image" Target="../media/image20.png"/><Relationship Id="rId6"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26.png"/><Relationship Id="rId5" Type="http://schemas.openxmlformats.org/officeDocument/2006/relationships/image" Target="../media/image22.png"/><Relationship Id="rId6"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30.png"/><Relationship Id="rId6"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34.png"/><Relationship Id="rId5"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30.png"/><Relationship Id="rId6"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hyperlink" Target="https://public.tableau.com/shared/NFTNDJ6JY?:display_count=n&amp;:origin=viz_share_link" TargetMode="External"/><Relationship Id="rId5" Type="http://schemas.openxmlformats.org/officeDocument/2006/relationships/hyperlink" Target="https://public.tableau.com/shared/NFTNDJ6JY?:display_count=n&amp;:origin=viz_share_link" TargetMode="External"/><Relationship Id="rId6" Type="http://schemas.openxmlformats.org/officeDocument/2006/relationships/image" Target="../media/image24.png"/><Relationship Id="rId7" Type="http://schemas.openxmlformats.org/officeDocument/2006/relationships/image" Target="../media/image23.png"/><Relationship Id="rId8"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 Id="rId3" Type="http://schemas.openxmlformats.org/officeDocument/2006/relationships/hyperlink" Target="https://colab.research.google.com/drive/1Q90KfcGpVF67qdkBYlu5AjF6jwQh_qoJ?usp=sharing" TargetMode="External"/><Relationship Id="rId4" Type="http://schemas.openxmlformats.org/officeDocument/2006/relationships/hyperlink" Target="http://www.linkedin.com/in/mikhael-putra" TargetMode="External"/><Relationship Id="rId9" Type="http://schemas.openxmlformats.org/officeDocument/2006/relationships/image" Target="../media/image11.png"/><Relationship Id="rId5" Type="http://schemas.openxmlformats.org/officeDocument/2006/relationships/hyperlink" Target="mailto:mikhaelput@gmail.com" TargetMode="External"/><Relationship Id="rId6" Type="http://schemas.openxmlformats.org/officeDocument/2006/relationships/hyperlink" Target="mailto:mikhaelput@gmail.com" TargetMode="External"/><Relationship Id="rId7" Type="http://schemas.openxmlformats.org/officeDocument/2006/relationships/hyperlink" Target="https://colab.research.google.com/drive/1Q90KfcGpVF67qdkBYlu5AjF6jwQh_qoJ?usp=sharing" TargetMode="External"/><Relationship Id="rId8" Type="http://schemas.openxmlformats.org/officeDocument/2006/relationships/hyperlink" Target="https://colab.research.google.com/drive/1Q90KfcGpVF67qdkBYlu5AjF6jwQh_qoJ?usp=sharing" TargetMode="External"/><Relationship Id="rId11" Type="http://schemas.openxmlformats.org/officeDocument/2006/relationships/hyperlink" Target="http://www.linkedin.com/in/mikhael-putra" TargetMode="External"/><Relationship Id="rId10" Type="http://schemas.openxmlformats.org/officeDocument/2006/relationships/hyperlink" Target="http://www.linkedin.com/in/mikhael-putra" TargetMode="External"/><Relationship Id="rId13" Type="http://schemas.openxmlformats.org/officeDocument/2006/relationships/image" Target="../media/image50.png"/><Relationship Id="rId12"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hyperlink" Target="https://drive.google.com/file/d/1iExSXSdm3acv_Icn5i9UIcpGmiXoiCil/view?usp=sharing" TargetMode="External"/><Relationship Id="rId5" Type="http://schemas.openxmlformats.org/officeDocument/2006/relationships/hyperlink" Target="https://drive.google.com/file/d/1iExSXSdm3acv_Icn5i9UIcpGmiXoiCil/view?usp=sharing" TargetMode="External"/><Relationship Id="rId6" Type="http://schemas.openxmlformats.org/officeDocument/2006/relationships/hyperlink" Target="https://drive.google.com/file/d/1iExSXSdm3acv_Icn5i9UIcpGmiXoiCil/view?usp=sharing" TargetMode="External"/><Relationship Id="rId7" Type="http://schemas.openxmlformats.org/officeDocument/2006/relationships/hyperlink" Target="http://drive.google.com/file/d/1iExSXSdm3acv_Icn5i9UIcpGmiXoiCil/view" TargetMode="External"/><Relationship Id="rId8" Type="http://schemas.openxmlformats.org/officeDocument/2006/relationships/image" Target="../media/image2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11.png"/><Relationship Id="rId5"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11.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52.png"/><Relationship Id="rId9" Type="http://schemas.openxmlformats.org/officeDocument/2006/relationships/image" Target="../media/image36.png"/><Relationship Id="rId5" Type="http://schemas.openxmlformats.org/officeDocument/2006/relationships/image" Target="../media/image10.png"/><Relationship Id="rId6" Type="http://schemas.openxmlformats.org/officeDocument/2006/relationships/image" Target="../media/image42.png"/><Relationship Id="rId7" Type="http://schemas.openxmlformats.org/officeDocument/2006/relationships/image" Target="../media/image37.png"/><Relationship Id="rId8"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11.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 Id="rId3" Type="http://schemas.openxmlformats.org/officeDocument/2006/relationships/image" Target="../media/image11.png"/><Relationship Id="rId4" Type="http://schemas.openxmlformats.org/officeDocument/2006/relationships/image" Target="../media/image46.png"/><Relationship Id="rId5" Type="http://schemas.openxmlformats.org/officeDocument/2006/relationships/image" Target="../media/image4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11.png"/><Relationship Id="rId4" Type="http://schemas.openxmlformats.org/officeDocument/2006/relationships/image" Target="../media/image5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0.xml"/><Relationship Id="rId3" Type="http://schemas.openxmlformats.org/officeDocument/2006/relationships/hyperlink" Target="http://bit.ly/2PfT4lq" TargetMode="Externa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type="ctrTitle"/>
          </p:nvPr>
        </p:nvSpPr>
        <p:spPr>
          <a:xfrm>
            <a:off x="713225" y="1452925"/>
            <a:ext cx="6853200" cy="2028000"/>
          </a:xfrm>
          <a:prstGeom prst="rect">
            <a:avLst/>
          </a:prstGeom>
        </p:spPr>
        <p:txBody>
          <a:bodyPr anchorCtr="0" anchor="b" bIns="91425" lIns="91425" spcFirstLastPara="1" rIns="91425" wrap="square" tIns="91425">
            <a:noAutofit/>
          </a:bodyPr>
          <a:lstStyle/>
          <a:p>
            <a:pPr indent="0" lvl="0" marL="0" rtl="0" algn="l">
              <a:lnSpc>
                <a:spcPct val="70000"/>
              </a:lnSpc>
              <a:spcBef>
                <a:spcPts val="0"/>
              </a:spcBef>
              <a:spcAft>
                <a:spcPts val="0"/>
              </a:spcAft>
              <a:buNone/>
            </a:pPr>
            <a:r>
              <a:rPr lang="en" sz="5200"/>
              <a:t>Performance Report Recommendations </a:t>
            </a:r>
            <a:r>
              <a:rPr lang="en" sz="3300"/>
              <a:t>Dashboard Analytical Overview &amp; Strategic Insights for OCA Indonesia</a:t>
            </a:r>
            <a:endParaRPr sz="5000"/>
          </a:p>
        </p:txBody>
      </p:sp>
      <p:sp>
        <p:nvSpPr>
          <p:cNvPr id="239" name="Google Shape;239;p32"/>
          <p:cNvSpPr txBox="1"/>
          <p:nvPr>
            <p:ph idx="1" type="subTitle"/>
          </p:nvPr>
        </p:nvSpPr>
        <p:spPr>
          <a:xfrm>
            <a:off x="713225" y="3576431"/>
            <a:ext cx="51663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By Mikhael Putra Iswanto - Data Analyst Intern</a:t>
            </a:r>
            <a:endParaRPr b="1"/>
          </a:p>
          <a:p>
            <a:pPr indent="0" lvl="0" marL="0" rtl="0" algn="l">
              <a:spcBef>
                <a:spcPts val="0"/>
              </a:spcBef>
              <a:spcAft>
                <a:spcPts val="0"/>
              </a:spcAft>
              <a:buNone/>
            </a:pPr>
            <a:r>
              <a:rPr b="1" lang="en"/>
              <a:t>19 Desember 2025</a:t>
            </a:r>
            <a:endParaRPr b="1"/>
          </a:p>
        </p:txBody>
      </p:sp>
      <p:sp>
        <p:nvSpPr>
          <p:cNvPr id="240" name="Google Shape;240;p32"/>
          <p:cNvSpPr/>
          <p:nvPr/>
        </p:nvSpPr>
        <p:spPr>
          <a:xfrm rot="10800000">
            <a:off x="3856228" y="-30128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2"/>
          <p:cNvSpPr/>
          <p:nvPr/>
        </p:nvSpPr>
        <p:spPr>
          <a:xfrm rot="10800000">
            <a:off x="6963628" y="9510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2"/>
          <p:cNvSpPr/>
          <p:nvPr/>
        </p:nvSpPr>
        <p:spPr>
          <a:xfrm rot="10800000">
            <a:off x="6274349" y="35114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
          <p:cNvSpPr/>
          <p:nvPr/>
        </p:nvSpPr>
        <p:spPr>
          <a:xfrm rot="10800000">
            <a:off x="7566428" y="34701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2"/>
          <p:cNvSpPr/>
          <p:nvPr/>
        </p:nvSpPr>
        <p:spPr>
          <a:xfrm rot="10800000">
            <a:off x="6887586" y="-5714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5" name="Google Shape;245;p32"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p:nvPr/>
        </p:nvSpPr>
        <p:spPr>
          <a:xfrm>
            <a:off x="603975" y="801025"/>
            <a:ext cx="870300" cy="870300"/>
          </a:xfrm>
          <a:prstGeom prst="ellipse">
            <a:avLst/>
          </a:prstGeom>
          <a:solidFill>
            <a:srgbClr val="FFFFFF">
              <a:alpha val="36080"/>
            </a:srgbClr>
          </a:solidFill>
          <a:ln>
            <a:noFill/>
          </a:ln>
        </p:spPr>
        <p:txBody>
          <a:bodyPr anchorCtr="0" anchor="ctr" bIns="60850" lIns="60850" spcFirstLastPara="1" rIns="60850" wrap="square" tIns="60850">
            <a:noAutofit/>
          </a:bodyPr>
          <a:lstStyle/>
          <a:p>
            <a:pPr indent="0" lvl="0" marL="0" rtl="0" algn="l">
              <a:spcBef>
                <a:spcPts val="0"/>
              </a:spcBef>
              <a:spcAft>
                <a:spcPts val="0"/>
              </a:spcAft>
              <a:buNone/>
            </a:pPr>
            <a:r>
              <a:t/>
            </a:r>
            <a:endParaRPr sz="932">
              <a:solidFill>
                <a:schemeClr val="lt1"/>
              </a:solidFill>
            </a:endParaRPr>
          </a:p>
        </p:txBody>
      </p:sp>
      <p:sp>
        <p:nvSpPr>
          <p:cNvPr id="251" name="Google Shape;251;p33"/>
          <p:cNvSpPr txBox="1"/>
          <p:nvPr>
            <p:ph type="title"/>
          </p:nvPr>
        </p:nvSpPr>
        <p:spPr>
          <a:xfrm>
            <a:off x="1853750" y="801035"/>
            <a:ext cx="6778800" cy="8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latin typeface="Roboto Black"/>
                <a:ea typeface="Roboto Black"/>
                <a:cs typeface="Roboto Black"/>
                <a:sym typeface="Roboto Black"/>
              </a:rPr>
              <a:t>OCA Indonesia</a:t>
            </a:r>
            <a:endParaRPr b="0">
              <a:latin typeface="Roboto Black"/>
              <a:ea typeface="Roboto Black"/>
              <a:cs typeface="Roboto Black"/>
              <a:sym typeface="Roboto Black"/>
            </a:endParaRPr>
          </a:p>
        </p:txBody>
      </p:sp>
      <p:sp>
        <p:nvSpPr>
          <p:cNvPr id="252" name="Google Shape;252;p33"/>
          <p:cNvSpPr txBox="1"/>
          <p:nvPr>
            <p:ph idx="2" type="title"/>
          </p:nvPr>
        </p:nvSpPr>
        <p:spPr>
          <a:xfrm>
            <a:off x="626744" y="931748"/>
            <a:ext cx="824700" cy="608700"/>
          </a:xfrm>
          <a:prstGeom prst="rect">
            <a:avLst/>
          </a:prstGeom>
        </p:spPr>
        <p:txBody>
          <a:bodyPr anchorCtr="0" anchor="b" bIns="60850" lIns="60850" spcFirstLastPara="1" rIns="60850" wrap="square" tIns="60850">
            <a:noAutofit/>
          </a:bodyPr>
          <a:lstStyle/>
          <a:p>
            <a:pPr indent="0" lvl="0" marL="0" rtl="0" algn="ctr">
              <a:spcBef>
                <a:spcPts val="0"/>
              </a:spcBef>
              <a:spcAft>
                <a:spcPts val="0"/>
              </a:spcAft>
              <a:buNone/>
            </a:pPr>
            <a:r>
              <a:rPr lang="en" sz="3661"/>
              <a:t>01</a:t>
            </a:r>
            <a:endParaRPr sz="3328"/>
          </a:p>
        </p:txBody>
      </p:sp>
      <p:sp>
        <p:nvSpPr>
          <p:cNvPr id="253" name="Google Shape;253;p33"/>
          <p:cNvSpPr txBox="1"/>
          <p:nvPr>
            <p:ph idx="1" type="subTitle"/>
          </p:nvPr>
        </p:nvSpPr>
        <p:spPr>
          <a:xfrm>
            <a:off x="1856300" y="1448937"/>
            <a:ext cx="6773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Roboto"/>
                <a:ea typeface="Roboto"/>
                <a:cs typeface="Roboto"/>
                <a:sym typeface="Roboto"/>
              </a:rPr>
              <a:t>Communication Platform-as-a-Service (CPaaS)</a:t>
            </a:r>
            <a:endParaRPr b="1">
              <a:latin typeface="Roboto"/>
              <a:ea typeface="Roboto"/>
              <a:cs typeface="Roboto"/>
              <a:sym typeface="Roboto"/>
            </a:endParaRPr>
          </a:p>
        </p:txBody>
      </p:sp>
      <p:sp>
        <p:nvSpPr>
          <p:cNvPr id="254" name="Google Shape;254;p33"/>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2CC"/>
                </a:solidFill>
                <a:latin typeface="Roboto"/>
                <a:ea typeface="Roboto"/>
                <a:cs typeface="Roboto"/>
                <a:sym typeface="Roboto"/>
              </a:rPr>
              <a:t>Disclaimer</a:t>
            </a:r>
            <a:endParaRPr sz="1100">
              <a:solidFill>
                <a:srgbClr val="FFF2CC"/>
              </a:solidFill>
              <a:latin typeface="Roboto"/>
              <a:ea typeface="Roboto"/>
              <a:cs typeface="Roboto"/>
              <a:sym typeface="Roboto"/>
            </a:endParaRPr>
          </a:p>
          <a:p>
            <a:pPr indent="0" lvl="0" marL="0" rtl="0" algn="l">
              <a:spcBef>
                <a:spcPts val="0"/>
              </a:spcBef>
              <a:spcAft>
                <a:spcPts val="0"/>
              </a:spcAft>
              <a:buNone/>
            </a:pPr>
            <a:r>
              <a:rPr lang="en" sz="900">
                <a:solidFill>
                  <a:srgbClr val="FFF2CC"/>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FFF2CC"/>
              </a:solidFill>
              <a:latin typeface="Roboto"/>
              <a:ea typeface="Roboto"/>
              <a:cs typeface="Roboto"/>
              <a:sym typeface="Roboto"/>
            </a:endParaRPr>
          </a:p>
        </p:txBody>
      </p:sp>
      <p:pic>
        <p:nvPicPr>
          <p:cNvPr id="255" name="Google Shape;255;p33"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256" name="Google Shape;256;p33"/>
          <p:cNvSpPr txBox="1"/>
          <p:nvPr>
            <p:ph type="title"/>
          </p:nvPr>
        </p:nvSpPr>
        <p:spPr>
          <a:xfrm>
            <a:off x="438504" y="1905943"/>
            <a:ext cx="4727100" cy="82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500">
                <a:latin typeface="Roboto"/>
                <a:ea typeface="Roboto"/>
                <a:cs typeface="Roboto"/>
                <a:sym typeface="Roboto"/>
              </a:rPr>
              <a:t>Project Background</a:t>
            </a:r>
            <a:endParaRPr sz="2500">
              <a:latin typeface="Roboto"/>
              <a:ea typeface="Roboto"/>
              <a:cs typeface="Roboto"/>
              <a:sym typeface="Roboto"/>
            </a:endParaRPr>
          </a:p>
        </p:txBody>
      </p:sp>
      <p:sp>
        <p:nvSpPr>
          <p:cNvPr id="257" name="Google Shape;257;p33"/>
          <p:cNvSpPr txBox="1"/>
          <p:nvPr>
            <p:ph idx="1" type="subTitle"/>
          </p:nvPr>
        </p:nvSpPr>
        <p:spPr>
          <a:xfrm>
            <a:off x="438500" y="2612600"/>
            <a:ext cx="4727100" cy="1446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100">
                <a:latin typeface="Roboto"/>
                <a:ea typeface="Roboto"/>
                <a:cs typeface="Roboto"/>
                <a:sym typeface="Roboto"/>
              </a:rPr>
              <a:t>This dataset contains transaction data from 20 users, comprising 122,749 transactions across all communication channels (WhatsApp, Email, SMS, and Call). The data covers 91 days the period from January 1, 2025 to April 1, 2025. It includes revenue amounts, channel service quality, user behavior, and key business information. This analysis aims to support OCA Indonesia in making informed and data-driven decisions.</a:t>
            </a:r>
            <a:endParaRPr sz="1100">
              <a:latin typeface="Roboto"/>
              <a:ea typeface="Roboto"/>
              <a:cs typeface="Roboto"/>
              <a:sym typeface="Roboto"/>
            </a:endParaRPr>
          </a:p>
        </p:txBody>
      </p:sp>
      <p:pic>
        <p:nvPicPr>
          <p:cNvPr id="258" name="Google Shape;258;p33"/>
          <p:cNvPicPr preferRelativeResize="0"/>
          <p:nvPr/>
        </p:nvPicPr>
        <p:blipFill>
          <a:blip r:embed="rId4">
            <a:alphaModFix/>
          </a:blip>
          <a:stretch>
            <a:fillRect/>
          </a:stretch>
        </p:blipFill>
        <p:spPr>
          <a:xfrm>
            <a:off x="5597601" y="2149712"/>
            <a:ext cx="3394000" cy="1909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p:nvPr/>
        </p:nvSpPr>
        <p:spPr>
          <a:xfrm rot="311328">
            <a:off x="-974057" y="-466350"/>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34"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265" name="Google Shape;265;p34"/>
          <p:cNvSpPr txBox="1"/>
          <p:nvPr>
            <p:ph type="title"/>
          </p:nvPr>
        </p:nvSpPr>
        <p:spPr>
          <a:xfrm>
            <a:off x="2165750" y="699075"/>
            <a:ext cx="4812600" cy="65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latin typeface="Roboto"/>
                <a:ea typeface="Roboto"/>
                <a:cs typeface="Roboto"/>
                <a:sym typeface="Roboto"/>
              </a:rPr>
              <a:t>Executive Summary</a:t>
            </a:r>
            <a:endParaRPr sz="3600">
              <a:latin typeface="Roboto"/>
              <a:ea typeface="Roboto"/>
              <a:cs typeface="Roboto"/>
              <a:sym typeface="Roboto"/>
            </a:endParaRPr>
          </a:p>
        </p:txBody>
      </p:sp>
      <p:sp>
        <p:nvSpPr>
          <p:cNvPr id="266" name="Google Shape;266;p34"/>
          <p:cNvSpPr/>
          <p:nvPr/>
        </p:nvSpPr>
        <p:spPr>
          <a:xfrm>
            <a:off x="532262" y="1448174"/>
            <a:ext cx="554100" cy="554100"/>
          </a:xfrm>
          <a:prstGeom prst="ellipse">
            <a:avLst/>
          </a:prstGeom>
          <a:solidFill>
            <a:srgbClr val="FFFFFF">
              <a:alpha val="36080"/>
            </a:srgbClr>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sz="1111">
              <a:solidFill>
                <a:schemeClr val="lt1"/>
              </a:solidFill>
              <a:latin typeface="Roboto"/>
              <a:ea typeface="Roboto"/>
              <a:cs typeface="Roboto"/>
              <a:sym typeface="Roboto"/>
            </a:endParaRPr>
          </a:p>
        </p:txBody>
      </p:sp>
      <p:sp>
        <p:nvSpPr>
          <p:cNvPr id="267" name="Google Shape;267;p34"/>
          <p:cNvSpPr txBox="1"/>
          <p:nvPr>
            <p:ph idx="4294967295" type="title"/>
          </p:nvPr>
        </p:nvSpPr>
        <p:spPr>
          <a:xfrm>
            <a:off x="1127376" y="1448175"/>
            <a:ext cx="2603400" cy="316500"/>
          </a:xfrm>
          <a:prstGeom prst="rect">
            <a:avLst/>
          </a:prstGeom>
        </p:spPr>
        <p:txBody>
          <a:bodyPr anchorCtr="0" anchor="t" bIns="79125" lIns="79125" spcFirstLastPara="1" rIns="79125" wrap="square" tIns="79125">
            <a:noAutofit/>
          </a:bodyPr>
          <a:lstStyle/>
          <a:p>
            <a:pPr indent="0" lvl="0" marL="0" rtl="0" algn="l">
              <a:spcBef>
                <a:spcPts val="0"/>
              </a:spcBef>
              <a:spcAft>
                <a:spcPts val="0"/>
              </a:spcAft>
              <a:buNone/>
            </a:pPr>
            <a:r>
              <a:rPr lang="en" sz="1804">
                <a:latin typeface="Roboto"/>
                <a:ea typeface="Roboto"/>
                <a:cs typeface="Roboto"/>
                <a:sym typeface="Roboto"/>
              </a:rPr>
              <a:t>Problem</a:t>
            </a:r>
            <a:endParaRPr sz="1804">
              <a:latin typeface="Roboto"/>
              <a:ea typeface="Roboto"/>
              <a:cs typeface="Roboto"/>
              <a:sym typeface="Roboto"/>
            </a:endParaRPr>
          </a:p>
        </p:txBody>
      </p:sp>
      <p:sp>
        <p:nvSpPr>
          <p:cNvPr id="268" name="Google Shape;268;p34"/>
          <p:cNvSpPr txBox="1"/>
          <p:nvPr>
            <p:ph idx="4294967295" type="subTitle"/>
          </p:nvPr>
        </p:nvSpPr>
        <p:spPr>
          <a:xfrm>
            <a:off x="1143297" y="1792610"/>
            <a:ext cx="3435000" cy="1137000"/>
          </a:xfrm>
          <a:prstGeom prst="rect">
            <a:avLst/>
          </a:prstGeom>
        </p:spPr>
        <p:txBody>
          <a:bodyPr anchorCtr="0" anchor="t" bIns="79125" lIns="79125" spcFirstLastPara="1" rIns="79125" wrap="square" tIns="79125">
            <a:noAutofit/>
          </a:bodyPr>
          <a:lstStyle/>
          <a:p>
            <a:pPr indent="0" lvl="0" marL="0" rtl="0" algn="just">
              <a:spcBef>
                <a:spcPts val="0"/>
              </a:spcBef>
              <a:spcAft>
                <a:spcPts val="0"/>
              </a:spcAft>
              <a:buNone/>
            </a:pPr>
            <a:r>
              <a:rPr lang="en" sz="1000">
                <a:latin typeface="Roboto"/>
                <a:ea typeface="Roboto"/>
                <a:cs typeface="Roboto"/>
                <a:sym typeface="Roboto"/>
              </a:rPr>
              <a:t>How can historical transaction data from January to April 2025 be analyzed to evaluate the performance of each communication channel and understand customer behavior, in order to support OCA Indonesia’s business decisions for the upcoming quarter?</a:t>
            </a:r>
            <a:endParaRPr sz="1111">
              <a:latin typeface="Roboto"/>
              <a:ea typeface="Roboto"/>
              <a:cs typeface="Roboto"/>
              <a:sym typeface="Roboto"/>
            </a:endParaRPr>
          </a:p>
        </p:txBody>
      </p:sp>
      <p:sp>
        <p:nvSpPr>
          <p:cNvPr id="269" name="Google Shape;269;p34"/>
          <p:cNvSpPr txBox="1"/>
          <p:nvPr>
            <p:ph idx="4294967295" type="title"/>
          </p:nvPr>
        </p:nvSpPr>
        <p:spPr>
          <a:xfrm>
            <a:off x="491363" y="1507640"/>
            <a:ext cx="636000" cy="435300"/>
          </a:xfrm>
          <a:prstGeom prst="rect">
            <a:avLst/>
          </a:prstGeom>
        </p:spPr>
        <p:txBody>
          <a:bodyPr anchorCtr="0" anchor="t" bIns="79125" lIns="79125" spcFirstLastPara="1" rIns="79125" wrap="square" tIns="79125">
            <a:noAutofit/>
          </a:bodyPr>
          <a:lstStyle/>
          <a:p>
            <a:pPr indent="0" lvl="0" marL="0" rtl="0" algn="ctr">
              <a:spcBef>
                <a:spcPts val="0"/>
              </a:spcBef>
              <a:spcAft>
                <a:spcPts val="0"/>
              </a:spcAft>
              <a:buNone/>
            </a:pPr>
            <a:r>
              <a:rPr lang="en" sz="2063"/>
              <a:t>01</a:t>
            </a:r>
            <a:endParaRPr sz="2063"/>
          </a:p>
        </p:txBody>
      </p:sp>
      <p:sp>
        <p:nvSpPr>
          <p:cNvPr id="270" name="Google Shape;270;p34"/>
          <p:cNvSpPr/>
          <p:nvPr/>
        </p:nvSpPr>
        <p:spPr>
          <a:xfrm>
            <a:off x="4776387" y="1507662"/>
            <a:ext cx="554100" cy="554100"/>
          </a:xfrm>
          <a:prstGeom prst="ellipse">
            <a:avLst/>
          </a:prstGeom>
          <a:solidFill>
            <a:srgbClr val="FFFFFF">
              <a:alpha val="36080"/>
            </a:srgbClr>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sz="1111">
              <a:solidFill>
                <a:schemeClr val="lt1"/>
              </a:solidFill>
              <a:latin typeface="Roboto"/>
              <a:ea typeface="Roboto"/>
              <a:cs typeface="Roboto"/>
              <a:sym typeface="Roboto"/>
            </a:endParaRPr>
          </a:p>
        </p:txBody>
      </p:sp>
      <p:sp>
        <p:nvSpPr>
          <p:cNvPr id="271" name="Google Shape;271;p34"/>
          <p:cNvSpPr txBox="1"/>
          <p:nvPr>
            <p:ph idx="4294967295" type="title"/>
          </p:nvPr>
        </p:nvSpPr>
        <p:spPr>
          <a:xfrm>
            <a:off x="5371498" y="1507664"/>
            <a:ext cx="2475300" cy="316500"/>
          </a:xfrm>
          <a:prstGeom prst="rect">
            <a:avLst/>
          </a:prstGeom>
        </p:spPr>
        <p:txBody>
          <a:bodyPr anchorCtr="0" anchor="t" bIns="79125" lIns="79125" spcFirstLastPara="1" rIns="79125" wrap="square" tIns="79125">
            <a:noAutofit/>
          </a:bodyPr>
          <a:lstStyle/>
          <a:p>
            <a:pPr indent="0" lvl="0" marL="0" rtl="0" algn="l">
              <a:spcBef>
                <a:spcPts val="0"/>
              </a:spcBef>
              <a:spcAft>
                <a:spcPts val="0"/>
              </a:spcAft>
              <a:buNone/>
            </a:pPr>
            <a:r>
              <a:rPr lang="en" sz="1804">
                <a:latin typeface="Roboto"/>
                <a:ea typeface="Roboto"/>
                <a:cs typeface="Roboto"/>
                <a:sym typeface="Roboto"/>
              </a:rPr>
              <a:t>Objective</a:t>
            </a:r>
            <a:endParaRPr sz="1804">
              <a:latin typeface="Roboto"/>
              <a:ea typeface="Roboto"/>
              <a:cs typeface="Roboto"/>
              <a:sym typeface="Roboto"/>
            </a:endParaRPr>
          </a:p>
        </p:txBody>
      </p:sp>
      <p:sp>
        <p:nvSpPr>
          <p:cNvPr id="272" name="Google Shape;272;p34"/>
          <p:cNvSpPr txBox="1"/>
          <p:nvPr>
            <p:ph idx="4294967295" type="subTitle"/>
          </p:nvPr>
        </p:nvSpPr>
        <p:spPr>
          <a:xfrm>
            <a:off x="5386637" y="1852113"/>
            <a:ext cx="3266100" cy="1137000"/>
          </a:xfrm>
          <a:prstGeom prst="rect">
            <a:avLst/>
          </a:prstGeom>
        </p:spPr>
        <p:txBody>
          <a:bodyPr anchorCtr="0" anchor="t" bIns="79125" lIns="79125" spcFirstLastPara="1" rIns="79125" wrap="square" tIns="79125">
            <a:noAutofit/>
          </a:bodyPr>
          <a:lstStyle/>
          <a:p>
            <a:pPr indent="0" lvl="0" marL="0" rtl="0" algn="just">
              <a:spcBef>
                <a:spcPts val="0"/>
              </a:spcBef>
              <a:spcAft>
                <a:spcPts val="0"/>
              </a:spcAft>
              <a:buNone/>
            </a:pPr>
            <a:r>
              <a:rPr lang="en" sz="1000">
                <a:latin typeface="Roboto"/>
                <a:ea typeface="Roboto"/>
                <a:cs typeface="Roboto"/>
                <a:sym typeface="Roboto"/>
              </a:rPr>
              <a:t>Develop a unified analytical report that provides OCA Indonesia with clear visibility into multichannel performance, user behavior patterns, and operational efficiency, supporting informed business decisions.</a:t>
            </a:r>
            <a:endParaRPr sz="1111">
              <a:latin typeface="Roboto"/>
              <a:ea typeface="Roboto"/>
              <a:cs typeface="Roboto"/>
              <a:sym typeface="Roboto"/>
            </a:endParaRPr>
          </a:p>
        </p:txBody>
      </p:sp>
      <p:sp>
        <p:nvSpPr>
          <p:cNvPr id="273" name="Google Shape;273;p34"/>
          <p:cNvSpPr txBox="1"/>
          <p:nvPr>
            <p:ph idx="4294967295" type="title"/>
          </p:nvPr>
        </p:nvSpPr>
        <p:spPr>
          <a:xfrm>
            <a:off x="4735488" y="1567128"/>
            <a:ext cx="636000" cy="435300"/>
          </a:xfrm>
          <a:prstGeom prst="rect">
            <a:avLst/>
          </a:prstGeom>
        </p:spPr>
        <p:txBody>
          <a:bodyPr anchorCtr="0" anchor="t" bIns="79125" lIns="79125" spcFirstLastPara="1" rIns="79125" wrap="square" tIns="79125">
            <a:noAutofit/>
          </a:bodyPr>
          <a:lstStyle/>
          <a:p>
            <a:pPr indent="0" lvl="0" marL="0" rtl="0" algn="ctr">
              <a:spcBef>
                <a:spcPts val="0"/>
              </a:spcBef>
              <a:spcAft>
                <a:spcPts val="0"/>
              </a:spcAft>
              <a:buNone/>
            </a:pPr>
            <a:r>
              <a:rPr lang="en" sz="2063"/>
              <a:t>02</a:t>
            </a:r>
            <a:endParaRPr sz="2063"/>
          </a:p>
        </p:txBody>
      </p:sp>
      <p:sp>
        <p:nvSpPr>
          <p:cNvPr id="274" name="Google Shape;274;p34"/>
          <p:cNvSpPr/>
          <p:nvPr/>
        </p:nvSpPr>
        <p:spPr>
          <a:xfrm>
            <a:off x="532250" y="2957549"/>
            <a:ext cx="554100" cy="554100"/>
          </a:xfrm>
          <a:prstGeom prst="ellipse">
            <a:avLst/>
          </a:prstGeom>
          <a:solidFill>
            <a:srgbClr val="FFFFFF">
              <a:alpha val="36080"/>
            </a:srgbClr>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sz="1111">
              <a:solidFill>
                <a:schemeClr val="lt1"/>
              </a:solidFill>
              <a:latin typeface="Roboto"/>
              <a:ea typeface="Roboto"/>
              <a:cs typeface="Roboto"/>
              <a:sym typeface="Roboto"/>
            </a:endParaRPr>
          </a:p>
        </p:txBody>
      </p:sp>
      <p:sp>
        <p:nvSpPr>
          <p:cNvPr id="275" name="Google Shape;275;p34"/>
          <p:cNvSpPr txBox="1"/>
          <p:nvPr>
            <p:ph idx="4294967295" type="title"/>
          </p:nvPr>
        </p:nvSpPr>
        <p:spPr>
          <a:xfrm>
            <a:off x="1127363" y="2957545"/>
            <a:ext cx="2603400" cy="316500"/>
          </a:xfrm>
          <a:prstGeom prst="rect">
            <a:avLst/>
          </a:prstGeom>
        </p:spPr>
        <p:txBody>
          <a:bodyPr anchorCtr="0" anchor="t" bIns="79125" lIns="79125" spcFirstLastPara="1" rIns="79125" wrap="square" tIns="79125">
            <a:noAutofit/>
          </a:bodyPr>
          <a:lstStyle/>
          <a:p>
            <a:pPr indent="0" lvl="0" marL="0" rtl="0" algn="l">
              <a:spcBef>
                <a:spcPts val="0"/>
              </a:spcBef>
              <a:spcAft>
                <a:spcPts val="0"/>
              </a:spcAft>
              <a:buNone/>
            </a:pPr>
            <a:r>
              <a:rPr lang="en" sz="1804">
                <a:latin typeface="Roboto"/>
                <a:ea typeface="Roboto"/>
                <a:cs typeface="Roboto"/>
                <a:sym typeface="Roboto"/>
              </a:rPr>
              <a:t>Findings</a:t>
            </a:r>
            <a:endParaRPr sz="1804">
              <a:latin typeface="Roboto"/>
              <a:ea typeface="Roboto"/>
              <a:cs typeface="Roboto"/>
              <a:sym typeface="Roboto"/>
            </a:endParaRPr>
          </a:p>
        </p:txBody>
      </p:sp>
      <p:sp>
        <p:nvSpPr>
          <p:cNvPr id="276" name="Google Shape;276;p34"/>
          <p:cNvSpPr txBox="1"/>
          <p:nvPr>
            <p:ph idx="4294967295" type="subTitle"/>
          </p:nvPr>
        </p:nvSpPr>
        <p:spPr>
          <a:xfrm>
            <a:off x="1143284" y="3296228"/>
            <a:ext cx="3435000" cy="1137000"/>
          </a:xfrm>
          <a:prstGeom prst="rect">
            <a:avLst/>
          </a:prstGeom>
        </p:spPr>
        <p:txBody>
          <a:bodyPr anchorCtr="0" anchor="t" bIns="79125" lIns="79125" spcFirstLastPara="1" rIns="79125" wrap="square" tIns="79125">
            <a:noAutofit/>
          </a:bodyPr>
          <a:lstStyle/>
          <a:p>
            <a:pPr indent="0" lvl="0" marL="0" rtl="0" algn="just">
              <a:spcBef>
                <a:spcPts val="0"/>
              </a:spcBef>
              <a:spcAft>
                <a:spcPts val="0"/>
              </a:spcAft>
              <a:buNone/>
            </a:pPr>
            <a:r>
              <a:rPr lang="en" sz="1000">
                <a:latin typeface="Roboto"/>
                <a:ea typeface="Roboto"/>
                <a:cs typeface="Roboto"/>
                <a:sym typeface="Roboto"/>
              </a:rPr>
              <a:t>User engagement is stable and omnichannel is strong, but volume and revenue are highly concentrated on SMS and WhatsApp, creating dependency risk as well as upsell opportunities.</a:t>
            </a:r>
            <a:endParaRPr sz="1111">
              <a:latin typeface="Roboto"/>
              <a:ea typeface="Roboto"/>
              <a:cs typeface="Roboto"/>
              <a:sym typeface="Roboto"/>
            </a:endParaRPr>
          </a:p>
        </p:txBody>
      </p:sp>
      <p:sp>
        <p:nvSpPr>
          <p:cNvPr id="277" name="Google Shape;277;p34"/>
          <p:cNvSpPr txBox="1"/>
          <p:nvPr>
            <p:ph idx="4294967295" type="title"/>
          </p:nvPr>
        </p:nvSpPr>
        <p:spPr>
          <a:xfrm>
            <a:off x="491350" y="3017015"/>
            <a:ext cx="636000" cy="435300"/>
          </a:xfrm>
          <a:prstGeom prst="rect">
            <a:avLst/>
          </a:prstGeom>
        </p:spPr>
        <p:txBody>
          <a:bodyPr anchorCtr="0" anchor="t" bIns="79125" lIns="79125" spcFirstLastPara="1" rIns="79125" wrap="square" tIns="79125">
            <a:noAutofit/>
          </a:bodyPr>
          <a:lstStyle/>
          <a:p>
            <a:pPr indent="0" lvl="0" marL="0" rtl="0" algn="ctr">
              <a:spcBef>
                <a:spcPts val="0"/>
              </a:spcBef>
              <a:spcAft>
                <a:spcPts val="0"/>
              </a:spcAft>
              <a:buNone/>
            </a:pPr>
            <a:r>
              <a:rPr lang="en" sz="2063"/>
              <a:t>03</a:t>
            </a:r>
            <a:endParaRPr sz="2063"/>
          </a:p>
        </p:txBody>
      </p:sp>
      <p:sp>
        <p:nvSpPr>
          <p:cNvPr id="278" name="Google Shape;278;p34"/>
          <p:cNvSpPr/>
          <p:nvPr/>
        </p:nvSpPr>
        <p:spPr>
          <a:xfrm>
            <a:off x="4776375" y="3017037"/>
            <a:ext cx="554100" cy="554100"/>
          </a:xfrm>
          <a:prstGeom prst="ellipse">
            <a:avLst/>
          </a:prstGeom>
          <a:solidFill>
            <a:srgbClr val="FFFFFF">
              <a:alpha val="36080"/>
            </a:srgbClr>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sz="1111">
              <a:solidFill>
                <a:schemeClr val="lt1"/>
              </a:solidFill>
              <a:latin typeface="Roboto"/>
              <a:ea typeface="Roboto"/>
              <a:cs typeface="Roboto"/>
              <a:sym typeface="Roboto"/>
            </a:endParaRPr>
          </a:p>
        </p:txBody>
      </p:sp>
      <p:sp>
        <p:nvSpPr>
          <p:cNvPr id="279" name="Google Shape;279;p34"/>
          <p:cNvSpPr txBox="1"/>
          <p:nvPr>
            <p:ph idx="4294967295" type="title"/>
          </p:nvPr>
        </p:nvSpPr>
        <p:spPr>
          <a:xfrm>
            <a:off x="5371486" y="3017039"/>
            <a:ext cx="2475300" cy="316500"/>
          </a:xfrm>
          <a:prstGeom prst="rect">
            <a:avLst/>
          </a:prstGeom>
        </p:spPr>
        <p:txBody>
          <a:bodyPr anchorCtr="0" anchor="t" bIns="79125" lIns="79125" spcFirstLastPara="1" rIns="79125" wrap="square" tIns="79125">
            <a:noAutofit/>
          </a:bodyPr>
          <a:lstStyle/>
          <a:p>
            <a:pPr indent="0" lvl="0" marL="0" rtl="0" algn="l">
              <a:spcBef>
                <a:spcPts val="0"/>
              </a:spcBef>
              <a:spcAft>
                <a:spcPts val="0"/>
              </a:spcAft>
              <a:buNone/>
            </a:pPr>
            <a:r>
              <a:rPr lang="en" sz="1804">
                <a:latin typeface="Roboto"/>
                <a:ea typeface="Roboto"/>
                <a:cs typeface="Roboto"/>
                <a:sym typeface="Roboto"/>
              </a:rPr>
              <a:t>Recommendations</a:t>
            </a:r>
            <a:endParaRPr sz="1804">
              <a:latin typeface="Roboto"/>
              <a:ea typeface="Roboto"/>
              <a:cs typeface="Roboto"/>
              <a:sym typeface="Roboto"/>
            </a:endParaRPr>
          </a:p>
        </p:txBody>
      </p:sp>
      <p:sp>
        <p:nvSpPr>
          <p:cNvPr id="280" name="Google Shape;280;p34"/>
          <p:cNvSpPr txBox="1"/>
          <p:nvPr>
            <p:ph idx="4294967295" type="subTitle"/>
          </p:nvPr>
        </p:nvSpPr>
        <p:spPr>
          <a:xfrm>
            <a:off x="5386624" y="3355735"/>
            <a:ext cx="3266100" cy="1137000"/>
          </a:xfrm>
          <a:prstGeom prst="rect">
            <a:avLst/>
          </a:prstGeom>
        </p:spPr>
        <p:txBody>
          <a:bodyPr anchorCtr="0" anchor="t" bIns="79125" lIns="79125" spcFirstLastPara="1" rIns="79125" wrap="square" tIns="79125">
            <a:noAutofit/>
          </a:bodyPr>
          <a:lstStyle/>
          <a:p>
            <a:pPr indent="0" lvl="0" marL="0" rtl="0" algn="just">
              <a:spcBef>
                <a:spcPts val="0"/>
              </a:spcBef>
              <a:spcAft>
                <a:spcPts val="0"/>
              </a:spcAft>
              <a:buNone/>
            </a:pPr>
            <a:r>
              <a:rPr lang="en" sz="1000">
                <a:latin typeface="Roboto"/>
                <a:ea typeface="Roboto"/>
                <a:cs typeface="Roboto"/>
                <a:sym typeface="Roboto"/>
              </a:rPr>
              <a:t>Prioritize WhatsApp growth, secure SMS reliability, optimize Email, limit Calls, and reduce client dependency</a:t>
            </a:r>
            <a:endParaRPr sz="1111">
              <a:latin typeface="Roboto"/>
              <a:ea typeface="Roboto"/>
              <a:cs typeface="Roboto"/>
              <a:sym typeface="Roboto"/>
            </a:endParaRPr>
          </a:p>
        </p:txBody>
      </p:sp>
      <p:sp>
        <p:nvSpPr>
          <p:cNvPr id="281" name="Google Shape;281;p34"/>
          <p:cNvSpPr txBox="1"/>
          <p:nvPr>
            <p:ph idx="4294967295" type="title"/>
          </p:nvPr>
        </p:nvSpPr>
        <p:spPr>
          <a:xfrm>
            <a:off x="4735475" y="3076503"/>
            <a:ext cx="636000" cy="435300"/>
          </a:xfrm>
          <a:prstGeom prst="rect">
            <a:avLst/>
          </a:prstGeom>
        </p:spPr>
        <p:txBody>
          <a:bodyPr anchorCtr="0" anchor="t" bIns="79125" lIns="79125" spcFirstLastPara="1" rIns="79125" wrap="square" tIns="79125">
            <a:noAutofit/>
          </a:bodyPr>
          <a:lstStyle/>
          <a:p>
            <a:pPr indent="0" lvl="0" marL="0" rtl="0" algn="ctr">
              <a:spcBef>
                <a:spcPts val="0"/>
              </a:spcBef>
              <a:spcAft>
                <a:spcPts val="0"/>
              </a:spcAft>
              <a:buNone/>
            </a:pPr>
            <a:r>
              <a:rPr lang="en" sz="2063"/>
              <a:t>04</a:t>
            </a:r>
            <a:endParaRPr sz="2063"/>
          </a:p>
        </p:txBody>
      </p:sp>
      <p:sp>
        <p:nvSpPr>
          <p:cNvPr id="282" name="Google Shape;282;p34"/>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2CC"/>
                </a:solidFill>
                <a:latin typeface="Roboto"/>
                <a:ea typeface="Roboto"/>
                <a:cs typeface="Roboto"/>
                <a:sym typeface="Roboto"/>
              </a:rPr>
              <a:t>Disclaimer</a:t>
            </a:r>
            <a:endParaRPr sz="1100">
              <a:solidFill>
                <a:srgbClr val="FFF2CC"/>
              </a:solidFill>
              <a:latin typeface="Roboto"/>
              <a:ea typeface="Roboto"/>
              <a:cs typeface="Roboto"/>
              <a:sym typeface="Roboto"/>
            </a:endParaRPr>
          </a:p>
          <a:p>
            <a:pPr indent="0" lvl="0" marL="0" rtl="0" algn="l">
              <a:spcBef>
                <a:spcPts val="0"/>
              </a:spcBef>
              <a:spcAft>
                <a:spcPts val="0"/>
              </a:spcAft>
              <a:buNone/>
            </a:pPr>
            <a:r>
              <a:rPr lang="en" sz="900">
                <a:solidFill>
                  <a:srgbClr val="FFF2CC"/>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FFF2CC"/>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35"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288" name="Google Shape;288;p35"/>
          <p:cNvSpPr txBox="1"/>
          <p:nvPr>
            <p:ph type="title"/>
          </p:nvPr>
        </p:nvSpPr>
        <p:spPr>
          <a:xfrm>
            <a:off x="2069954" y="609356"/>
            <a:ext cx="4727100" cy="82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700">
                <a:latin typeface="Roboto"/>
                <a:ea typeface="Roboto"/>
                <a:cs typeface="Roboto"/>
                <a:sym typeface="Roboto"/>
              </a:rPr>
              <a:t>Business Problem</a:t>
            </a:r>
            <a:endParaRPr sz="2700">
              <a:latin typeface="Roboto"/>
              <a:ea typeface="Roboto"/>
              <a:cs typeface="Roboto"/>
              <a:sym typeface="Roboto"/>
            </a:endParaRPr>
          </a:p>
        </p:txBody>
      </p:sp>
      <p:sp>
        <p:nvSpPr>
          <p:cNvPr id="289" name="Google Shape;289;p35"/>
          <p:cNvSpPr txBox="1"/>
          <p:nvPr>
            <p:ph idx="1" type="subTitle"/>
          </p:nvPr>
        </p:nvSpPr>
        <p:spPr>
          <a:xfrm>
            <a:off x="2069952" y="1296171"/>
            <a:ext cx="6726900" cy="5505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300">
                <a:latin typeface="Roboto"/>
                <a:ea typeface="Roboto"/>
                <a:cs typeface="Roboto"/>
                <a:sym typeface="Roboto"/>
              </a:rPr>
              <a:t>How can historical transaction data from January to March 2025 be analyzed to evaluate the performance of each communication channel and understand customer behavior, in order to support OCA Indonesia’s business decisions for the upcoming quarter?</a:t>
            </a:r>
            <a:endParaRPr sz="1300">
              <a:latin typeface="Roboto"/>
              <a:ea typeface="Roboto"/>
              <a:cs typeface="Roboto"/>
              <a:sym typeface="Roboto"/>
            </a:endParaRPr>
          </a:p>
        </p:txBody>
      </p:sp>
      <p:sp>
        <p:nvSpPr>
          <p:cNvPr id="290" name="Google Shape;290;p35"/>
          <p:cNvSpPr txBox="1"/>
          <p:nvPr>
            <p:ph type="title"/>
          </p:nvPr>
        </p:nvSpPr>
        <p:spPr>
          <a:xfrm>
            <a:off x="571600" y="2161725"/>
            <a:ext cx="6726900" cy="82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700">
                <a:latin typeface="Roboto"/>
                <a:ea typeface="Roboto"/>
                <a:cs typeface="Roboto"/>
                <a:sym typeface="Roboto"/>
              </a:rPr>
              <a:t>Objective</a:t>
            </a:r>
            <a:endParaRPr sz="2700">
              <a:latin typeface="Roboto"/>
              <a:ea typeface="Roboto"/>
              <a:cs typeface="Roboto"/>
              <a:sym typeface="Roboto"/>
            </a:endParaRPr>
          </a:p>
        </p:txBody>
      </p:sp>
      <p:sp>
        <p:nvSpPr>
          <p:cNvPr id="291" name="Google Shape;291;p35"/>
          <p:cNvSpPr txBox="1"/>
          <p:nvPr>
            <p:ph idx="1" type="subTitle"/>
          </p:nvPr>
        </p:nvSpPr>
        <p:spPr>
          <a:xfrm>
            <a:off x="571700" y="2848575"/>
            <a:ext cx="7157100" cy="7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Roboto"/>
                <a:ea typeface="Roboto"/>
                <a:cs typeface="Roboto"/>
                <a:sym typeface="Roboto"/>
              </a:rPr>
              <a:t>To develop a unified analytical report that provides OCA Indonesia with clear visibility into multichannel performance, user behavior patterns, and operational efficiency, supporting informed business decisions.</a:t>
            </a:r>
            <a:endParaRPr sz="1300">
              <a:latin typeface="Roboto"/>
              <a:ea typeface="Roboto"/>
              <a:cs typeface="Roboto"/>
              <a:sym typeface="Roboto"/>
            </a:endParaRPr>
          </a:p>
        </p:txBody>
      </p:sp>
      <p:sp>
        <p:nvSpPr>
          <p:cNvPr id="292" name="Google Shape;292;p35"/>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2CC"/>
                </a:solidFill>
                <a:latin typeface="Roboto"/>
                <a:ea typeface="Roboto"/>
                <a:cs typeface="Roboto"/>
                <a:sym typeface="Roboto"/>
              </a:rPr>
              <a:t>Disclaimer</a:t>
            </a:r>
            <a:endParaRPr sz="1100">
              <a:solidFill>
                <a:srgbClr val="FFF2CC"/>
              </a:solidFill>
              <a:latin typeface="Roboto"/>
              <a:ea typeface="Roboto"/>
              <a:cs typeface="Roboto"/>
              <a:sym typeface="Roboto"/>
            </a:endParaRPr>
          </a:p>
          <a:p>
            <a:pPr indent="0" lvl="0" marL="0" rtl="0" algn="l">
              <a:spcBef>
                <a:spcPts val="0"/>
              </a:spcBef>
              <a:spcAft>
                <a:spcPts val="0"/>
              </a:spcAft>
              <a:buNone/>
            </a:pPr>
            <a:r>
              <a:rPr lang="en" sz="900">
                <a:solidFill>
                  <a:srgbClr val="FFF2CC"/>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FFF2CC"/>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6"/>
          <p:cNvSpPr/>
          <p:nvPr/>
        </p:nvSpPr>
        <p:spPr>
          <a:xfrm>
            <a:off x="3159396" y="1923151"/>
            <a:ext cx="475800" cy="475800"/>
          </a:xfrm>
          <a:prstGeom prst="ellipse">
            <a:avLst/>
          </a:prstGeom>
          <a:solidFill>
            <a:srgbClr val="FFFFFF">
              <a:alpha val="36080"/>
            </a:srgbClr>
          </a:solidFill>
          <a:ln>
            <a:noFill/>
          </a:ln>
        </p:spPr>
        <p:txBody>
          <a:bodyPr anchorCtr="0" anchor="ctr" bIns="67950" lIns="67950" spcFirstLastPara="1" rIns="67950" wrap="square" tIns="67950">
            <a:noAutofit/>
          </a:bodyPr>
          <a:lstStyle/>
          <a:p>
            <a:pPr indent="0" lvl="0" marL="0" rtl="0" algn="l">
              <a:spcBef>
                <a:spcPts val="0"/>
              </a:spcBef>
              <a:spcAft>
                <a:spcPts val="0"/>
              </a:spcAft>
              <a:buNone/>
            </a:pPr>
            <a:r>
              <a:t/>
            </a:r>
            <a:endParaRPr sz="1040">
              <a:solidFill>
                <a:schemeClr val="lt1"/>
              </a:solidFill>
            </a:endParaRPr>
          </a:p>
        </p:txBody>
      </p:sp>
      <p:sp>
        <p:nvSpPr>
          <p:cNvPr id="298" name="Google Shape;298;p36"/>
          <p:cNvSpPr/>
          <p:nvPr/>
        </p:nvSpPr>
        <p:spPr>
          <a:xfrm>
            <a:off x="7126901" y="1919884"/>
            <a:ext cx="475800" cy="475800"/>
          </a:xfrm>
          <a:prstGeom prst="ellipse">
            <a:avLst/>
          </a:prstGeom>
          <a:solidFill>
            <a:srgbClr val="FFFFFF">
              <a:alpha val="36080"/>
            </a:srgbClr>
          </a:solidFill>
          <a:ln>
            <a:noFill/>
          </a:ln>
        </p:spPr>
        <p:txBody>
          <a:bodyPr anchorCtr="0" anchor="ctr" bIns="67950" lIns="67950" spcFirstLastPara="1" rIns="67950" wrap="square" tIns="67950">
            <a:noAutofit/>
          </a:bodyPr>
          <a:lstStyle/>
          <a:p>
            <a:pPr indent="0" lvl="0" marL="0" rtl="0" algn="l">
              <a:spcBef>
                <a:spcPts val="0"/>
              </a:spcBef>
              <a:spcAft>
                <a:spcPts val="0"/>
              </a:spcAft>
              <a:buNone/>
            </a:pPr>
            <a:r>
              <a:t/>
            </a:r>
            <a:endParaRPr sz="1040">
              <a:solidFill>
                <a:schemeClr val="lt1"/>
              </a:solidFill>
            </a:endParaRPr>
          </a:p>
        </p:txBody>
      </p:sp>
      <p:sp>
        <p:nvSpPr>
          <p:cNvPr id="299" name="Google Shape;299;p36"/>
          <p:cNvSpPr/>
          <p:nvPr/>
        </p:nvSpPr>
        <p:spPr>
          <a:xfrm>
            <a:off x="5061245" y="1926286"/>
            <a:ext cx="475800" cy="475800"/>
          </a:xfrm>
          <a:prstGeom prst="ellipse">
            <a:avLst/>
          </a:prstGeom>
          <a:solidFill>
            <a:srgbClr val="FFFFFF">
              <a:alpha val="36080"/>
            </a:srgbClr>
          </a:solidFill>
          <a:ln>
            <a:noFill/>
          </a:ln>
        </p:spPr>
        <p:txBody>
          <a:bodyPr anchorCtr="0" anchor="ctr" bIns="67950" lIns="67950" spcFirstLastPara="1" rIns="67950" wrap="square" tIns="67950">
            <a:noAutofit/>
          </a:bodyPr>
          <a:lstStyle/>
          <a:p>
            <a:pPr indent="0" lvl="0" marL="0" rtl="0" algn="l">
              <a:spcBef>
                <a:spcPts val="0"/>
              </a:spcBef>
              <a:spcAft>
                <a:spcPts val="0"/>
              </a:spcAft>
              <a:buNone/>
            </a:pPr>
            <a:r>
              <a:t/>
            </a:r>
            <a:endParaRPr sz="1040">
              <a:solidFill>
                <a:schemeClr val="lt1"/>
              </a:solidFill>
            </a:endParaRPr>
          </a:p>
        </p:txBody>
      </p:sp>
      <p:sp>
        <p:nvSpPr>
          <p:cNvPr id="300" name="Google Shape;300;p36"/>
          <p:cNvSpPr/>
          <p:nvPr/>
        </p:nvSpPr>
        <p:spPr>
          <a:xfrm>
            <a:off x="1275076" y="1923167"/>
            <a:ext cx="475800" cy="475800"/>
          </a:xfrm>
          <a:prstGeom prst="ellipse">
            <a:avLst/>
          </a:prstGeom>
          <a:solidFill>
            <a:srgbClr val="FFFFFF">
              <a:alpha val="36080"/>
            </a:srgbClr>
          </a:solidFill>
          <a:ln>
            <a:noFill/>
          </a:ln>
        </p:spPr>
        <p:txBody>
          <a:bodyPr anchorCtr="0" anchor="ctr" bIns="67950" lIns="67950" spcFirstLastPara="1" rIns="67950" wrap="square" tIns="67950">
            <a:noAutofit/>
          </a:bodyPr>
          <a:lstStyle/>
          <a:p>
            <a:pPr indent="0" lvl="0" marL="0" rtl="0" algn="l">
              <a:spcBef>
                <a:spcPts val="0"/>
              </a:spcBef>
              <a:spcAft>
                <a:spcPts val="0"/>
              </a:spcAft>
              <a:buNone/>
            </a:pPr>
            <a:r>
              <a:t/>
            </a:r>
            <a:endParaRPr sz="1040">
              <a:solidFill>
                <a:schemeClr val="lt1"/>
              </a:solidFill>
            </a:endParaRPr>
          </a:p>
        </p:txBody>
      </p:sp>
      <p:sp>
        <p:nvSpPr>
          <p:cNvPr id="301" name="Google Shape;301;p36"/>
          <p:cNvSpPr txBox="1"/>
          <p:nvPr>
            <p:ph idx="6" type="title"/>
          </p:nvPr>
        </p:nvSpPr>
        <p:spPr>
          <a:xfrm>
            <a:off x="716100" y="812175"/>
            <a:ext cx="7711800" cy="685800"/>
          </a:xfrm>
          <a:prstGeom prst="rect">
            <a:avLst/>
          </a:prstGeom>
        </p:spPr>
        <p:txBody>
          <a:bodyPr anchorCtr="0" anchor="t" bIns="91425" lIns="731500" spcFirstLastPara="1" rIns="731500" wrap="square" tIns="91425">
            <a:noAutofit/>
          </a:bodyPr>
          <a:lstStyle/>
          <a:p>
            <a:pPr indent="0" lvl="0" marL="0" rtl="0" algn="ctr">
              <a:spcBef>
                <a:spcPts val="0"/>
              </a:spcBef>
              <a:spcAft>
                <a:spcPts val="0"/>
              </a:spcAft>
              <a:buNone/>
            </a:pPr>
            <a:r>
              <a:rPr lang="en">
                <a:latin typeface="Roboto"/>
                <a:ea typeface="Roboto"/>
                <a:cs typeface="Roboto"/>
                <a:sym typeface="Roboto"/>
              </a:rPr>
              <a:t>Methodology</a:t>
            </a:r>
            <a:endParaRPr>
              <a:latin typeface="Roboto"/>
              <a:ea typeface="Roboto"/>
              <a:cs typeface="Roboto"/>
              <a:sym typeface="Roboto"/>
            </a:endParaRPr>
          </a:p>
        </p:txBody>
      </p:sp>
      <p:sp>
        <p:nvSpPr>
          <p:cNvPr id="302" name="Google Shape;302;p36"/>
          <p:cNvSpPr txBox="1"/>
          <p:nvPr>
            <p:ph idx="3" type="subTitle"/>
          </p:nvPr>
        </p:nvSpPr>
        <p:spPr>
          <a:xfrm flipH="1">
            <a:off x="2628096" y="2911891"/>
            <a:ext cx="1538400" cy="407700"/>
          </a:xfrm>
          <a:prstGeom prst="rect">
            <a:avLst/>
          </a:prstGeom>
        </p:spPr>
        <p:txBody>
          <a:bodyPr anchorCtr="0" anchor="t" bIns="67950" lIns="67950" spcFirstLastPara="1" rIns="67950" wrap="square" tIns="67950">
            <a:noAutofit/>
          </a:bodyPr>
          <a:lstStyle/>
          <a:p>
            <a:pPr indent="0" lvl="0" marL="0" rtl="0" algn="ctr">
              <a:spcBef>
                <a:spcPts val="0"/>
              </a:spcBef>
              <a:spcAft>
                <a:spcPts val="0"/>
              </a:spcAft>
              <a:buNone/>
            </a:pPr>
            <a:r>
              <a:rPr lang="en" sz="944">
                <a:latin typeface="Roboto"/>
                <a:ea typeface="Roboto"/>
                <a:cs typeface="Roboto"/>
                <a:sym typeface="Roboto"/>
              </a:rPr>
              <a:t>Collecting data and ensuring data quality with SQL</a:t>
            </a:r>
            <a:endParaRPr sz="944">
              <a:latin typeface="Roboto"/>
              <a:ea typeface="Roboto"/>
              <a:cs typeface="Roboto"/>
              <a:sym typeface="Roboto"/>
            </a:endParaRPr>
          </a:p>
          <a:p>
            <a:pPr indent="0" lvl="0" marL="0" rtl="0" algn="ctr">
              <a:spcBef>
                <a:spcPts val="1374"/>
              </a:spcBef>
              <a:spcAft>
                <a:spcPts val="0"/>
              </a:spcAft>
              <a:buNone/>
            </a:pPr>
            <a:r>
              <a:t/>
            </a:r>
            <a:endParaRPr sz="1040">
              <a:latin typeface="Roboto"/>
              <a:ea typeface="Roboto"/>
              <a:cs typeface="Roboto"/>
              <a:sym typeface="Roboto"/>
            </a:endParaRPr>
          </a:p>
        </p:txBody>
      </p:sp>
      <p:sp>
        <p:nvSpPr>
          <p:cNvPr id="303" name="Google Shape;303;p36"/>
          <p:cNvSpPr txBox="1"/>
          <p:nvPr>
            <p:ph type="title"/>
          </p:nvPr>
        </p:nvSpPr>
        <p:spPr>
          <a:xfrm>
            <a:off x="710525" y="2706513"/>
            <a:ext cx="1578900" cy="271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635">
                <a:latin typeface="Roboto"/>
                <a:ea typeface="Roboto"/>
                <a:cs typeface="Roboto"/>
                <a:sym typeface="Roboto"/>
              </a:rPr>
              <a:t>Business Understanding</a:t>
            </a:r>
            <a:endParaRPr sz="1635">
              <a:latin typeface="Roboto"/>
              <a:ea typeface="Roboto"/>
              <a:cs typeface="Roboto"/>
              <a:sym typeface="Roboto"/>
            </a:endParaRPr>
          </a:p>
        </p:txBody>
      </p:sp>
      <p:sp>
        <p:nvSpPr>
          <p:cNvPr id="304" name="Google Shape;304;p36"/>
          <p:cNvSpPr txBox="1"/>
          <p:nvPr>
            <p:ph idx="1" type="subTitle"/>
          </p:nvPr>
        </p:nvSpPr>
        <p:spPr>
          <a:xfrm>
            <a:off x="450289" y="2902804"/>
            <a:ext cx="2125500" cy="407700"/>
          </a:xfrm>
          <a:prstGeom prst="rect">
            <a:avLst/>
          </a:prstGeom>
        </p:spPr>
        <p:txBody>
          <a:bodyPr anchorCtr="0" anchor="t" bIns="67950" lIns="67950" spcFirstLastPara="1" rIns="67950" wrap="square" tIns="67950">
            <a:noAutofit/>
          </a:bodyPr>
          <a:lstStyle/>
          <a:p>
            <a:pPr indent="0" lvl="0" marL="0" rtl="0" algn="ctr">
              <a:spcBef>
                <a:spcPts val="0"/>
              </a:spcBef>
              <a:spcAft>
                <a:spcPts val="0"/>
              </a:spcAft>
              <a:buNone/>
            </a:pPr>
            <a:r>
              <a:rPr lang="en" sz="944">
                <a:latin typeface="Roboto"/>
                <a:ea typeface="Roboto"/>
                <a:cs typeface="Roboto"/>
                <a:sym typeface="Roboto"/>
              </a:rPr>
              <a:t>Understanding business problems, setting objectives, and project scope</a:t>
            </a:r>
            <a:endParaRPr sz="944">
              <a:latin typeface="Roboto"/>
              <a:ea typeface="Roboto"/>
              <a:cs typeface="Roboto"/>
              <a:sym typeface="Roboto"/>
            </a:endParaRPr>
          </a:p>
          <a:p>
            <a:pPr indent="0" lvl="0" marL="0" rtl="0" algn="ctr">
              <a:spcBef>
                <a:spcPts val="1374"/>
              </a:spcBef>
              <a:spcAft>
                <a:spcPts val="0"/>
              </a:spcAft>
              <a:buNone/>
            </a:pPr>
            <a:r>
              <a:t/>
            </a:r>
            <a:endParaRPr sz="1040">
              <a:latin typeface="Roboto"/>
              <a:ea typeface="Roboto"/>
              <a:cs typeface="Roboto"/>
              <a:sym typeface="Roboto"/>
            </a:endParaRPr>
          </a:p>
        </p:txBody>
      </p:sp>
      <p:sp>
        <p:nvSpPr>
          <p:cNvPr id="305" name="Google Shape;305;p36"/>
          <p:cNvSpPr txBox="1"/>
          <p:nvPr>
            <p:ph idx="2" type="title"/>
          </p:nvPr>
        </p:nvSpPr>
        <p:spPr>
          <a:xfrm flipH="1">
            <a:off x="2628176" y="2715588"/>
            <a:ext cx="1538400" cy="271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635">
                <a:latin typeface="Roboto"/>
                <a:ea typeface="Roboto"/>
                <a:cs typeface="Roboto"/>
                <a:sym typeface="Roboto"/>
              </a:rPr>
              <a:t>Data Processing</a:t>
            </a:r>
            <a:endParaRPr sz="1635">
              <a:latin typeface="Roboto"/>
              <a:ea typeface="Roboto"/>
              <a:cs typeface="Roboto"/>
              <a:sym typeface="Roboto"/>
            </a:endParaRPr>
          </a:p>
        </p:txBody>
      </p:sp>
      <p:sp>
        <p:nvSpPr>
          <p:cNvPr id="306" name="Google Shape;306;p36"/>
          <p:cNvSpPr txBox="1"/>
          <p:nvPr>
            <p:ph idx="7" type="title"/>
          </p:nvPr>
        </p:nvSpPr>
        <p:spPr>
          <a:xfrm>
            <a:off x="4236457" y="2512421"/>
            <a:ext cx="2125500" cy="271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635"/>
              <a:t>Analyst</a:t>
            </a:r>
            <a:endParaRPr sz="1635"/>
          </a:p>
        </p:txBody>
      </p:sp>
      <p:sp>
        <p:nvSpPr>
          <p:cNvPr id="307" name="Google Shape;307;p36"/>
          <p:cNvSpPr txBox="1"/>
          <p:nvPr>
            <p:ph idx="8" type="subTitle"/>
          </p:nvPr>
        </p:nvSpPr>
        <p:spPr>
          <a:xfrm>
            <a:off x="4366213" y="2709638"/>
            <a:ext cx="1866000" cy="407700"/>
          </a:xfrm>
          <a:prstGeom prst="rect">
            <a:avLst/>
          </a:prstGeom>
        </p:spPr>
        <p:txBody>
          <a:bodyPr anchorCtr="0" anchor="t" bIns="67950" lIns="67950" spcFirstLastPara="1" rIns="67950" wrap="square" tIns="67950">
            <a:noAutofit/>
          </a:bodyPr>
          <a:lstStyle/>
          <a:p>
            <a:pPr indent="0" lvl="0" marL="0" rtl="0" algn="ctr">
              <a:spcBef>
                <a:spcPts val="0"/>
              </a:spcBef>
              <a:spcAft>
                <a:spcPts val="0"/>
              </a:spcAft>
              <a:buNone/>
            </a:pPr>
            <a:r>
              <a:rPr lang="en" sz="944">
                <a:latin typeface="Roboto"/>
                <a:ea typeface="Roboto"/>
                <a:cs typeface="Roboto"/>
                <a:sym typeface="Roboto"/>
              </a:rPr>
              <a:t>Performing data analysis to generate insights with pyt</a:t>
            </a:r>
            <a:r>
              <a:rPr lang="en" sz="944">
                <a:latin typeface="Roboto"/>
                <a:ea typeface="Roboto"/>
                <a:cs typeface="Roboto"/>
                <a:sym typeface="Roboto"/>
              </a:rPr>
              <a:t>hon and Tableau</a:t>
            </a:r>
            <a:endParaRPr sz="944">
              <a:latin typeface="Roboto"/>
              <a:ea typeface="Roboto"/>
              <a:cs typeface="Roboto"/>
              <a:sym typeface="Roboto"/>
            </a:endParaRPr>
          </a:p>
          <a:p>
            <a:pPr indent="0" lvl="0" marL="0" rtl="0" algn="ctr">
              <a:spcBef>
                <a:spcPts val="1374"/>
              </a:spcBef>
              <a:spcAft>
                <a:spcPts val="0"/>
              </a:spcAft>
              <a:buNone/>
            </a:pPr>
            <a:r>
              <a:t/>
            </a:r>
            <a:endParaRPr sz="1040">
              <a:latin typeface="Roboto"/>
              <a:ea typeface="Roboto"/>
              <a:cs typeface="Roboto"/>
              <a:sym typeface="Roboto"/>
            </a:endParaRPr>
          </a:p>
        </p:txBody>
      </p:sp>
      <p:sp>
        <p:nvSpPr>
          <p:cNvPr id="308" name="Google Shape;308;p36"/>
          <p:cNvSpPr txBox="1"/>
          <p:nvPr>
            <p:ph idx="9" type="title"/>
          </p:nvPr>
        </p:nvSpPr>
        <p:spPr>
          <a:xfrm flipH="1">
            <a:off x="6364999" y="2506013"/>
            <a:ext cx="1999500" cy="271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635"/>
              <a:t>Data Visualization</a:t>
            </a:r>
            <a:endParaRPr sz="1635"/>
          </a:p>
        </p:txBody>
      </p:sp>
      <p:sp>
        <p:nvSpPr>
          <p:cNvPr id="309" name="Google Shape;309;p36"/>
          <p:cNvSpPr txBox="1"/>
          <p:nvPr>
            <p:ph idx="13" type="subTitle"/>
          </p:nvPr>
        </p:nvSpPr>
        <p:spPr>
          <a:xfrm flipH="1">
            <a:off x="6431925" y="2688838"/>
            <a:ext cx="1866000" cy="687900"/>
          </a:xfrm>
          <a:prstGeom prst="rect">
            <a:avLst/>
          </a:prstGeom>
        </p:spPr>
        <p:txBody>
          <a:bodyPr anchorCtr="0" anchor="t" bIns="67950" lIns="67950" spcFirstLastPara="1" rIns="67950" wrap="square" tIns="67950">
            <a:noAutofit/>
          </a:bodyPr>
          <a:lstStyle/>
          <a:p>
            <a:pPr indent="0" lvl="0" marL="0" rtl="0" algn="ctr">
              <a:spcBef>
                <a:spcPts val="0"/>
              </a:spcBef>
              <a:spcAft>
                <a:spcPts val="0"/>
              </a:spcAft>
              <a:buNone/>
            </a:pPr>
            <a:r>
              <a:rPr lang="en" sz="944">
                <a:latin typeface="Roboto"/>
                <a:ea typeface="Roboto"/>
                <a:cs typeface="Roboto"/>
                <a:sym typeface="Roboto"/>
              </a:rPr>
              <a:t>Interpret and immerse the insight into domain knowledge by using chart in Python or Tableau</a:t>
            </a:r>
            <a:endParaRPr sz="1040">
              <a:latin typeface="Roboto"/>
              <a:ea typeface="Roboto"/>
              <a:cs typeface="Roboto"/>
              <a:sym typeface="Roboto"/>
            </a:endParaRPr>
          </a:p>
        </p:txBody>
      </p:sp>
      <p:sp>
        <p:nvSpPr>
          <p:cNvPr id="310" name="Google Shape;310;p36"/>
          <p:cNvSpPr txBox="1"/>
          <p:nvPr>
            <p:ph idx="4" type="title"/>
          </p:nvPr>
        </p:nvSpPr>
        <p:spPr>
          <a:xfrm>
            <a:off x="1239958" y="1974229"/>
            <a:ext cx="546000" cy="373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858"/>
              <a:t>01</a:t>
            </a:r>
            <a:endParaRPr sz="1858"/>
          </a:p>
        </p:txBody>
      </p:sp>
      <p:sp>
        <p:nvSpPr>
          <p:cNvPr id="311" name="Google Shape;311;p36"/>
          <p:cNvSpPr txBox="1"/>
          <p:nvPr>
            <p:ph idx="14" type="title"/>
          </p:nvPr>
        </p:nvSpPr>
        <p:spPr>
          <a:xfrm>
            <a:off x="5026126" y="1977348"/>
            <a:ext cx="546000" cy="373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858"/>
              <a:t>03</a:t>
            </a:r>
            <a:endParaRPr sz="1858"/>
          </a:p>
        </p:txBody>
      </p:sp>
      <p:sp>
        <p:nvSpPr>
          <p:cNvPr id="312" name="Google Shape;312;p36"/>
          <p:cNvSpPr txBox="1"/>
          <p:nvPr>
            <p:ph idx="5" type="title"/>
          </p:nvPr>
        </p:nvSpPr>
        <p:spPr>
          <a:xfrm flipH="1">
            <a:off x="3124345" y="1974212"/>
            <a:ext cx="546000" cy="373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858"/>
              <a:t>02</a:t>
            </a:r>
            <a:endParaRPr sz="1858"/>
          </a:p>
        </p:txBody>
      </p:sp>
      <p:sp>
        <p:nvSpPr>
          <p:cNvPr id="313" name="Google Shape;313;p36"/>
          <p:cNvSpPr txBox="1"/>
          <p:nvPr>
            <p:ph idx="15" type="title"/>
          </p:nvPr>
        </p:nvSpPr>
        <p:spPr>
          <a:xfrm flipH="1">
            <a:off x="7091850" y="1970945"/>
            <a:ext cx="546000" cy="373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858"/>
              <a:t>04</a:t>
            </a:r>
            <a:endParaRPr sz="1858"/>
          </a:p>
        </p:txBody>
      </p:sp>
      <p:pic>
        <p:nvPicPr>
          <p:cNvPr id="314" name="Google Shape;314;p36"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315" name="Google Shape;315;p36"/>
          <p:cNvSpPr txBox="1"/>
          <p:nvPr>
            <p:ph type="title"/>
          </p:nvPr>
        </p:nvSpPr>
        <p:spPr>
          <a:xfrm>
            <a:off x="3849450" y="3785875"/>
            <a:ext cx="1033200" cy="271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635">
                <a:latin typeface="Roboto"/>
                <a:ea typeface="Roboto"/>
                <a:cs typeface="Roboto"/>
                <a:sym typeface="Roboto"/>
              </a:rPr>
              <a:t>Dataset.</a:t>
            </a:r>
            <a:endParaRPr sz="1635">
              <a:latin typeface="Roboto"/>
              <a:ea typeface="Roboto"/>
              <a:cs typeface="Roboto"/>
              <a:sym typeface="Roboto"/>
            </a:endParaRPr>
          </a:p>
        </p:txBody>
      </p:sp>
      <p:sp>
        <p:nvSpPr>
          <p:cNvPr id="316" name="Google Shape;316;p36"/>
          <p:cNvSpPr txBox="1"/>
          <p:nvPr>
            <p:ph idx="1" type="subTitle"/>
          </p:nvPr>
        </p:nvSpPr>
        <p:spPr>
          <a:xfrm>
            <a:off x="2110962" y="3957412"/>
            <a:ext cx="4510200" cy="407700"/>
          </a:xfrm>
          <a:prstGeom prst="rect">
            <a:avLst/>
          </a:prstGeom>
        </p:spPr>
        <p:txBody>
          <a:bodyPr anchorCtr="0" anchor="t" bIns="67950" lIns="67950" spcFirstLastPara="1" rIns="67950" wrap="square" tIns="67950">
            <a:noAutofit/>
          </a:bodyPr>
          <a:lstStyle/>
          <a:p>
            <a:pPr indent="0" lvl="0" marL="0" rtl="0" algn="ctr">
              <a:spcBef>
                <a:spcPts val="0"/>
              </a:spcBef>
              <a:spcAft>
                <a:spcPts val="0"/>
              </a:spcAft>
              <a:buNone/>
            </a:pPr>
            <a:r>
              <a:rPr lang="en" sz="944">
                <a:latin typeface="Roboto"/>
                <a:ea typeface="Roboto"/>
                <a:cs typeface="Roboto"/>
                <a:sym typeface="Roboto"/>
              </a:rPr>
              <a:t>Categorical : transaction_id, user_id, created_at, status</a:t>
            </a:r>
            <a:endParaRPr sz="944">
              <a:latin typeface="Roboto"/>
              <a:ea typeface="Roboto"/>
              <a:cs typeface="Roboto"/>
              <a:sym typeface="Roboto"/>
            </a:endParaRPr>
          </a:p>
          <a:p>
            <a:pPr indent="0" lvl="0" marL="0" rtl="0" algn="ctr">
              <a:spcBef>
                <a:spcPts val="0"/>
              </a:spcBef>
              <a:spcAft>
                <a:spcPts val="0"/>
              </a:spcAft>
              <a:buNone/>
            </a:pPr>
            <a:r>
              <a:rPr lang="en" sz="944">
                <a:latin typeface="Roboto"/>
                <a:ea typeface="Roboto"/>
                <a:cs typeface="Roboto"/>
                <a:sym typeface="Roboto"/>
              </a:rPr>
              <a:t>Numerical : price , Total Price</a:t>
            </a:r>
            <a:endParaRPr sz="944">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7"/>
          <p:cNvSpPr/>
          <p:nvPr/>
        </p:nvSpPr>
        <p:spPr>
          <a:xfrm>
            <a:off x="7693825" y="2797500"/>
            <a:ext cx="35600" cy="87750"/>
          </a:xfrm>
          <a:custGeom>
            <a:rect b="b" l="l" r="r" t="t"/>
            <a:pathLst>
              <a:path extrusionOk="0" h="3510" w="1424">
                <a:moveTo>
                  <a:pt x="0" y="0"/>
                </a:moveTo>
                <a:lnTo>
                  <a:pt x="0" y="0"/>
                </a:lnTo>
                <a:lnTo>
                  <a:pt x="0" y="0"/>
                </a:lnTo>
                <a:lnTo>
                  <a:pt x="0" y="0"/>
                </a:lnTo>
                <a:lnTo>
                  <a:pt x="141" y="281"/>
                </a:lnTo>
                <a:lnTo>
                  <a:pt x="321" y="622"/>
                </a:lnTo>
                <a:lnTo>
                  <a:pt x="522" y="1043"/>
                </a:lnTo>
                <a:lnTo>
                  <a:pt x="742" y="1564"/>
                </a:lnTo>
                <a:lnTo>
                  <a:pt x="983" y="2166"/>
                </a:lnTo>
                <a:lnTo>
                  <a:pt x="1203" y="2808"/>
                </a:lnTo>
                <a:lnTo>
                  <a:pt x="1424" y="3510"/>
                </a:lnTo>
                <a:lnTo>
                  <a:pt x="1424" y="3510"/>
                </a:lnTo>
                <a:lnTo>
                  <a:pt x="1203" y="2808"/>
                </a:lnTo>
                <a:lnTo>
                  <a:pt x="983" y="2166"/>
                </a:lnTo>
                <a:lnTo>
                  <a:pt x="742" y="1564"/>
                </a:lnTo>
                <a:lnTo>
                  <a:pt x="522" y="1043"/>
                </a:lnTo>
                <a:lnTo>
                  <a:pt x="321" y="622"/>
                </a:lnTo>
                <a:lnTo>
                  <a:pt x="141" y="281"/>
                </a:lnTo>
                <a:lnTo>
                  <a:pt x="0" y="0"/>
                </a:lnTo>
                <a:lnTo>
                  <a:pt x="0" y="0"/>
                </a:lnTo>
                <a:close/>
              </a:path>
            </a:pathLst>
          </a:custGeom>
          <a:solidFill>
            <a:srgbClr val="FF9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7"/>
          <p:cNvSpPr/>
          <p:nvPr/>
        </p:nvSpPr>
        <p:spPr>
          <a:xfrm rot="10800000">
            <a:off x="7485303" y="1386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7"/>
          <p:cNvSpPr/>
          <p:nvPr/>
        </p:nvSpPr>
        <p:spPr>
          <a:xfrm rot="10800000">
            <a:off x="7268586" y="-9524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4" name="Google Shape;324;p37"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pic>
        <p:nvPicPr>
          <p:cNvPr id="325" name="Google Shape;325;p37"/>
          <p:cNvPicPr preferRelativeResize="0"/>
          <p:nvPr/>
        </p:nvPicPr>
        <p:blipFill>
          <a:blip r:embed="rId4">
            <a:alphaModFix/>
          </a:blip>
          <a:stretch>
            <a:fillRect/>
          </a:stretch>
        </p:blipFill>
        <p:spPr>
          <a:xfrm>
            <a:off x="3199175" y="714213"/>
            <a:ext cx="4286126" cy="3417462"/>
          </a:xfrm>
          <a:prstGeom prst="rect">
            <a:avLst/>
          </a:prstGeom>
          <a:noFill/>
          <a:ln>
            <a:noFill/>
          </a:ln>
        </p:spPr>
      </p:pic>
      <p:sp>
        <p:nvSpPr>
          <p:cNvPr id="326" name="Google Shape;326;p37"/>
          <p:cNvSpPr txBox="1"/>
          <p:nvPr>
            <p:ph type="title"/>
          </p:nvPr>
        </p:nvSpPr>
        <p:spPr>
          <a:xfrm>
            <a:off x="342875" y="2797488"/>
            <a:ext cx="2856300" cy="68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500">
                <a:latin typeface="Roboto"/>
                <a:ea typeface="Roboto"/>
                <a:cs typeface="Roboto"/>
                <a:sym typeface="Roboto"/>
              </a:rPr>
              <a:t>Root Cause Analysis</a:t>
            </a:r>
            <a:endParaRPr sz="3500">
              <a:latin typeface="Roboto"/>
              <a:ea typeface="Roboto"/>
              <a:cs typeface="Roboto"/>
              <a:sym typeface="Roboto"/>
            </a:endParaRPr>
          </a:p>
        </p:txBody>
      </p:sp>
      <p:sp>
        <p:nvSpPr>
          <p:cNvPr id="327" name="Google Shape;327;p37"/>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2CC"/>
                </a:solidFill>
                <a:latin typeface="Roboto"/>
                <a:ea typeface="Roboto"/>
                <a:cs typeface="Roboto"/>
                <a:sym typeface="Roboto"/>
              </a:rPr>
              <a:t>Disclaimer</a:t>
            </a:r>
            <a:endParaRPr sz="1100">
              <a:solidFill>
                <a:srgbClr val="FFF2CC"/>
              </a:solidFill>
              <a:latin typeface="Roboto"/>
              <a:ea typeface="Roboto"/>
              <a:cs typeface="Roboto"/>
              <a:sym typeface="Roboto"/>
            </a:endParaRPr>
          </a:p>
          <a:p>
            <a:pPr indent="0" lvl="0" marL="0" rtl="0" algn="l">
              <a:spcBef>
                <a:spcPts val="0"/>
              </a:spcBef>
              <a:spcAft>
                <a:spcPts val="0"/>
              </a:spcAft>
              <a:buNone/>
            </a:pPr>
            <a:r>
              <a:rPr lang="en" sz="900">
                <a:solidFill>
                  <a:srgbClr val="FFF2CC"/>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FFF2CC"/>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 name="Shape 331"/>
        <p:cNvGrpSpPr/>
        <p:nvPr/>
      </p:nvGrpSpPr>
      <p:grpSpPr>
        <a:xfrm>
          <a:off x="0" y="0"/>
          <a:ext cx="0" cy="0"/>
          <a:chOff x="0" y="0"/>
          <a:chExt cx="0" cy="0"/>
        </a:xfrm>
      </p:grpSpPr>
      <p:sp>
        <p:nvSpPr>
          <p:cNvPr id="332" name="Google Shape;332;p38"/>
          <p:cNvSpPr txBox="1"/>
          <p:nvPr>
            <p:ph idx="1" type="subTitle"/>
          </p:nvPr>
        </p:nvSpPr>
        <p:spPr>
          <a:xfrm>
            <a:off x="1185150" y="2854849"/>
            <a:ext cx="6773700" cy="36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Tools &amp; Methods - Python &amp; Tableau</a:t>
            </a:r>
            <a:endParaRPr/>
          </a:p>
          <a:p>
            <a:pPr indent="0" lvl="0" marL="0" rtl="0" algn="ctr">
              <a:spcBef>
                <a:spcPts val="0"/>
              </a:spcBef>
              <a:spcAft>
                <a:spcPts val="0"/>
              </a:spcAft>
              <a:buNone/>
            </a:pPr>
            <a:r>
              <a:t/>
            </a:r>
            <a:endParaRPr/>
          </a:p>
        </p:txBody>
      </p:sp>
      <p:sp>
        <p:nvSpPr>
          <p:cNvPr id="333" name="Google Shape;333;p38"/>
          <p:cNvSpPr/>
          <p:nvPr/>
        </p:nvSpPr>
        <p:spPr>
          <a:xfrm>
            <a:off x="4049000" y="897625"/>
            <a:ext cx="1046100" cy="1046100"/>
          </a:xfrm>
          <a:prstGeom prst="ellipse">
            <a:avLst/>
          </a:prstGeom>
          <a:solidFill>
            <a:srgbClr val="FFFFFF">
              <a:alpha val="36080"/>
            </a:srgbClr>
          </a:solidFill>
          <a:ln>
            <a:noFill/>
          </a:ln>
        </p:spPr>
        <p:txBody>
          <a:bodyPr anchorCtr="0" anchor="ctr" bIns="73150" lIns="73150" spcFirstLastPara="1" rIns="73150" wrap="square" tIns="73150">
            <a:noAutofit/>
          </a:bodyPr>
          <a:lstStyle/>
          <a:p>
            <a:pPr indent="0" lvl="0" marL="0" rtl="0" algn="l">
              <a:spcBef>
                <a:spcPts val="0"/>
              </a:spcBef>
              <a:spcAft>
                <a:spcPts val="0"/>
              </a:spcAft>
              <a:buNone/>
            </a:pPr>
            <a:r>
              <a:t/>
            </a:r>
            <a:endParaRPr sz="1120">
              <a:solidFill>
                <a:schemeClr val="lt1"/>
              </a:solidFill>
            </a:endParaRPr>
          </a:p>
        </p:txBody>
      </p:sp>
      <p:sp>
        <p:nvSpPr>
          <p:cNvPr id="334" name="Google Shape;334;p38"/>
          <p:cNvSpPr txBox="1"/>
          <p:nvPr>
            <p:ph type="title"/>
          </p:nvPr>
        </p:nvSpPr>
        <p:spPr>
          <a:xfrm>
            <a:off x="1182600" y="2168377"/>
            <a:ext cx="6778800" cy="843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Analyst</a:t>
            </a:r>
            <a:endParaRPr/>
          </a:p>
        </p:txBody>
      </p:sp>
      <p:sp>
        <p:nvSpPr>
          <p:cNvPr id="335" name="Google Shape;335;p38"/>
          <p:cNvSpPr txBox="1"/>
          <p:nvPr>
            <p:ph idx="2" type="title"/>
          </p:nvPr>
        </p:nvSpPr>
        <p:spPr>
          <a:xfrm>
            <a:off x="4076368" y="1054754"/>
            <a:ext cx="991200" cy="731700"/>
          </a:xfrm>
          <a:prstGeom prst="rect">
            <a:avLst/>
          </a:prstGeom>
        </p:spPr>
        <p:txBody>
          <a:bodyPr anchorCtr="0" anchor="b" bIns="73150" lIns="73150" spcFirstLastPara="1" rIns="73150" wrap="square" tIns="73150">
            <a:noAutofit/>
          </a:bodyPr>
          <a:lstStyle/>
          <a:p>
            <a:pPr indent="0" lvl="0" marL="0" rtl="0" algn="ctr">
              <a:spcBef>
                <a:spcPts val="0"/>
              </a:spcBef>
              <a:spcAft>
                <a:spcPts val="0"/>
              </a:spcAft>
              <a:buNone/>
            </a:pPr>
            <a:r>
              <a:rPr lang="en" sz="4401"/>
              <a:t>02</a:t>
            </a:r>
            <a:endParaRPr sz="4001"/>
          </a:p>
        </p:txBody>
      </p:sp>
      <p:sp>
        <p:nvSpPr>
          <p:cNvPr id="336" name="Google Shape;336;p38"/>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337" name="Google Shape;337;p38"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41" name="Shape 341"/>
        <p:cNvGrpSpPr/>
        <p:nvPr/>
      </p:nvGrpSpPr>
      <p:grpSpPr>
        <a:xfrm>
          <a:off x="0" y="0"/>
          <a:ext cx="0" cy="0"/>
          <a:chOff x="0" y="0"/>
          <a:chExt cx="0" cy="0"/>
        </a:xfrm>
      </p:grpSpPr>
      <p:pic>
        <p:nvPicPr>
          <p:cNvPr id="342" name="Google Shape;342;p39"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343" name="Google Shape;343;p39"/>
          <p:cNvSpPr txBox="1"/>
          <p:nvPr>
            <p:ph idx="4294967295" type="title"/>
          </p:nvPr>
        </p:nvSpPr>
        <p:spPr>
          <a:xfrm>
            <a:off x="-117425" y="1762975"/>
            <a:ext cx="6110400" cy="1434900"/>
          </a:xfrm>
          <a:prstGeom prst="rect">
            <a:avLst/>
          </a:prstGeom>
        </p:spPr>
        <p:txBody>
          <a:bodyPr anchorCtr="0" anchor="t" bIns="91425" lIns="731500" spcFirstLastPara="1" rIns="731500" wrap="square" tIns="91425">
            <a:noAutofit/>
          </a:bodyPr>
          <a:lstStyle/>
          <a:p>
            <a:pPr indent="0" lvl="0" marL="0" rtl="0" algn="l">
              <a:spcBef>
                <a:spcPts val="0"/>
              </a:spcBef>
              <a:spcAft>
                <a:spcPts val="0"/>
              </a:spcAft>
              <a:buNone/>
            </a:pPr>
            <a:r>
              <a:rPr b="1" lang="en" sz="3000">
                <a:solidFill>
                  <a:srgbClr val="212121"/>
                </a:solidFill>
                <a:latin typeface="Roboto"/>
                <a:ea typeface="Roboto"/>
                <a:cs typeface="Roboto"/>
                <a:sym typeface="Roboto"/>
              </a:rPr>
              <a:t>WhatsApp drives volume, </a:t>
            </a:r>
            <a:br>
              <a:rPr b="1" lang="en" sz="3000">
                <a:solidFill>
                  <a:srgbClr val="212121"/>
                </a:solidFill>
                <a:latin typeface="Roboto"/>
                <a:ea typeface="Roboto"/>
                <a:cs typeface="Roboto"/>
                <a:sym typeface="Roboto"/>
              </a:rPr>
            </a:br>
            <a:r>
              <a:rPr b="1" lang="en" sz="3000">
                <a:solidFill>
                  <a:srgbClr val="212121"/>
                </a:solidFill>
                <a:latin typeface="Roboto"/>
                <a:ea typeface="Roboto"/>
                <a:cs typeface="Roboto"/>
                <a:sym typeface="Roboto"/>
              </a:rPr>
              <a:t>SMS drives revenue, </a:t>
            </a:r>
            <a:br>
              <a:rPr b="1" lang="en" sz="3000">
                <a:solidFill>
                  <a:srgbClr val="212121"/>
                </a:solidFill>
                <a:latin typeface="Roboto"/>
                <a:ea typeface="Roboto"/>
                <a:cs typeface="Roboto"/>
                <a:sym typeface="Roboto"/>
              </a:rPr>
            </a:br>
            <a:r>
              <a:rPr b="1" lang="en" sz="3000">
                <a:solidFill>
                  <a:srgbClr val="212121"/>
                </a:solidFill>
                <a:latin typeface="Roboto"/>
                <a:ea typeface="Roboto"/>
                <a:cs typeface="Roboto"/>
                <a:sym typeface="Roboto"/>
              </a:rPr>
              <a:t>enabling a balanced omnichannel strategy.</a:t>
            </a:r>
            <a:endParaRPr b="1" sz="3000">
              <a:solidFill>
                <a:srgbClr val="212121"/>
              </a:solidFill>
              <a:latin typeface="Roboto"/>
              <a:ea typeface="Roboto"/>
              <a:cs typeface="Roboto"/>
              <a:sym typeface="Roboto"/>
            </a:endParaRPr>
          </a:p>
        </p:txBody>
      </p:sp>
      <p:pic>
        <p:nvPicPr>
          <p:cNvPr id="344" name="Google Shape;344;p39" title="pricing_1728450.png"/>
          <p:cNvPicPr preferRelativeResize="0"/>
          <p:nvPr/>
        </p:nvPicPr>
        <p:blipFill>
          <a:blip r:embed="rId4">
            <a:alphaModFix/>
          </a:blip>
          <a:stretch>
            <a:fillRect/>
          </a:stretch>
        </p:blipFill>
        <p:spPr>
          <a:xfrm>
            <a:off x="5923575" y="1547050"/>
            <a:ext cx="2443226" cy="24432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8" name="Shape 348"/>
        <p:cNvGrpSpPr/>
        <p:nvPr/>
      </p:nvGrpSpPr>
      <p:grpSpPr>
        <a:xfrm>
          <a:off x="0" y="0"/>
          <a:ext cx="0" cy="0"/>
          <a:chOff x="0" y="0"/>
          <a:chExt cx="0" cy="0"/>
        </a:xfrm>
      </p:grpSpPr>
      <p:sp>
        <p:nvSpPr>
          <p:cNvPr id="349" name="Google Shape;349;p40"/>
          <p:cNvSpPr txBox="1"/>
          <p:nvPr>
            <p:ph idx="1" type="subTitle"/>
          </p:nvPr>
        </p:nvSpPr>
        <p:spPr>
          <a:xfrm>
            <a:off x="4174275" y="1665600"/>
            <a:ext cx="3999900" cy="1283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rgbClr val="212121"/>
              </a:buClr>
              <a:buSzPts val="1100"/>
              <a:buChar char="●"/>
            </a:pPr>
            <a:r>
              <a:rPr lang="en" sz="1100">
                <a:solidFill>
                  <a:srgbClr val="212121"/>
                </a:solidFill>
                <a:latin typeface="Roboto"/>
                <a:ea typeface="Roboto"/>
                <a:cs typeface="Roboto"/>
                <a:sym typeface="Roboto"/>
              </a:rPr>
              <a:t>Total Channel Whatsapp </a:t>
            </a:r>
            <a:r>
              <a:rPr b="1" lang="en" sz="1100">
                <a:solidFill>
                  <a:srgbClr val="212121"/>
                </a:solidFill>
                <a:latin typeface="Roboto"/>
                <a:ea typeface="Roboto"/>
                <a:cs typeface="Roboto"/>
                <a:sym typeface="Roboto"/>
              </a:rPr>
              <a:t>50.000 Transaction</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Char char="●"/>
            </a:pPr>
            <a:r>
              <a:rPr lang="en" sz="1100">
                <a:solidFill>
                  <a:srgbClr val="212121"/>
                </a:solidFill>
                <a:latin typeface="Roboto"/>
                <a:ea typeface="Roboto"/>
                <a:cs typeface="Roboto"/>
                <a:sym typeface="Roboto"/>
              </a:rPr>
              <a:t>Total Channel Email </a:t>
            </a:r>
            <a:r>
              <a:rPr b="1" lang="en" sz="1100">
                <a:solidFill>
                  <a:srgbClr val="212121"/>
                </a:solidFill>
                <a:latin typeface="Roboto"/>
                <a:ea typeface="Roboto"/>
                <a:cs typeface="Roboto"/>
                <a:sym typeface="Roboto"/>
              </a:rPr>
              <a:t>40.000 Transaction</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Total Channel SMS </a:t>
            </a:r>
            <a:r>
              <a:rPr b="1" lang="en" sz="1100">
                <a:solidFill>
                  <a:srgbClr val="212121"/>
                </a:solidFill>
                <a:latin typeface="Roboto"/>
                <a:ea typeface="Roboto"/>
                <a:cs typeface="Roboto"/>
                <a:sym typeface="Roboto"/>
              </a:rPr>
              <a:t>20.000 Transaction</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Total Channel Call </a:t>
            </a:r>
            <a:r>
              <a:rPr b="1" lang="en" sz="1100">
                <a:solidFill>
                  <a:srgbClr val="212121"/>
                </a:solidFill>
                <a:latin typeface="Roboto"/>
                <a:ea typeface="Roboto"/>
                <a:cs typeface="Roboto"/>
                <a:sym typeface="Roboto"/>
              </a:rPr>
              <a:t>12.749 Transaction</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Char char="●"/>
            </a:pPr>
            <a:r>
              <a:rPr b="1" lang="en" sz="1100">
                <a:solidFill>
                  <a:srgbClr val="212121"/>
                </a:solidFill>
                <a:latin typeface="Roboto"/>
                <a:ea typeface="Roboto"/>
                <a:cs typeface="Roboto"/>
                <a:sym typeface="Roboto"/>
              </a:rPr>
              <a:t>Active Users: 20 Companies </a:t>
            </a:r>
            <a:r>
              <a:rPr lang="en" sz="1100">
                <a:solidFill>
                  <a:srgbClr val="212121"/>
                </a:solidFill>
                <a:latin typeface="Roboto"/>
                <a:ea typeface="Roboto"/>
                <a:cs typeface="Roboto"/>
                <a:sym typeface="Roboto"/>
              </a:rPr>
              <a:t>(100% Multi-channel).</a:t>
            </a:r>
            <a:endParaRPr b="1" sz="1100">
              <a:solidFill>
                <a:srgbClr val="212121"/>
              </a:solidFill>
              <a:latin typeface="Roboto"/>
              <a:ea typeface="Roboto"/>
              <a:cs typeface="Roboto"/>
              <a:sym typeface="Roboto"/>
            </a:endParaRPr>
          </a:p>
        </p:txBody>
      </p:sp>
      <p:sp>
        <p:nvSpPr>
          <p:cNvPr id="350" name="Google Shape;350;p40"/>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0"/>
          <p:cNvSpPr/>
          <p:nvPr/>
        </p:nvSpPr>
        <p:spPr>
          <a:xfrm rot="-8512697">
            <a:off x="7397200" y="365469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pic>
        <p:nvPicPr>
          <p:cNvPr id="352" name="Google Shape;352;p40"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353" name="Google Shape;353;p40"/>
          <p:cNvSpPr txBox="1"/>
          <p:nvPr>
            <p:ph type="title"/>
          </p:nvPr>
        </p:nvSpPr>
        <p:spPr>
          <a:xfrm>
            <a:off x="716100" y="6469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solidFill>
                  <a:srgbClr val="212121"/>
                </a:solidFill>
                <a:latin typeface="Roboto"/>
                <a:ea typeface="Roboto"/>
                <a:cs typeface="Roboto"/>
                <a:sym typeface="Roboto"/>
              </a:rPr>
              <a:t>Volume Transaction</a:t>
            </a:r>
            <a:endParaRPr sz="3600">
              <a:solidFill>
                <a:srgbClr val="212121"/>
              </a:solidFill>
              <a:latin typeface="Roboto"/>
              <a:ea typeface="Roboto"/>
              <a:cs typeface="Roboto"/>
              <a:sym typeface="Roboto"/>
            </a:endParaRPr>
          </a:p>
        </p:txBody>
      </p:sp>
      <p:sp>
        <p:nvSpPr>
          <p:cNvPr id="354" name="Google Shape;354;p40"/>
          <p:cNvSpPr txBox="1"/>
          <p:nvPr>
            <p:ph idx="1" type="subTitle"/>
          </p:nvPr>
        </p:nvSpPr>
        <p:spPr>
          <a:xfrm>
            <a:off x="4251125" y="2677125"/>
            <a:ext cx="4521000" cy="870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200">
                <a:solidFill>
                  <a:srgbClr val="212121"/>
                </a:solidFill>
                <a:latin typeface="Roboto"/>
                <a:ea typeface="Roboto"/>
                <a:cs typeface="Roboto"/>
                <a:sym typeface="Roboto"/>
              </a:rPr>
              <a:t>WhatsApp dominates transaction volume</a:t>
            </a:r>
            <a:r>
              <a:rPr lang="en" sz="1200">
                <a:solidFill>
                  <a:srgbClr val="212121"/>
                </a:solidFill>
                <a:latin typeface="Roboto"/>
                <a:ea typeface="Roboto"/>
                <a:cs typeface="Roboto"/>
                <a:sym typeface="Roboto"/>
              </a:rPr>
              <a:t>, while all active companies consistently use multiple channels, indicating strong demand for omnichannel communication.</a:t>
            </a:r>
            <a:endParaRPr sz="1200">
              <a:solidFill>
                <a:srgbClr val="212121"/>
              </a:solidFill>
              <a:latin typeface="Roboto"/>
              <a:ea typeface="Roboto"/>
              <a:cs typeface="Roboto"/>
              <a:sym typeface="Roboto"/>
            </a:endParaRPr>
          </a:p>
        </p:txBody>
      </p:sp>
      <p:sp>
        <p:nvSpPr>
          <p:cNvPr id="355" name="Google Shape;355;p40"/>
          <p:cNvSpPr txBox="1"/>
          <p:nvPr>
            <p:ph idx="1" type="subTitle"/>
          </p:nvPr>
        </p:nvSpPr>
        <p:spPr>
          <a:xfrm>
            <a:off x="1394925" y="3547425"/>
            <a:ext cx="1801800" cy="36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12121"/>
                </a:solidFill>
                <a:latin typeface="Roboto"/>
                <a:ea typeface="Roboto"/>
                <a:cs typeface="Roboto"/>
                <a:sym typeface="Roboto"/>
              </a:rPr>
              <a:t>Total Volume </a:t>
            </a:r>
            <a:r>
              <a:rPr b="1" lang="en" sz="1200">
                <a:solidFill>
                  <a:srgbClr val="212121"/>
                </a:solidFill>
                <a:latin typeface="Roboto"/>
                <a:ea typeface="Roboto"/>
                <a:cs typeface="Roboto"/>
                <a:sym typeface="Roboto"/>
              </a:rPr>
              <a:t>122749</a:t>
            </a:r>
            <a:endParaRPr b="1" sz="1200">
              <a:solidFill>
                <a:srgbClr val="212121"/>
              </a:solidFill>
              <a:latin typeface="Roboto"/>
              <a:ea typeface="Roboto"/>
              <a:cs typeface="Roboto"/>
              <a:sym typeface="Roboto"/>
            </a:endParaRPr>
          </a:p>
        </p:txBody>
      </p:sp>
      <p:sp>
        <p:nvSpPr>
          <p:cNvPr id="356" name="Google Shape;356;p40"/>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latin typeface="Roboto"/>
                <a:ea typeface="Roboto"/>
                <a:cs typeface="Roboto"/>
                <a:sym typeface="Roboto"/>
              </a:rPr>
              <a:t>Disclaimer</a:t>
            </a:r>
            <a:endParaRPr sz="1100">
              <a:solidFill>
                <a:srgbClr val="980000"/>
              </a:solidFill>
              <a:latin typeface="Roboto"/>
              <a:ea typeface="Roboto"/>
              <a:cs typeface="Roboto"/>
              <a:sym typeface="Roboto"/>
            </a:endParaRPr>
          </a:p>
          <a:p>
            <a:pPr indent="0" lvl="0" marL="0" rtl="0" algn="l">
              <a:spcBef>
                <a:spcPts val="0"/>
              </a:spcBef>
              <a:spcAft>
                <a:spcPts val="0"/>
              </a:spcAft>
              <a:buNone/>
            </a:pPr>
            <a:r>
              <a:rPr lang="en" sz="900">
                <a:solidFill>
                  <a:srgbClr val="980000"/>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980000"/>
              </a:solidFill>
              <a:latin typeface="Roboto"/>
              <a:ea typeface="Roboto"/>
              <a:cs typeface="Roboto"/>
              <a:sym typeface="Roboto"/>
            </a:endParaRPr>
          </a:p>
        </p:txBody>
      </p:sp>
      <p:pic>
        <p:nvPicPr>
          <p:cNvPr id="357" name="Google Shape;357;p40"/>
          <p:cNvPicPr preferRelativeResize="0"/>
          <p:nvPr/>
        </p:nvPicPr>
        <p:blipFill>
          <a:blip r:embed="rId4">
            <a:alphaModFix/>
          </a:blip>
          <a:stretch>
            <a:fillRect/>
          </a:stretch>
        </p:blipFill>
        <p:spPr>
          <a:xfrm>
            <a:off x="503675" y="1453713"/>
            <a:ext cx="3584291" cy="2093724"/>
          </a:xfrm>
          <a:prstGeom prst="rect">
            <a:avLst/>
          </a:prstGeom>
          <a:noFill/>
          <a:ln>
            <a:noFill/>
          </a:ln>
        </p:spPr>
      </p:pic>
      <p:sp>
        <p:nvSpPr>
          <p:cNvPr id="358" name="Google Shape;358;p40"/>
          <p:cNvSpPr/>
          <p:nvPr/>
        </p:nvSpPr>
        <p:spPr>
          <a:xfrm>
            <a:off x="756150" y="1570625"/>
            <a:ext cx="1593600" cy="1997700"/>
          </a:xfrm>
          <a:prstGeom prst="rect">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 name="Shape 362"/>
        <p:cNvGrpSpPr/>
        <p:nvPr/>
      </p:nvGrpSpPr>
      <p:grpSpPr>
        <a:xfrm>
          <a:off x="0" y="0"/>
          <a:ext cx="0" cy="0"/>
          <a:chOff x="0" y="0"/>
          <a:chExt cx="0" cy="0"/>
        </a:xfrm>
      </p:grpSpPr>
      <p:sp>
        <p:nvSpPr>
          <p:cNvPr id="363" name="Google Shape;363;p41"/>
          <p:cNvSpPr txBox="1"/>
          <p:nvPr>
            <p:ph idx="1" type="subTitle"/>
          </p:nvPr>
        </p:nvSpPr>
        <p:spPr>
          <a:xfrm>
            <a:off x="4081675" y="1808575"/>
            <a:ext cx="4092600" cy="1283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rgbClr val="212121"/>
              </a:buClr>
              <a:buSzPts val="1100"/>
              <a:buChar char="●"/>
            </a:pPr>
            <a:r>
              <a:rPr lang="en" sz="1100">
                <a:solidFill>
                  <a:srgbClr val="212121"/>
                </a:solidFill>
                <a:latin typeface="Roboto"/>
                <a:ea typeface="Roboto"/>
                <a:cs typeface="Roboto"/>
                <a:sym typeface="Roboto"/>
              </a:rPr>
              <a:t>SMS is </a:t>
            </a:r>
            <a:r>
              <a:rPr b="1" lang="en" sz="1100">
                <a:solidFill>
                  <a:srgbClr val="212121"/>
                </a:solidFill>
                <a:latin typeface="Roboto"/>
                <a:ea typeface="Roboto"/>
                <a:cs typeface="Roboto"/>
                <a:sym typeface="Roboto"/>
              </a:rPr>
              <a:t>Revenue King</a:t>
            </a:r>
            <a:r>
              <a:rPr lang="en" sz="1100">
                <a:solidFill>
                  <a:srgbClr val="212121"/>
                </a:solidFill>
                <a:latin typeface="Roboto"/>
                <a:ea typeface="Roboto"/>
                <a:cs typeface="Roboto"/>
                <a:sym typeface="Roboto"/>
              </a:rPr>
              <a:t> (Unexpected, but facts)</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Char char="●"/>
            </a:pPr>
            <a:r>
              <a:rPr lang="en" sz="1100">
                <a:solidFill>
                  <a:srgbClr val="212121"/>
                </a:solidFill>
                <a:latin typeface="Roboto"/>
                <a:ea typeface="Roboto"/>
                <a:cs typeface="Roboto"/>
                <a:sym typeface="Roboto"/>
              </a:rPr>
              <a:t>WhatsApp is </a:t>
            </a:r>
            <a:r>
              <a:rPr b="1" lang="en" sz="1100">
                <a:solidFill>
                  <a:srgbClr val="212121"/>
                </a:solidFill>
                <a:latin typeface="Roboto"/>
                <a:ea typeface="Roboto"/>
                <a:cs typeface="Roboto"/>
                <a:sym typeface="Roboto"/>
              </a:rPr>
              <a:t>High Volume</a:t>
            </a:r>
            <a:r>
              <a:rPr lang="en" sz="1100">
                <a:solidFill>
                  <a:srgbClr val="212121"/>
                </a:solidFill>
                <a:latin typeface="Roboto"/>
                <a:ea typeface="Roboto"/>
                <a:cs typeface="Roboto"/>
                <a:sym typeface="Roboto"/>
              </a:rPr>
              <a:t> but </a:t>
            </a:r>
            <a:r>
              <a:rPr b="1" lang="en" sz="1100">
                <a:solidFill>
                  <a:srgbClr val="212121"/>
                </a:solidFill>
                <a:latin typeface="Roboto"/>
                <a:ea typeface="Roboto"/>
                <a:cs typeface="Roboto"/>
                <a:sym typeface="Roboto"/>
              </a:rPr>
              <a:t> Mid Revenue</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Email is </a:t>
            </a:r>
            <a:r>
              <a:rPr b="1" lang="en" sz="1100">
                <a:solidFill>
                  <a:srgbClr val="212121"/>
                </a:solidFill>
                <a:latin typeface="Roboto"/>
                <a:ea typeface="Roboto"/>
                <a:cs typeface="Roboto"/>
                <a:sym typeface="Roboto"/>
              </a:rPr>
              <a:t>Low Revenue</a:t>
            </a:r>
            <a:r>
              <a:rPr lang="en" sz="1100">
                <a:solidFill>
                  <a:srgbClr val="212121"/>
                </a:solidFill>
                <a:latin typeface="Roboto"/>
                <a:ea typeface="Roboto"/>
                <a:cs typeface="Roboto"/>
                <a:sym typeface="Roboto"/>
              </a:rPr>
              <a:t> Channel</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Call is </a:t>
            </a:r>
            <a:r>
              <a:rPr b="1" lang="en" sz="1100">
                <a:solidFill>
                  <a:srgbClr val="212121"/>
                </a:solidFill>
                <a:latin typeface="Roboto"/>
                <a:ea typeface="Roboto"/>
                <a:cs typeface="Roboto"/>
                <a:sym typeface="Roboto"/>
              </a:rPr>
              <a:t>Niche Channel</a:t>
            </a:r>
            <a:r>
              <a:rPr lang="en" sz="1100">
                <a:solidFill>
                  <a:srgbClr val="212121"/>
                </a:solidFill>
                <a:latin typeface="Roboto"/>
                <a:ea typeface="Roboto"/>
                <a:cs typeface="Roboto"/>
                <a:sym typeface="Roboto"/>
              </a:rPr>
              <a:t> (Low Volume but Revenue oke)</a:t>
            </a:r>
            <a:endParaRPr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Char char="●"/>
            </a:pPr>
            <a:r>
              <a:rPr b="1" lang="en" sz="1100">
                <a:solidFill>
                  <a:srgbClr val="212121"/>
                </a:solidFill>
                <a:latin typeface="Roboto"/>
                <a:ea typeface="Roboto"/>
                <a:cs typeface="Roboto"/>
                <a:sym typeface="Roboto"/>
              </a:rPr>
              <a:t>Total All Revenue Rp. 25.946.420</a:t>
            </a:r>
            <a:r>
              <a:rPr lang="en" sz="1100">
                <a:solidFill>
                  <a:srgbClr val="212121"/>
                </a:solidFill>
                <a:latin typeface="Roboto"/>
                <a:ea typeface="Roboto"/>
                <a:cs typeface="Roboto"/>
                <a:sym typeface="Roboto"/>
              </a:rPr>
              <a:t>.</a:t>
            </a:r>
            <a:endParaRPr b="1" sz="1100">
              <a:solidFill>
                <a:srgbClr val="212121"/>
              </a:solidFill>
              <a:latin typeface="Roboto"/>
              <a:ea typeface="Roboto"/>
              <a:cs typeface="Roboto"/>
              <a:sym typeface="Roboto"/>
            </a:endParaRPr>
          </a:p>
        </p:txBody>
      </p:sp>
      <p:sp>
        <p:nvSpPr>
          <p:cNvPr id="364" name="Google Shape;364;p41"/>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1"/>
          <p:cNvSpPr/>
          <p:nvPr/>
        </p:nvSpPr>
        <p:spPr>
          <a:xfrm rot="-8512697">
            <a:off x="-1654550" y="182149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pic>
        <p:nvPicPr>
          <p:cNvPr id="366" name="Google Shape;366;p41"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367" name="Google Shape;367;p41"/>
          <p:cNvSpPr txBox="1"/>
          <p:nvPr>
            <p:ph type="title"/>
          </p:nvPr>
        </p:nvSpPr>
        <p:spPr>
          <a:xfrm>
            <a:off x="716100" y="6469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solidFill>
                  <a:srgbClr val="212121"/>
                </a:solidFill>
                <a:latin typeface="Roboto"/>
                <a:ea typeface="Roboto"/>
                <a:cs typeface="Roboto"/>
                <a:sym typeface="Roboto"/>
              </a:rPr>
              <a:t>Revenue</a:t>
            </a:r>
            <a:endParaRPr sz="3600">
              <a:solidFill>
                <a:srgbClr val="212121"/>
              </a:solidFill>
              <a:latin typeface="Roboto"/>
              <a:ea typeface="Roboto"/>
              <a:cs typeface="Roboto"/>
              <a:sym typeface="Roboto"/>
            </a:endParaRPr>
          </a:p>
        </p:txBody>
      </p:sp>
      <p:sp>
        <p:nvSpPr>
          <p:cNvPr id="368" name="Google Shape;368;p41"/>
          <p:cNvSpPr txBox="1"/>
          <p:nvPr>
            <p:ph idx="1" type="subTitle"/>
          </p:nvPr>
        </p:nvSpPr>
        <p:spPr>
          <a:xfrm>
            <a:off x="4251125" y="2820100"/>
            <a:ext cx="4092600" cy="870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200">
                <a:solidFill>
                  <a:srgbClr val="212121"/>
                </a:solidFill>
                <a:latin typeface="Roboto"/>
                <a:ea typeface="Roboto"/>
                <a:cs typeface="Roboto"/>
                <a:sym typeface="Roboto"/>
              </a:rPr>
              <a:t>Revenue Concentration Risk,</a:t>
            </a:r>
            <a:r>
              <a:rPr b="1" lang="en" sz="1200">
                <a:solidFill>
                  <a:srgbClr val="212121"/>
                </a:solidFill>
                <a:latin typeface="Roboto"/>
                <a:ea typeface="Roboto"/>
                <a:cs typeface="Roboto"/>
                <a:sym typeface="Roboto"/>
              </a:rPr>
              <a:t> &gt;85% of revenue comes from SMS + WhatsApp.</a:t>
            </a:r>
            <a:endParaRPr sz="1200">
              <a:solidFill>
                <a:srgbClr val="212121"/>
              </a:solidFill>
              <a:latin typeface="Roboto"/>
              <a:ea typeface="Roboto"/>
              <a:cs typeface="Roboto"/>
              <a:sym typeface="Roboto"/>
            </a:endParaRPr>
          </a:p>
        </p:txBody>
      </p:sp>
      <p:sp>
        <p:nvSpPr>
          <p:cNvPr id="369" name="Google Shape;369;p41"/>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latin typeface="Roboto"/>
                <a:ea typeface="Roboto"/>
                <a:cs typeface="Roboto"/>
                <a:sym typeface="Roboto"/>
              </a:rPr>
              <a:t>Disclaimer</a:t>
            </a:r>
            <a:endParaRPr sz="1100">
              <a:solidFill>
                <a:srgbClr val="980000"/>
              </a:solidFill>
              <a:latin typeface="Roboto"/>
              <a:ea typeface="Roboto"/>
              <a:cs typeface="Roboto"/>
              <a:sym typeface="Roboto"/>
            </a:endParaRPr>
          </a:p>
          <a:p>
            <a:pPr indent="0" lvl="0" marL="0" rtl="0" algn="l">
              <a:spcBef>
                <a:spcPts val="0"/>
              </a:spcBef>
              <a:spcAft>
                <a:spcPts val="0"/>
              </a:spcAft>
              <a:buNone/>
            </a:pPr>
            <a:r>
              <a:rPr lang="en" sz="900">
                <a:solidFill>
                  <a:srgbClr val="980000"/>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980000"/>
              </a:solidFill>
              <a:latin typeface="Roboto"/>
              <a:ea typeface="Roboto"/>
              <a:cs typeface="Roboto"/>
              <a:sym typeface="Roboto"/>
            </a:endParaRPr>
          </a:p>
        </p:txBody>
      </p:sp>
      <p:pic>
        <p:nvPicPr>
          <p:cNvPr id="370" name="Google Shape;370;p41"/>
          <p:cNvPicPr preferRelativeResize="0"/>
          <p:nvPr/>
        </p:nvPicPr>
        <p:blipFill>
          <a:blip r:embed="rId4">
            <a:alphaModFix/>
          </a:blip>
          <a:stretch>
            <a:fillRect/>
          </a:stretch>
        </p:blipFill>
        <p:spPr>
          <a:xfrm>
            <a:off x="1366351" y="1551275"/>
            <a:ext cx="2389750" cy="2090400"/>
          </a:xfrm>
          <a:prstGeom prst="rect">
            <a:avLst/>
          </a:prstGeom>
          <a:noFill/>
          <a:ln>
            <a:noFill/>
          </a:ln>
        </p:spPr>
      </p:pic>
      <p:sp>
        <p:nvSpPr>
          <p:cNvPr id="371" name="Google Shape;371;p41"/>
          <p:cNvSpPr txBox="1"/>
          <p:nvPr>
            <p:ph idx="1" type="subTitle"/>
          </p:nvPr>
        </p:nvSpPr>
        <p:spPr>
          <a:xfrm>
            <a:off x="1532675" y="3525600"/>
            <a:ext cx="2057100" cy="46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12121"/>
                </a:solidFill>
                <a:latin typeface="Roboto"/>
                <a:ea typeface="Roboto"/>
                <a:cs typeface="Roboto"/>
                <a:sym typeface="Roboto"/>
              </a:rPr>
              <a:t>Total All Revenue</a:t>
            </a:r>
            <a:endParaRPr sz="1200">
              <a:solidFill>
                <a:srgbClr val="212121"/>
              </a:solidFill>
              <a:latin typeface="Roboto"/>
              <a:ea typeface="Roboto"/>
              <a:cs typeface="Roboto"/>
              <a:sym typeface="Roboto"/>
            </a:endParaRPr>
          </a:p>
          <a:p>
            <a:pPr indent="0" lvl="0" marL="0" marR="0" rtl="0" algn="ctr">
              <a:lnSpc>
                <a:spcPct val="100000"/>
              </a:lnSpc>
              <a:spcBef>
                <a:spcPts val="0"/>
              </a:spcBef>
              <a:spcAft>
                <a:spcPts val="0"/>
              </a:spcAft>
              <a:buNone/>
            </a:pPr>
            <a:r>
              <a:rPr b="1" lang="en" sz="1200">
                <a:solidFill>
                  <a:srgbClr val="212121"/>
                </a:solidFill>
                <a:latin typeface="Roboto"/>
                <a:ea typeface="Roboto"/>
                <a:cs typeface="Roboto"/>
                <a:sym typeface="Roboto"/>
              </a:rPr>
              <a:t>Rp. 25.946.420</a:t>
            </a:r>
            <a:endParaRPr b="1" sz="1200">
              <a:solidFill>
                <a:srgbClr val="21212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 name="Shape 375"/>
        <p:cNvGrpSpPr/>
        <p:nvPr/>
      </p:nvGrpSpPr>
      <p:grpSpPr>
        <a:xfrm>
          <a:off x="0" y="0"/>
          <a:ext cx="0" cy="0"/>
          <a:chOff x="0" y="0"/>
          <a:chExt cx="0" cy="0"/>
        </a:xfrm>
      </p:grpSpPr>
      <p:sp>
        <p:nvSpPr>
          <p:cNvPr id="376" name="Google Shape;376;p42"/>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2"/>
          <p:cNvSpPr txBox="1"/>
          <p:nvPr>
            <p:ph idx="1" type="subTitle"/>
          </p:nvPr>
        </p:nvSpPr>
        <p:spPr>
          <a:xfrm>
            <a:off x="3666475" y="1723063"/>
            <a:ext cx="5086200" cy="1626600"/>
          </a:xfrm>
          <a:prstGeom prst="rect">
            <a:avLst/>
          </a:prstGeom>
        </p:spPr>
        <p:txBody>
          <a:bodyPr anchorCtr="0" anchor="t" bIns="91425" lIns="91425" spcFirstLastPara="1" rIns="91425" wrap="square" tIns="91425">
            <a:noAutofit/>
          </a:bodyPr>
          <a:lstStyle/>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SMS is a </a:t>
            </a:r>
            <a:r>
              <a:rPr b="1" lang="en" sz="1100">
                <a:solidFill>
                  <a:srgbClr val="212121"/>
                </a:solidFill>
                <a:latin typeface="Roboto"/>
                <a:ea typeface="Roboto"/>
                <a:cs typeface="Roboto"/>
                <a:sym typeface="Roboto"/>
              </a:rPr>
              <a:t>premium channel.</a:t>
            </a:r>
            <a:r>
              <a:rPr lang="en" sz="1100">
                <a:solidFill>
                  <a:srgbClr val="212121"/>
                </a:solidFill>
                <a:latin typeface="Roboto"/>
                <a:ea typeface="Roboto"/>
                <a:cs typeface="Roboto"/>
                <a:sym typeface="Roboto"/>
              </a:rPr>
              <a:t> Although the volume is not the largest, each transaction 2.5x of WhatsApp &amp; 12x of email.</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WhatsApp is a </a:t>
            </a:r>
            <a:r>
              <a:rPr b="1" lang="en" sz="1100">
                <a:solidFill>
                  <a:srgbClr val="212121"/>
                </a:solidFill>
                <a:latin typeface="Roboto"/>
                <a:ea typeface="Roboto"/>
                <a:cs typeface="Roboto"/>
                <a:sym typeface="Roboto"/>
              </a:rPr>
              <a:t>massive volume driver</a:t>
            </a:r>
            <a:r>
              <a:rPr lang="en" sz="1100">
                <a:solidFill>
                  <a:srgbClr val="212121"/>
                </a:solidFill>
                <a:latin typeface="Roboto"/>
                <a:ea typeface="Roboto"/>
                <a:cs typeface="Roboto"/>
                <a:sym typeface="Roboto"/>
              </a:rPr>
              <a:t>, but pricing/value per transaction is still moderate.</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Email is a </a:t>
            </a:r>
            <a:r>
              <a:rPr b="1" lang="en" sz="1100">
                <a:solidFill>
                  <a:srgbClr val="212121"/>
                </a:solidFill>
                <a:latin typeface="Roboto"/>
                <a:ea typeface="Roboto"/>
                <a:cs typeface="Roboto"/>
                <a:sym typeface="Roboto"/>
              </a:rPr>
              <a:t>cheap channel</a:t>
            </a:r>
            <a:r>
              <a:rPr lang="en" sz="1100">
                <a:solidFill>
                  <a:srgbClr val="212121"/>
                </a:solidFill>
                <a:latin typeface="Roboto"/>
                <a:ea typeface="Roboto"/>
                <a:cs typeface="Roboto"/>
                <a:sym typeface="Roboto"/>
              </a:rPr>
              <a:t>. It's suitable for large scale, but it contributes almost </a:t>
            </a:r>
            <a:r>
              <a:rPr b="1" lang="en" sz="1100">
                <a:solidFill>
                  <a:srgbClr val="212121"/>
                </a:solidFill>
                <a:latin typeface="Roboto"/>
                <a:ea typeface="Roboto"/>
                <a:cs typeface="Roboto"/>
                <a:sym typeface="Roboto"/>
              </a:rPr>
              <a:t>nothing to revenue</a:t>
            </a:r>
            <a:r>
              <a:rPr lang="en" sz="1100">
                <a:solidFill>
                  <a:srgbClr val="212121"/>
                </a:solidFill>
                <a:latin typeface="Roboto"/>
                <a:ea typeface="Roboto"/>
                <a:cs typeface="Roboto"/>
                <a:sym typeface="Roboto"/>
              </a:rPr>
              <a:t>.</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Calls are </a:t>
            </a:r>
            <a:r>
              <a:rPr b="1" lang="en" sz="1100">
                <a:solidFill>
                  <a:srgbClr val="212121"/>
                </a:solidFill>
                <a:latin typeface="Roboto"/>
                <a:ea typeface="Roboto"/>
                <a:cs typeface="Roboto"/>
                <a:sym typeface="Roboto"/>
              </a:rPr>
              <a:t>relatively expensive to operate</a:t>
            </a:r>
            <a:r>
              <a:rPr lang="en" sz="1100">
                <a:solidFill>
                  <a:srgbClr val="212121"/>
                </a:solidFill>
                <a:latin typeface="Roboto"/>
                <a:ea typeface="Roboto"/>
                <a:cs typeface="Roboto"/>
                <a:sym typeface="Roboto"/>
              </a:rPr>
              <a:t>. This channel is for specific cases, not mass usage.</a:t>
            </a:r>
            <a:endParaRPr b="1" sz="1100">
              <a:solidFill>
                <a:srgbClr val="212121"/>
              </a:solidFill>
              <a:latin typeface="Roboto"/>
              <a:ea typeface="Roboto"/>
              <a:cs typeface="Roboto"/>
              <a:sym typeface="Roboto"/>
            </a:endParaRPr>
          </a:p>
        </p:txBody>
      </p:sp>
      <p:sp>
        <p:nvSpPr>
          <p:cNvPr id="378" name="Google Shape;378;p42"/>
          <p:cNvSpPr/>
          <p:nvPr/>
        </p:nvSpPr>
        <p:spPr>
          <a:xfrm rot="-8512697">
            <a:off x="7593150" y="-71045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pic>
        <p:nvPicPr>
          <p:cNvPr id="379" name="Google Shape;379;p42"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380" name="Google Shape;380;p42"/>
          <p:cNvSpPr txBox="1"/>
          <p:nvPr>
            <p:ph type="title"/>
          </p:nvPr>
        </p:nvSpPr>
        <p:spPr>
          <a:xfrm>
            <a:off x="716100" y="6469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solidFill>
                  <a:srgbClr val="212121"/>
                </a:solidFill>
                <a:latin typeface="Roboto"/>
                <a:ea typeface="Roboto"/>
                <a:cs typeface="Roboto"/>
                <a:sym typeface="Roboto"/>
              </a:rPr>
              <a:t>Average Per Transaction</a:t>
            </a:r>
            <a:endParaRPr sz="3600">
              <a:solidFill>
                <a:srgbClr val="212121"/>
              </a:solidFill>
              <a:latin typeface="Roboto"/>
              <a:ea typeface="Roboto"/>
              <a:cs typeface="Roboto"/>
              <a:sym typeface="Roboto"/>
            </a:endParaRPr>
          </a:p>
        </p:txBody>
      </p:sp>
      <p:sp>
        <p:nvSpPr>
          <p:cNvPr id="381" name="Google Shape;381;p42"/>
          <p:cNvSpPr txBox="1"/>
          <p:nvPr>
            <p:ph idx="1" type="subTitle"/>
          </p:nvPr>
        </p:nvSpPr>
        <p:spPr>
          <a:xfrm>
            <a:off x="3872350" y="3274413"/>
            <a:ext cx="4880400" cy="685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200">
                <a:solidFill>
                  <a:srgbClr val="212121"/>
                </a:solidFill>
                <a:latin typeface="Roboto"/>
                <a:ea typeface="Roboto"/>
                <a:cs typeface="Roboto"/>
                <a:sym typeface="Roboto"/>
              </a:rPr>
              <a:t>SMS delivers </a:t>
            </a:r>
            <a:r>
              <a:rPr b="1" lang="en" sz="1200">
                <a:solidFill>
                  <a:srgbClr val="212121"/>
                </a:solidFill>
                <a:latin typeface="Roboto"/>
                <a:ea typeface="Roboto"/>
                <a:cs typeface="Roboto"/>
                <a:sym typeface="Roboto"/>
              </a:rPr>
              <a:t>the highest value per transaction</a:t>
            </a:r>
            <a:r>
              <a:rPr lang="en" sz="1200">
                <a:solidFill>
                  <a:srgbClr val="212121"/>
                </a:solidFill>
                <a:latin typeface="Roboto"/>
                <a:ea typeface="Roboto"/>
                <a:cs typeface="Roboto"/>
                <a:sym typeface="Roboto"/>
              </a:rPr>
              <a:t>, while WhatsApp drives volume with monetization potential. Email is a low-cost support channel, and Call serves high-touch use cases.</a:t>
            </a:r>
            <a:endParaRPr sz="1200">
              <a:solidFill>
                <a:srgbClr val="212121"/>
              </a:solidFill>
              <a:latin typeface="Roboto"/>
              <a:ea typeface="Roboto"/>
              <a:cs typeface="Roboto"/>
              <a:sym typeface="Roboto"/>
            </a:endParaRPr>
          </a:p>
        </p:txBody>
      </p:sp>
      <p:sp>
        <p:nvSpPr>
          <p:cNvPr id="382" name="Google Shape;382;p42"/>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latin typeface="Roboto"/>
                <a:ea typeface="Roboto"/>
                <a:cs typeface="Roboto"/>
                <a:sym typeface="Roboto"/>
              </a:rPr>
              <a:t>Disclaimer</a:t>
            </a:r>
            <a:endParaRPr sz="1100">
              <a:solidFill>
                <a:srgbClr val="980000"/>
              </a:solidFill>
              <a:latin typeface="Roboto"/>
              <a:ea typeface="Roboto"/>
              <a:cs typeface="Roboto"/>
              <a:sym typeface="Roboto"/>
            </a:endParaRPr>
          </a:p>
          <a:p>
            <a:pPr indent="0" lvl="0" marL="0" rtl="0" algn="l">
              <a:spcBef>
                <a:spcPts val="0"/>
              </a:spcBef>
              <a:spcAft>
                <a:spcPts val="0"/>
              </a:spcAft>
              <a:buNone/>
            </a:pPr>
            <a:r>
              <a:rPr lang="en" sz="900">
                <a:solidFill>
                  <a:srgbClr val="980000"/>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980000"/>
              </a:solidFill>
              <a:latin typeface="Roboto"/>
              <a:ea typeface="Roboto"/>
              <a:cs typeface="Roboto"/>
              <a:sym typeface="Roboto"/>
            </a:endParaRPr>
          </a:p>
        </p:txBody>
      </p:sp>
      <p:pic>
        <p:nvPicPr>
          <p:cNvPr id="383" name="Google Shape;383;p42"/>
          <p:cNvPicPr preferRelativeResize="0"/>
          <p:nvPr/>
        </p:nvPicPr>
        <p:blipFill>
          <a:blip r:embed="rId4">
            <a:alphaModFix/>
          </a:blip>
          <a:stretch>
            <a:fillRect/>
          </a:stretch>
        </p:blipFill>
        <p:spPr>
          <a:xfrm>
            <a:off x="262750" y="1783464"/>
            <a:ext cx="3609599" cy="21163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87" name="Shape 387"/>
        <p:cNvGrpSpPr/>
        <p:nvPr/>
      </p:nvGrpSpPr>
      <p:grpSpPr>
        <a:xfrm>
          <a:off x="0" y="0"/>
          <a:ext cx="0" cy="0"/>
          <a:chOff x="0" y="0"/>
          <a:chExt cx="0" cy="0"/>
        </a:xfrm>
      </p:grpSpPr>
      <p:pic>
        <p:nvPicPr>
          <p:cNvPr id="388" name="Google Shape;388;p43"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389" name="Google Shape;389;p43"/>
          <p:cNvSpPr txBox="1"/>
          <p:nvPr>
            <p:ph idx="4294967295" type="title"/>
          </p:nvPr>
        </p:nvSpPr>
        <p:spPr>
          <a:xfrm>
            <a:off x="-117425" y="1762975"/>
            <a:ext cx="6462600" cy="2393700"/>
          </a:xfrm>
          <a:prstGeom prst="rect">
            <a:avLst/>
          </a:prstGeom>
        </p:spPr>
        <p:txBody>
          <a:bodyPr anchorCtr="0" anchor="t" bIns="91425" lIns="731500" spcFirstLastPara="1" rIns="731500" wrap="square" tIns="91425">
            <a:noAutofit/>
          </a:bodyPr>
          <a:lstStyle/>
          <a:p>
            <a:pPr indent="0" lvl="0" marL="0" rtl="0" algn="l">
              <a:spcBef>
                <a:spcPts val="0"/>
              </a:spcBef>
              <a:spcAft>
                <a:spcPts val="0"/>
              </a:spcAft>
              <a:buNone/>
            </a:pPr>
            <a:r>
              <a:rPr lang="en" sz="3000">
                <a:solidFill>
                  <a:srgbClr val="212121"/>
                </a:solidFill>
                <a:latin typeface="Roboto"/>
                <a:ea typeface="Roboto"/>
                <a:cs typeface="Roboto"/>
                <a:sym typeface="Roboto"/>
              </a:rPr>
              <a:t>SMS for </a:t>
            </a:r>
            <a:r>
              <a:rPr b="1" lang="en" sz="3000">
                <a:solidFill>
                  <a:srgbClr val="212121"/>
                </a:solidFill>
                <a:latin typeface="Roboto"/>
                <a:ea typeface="Roboto"/>
                <a:cs typeface="Roboto"/>
                <a:sym typeface="Roboto"/>
              </a:rPr>
              <a:t>critical reliability</a:t>
            </a:r>
            <a:r>
              <a:rPr lang="en" sz="3000">
                <a:solidFill>
                  <a:srgbClr val="212121"/>
                </a:solidFill>
                <a:latin typeface="Roboto"/>
                <a:ea typeface="Roboto"/>
                <a:cs typeface="Roboto"/>
                <a:sym typeface="Roboto"/>
              </a:rPr>
              <a:t>, </a:t>
            </a:r>
            <a:r>
              <a:rPr b="1" lang="en" sz="3000">
                <a:solidFill>
                  <a:srgbClr val="212121"/>
                </a:solidFill>
                <a:latin typeface="Roboto"/>
                <a:ea typeface="Roboto"/>
                <a:cs typeface="Roboto"/>
                <a:sym typeface="Roboto"/>
              </a:rPr>
              <a:t>optimize </a:t>
            </a:r>
            <a:r>
              <a:rPr lang="en" sz="3000">
                <a:solidFill>
                  <a:srgbClr val="212121"/>
                </a:solidFill>
                <a:latin typeface="Roboto"/>
                <a:ea typeface="Roboto"/>
                <a:cs typeface="Roboto"/>
                <a:sym typeface="Roboto"/>
              </a:rPr>
              <a:t>WhatsApp </a:t>
            </a:r>
            <a:br>
              <a:rPr lang="en" sz="3000">
                <a:solidFill>
                  <a:srgbClr val="212121"/>
                </a:solidFill>
                <a:latin typeface="Roboto"/>
                <a:ea typeface="Roboto"/>
                <a:cs typeface="Roboto"/>
                <a:sym typeface="Roboto"/>
              </a:rPr>
            </a:br>
            <a:r>
              <a:rPr lang="en" sz="3000">
                <a:solidFill>
                  <a:srgbClr val="212121"/>
                </a:solidFill>
                <a:latin typeface="Roboto"/>
                <a:ea typeface="Roboto"/>
                <a:cs typeface="Roboto"/>
                <a:sym typeface="Roboto"/>
              </a:rPr>
              <a:t>and Email, limit Calls.</a:t>
            </a:r>
            <a:endParaRPr sz="3000">
              <a:solidFill>
                <a:srgbClr val="212121"/>
              </a:solidFill>
              <a:latin typeface="Roboto"/>
              <a:ea typeface="Roboto"/>
              <a:cs typeface="Roboto"/>
              <a:sym typeface="Roboto"/>
            </a:endParaRPr>
          </a:p>
        </p:txBody>
      </p:sp>
      <p:pic>
        <p:nvPicPr>
          <p:cNvPr id="390" name="Google Shape;390;p43" title="sms_3988094.png"/>
          <p:cNvPicPr preferRelativeResize="0"/>
          <p:nvPr/>
        </p:nvPicPr>
        <p:blipFill>
          <a:blip r:embed="rId4">
            <a:alphaModFix/>
          </a:blip>
          <a:stretch>
            <a:fillRect/>
          </a:stretch>
        </p:blipFill>
        <p:spPr>
          <a:xfrm>
            <a:off x="6040900" y="2070450"/>
            <a:ext cx="2494025" cy="2494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4" name="Shape 394"/>
        <p:cNvGrpSpPr/>
        <p:nvPr/>
      </p:nvGrpSpPr>
      <p:grpSpPr>
        <a:xfrm>
          <a:off x="0" y="0"/>
          <a:ext cx="0" cy="0"/>
          <a:chOff x="0" y="0"/>
          <a:chExt cx="0" cy="0"/>
        </a:xfrm>
      </p:grpSpPr>
      <p:pic>
        <p:nvPicPr>
          <p:cNvPr id="395" name="Google Shape;395;p44"/>
          <p:cNvPicPr preferRelativeResize="0"/>
          <p:nvPr/>
        </p:nvPicPr>
        <p:blipFill>
          <a:blip r:embed="rId3">
            <a:alphaModFix/>
          </a:blip>
          <a:stretch>
            <a:fillRect/>
          </a:stretch>
        </p:blipFill>
        <p:spPr>
          <a:xfrm>
            <a:off x="277838" y="2685874"/>
            <a:ext cx="2088401" cy="1537750"/>
          </a:xfrm>
          <a:prstGeom prst="rect">
            <a:avLst/>
          </a:prstGeom>
          <a:noFill/>
          <a:ln>
            <a:noFill/>
          </a:ln>
        </p:spPr>
      </p:pic>
      <p:sp>
        <p:nvSpPr>
          <p:cNvPr id="396" name="Google Shape;396;p44"/>
          <p:cNvSpPr txBox="1"/>
          <p:nvPr>
            <p:ph idx="1" type="subTitle"/>
          </p:nvPr>
        </p:nvSpPr>
        <p:spPr>
          <a:xfrm>
            <a:off x="4868650" y="1753363"/>
            <a:ext cx="3959100" cy="1400400"/>
          </a:xfrm>
          <a:prstGeom prst="rect">
            <a:avLst/>
          </a:prstGeom>
        </p:spPr>
        <p:txBody>
          <a:bodyPr anchorCtr="0" anchor="t" bIns="91425" lIns="91425" spcFirstLastPara="1" rIns="91425" wrap="square" tIns="91425">
            <a:noAutofit/>
          </a:bodyPr>
          <a:lstStyle/>
          <a:p>
            <a:pPr indent="-298450" lvl="0" marL="457200" rtl="0" algn="just">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SMS Is the </a:t>
            </a:r>
            <a:r>
              <a:rPr b="1" lang="en" sz="1100">
                <a:solidFill>
                  <a:srgbClr val="212121"/>
                </a:solidFill>
                <a:latin typeface="Roboto"/>
                <a:ea typeface="Roboto"/>
                <a:cs typeface="Roboto"/>
                <a:sym typeface="Roboto"/>
              </a:rPr>
              <a:t>Most Reliable </a:t>
            </a:r>
            <a:r>
              <a:rPr lang="en" sz="1100">
                <a:solidFill>
                  <a:srgbClr val="212121"/>
                </a:solidFill>
                <a:latin typeface="Roboto"/>
                <a:ea typeface="Roboto"/>
                <a:cs typeface="Roboto"/>
                <a:sym typeface="Roboto"/>
              </a:rPr>
              <a:t>and </a:t>
            </a:r>
            <a:r>
              <a:rPr b="1" lang="en" sz="1100">
                <a:solidFill>
                  <a:srgbClr val="212121"/>
                </a:solidFill>
                <a:latin typeface="Roboto"/>
                <a:ea typeface="Roboto"/>
                <a:cs typeface="Roboto"/>
                <a:sym typeface="Roboto"/>
              </a:rPr>
              <a:t>Effective </a:t>
            </a:r>
            <a:r>
              <a:rPr lang="en" sz="1100">
                <a:solidFill>
                  <a:srgbClr val="212121"/>
                </a:solidFill>
                <a:latin typeface="Roboto"/>
                <a:ea typeface="Roboto"/>
                <a:cs typeface="Roboto"/>
                <a:sym typeface="Roboto"/>
              </a:rPr>
              <a:t>Channel.</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Roboto"/>
              <a:buChar char="●"/>
            </a:pPr>
            <a:r>
              <a:rPr lang="en" sz="1100">
                <a:solidFill>
                  <a:srgbClr val="212121"/>
                </a:solidFill>
                <a:latin typeface="Roboto"/>
                <a:ea typeface="Roboto"/>
                <a:cs typeface="Roboto"/>
                <a:sym typeface="Roboto"/>
              </a:rPr>
              <a:t>WhatsApp Performs Well but Suffers from Latency Issues.</a:t>
            </a:r>
            <a:endParaRPr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Email Is Moderately Effective with </a:t>
            </a:r>
            <a:r>
              <a:rPr b="1" lang="en" sz="1100">
                <a:solidFill>
                  <a:srgbClr val="212121"/>
                </a:solidFill>
                <a:latin typeface="Roboto"/>
                <a:ea typeface="Roboto"/>
                <a:cs typeface="Roboto"/>
                <a:sym typeface="Roboto"/>
              </a:rPr>
              <a:t>Higher Pending Risk.</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Roboto"/>
              <a:buChar char="●"/>
            </a:pPr>
            <a:r>
              <a:rPr b="1" lang="en" sz="1100">
                <a:solidFill>
                  <a:srgbClr val="212121"/>
                </a:solidFill>
                <a:latin typeface="Roboto"/>
                <a:ea typeface="Roboto"/>
                <a:cs typeface="Roboto"/>
                <a:sym typeface="Roboto"/>
              </a:rPr>
              <a:t>Call Channel Is Highly Ineffective Due to User Behavior</a:t>
            </a:r>
            <a:endParaRPr b="1" sz="1100">
              <a:solidFill>
                <a:srgbClr val="212121"/>
              </a:solidFill>
              <a:latin typeface="Roboto"/>
              <a:ea typeface="Roboto"/>
              <a:cs typeface="Roboto"/>
              <a:sym typeface="Roboto"/>
            </a:endParaRPr>
          </a:p>
        </p:txBody>
      </p:sp>
      <p:sp>
        <p:nvSpPr>
          <p:cNvPr id="397" name="Google Shape;397;p44"/>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4"/>
          <p:cNvSpPr/>
          <p:nvPr/>
        </p:nvSpPr>
        <p:spPr>
          <a:xfrm rot="-8512697">
            <a:off x="7393600" y="3975820"/>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pic>
        <p:nvPicPr>
          <p:cNvPr id="399" name="Google Shape;399;p44" title="Salinan Logo RevoU x OCA x Telkom.png"/>
          <p:cNvPicPr preferRelativeResize="0"/>
          <p:nvPr/>
        </p:nvPicPr>
        <p:blipFill>
          <a:blip r:embed="rId4">
            <a:alphaModFix/>
          </a:blip>
          <a:stretch>
            <a:fillRect/>
          </a:stretch>
        </p:blipFill>
        <p:spPr>
          <a:xfrm>
            <a:off x="0" y="0"/>
            <a:ext cx="2349829" cy="870300"/>
          </a:xfrm>
          <a:prstGeom prst="rect">
            <a:avLst/>
          </a:prstGeom>
          <a:noFill/>
          <a:ln>
            <a:noFill/>
          </a:ln>
        </p:spPr>
      </p:pic>
      <p:sp>
        <p:nvSpPr>
          <p:cNvPr id="400" name="Google Shape;400;p44"/>
          <p:cNvSpPr txBox="1"/>
          <p:nvPr>
            <p:ph type="title"/>
          </p:nvPr>
        </p:nvSpPr>
        <p:spPr>
          <a:xfrm>
            <a:off x="716100" y="8703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solidFill>
                  <a:srgbClr val="212121"/>
                </a:solidFill>
                <a:latin typeface="Roboto"/>
                <a:ea typeface="Roboto"/>
                <a:cs typeface="Roboto"/>
                <a:sym typeface="Roboto"/>
              </a:rPr>
              <a:t>Quality of Service</a:t>
            </a:r>
            <a:endParaRPr sz="3600">
              <a:solidFill>
                <a:srgbClr val="212121"/>
              </a:solidFill>
              <a:latin typeface="Roboto"/>
              <a:ea typeface="Roboto"/>
              <a:cs typeface="Roboto"/>
              <a:sym typeface="Roboto"/>
            </a:endParaRPr>
          </a:p>
        </p:txBody>
      </p:sp>
      <p:sp>
        <p:nvSpPr>
          <p:cNvPr id="401" name="Google Shape;401;p44"/>
          <p:cNvSpPr txBox="1"/>
          <p:nvPr>
            <p:ph idx="1" type="subTitle"/>
          </p:nvPr>
        </p:nvSpPr>
        <p:spPr>
          <a:xfrm>
            <a:off x="4954375" y="3068038"/>
            <a:ext cx="3959100" cy="773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200">
                <a:solidFill>
                  <a:srgbClr val="212121"/>
                </a:solidFill>
                <a:latin typeface="Roboto"/>
                <a:ea typeface="Roboto"/>
                <a:cs typeface="Roboto"/>
                <a:sym typeface="Roboto"/>
              </a:rPr>
              <a:t>SMS is the most </a:t>
            </a:r>
            <a:r>
              <a:rPr b="1" lang="en" sz="1200">
                <a:solidFill>
                  <a:srgbClr val="212121"/>
                </a:solidFill>
                <a:latin typeface="Roboto"/>
                <a:ea typeface="Roboto"/>
                <a:cs typeface="Roboto"/>
                <a:sym typeface="Roboto"/>
              </a:rPr>
              <a:t>reliable channel</a:t>
            </a:r>
            <a:r>
              <a:rPr lang="en" sz="1200">
                <a:solidFill>
                  <a:srgbClr val="212121"/>
                </a:solidFill>
                <a:latin typeface="Roboto"/>
                <a:ea typeface="Roboto"/>
                <a:cs typeface="Roboto"/>
                <a:sym typeface="Roboto"/>
              </a:rPr>
              <a:t>, WhatsApp and Email show delivery </a:t>
            </a:r>
            <a:r>
              <a:rPr b="1" lang="en" sz="1200">
                <a:solidFill>
                  <a:srgbClr val="212121"/>
                </a:solidFill>
                <a:latin typeface="Roboto"/>
                <a:ea typeface="Roboto"/>
                <a:cs typeface="Roboto"/>
                <a:sym typeface="Roboto"/>
              </a:rPr>
              <a:t>delays</a:t>
            </a:r>
            <a:r>
              <a:rPr lang="en" sz="1200">
                <a:solidFill>
                  <a:srgbClr val="212121"/>
                </a:solidFill>
                <a:latin typeface="Roboto"/>
                <a:ea typeface="Roboto"/>
                <a:cs typeface="Roboto"/>
                <a:sym typeface="Roboto"/>
              </a:rPr>
              <a:t>, while Call is </a:t>
            </a:r>
            <a:r>
              <a:rPr b="1" lang="en" sz="1200">
                <a:solidFill>
                  <a:srgbClr val="212121"/>
                </a:solidFill>
                <a:latin typeface="Roboto"/>
                <a:ea typeface="Roboto"/>
                <a:cs typeface="Roboto"/>
                <a:sym typeface="Roboto"/>
              </a:rPr>
              <a:t>highly ineffective</a:t>
            </a:r>
            <a:r>
              <a:rPr lang="en" sz="1200">
                <a:solidFill>
                  <a:srgbClr val="212121"/>
                </a:solidFill>
                <a:latin typeface="Roboto"/>
                <a:ea typeface="Roboto"/>
                <a:cs typeface="Roboto"/>
                <a:sym typeface="Roboto"/>
              </a:rPr>
              <a:t> due to user non-response rather than technical failure.</a:t>
            </a:r>
            <a:endParaRPr sz="1200">
              <a:solidFill>
                <a:srgbClr val="212121"/>
              </a:solidFill>
              <a:latin typeface="Roboto"/>
              <a:ea typeface="Roboto"/>
              <a:cs typeface="Roboto"/>
              <a:sym typeface="Roboto"/>
            </a:endParaRPr>
          </a:p>
        </p:txBody>
      </p:sp>
      <p:sp>
        <p:nvSpPr>
          <p:cNvPr id="402" name="Google Shape;402;p44"/>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latin typeface="Roboto"/>
                <a:ea typeface="Roboto"/>
                <a:cs typeface="Roboto"/>
                <a:sym typeface="Roboto"/>
              </a:rPr>
              <a:t>Disclaimer</a:t>
            </a:r>
            <a:endParaRPr sz="1100">
              <a:solidFill>
                <a:srgbClr val="980000"/>
              </a:solidFill>
              <a:latin typeface="Roboto"/>
              <a:ea typeface="Roboto"/>
              <a:cs typeface="Roboto"/>
              <a:sym typeface="Roboto"/>
            </a:endParaRPr>
          </a:p>
          <a:p>
            <a:pPr indent="0" lvl="0" marL="0" rtl="0" algn="l">
              <a:spcBef>
                <a:spcPts val="0"/>
              </a:spcBef>
              <a:spcAft>
                <a:spcPts val="0"/>
              </a:spcAft>
              <a:buNone/>
            </a:pPr>
            <a:r>
              <a:rPr lang="en" sz="900">
                <a:solidFill>
                  <a:srgbClr val="980000"/>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980000"/>
              </a:solidFill>
              <a:latin typeface="Roboto"/>
              <a:ea typeface="Roboto"/>
              <a:cs typeface="Roboto"/>
              <a:sym typeface="Roboto"/>
            </a:endParaRPr>
          </a:p>
        </p:txBody>
      </p:sp>
      <p:pic>
        <p:nvPicPr>
          <p:cNvPr id="403" name="Google Shape;403;p44" title="Effectiveness per channel.png"/>
          <p:cNvPicPr preferRelativeResize="0"/>
          <p:nvPr/>
        </p:nvPicPr>
        <p:blipFill rotWithShape="1">
          <a:blip r:embed="rId5">
            <a:alphaModFix/>
          </a:blip>
          <a:srcRect b="79035" l="89509" r="785" t="2152"/>
          <a:stretch/>
        </p:blipFill>
        <p:spPr>
          <a:xfrm>
            <a:off x="1564447" y="1731761"/>
            <a:ext cx="948647" cy="746163"/>
          </a:xfrm>
          <a:prstGeom prst="rect">
            <a:avLst/>
          </a:prstGeom>
          <a:noFill/>
          <a:ln>
            <a:noFill/>
          </a:ln>
        </p:spPr>
      </p:pic>
      <p:pic>
        <p:nvPicPr>
          <p:cNvPr id="404" name="Google Shape;404;p44"/>
          <p:cNvPicPr preferRelativeResize="0"/>
          <p:nvPr/>
        </p:nvPicPr>
        <p:blipFill>
          <a:blip r:embed="rId6">
            <a:alphaModFix/>
          </a:blip>
          <a:stretch>
            <a:fillRect/>
          </a:stretch>
        </p:blipFill>
        <p:spPr>
          <a:xfrm>
            <a:off x="2265500" y="1699175"/>
            <a:ext cx="2603149" cy="18371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8" name="Shape 408"/>
        <p:cNvGrpSpPr/>
        <p:nvPr/>
      </p:nvGrpSpPr>
      <p:grpSpPr>
        <a:xfrm>
          <a:off x="0" y="0"/>
          <a:ext cx="0" cy="0"/>
          <a:chOff x="0" y="0"/>
          <a:chExt cx="0" cy="0"/>
        </a:xfrm>
      </p:grpSpPr>
      <p:pic>
        <p:nvPicPr>
          <p:cNvPr id="409" name="Google Shape;409;p45"/>
          <p:cNvPicPr preferRelativeResize="0"/>
          <p:nvPr/>
        </p:nvPicPr>
        <p:blipFill>
          <a:blip r:embed="rId3">
            <a:alphaModFix/>
          </a:blip>
          <a:stretch>
            <a:fillRect/>
          </a:stretch>
        </p:blipFill>
        <p:spPr>
          <a:xfrm>
            <a:off x="4371975" y="1515450"/>
            <a:ext cx="1877140" cy="1400400"/>
          </a:xfrm>
          <a:prstGeom prst="rect">
            <a:avLst/>
          </a:prstGeom>
          <a:noFill/>
          <a:ln>
            <a:noFill/>
          </a:ln>
        </p:spPr>
      </p:pic>
      <p:sp>
        <p:nvSpPr>
          <p:cNvPr id="410" name="Google Shape;410;p45"/>
          <p:cNvSpPr txBox="1"/>
          <p:nvPr>
            <p:ph idx="1" type="subTitle"/>
          </p:nvPr>
        </p:nvSpPr>
        <p:spPr>
          <a:xfrm>
            <a:off x="4185675" y="2868225"/>
            <a:ext cx="4684500" cy="1400400"/>
          </a:xfrm>
          <a:prstGeom prst="rect">
            <a:avLst/>
          </a:prstGeom>
        </p:spPr>
        <p:txBody>
          <a:bodyPr anchorCtr="0" anchor="t" bIns="91425" lIns="91425" spcFirstLastPara="1" rIns="91425" wrap="square" tIns="91425">
            <a:noAutofit/>
          </a:bodyPr>
          <a:lstStyle/>
          <a:p>
            <a:pPr indent="-292100" lvl="0" marL="457200" rtl="0" algn="just">
              <a:spcBef>
                <a:spcPts val="0"/>
              </a:spcBef>
              <a:spcAft>
                <a:spcPts val="0"/>
              </a:spcAft>
              <a:buClr>
                <a:srgbClr val="212121"/>
              </a:buClr>
              <a:buSzPts val="1000"/>
              <a:buChar char="●"/>
            </a:pPr>
            <a:r>
              <a:rPr lang="en" sz="1000">
                <a:solidFill>
                  <a:srgbClr val="212121"/>
                </a:solidFill>
                <a:latin typeface="Roboto"/>
                <a:ea typeface="Roboto"/>
                <a:cs typeface="Roboto"/>
                <a:sym typeface="Roboto"/>
              </a:rPr>
              <a:t>Overall Delivery Effectiveness Is </a:t>
            </a:r>
            <a:r>
              <a:rPr b="1" lang="en" sz="1000">
                <a:solidFill>
                  <a:srgbClr val="212121"/>
                </a:solidFill>
                <a:latin typeface="Roboto"/>
                <a:ea typeface="Roboto"/>
                <a:cs typeface="Roboto"/>
                <a:sym typeface="Roboto"/>
              </a:rPr>
              <a:t>Strong</a:t>
            </a:r>
            <a:r>
              <a:rPr lang="en" sz="1000">
                <a:solidFill>
                  <a:srgbClr val="212121"/>
                </a:solidFill>
                <a:latin typeface="Roboto"/>
                <a:ea typeface="Roboto"/>
                <a:cs typeface="Roboto"/>
                <a:sym typeface="Roboto"/>
              </a:rPr>
              <a:t>, but </a:t>
            </a:r>
            <a:r>
              <a:rPr b="1" lang="en" sz="1000">
                <a:solidFill>
                  <a:srgbClr val="212121"/>
                </a:solidFill>
                <a:latin typeface="Roboto"/>
                <a:ea typeface="Roboto"/>
                <a:cs typeface="Roboto"/>
                <a:sym typeface="Roboto"/>
              </a:rPr>
              <a:t>Delays </a:t>
            </a:r>
            <a:r>
              <a:rPr lang="en" sz="1000">
                <a:solidFill>
                  <a:srgbClr val="212121"/>
                </a:solidFill>
                <a:latin typeface="Roboto"/>
                <a:ea typeface="Roboto"/>
                <a:cs typeface="Roboto"/>
                <a:sym typeface="Roboto"/>
              </a:rPr>
              <a:t>Remain a Concern</a:t>
            </a:r>
            <a:endParaRPr sz="1000">
              <a:solidFill>
                <a:srgbClr val="212121"/>
              </a:solidFill>
              <a:latin typeface="Roboto"/>
              <a:ea typeface="Roboto"/>
              <a:cs typeface="Roboto"/>
              <a:sym typeface="Roboto"/>
            </a:endParaRPr>
          </a:p>
          <a:p>
            <a:pPr indent="-292100" lvl="0" marL="457200" rtl="0" algn="just">
              <a:spcBef>
                <a:spcPts val="0"/>
              </a:spcBef>
              <a:spcAft>
                <a:spcPts val="0"/>
              </a:spcAft>
              <a:buClr>
                <a:srgbClr val="212121"/>
              </a:buClr>
              <a:buSzPts val="1000"/>
              <a:buChar char="●"/>
            </a:pPr>
            <a:r>
              <a:rPr lang="en" sz="1000">
                <a:solidFill>
                  <a:srgbClr val="212121"/>
                </a:solidFill>
                <a:latin typeface="Roboto"/>
                <a:ea typeface="Roboto"/>
                <a:cs typeface="Roboto"/>
                <a:sym typeface="Roboto"/>
              </a:rPr>
              <a:t>SMS is the </a:t>
            </a:r>
            <a:r>
              <a:rPr b="1" lang="en" sz="1000">
                <a:solidFill>
                  <a:srgbClr val="212121"/>
                </a:solidFill>
                <a:latin typeface="Roboto"/>
                <a:ea typeface="Roboto"/>
                <a:cs typeface="Roboto"/>
                <a:sym typeface="Roboto"/>
              </a:rPr>
              <a:t>most reliable channel.</a:t>
            </a:r>
            <a:r>
              <a:rPr lang="en" sz="1000">
                <a:solidFill>
                  <a:srgbClr val="212121"/>
                </a:solidFill>
                <a:latin typeface="Roboto"/>
                <a:ea typeface="Roboto"/>
                <a:cs typeface="Roboto"/>
                <a:sym typeface="Roboto"/>
              </a:rPr>
              <a:t> There are </a:t>
            </a:r>
            <a:r>
              <a:rPr b="1" lang="en" sz="1000">
                <a:solidFill>
                  <a:srgbClr val="212121"/>
                </a:solidFill>
                <a:latin typeface="Roboto"/>
                <a:ea typeface="Roboto"/>
                <a:cs typeface="Roboto"/>
                <a:sym typeface="Roboto"/>
              </a:rPr>
              <a:t>almost zero issues</a:t>
            </a:r>
            <a:r>
              <a:rPr lang="en" sz="1000">
                <a:solidFill>
                  <a:srgbClr val="212121"/>
                </a:solidFill>
                <a:latin typeface="Roboto"/>
                <a:ea typeface="Roboto"/>
                <a:cs typeface="Roboto"/>
                <a:sym typeface="Roboto"/>
              </a:rPr>
              <a:t>, making it </a:t>
            </a:r>
            <a:r>
              <a:rPr b="1" lang="en" sz="1000">
                <a:solidFill>
                  <a:srgbClr val="212121"/>
                </a:solidFill>
                <a:latin typeface="Roboto"/>
                <a:ea typeface="Roboto"/>
                <a:cs typeface="Roboto"/>
                <a:sym typeface="Roboto"/>
              </a:rPr>
              <a:t>suitable for critical communication.</a:t>
            </a:r>
            <a:endParaRPr b="1" sz="1000">
              <a:solidFill>
                <a:srgbClr val="212121"/>
              </a:solidFill>
              <a:latin typeface="Roboto"/>
              <a:ea typeface="Roboto"/>
              <a:cs typeface="Roboto"/>
              <a:sym typeface="Roboto"/>
            </a:endParaRPr>
          </a:p>
          <a:p>
            <a:pPr indent="-292100" lvl="0" marL="457200" rtl="0" algn="just">
              <a:spcBef>
                <a:spcPts val="0"/>
              </a:spcBef>
              <a:spcAft>
                <a:spcPts val="0"/>
              </a:spcAft>
              <a:buClr>
                <a:srgbClr val="212121"/>
              </a:buClr>
              <a:buSzPts val="1000"/>
              <a:buFont typeface="Arial"/>
              <a:buChar char="●"/>
            </a:pPr>
            <a:r>
              <a:rPr lang="en" sz="1000">
                <a:solidFill>
                  <a:srgbClr val="212121"/>
                </a:solidFill>
                <a:latin typeface="Roboto"/>
                <a:ea typeface="Roboto"/>
                <a:cs typeface="Roboto"/>
                <a:sym typeface="Roboto"/>
              </a:rPr>
              <a:t>The </a:t>
            </a:r>
            <a:r>
              <a:rPr b="1" lang="en" sz="1000">
                <a:solidFill>
                  <a:srgbClr val="212121"/>
                </a:solidFill>
                <a:latin typeface="Roboto"/>
                <a:ea typeface="Roboto"/>
                <a:cs typeface="Roboto"/>
                <a:sym typeface="Roboto"/>
              </a:rPr>
              <a:t>main problem</a:t>
            </a:r>
            <a:r>
              <a:rPr lang="en" sz="1000">
                <a:solidFill>
                  <a:srgbClr val="212121"/>
                </a:solidFill>
                <a:latin typeface="Roboto"/>
                <a:ea typeface="Roboto"/>
                <a:cs typeface="Roboto"/>
                <a:sym typeface="Roboto"/>
              </a:rPr>
              <a:t> with </a:t>
            </a:r>
            <a:r>
              <a:rPr b="1" lang="en" sz="1000">
                <a:solidFill>
                  <a:srgbClr val="212121"/>
                </a:solidFill>
                <a:latin typeface="Roboto"/>
                <a:ea typeface="Roboto"/>
                <a:cs typeface="Roboto"/>
                <a:sym typeface="Roboto"/>
              </a:rPr>
              <a:t>Whatsatpp &amp; Email </a:t>
            </a:r>
            <a:r>
              <a:rPr lang="en" sz="1000">
                <a:solidFill>
                  <a:srgbClr val="212121"/>
                </a:solidFill>
                <a:latin typeface="Roboto"/>
                <a:ea typeface="Roboto"/>
                <a:cs typeface="Roboto"/>
                <a:sym typeface="Roboto"/>
              </a:rPr>
              <a:t>is not that it fails, but that </a:t>
            </a:r>
            <a:r>
              <a:rPr b="1" lang="en" sz="1000">
                <a:solidFill>
                  <a:srgbClr val="212121"/>
                </a:solidFill>
                <a:latin typeface="Roboto"/>
                <a:ea typeface="Roboto"/>
                <a:cs typeface="Roboto"/>
                <a:sym typeface="Roboto"/>
              </a:rPr>
              <a:t>it has a high pending rate</a:t>
            </a:r>
            <a:r>
              <a:rPr lang="en" sz="1000">
                <a:solidFill>
                  <a:srgbClr val="212121"/>
                </a:solidFill>
                <a:latin typeface="Roboto"/>
                <a:ea typeface="Roboto"/>
                <a:cs typeface="Roboto"/>
                <a:sym typeface="Roboto"/>
              </a:rPr>
              <a:t>.</a:t>
            </a:r>
            <a:endParaRPr b="1" sz="1000">
              <a:solidFill>
                <a:srgbClr val="212121"/>
              </a:solidFill>
              <a:latin typeface="Roboto"/>
              <a:ea typeface="Roboto"/>
              <a:cs typeface="Roboto"/>
              <a:sym typeface="Roboto"/>
            </a:endParaRPr>
          </a:p>
          <a:p>
            <a:pPr indent="-292100" lvl="0" marL="457200" rtl="0" algn="just">
              <a:spcBef>
                <a:spcPts val="0"/>
              </a:spcBef>
              <a:spcAft>
                <a:spcPts val="0"/>
              </a:spcAft>
              <a:buClr>
                <a:srgbClr val="212121"/>
              </a:buClr>
              <a:buSzPts val="1000"/>
              <a:buChar char="●"/>
            </a:pPr>
            <a:r>
              <a:rPr lang="en" sz="1000">
                <a:solidFill>
                  <a:srgbClr val="212121"/>
                </a:solidFill>
                <a:latin typeface="Roboto"/>
                <a:ea typeface="Roboto"/>
                <a:cs typeface="Roboto"/>
                <a:sym typeface="Roboto"/>
              </a:rPr>
              <a:t>Calls are </a:t>
            </a:r>
            <a:r>
              <a:rPr b="1" lang="en" sz="1000">
                <a:solidFill>
                  <a:srgbClr val="212121"/>
                </a:solidFill>
                <a:latin typeface="Roboto"/>
                <a:ea typeface="Roboto"/>
                <a:cs typeface="Roboto"/>
                <a:sym typeface="Roboto"/>
              </a:rPr>
              <a:t>not scalable and highly inefficient.</a:t>
            </a:r>
            <a:r>
              <a:rPr lang="en" sz="1000">
                <a:solidFill>
                  <a:srgbClr val="212121"/>
                </a:solidFill>
                <a:latin typeface="Roboto"/>
                <a:ea typeface="Roboto"/>
                <a:cs typeface="Roboto"/>
                <a:sym typeface="Roboto"/>
              </a:rPr>
              <a:t> The majority of calls are not connected, </a:t>
            </a:r>
            <a:r>
              <a:rPr b="1" lang="en" sz="1000">
                <a:solidFill>
                  <a:srgbClr val="212121"/>
                </a:solidFill>
                <a:latin typeface="Roboto"/>
                <a:ea typeface="Roboto"/>
                <a:cs typeface="Roboto"/>
                <a:sym typeface="Roboto"/>
              </a:rPr>
              <a:t>not due to technical issues, but rather user behavior (RNA)</a:t>
            </a:r>
            <a:r>
              <a:rPr lang="en" sz="1000">
                <a:solidFill>
                  <a:srgbClr val="212121"/>
                </a:solidFill>
                <a:latin typeface="Roboto"/>
                <a:ea typeface="Roboto"/>
                <a:cs typeface="Roboto"/>
                <a:sym typeface="Roboto"/>
              </a:rPr>
              <a:t>.</a:t>
            </a:r>
            <a:endParaRPr b="1" sz="1000">
              <a:solidFill>
                <a:srgbClr val="212121"/>
              </a:solidFill>
              <a:latin typeface="Roboto"/>
              <a:ea typeface="Roboto"/>
              <a:cs typeface="Roboto"/>
              <a:sym typeface="Roboto"/>
            </a:endParaRPr>
          </a:p>
        </p:txBody>
      </p:sp>
      <p:sp>
        <p:nvSpPr>
          <p:cNvPr id="411" name="Google Shape;411;p45"/>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5"/>
          <p:cNvSpPr/>
          <p:nvPr/>
        </p:nvSpPr>
        <p:spPr>
          <a:xfrm rot="-8512697">
            <a:off x="-1654550" y="182149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pic>
        <p:nvPicPr>
          <p:cNvPr id="413" name="Google Shape;413;p45" title="Salinan Logo RevoU x OCA x Telkom.png"/>
          <p:cNvPicPr preferRelativeResize="0"/>
          <p:nvPr/>
        </p:nvPicPr>
        <p:blipFill>
          <a:blip r:embed="rId4">
            <a:alphaModFix/>
          </a:blip>
          <a:stretch>
            <a:fillRect/>
          </a:stretch>
        </p:blipFill>
        <p:spPr>
          <a:xfrm>
            <a:off x="0" y="0"/>
            <a:ext cx="2349829" cy="870300"/>
          </a:xfrm>
          <a:prstGeom prst="rect">
            <a:avLst/>
          </a:prstGeom>
          <a:noFill/>
          <a:ln>
            <a:noFill/>
          </a:ln>
        </p:spPr>
      </p:pic>
      <p:sp>
        <p:nvSpPr>
          <p:cNvPr id="414" name="Google Shape;414;p45"/>
          <p:cNvSpPr txBox="1"/>
          <p:nvPr>
            <p:ph type="title"/>
          </p:nvPr>
        </p:nvSpPr>
        <p:spPr>
          <a:xfrm>
            <a:off x="716100" y="777375"/>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solidFill>
                  <a:srgbClr val="212121"/>
                </a:solidFill>
                <a:latin typeface="Roboto"/>
                <a:ea typeface="Roboto"/>
                <a:cs typeface="Roboto"/>
                <a:sym typeface="Roboto"/>
              </a:rPr>
              <a:t>Quality of Service</a:t>
            </a:r>
            <a:endParaRPr sz="3600">
              <a:solidFill>
                <a:srgbClr val="212121"/>
              </a:solidFill>
              <a:latin typeface="Roboto"/>
              <a:ea typeface="Roboto"/>
              <a:cs typeface="Roboto"/>
              <a:sym typeface="Roboto"/>
            </a:endParaRPr>
          </a:p>
        </p:txBody>
      </p:sp>
      <p:pic>
        <p:nvPicPr>
          <p:cNvPr id="415" name="Google Shape;415;p45"/>
          <p:cNvPicPr preferRelativeResize="0"/>
          <p:nvPr/>
        </p:nvPicPr>
        <p:blipFill>
          <a:blip r:embed="rId5">
            <a:alphaModFix/>
          </a:blip>
          <a:stretch>
            <a:fillRect/>
          </a:stretch>
        </p:blipFill>
        <p:spPr>
          <a:xfrm>
            <a:off x="599100" y="1467025"/>
            <a:ext cx="3732422" cy="2330988"/>
          </a:xfrm>
          <a:prstGeom prst="rect">
            <a:avLst/>
          </a:prstGeom>
          <a:noFill/>
          <a:ln>
            <a:noFill/>
          </a:ln>
        </p:spPr>
      </p:pic>
      <p:sp>
        <p:nvSpPr>
          <p:cNvPr id="416" name="Google Shape;416;p45"/>
          <p:cNvSpPr/>
          <p:nvPr/>
        </p:nvSpPr>
        <p:spPr>
          <a:xfrm>
            <a:off x="5173925" y="1643850"/>
            <a:ext cx="494700" cy="11925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417" name="Google Shape;417;p45"/>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latin typeface="Roboto"/>
                <a:ea typeface="Roboto"/>
                <a:cs typeface="Roboto"/>
                <a:sym typeface="Roboto"/>
              </a:rPr>
              <a:t>Disclaimer</a:t>
            </a:r>
            <a:endParaRPr sz="1100">
              <a:solidFill>
                <a:srgbClr val="980000"/>
              </a:solidFill>
              <a:latin typeface="Roboto"/>
              <a:ea typeface="Roboto"/>
              <a:cs typeface="Roboto"/>
              <a:sym typeface="Roboto"/>
            </a:endParaRPr>
          </a:p>
          <a:p>
            <a:pPr indent="0" lvl="0" marL="0" rtl="0" algn="l">
              <a:spcBef>
                <a:spcPts val="0"/>
              </a:spcBef>
              <a:spcAft>
                <a:spcPts val="0"/>
              </a:spcAft>
              <a:buNone/>
            </a:pPr>
            <a:r>
              <a:rPr lang="en" sz="900">
                <a:solidFill>
                  <a:srgbClr val="980000"/>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98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21" name="Shape 421"/>
        <p:cNvGrpSpPr/>
        <p:nvPr/>
      </p:nvGrpSpPr>
      <p:grpSpPr>
        <a:xfrm>
          <a:off x="0" y="0"/>
          <a:ext cx="0" cy="0"/>
          <a:chOff x="0" y="0"/>
          <a:chExt cx="0" cy="0"/>
        </a:xfrm>
      </p:grpSpPr>
      <p:pic>
        <p:nvPicPr>
          <p:cNvPr id="422" name="Google Shape;422;p46"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423" name="Google Shape;423;p46"/>
          <p:cNvSpPr txBox="1"/>
          <p:nvPr>
            <p:ph idx="4294967295" type="title"/>
          </p:nvPr>
        </p:nvSpPr>
        <p:spPr>
          <a:xfrm>
            <a:off x="0" y="2123925"/>
            <a:ext cx="6462600" cy="2393700"/>
          </a:xfrm>
          <a:prstGeom prst="rect">
            <a:avLst/>
          </a:prstGeom>
        </p:spPr>
        <p:txBody>
          <a:bodyPr anchorCtr="0" anchor="t" bIns="91425" lIns="731500" spcFirstLastPara="1" rIns="731500" wrap="square" tIns="91425">
            <a:noAutofit/>
          </a:bodyPr>
          <a:lstStyle/>
          <a:p>
            <a:pPr indent="0" lvl="0" marL="0" rtl="0" algn="l">
              <a:spcBef>
                <a:spcPts val="0"/>
              </a:spcBef>
              <a:spcAft>
                <a:spcPts val="0"/>
              </a:spcAft>
              <a:buNone/>
            </a:pPr>
            <a:r>
              <a:rPr lang="en" sz="3000">
                <a:solidFill>
                  <a:srgbClr val="212121"/>
                </a:solidFill>
                <a:latin typeface="Roboto"/>
                <a:ea typeface="Roboto"/>
                <a:cs typeface="Roboto"/>
                <a:sym typeface="Roboto"/>
              </a:rPr>
              <a:t>Engagement </a:t>
            </a:r>
            <a:r>
              <a:rPr b="1" lang="en" sz="3000">
                <a:solidFill>
                  <a:srgbClr val="212121"/>
                </a:solidFill>
                <a:latin typeface="Roboto"/>
                <a:ea typeface="Roboto"/>
                <a:cs typeface="Roboto"/>
                <a:sym typeface="Roboto"/>
              </a:rPr>
              <a:t>stable</a:t>
            </a:r>
            <a:r>
              <a:rPr lang="en" sz="3000">
                <a:solidFill>
                  <a:srgbClr val="212121"/>
                </a:solidFill>
                <a:latin typeface="Roboto"/>
                <a:ea typeface="Roboto"/>
                <a:cs typeface="Roboto"/>
                <a:sym typeface="Roboto"/>
              </a:rPr>
              <a:t>, </a:t>
            </a:r>
            <a:br>
              <a:rPr lang="en" sz="3000">
                <a:solidFill>
                  <a:srgbClr val="212121"/>
                </a:solidFill>
                <a:latin typeface="Roboto"/>
                <a:ea typeface="Roboto"/>
                <a:cs typeface="Roboto"/>
                <a:sym typeface="Roboto"/>
              </a:rPr>
            </a:br>
            <a:r>
              <a:rPr lang="en" sz="3000">
                <a:solidFill>
                  <a:srgbClr val="212121"/>
                </a:solidFill>
                <a:latin typeface="Roboto"/>
                <a:ea typeface="Roboto"/>
                <a:cs typeface="Roboto"/>
                <a:sym typeface="Roboto"/>
              </a:rPr>
              <a:t>volume </a:t>
            </a:r>
            <a:r>
              <a:rPr b="1" lang="en" sz="3000">
                <a:solidFill>
                  <a:srgbClr val="212121"/>
                </a:solidFill>
                <a:latin typeface="Roboto"/>
                <a:ea typeface="Roboto"/>
                <a:cs typeface="Roboto"/>
                <a:sym typeface="Roboto"/>
              </a:rPr>
              <a:t>concentrated</a:t>
            </a:r>
            <a:r>
              <a:rPr lang="en" sz="3000">
                <a:solidFill>
                  <a:srgbClr val="212121"/>
                </a:solidFill>
                <a:latin typeface="Roboto"/>
                <a:ea typeface="Roboto"/>
                <a:cs typeface="Roboto"/>
                <a:sym typeface="Roboto"/>
              </a:rPr>
              <a:t>, </a:t>
            </a:r>
            <a:br>
              <a:rPr lang="en" sz="3000">
                <a:solidFill>
                  <a:srgbClr val="212121"/>
                </a:solidFill>
                <a:latin typeface="Roboto"/>
                <a:ea typeface="Roboto"/>
                <a:cs typeface="Roboto"/>
                <a:sym typeface="Roboto"/>
              </a:rPr>
            </a:br>
            <a:r>
              <a:rPr lang="en" sz="3000">
                <a:solidFill>
                  <a:srgbClr val="212121"/>
                </a:solidFill>
                <a:latin typeface="Roboto"/>
                <a:ea typeface="Roboto"/>
                <a:cs typeface="Roboto"/>
                <a:sym typeface="Roboto"/>
              </a:rPr>
              <a:t>email </a:t>
            </a:r>
            <a:r>
              <a:rPr b="1" lang="en" sz="3000">
                <a:solidFill>
                  <a:srgbClr val="212121"/>
                </a:solidFill>
                <a:latin typeface="Roboto"/>
                <a:ea typeface="Roboto"/>
                <a:cs typeface="Roboto"/>
                <a:sym typeface="Roboto"/>
              </a:rPr>
              <a:t>declining</a:t>
            </a:r>
            <a:r>
              <a:rPr lang="en" sz="3000">
                <a:solidFill>
                  <a:srgbClr val="212121"/>
                </a:solidFill>
                <a:latin typeface="Roboto"/>
                <a:ea typeface="Roboto"/>
                <a:cs typeface="Roboto"/>
                <a:sym typeface="Roboto"/>
              </a:rPr>
              <a:t>, WhatsApp drives </a:t>
            </a:r>
            <a:r>
              <a:rPr b="1" lang="en" sz="3000">
                <a:solidFill>
                  <a:srgbClr val="212121"/>
                </a:solidFill>
                <a:latin typeface="Roboto"/>
                <a:ea typeface="Roboto"/>
                <a:cs typeface="Roboto"/>
                <a:sym typeface="Roboto"/>
              </a:rPr>
              <a:t>upsell opportunities</a:t>
            </a:r>
            <a:r>
              <a:rPr lang="en" sz="3000">
                <a:solidFill>
                  <a:srgbClr val="212121"/>
                </a:solidFill>
                <a:latin typeface="Roboto"/>
                <a:ea typeface="Roboto"/>
                <a:cs typeface="Roboto"/>
                <a:sym typeface="Roboto"/>
              </a:rPr>
              <a:t>.</a:t>
            </a:r>
            <a:endParaRPr sz="3000">
              <a:solidFill>
                <a:srgbClr val="212121"/>
              </a:solidFill>
              <a:latin typeface="Roboto"/>
              <a:ea typeface="Roboto"/>
              <a:cs typeface="Roboto"/>
              <a:sym typeface="Roboto"/>
            </a:endParaRPr>
          </a:p>
        </p:txBody>
      </p:sp>
      <p:pic>
        <p:nvPicPr>
          <p:cNvPr id="424" name="Google Shape;424;p46" title="usp_5030066.png"/>
          <p:cNvPicPr preferRelativeResize="0"/>
          <p:nvPr/>
        </p:nvPicPr>
        <p:blipFill>
          <a:blip r:embed="rId4">
            <a:alphaModFix/>
          </a:blip>
          <a:stretch>
            <a:fillRect/>
          </a:stretch>
        </p:blipFill>
        <p:spPr>
          <a:xfrm>
            <a:off x="5963275" y="1100925"/>
            <a:ext cx="2376600" cy="2376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8" name="Shape 428"/>
        <p:cNvGrpSpPr/>
        <p:nvPr/>
      </p:nvGrpSpPr>
      <p:grpSpPr>
        <a:xfrm>
          <a:off x="0" y="0"/>
          <a:ext cx="0" cy="0"/>
          <a:chOff x="0" y="0"/>
          <a:chExt cx="0" cy="0"/>
        </a:xfrm>
      </p:grpSpPr>
      <p:sp>
        <p:nvSpPr>
          <p:cNvPr id="429" name="Google Shape;429;p47"/>
          <p:cNvSpPr txBox="1"/>
          <p:nvPr>
            <p:ph idx="1" type="subTitle"/>
          </p:nvPr>
        </p:nvSpPr>
        <p:spPr>
          <a:xfrm>
            <a:off x="5461300" y="1833275"/>
            <a:ext cx="3504000" cy="2075100"/>
          </a:xfrm>
          <a:prstGeom prst="rect">
            <a:avLst/>
          </a:prstGeom>
        </p:spPr>
        <p:txBody>
          <a:bodyPr anchorCtr="0" anchor="t" bIns="91425" lIns="91425" spcFirstLastPara="1" rIns="91425" wrap="square" tIns="91425">
            <a:noAutofit/>
          </a:bodyPr>
          <a:lstStyle/>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High Activity </a:t>
            </a:r>
            <a:r>
              <a:rPr b="1" lang="en" sz="1100">
                <a:solidFill>
                  <a:srgbClr val="212121"/>
                </a:solidFill>
                <a:latin typeface="Roboto"/>
                <a:ea typeface="Roboto"/>
                <a:cs typeface="Roboto"/>
                <a:sym typeface="Roboto"/>
              </a:rPr>
              <a:t>Does Not</a:t>
            </a:r>
            <a:r>
              <a:rPr lang="en" sz="1100">
                <a:solidFill>
                  <a:srgbClr val="212121"/>
                </a:solidFill>
                <a:latin typeface="Roboto"/>
                <a:ea typeface="Roboto"/>
                <a:cs typeface="Roboto"/>
                <a:sym typeface="Roboto"/>
              </a:rPr>
              <a:t> Always Mean High Volume.</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Arial"/>
              <a:buChar char="●"/>
            </a:pPr>
            <a:r>
              <a:rPr b="1" lang="en" sz="1100">
                <a:solidFill>
                  <a:srgbClr val="000000"/>
                </a:solidFill>
                <a:latin typeface="Roboto"/>
                <a:ea typeface="Roboto"/>
                <a:cs typeface="Roboto"/>
                <a:sym typeface="Roboto"/>
              </a:rPr>
              <a:t>Extreme Volume Concentration </a:t>
            </a:r>
            <a:r>
              <a:rPr lang="en" sz="1100">
                <a:solidFill>
                  <a:srgbClr val="000000"/>
                </a:solidFill>
                <a:latin typeface="Roboto"/>
                <a:ea typeface="Roboto"/>
                <a:cs typeface="Roboto"/>
                <a:sym typeface="Roboto"/>
              </a:rPr>
              <a:t>Among a Few Key Clients.</a:t>
            </a:r>
            <a:endParaRPr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Industry Pattern: </a:t>
            </a:r>
            <a:r>
              <a:rPr b="1" lang="en" sz="1100">
                <a:solidFill>
                  <a:srgbClr val="212121"/>
                </a:solidFill>
                <a:latin typeface="Roboto"/>
                <a:ea typeface="Roboto"/>
                <a:cs typeface="Roboto"/>
                <a:sym typeface="Roboto"/>
              </a:rPr>
              <a:t>Volume-Driven</a:t>
            </a:r>
            <a:r>
              <a:rPr lang="en" sz="1100">
                <a:solidFill>
                  <a:srgbClr val="212121"/>
                </a:solidFill>
                <a:latin typeface="Roboto"/>
                <a:ea typeface="Roboto"/>
                <a:cs typeface="Roboto"/>
                <a:sym typeface="Roboto"/>
              </a:rPr>
              <a:t> vs </a:t>
            </a:r>
            <a:r>
              <a:rPr b="1" lang="en" sz="1100">
                <a:solidFill>
                  <a:srgbClr val="212121"/>
                </a:solidFill>
                <a:latin typeface="Roboto"/>
                <a:ea typeface="Roboto"/>
                <a:cs typeface="Roboto"/>
                <a:sym typeface="Roboto"/>
              </a:rPr>
              <a:t>Usage-Driven</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Long-Tenured Clients </a:t>
            </a:r>
            <a:r>
              <a:rPr b="1" lang="en" sz="1100">
                <a:solidFill>
                  <a:srgbClr val="212121"/>
                </a:solidFill>
                <a:latin typeface="Roboto"/>
                <a:ea typeface="Roboto"/>
                <a:cs typeface="Roboto"/>
                <a:sym typeface="Roboto"/>
              </a:rPr>
              <a:t>Are Not Always</a:t>
            </a:r>
            <a:r>
              <a:rPr lang="en" sz="1100">
                <a:solidFill>
                  <a:srgbClr val="212121"/>
                </a:solidFill>
                <a:latin typeface="Roboto"/>
                <a:ea typeface="Roboto"/>
                <a:cs typeface="Roboto"/>
                <a:sym typeface="Roboto"/>
              </a:rPr>
              <a:t> Top Contributors</a:t>
            </a:r>
            <a:endParaRPr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Roboto"/>
              <a:buChar char="●"/>
            </a:pPr>
            <a:r>
              <a:rPr lang="en" sz="1100">
                <a:solidFill>
                  <a:srgbClr val="212121"/>
                </a:solidFill>
                <a:latin typeface="Roboto"/>
                <a:ea typeface="Roboto"/>
                <a:cs typeface="Roboto"/>
                <a:sym typeface="Roboto"/>
              </a:rPr>
              <a:t>Top Users Are Very Active, but Volume Is </a:t>
            </a:r>
            <a:r>
              <a:rPr b="1" lang="en" sz="1100">
                <a:solidFill>
                  <a:srgbClr val="212121"/>
                </a:solidFill>
                <a:latin typeface="Roboto"/>
                <a:ea typeface="Roboto"/>
                <a:cs typeface="Roboto"/>
                <a:sym typeface="Roboto"/>
              </a:rPr>
              <a:t>Highly Concentrated</a:t>
            </a:r>
            <a:r>
              <a:rPr lang="en" sz="1100">
                <a:solidFill>
                  <a:srgbClr val="212121"/>
                </a:solidFill>
                <a:latin typeface="Roboto"/>
                <a:ea typeface="Roboto"/>
                <a:cs typeface="Roboto"/>
                <a:sym typeface="Roboto"/>
              </a:rPr>
              <a:t> 3 top users (</a:t>
            </a:r>
            <a:r>
              <a:rPr b="1" lang="en" sz="1100">
                <a:solidFill>
                  <a:srgbClr val="212121"/>
                </a:solidFill>
                <a:latin typeface="Roboto"/>
                <a:ea typeface="Roboto"/>
                <a:cs typeface="Roboto"/>
                <a:sym typeface="Roboto"/>
              </a:rPr>
              <a:t>Travel, Finance, Real Estate</a:t>
            </a:r>
            <a:r>
              <a:rPr lang="en" sz="1100">
                <a:solidFill>
                  <a:srgbClr val="212121"/>
                </a:solidFill>
                <a:latin typeface="Roboto"/>
                <a:ea typeface="Roboto"/>
                <a:cs typeface="Roboto"/>
                <a:sym typeface="Roboto"/>
              </a:rPr>
              <a:t>) around </a:t>
            </a:r>
            <a:r>
              <a:rPr b="1" lang="en" sz="1100">
                <a:solidFill>
                  <a:srgbClr val="212121"/>
                </a:solidFill>
                <a:latin typeface="Roboto"/>
                <a:ea typeface="Roboto"/>
                <a:cs typeface="Roboto"/>
                <a:sym typeface="Roboto"/>
              </a:rPr>
              <a:t>24.5K</a:t>
            </a:r>
            <a:endParaRPr sz="1100">
              <a:solidFill>
                <a:srgbClr val="212121"/>
              </a:solidFill>
              <a:latin typeface="Roboto"/>
              <a:ea typeface="Roboto"/>
              <a:cs typeface="Roboto"/>
              <a:sym typeface="Roboto"/>
            </a:endParaRPr>
          </a:p>
        </p:txBody>
      </p:sp>
      <p:sp>
        <p:nvSpPr>
          <p:cNvPr id="430" name="Google Shape;430;p47"/>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1" name="Google Shape;431;p47"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432" name="Google Shape;432;p47"/>
          <p:cNvSpPr txBox="1"/>
          <p:nvPr>
            <p:ph type="title"/>
          </p:nvPr>
        </p:nvSpPr>
        <p:spPr>
          <a:xfrm>
            <a:off x="716100" y="6469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solidFill>
                  <a:srgbClr val="212121"/>
                </a:solidFill>
                <a:latin typeface="Roboto"/>
                <a:ea typeface="Roboto"/>
                <a:cs typeface="Roboto"/>
                <a:sym typeface="Roboto"/>
              </a:rPr>
              <a:t>Top Users</a:t>
            </a:r>
            <a:endParaRPr sz="3600">
              <a:solidFill>
                <a:srgbClr val="212121"/>
              </a:solidFill>
              <a:latin typeface="Roboto"/>
              <a:ea typeface="Roboto"/>
              <a:cs typeface="Roboto"/>
              <a:sym typeface="Roboto"/>
            </a:endParaRPr>
          </a:p>
        </p:txBody>
      </p:sp>
      <p:sp>
        <p:nvSpPr>
          <p:cNvPr id="433" name="Google Shape;433;p47"/>
          <p:cNvSpPr txBox="1"/>
          <p:nvPr>
            <p:ph idx="1" type="subTitle"/>
          </p:nvPr>
        </p:nvSpPr>
        <p:spPr>
          <a:xfrm>
            <a:off x="1515225" y="3765200"/>
            <a:ext cx="7271400" cy="773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rgbClr val="212121"/>
                </a:solidFill>
                <a:latin typeface="Roboto"/>
                <a:ea typeface="Roboto"/>
                <a:cs typeface="Roboto"/>
                <a:sym typeface="Roboto"/>
              </a:rPr>
              <a:t>While most clients are consistently active, message volume is </a:t>
            </a:r>
            <a:r>
              <a:rPr b="1" lang="en" sz="1100">
                <a:solidFill>
                  <a:srgbClr val="212121"/>
                </a:solidFill>
                <a:latin typeface="Roboto"/>
                <a:ea typeface="Roboto"/>
                <a:cs typeface="Roboto"/>
                <a:sym typeface="Roboto"/>
              </a:rPr>
              <a:t>highly concentrated</a:t>
            </a:r>
            <a:r>
              <a:rPr lang="en" sz="1100">
                <a:solidFill>
                  <a:srgbClr val="212121"/>
                </a:solidFill>
                <a:latin typeface="Roboto"/>
                <a:ea typeface="Roboto"/>
                <a:cs typeface="Roboto"/>
                <a:sym typeface="Roboto"/>
              </a:rPr>
              <a:t> among a </a:t>
            </a:r>
            <a:r>
              <a:rPr b="1" lang="en" sz="1100">
                <a:solidFill>
                  <a:srgbClr val="212121"/>
                </a:solidFill>
                <a:latin typeface="Roboto"/>
                <a:ea typeface="Roboto"/>
                <a:cs typeface="Roboto"/>
                <a:sym typeface="Roboto"/>
              </a:rPr>
              <a:t>few key users</a:t>
            </a:r>
            <a:r>
              <a:rPr lang="en" sz="1100">
                <a:solidFill>
                  <a:srgbClr val="212121"/>
                </a:solidFill>
                <a:latin typeface="Roboto"/>
                <a:ea typeface="Roboto"/>
                <a:cs typeface="Roboto"/>
                <a:sym typeface="Roboto"/>
              </a:rPr>
              <a:t>, indicating </a:t>
            </a:r>
            <a:r>
              <a:rPr b="1" lang="en" sz="1100">
                <a:solidFill>
                  <a:srgbClr val="212121"/>
                </a:solidFill>
                <a:latin typeface="Roboto"/>
                <a:ea typeface="Roboto"/>
                <a:cs typeface="Roboto"/>
                <a:sym typeface="Roboto"/>
              </a:rPr>
              <a:t>dependency risk</a:t>
            </a:r>
            <a:r>
              <a:rPr lang="en" sz="1100">
                <a:solidFill>
                  <a:srgbClr val="212121"/>
                </a:solidFill>
                <a:latin typeface="Roboto"/>
                <a:ea typeface="Roboto"/>
                <a:cs typeface="Roboto"/>
                <a:sym typeface="Roboto"/>
              </a:rPr>
              <a:t> and </a:t>
            </a:r>
            <a:r>
              <a:rPr b="1" lang="en" sz="1100">
                <a:solidFill>
                  <a:srgbClr val="212121"/>
                </a:solidFill>
                <a:latin typeface="Roboto"/>
                <a:ea typeface="Roboto"/>
                <a:cs typeface="Roboto"/>
                <a:sym typeface="Roboto"/>
              </a:rPr>
              <a:t>strong upselling potential</a:t>
            </a:r>
            <a:r>
              <a:rPr lang="en" sz="1100">
                <a:solidFill>
                  <a:srgbClr val="212121"/>
                </a:solidFill>
                <a:latin typeface="Roboto"/>
                <a:ea typeface="Roboto"/>
                <a:cs typeface="Roboto"/>
                <a:sym typeface="Roboto"/>
              </a:rPr>
              <a:t> among highly engaged but low-volume clients.</a:t>
            </a:r>
            <a:endParaRPr sz="1100">
              <a:solidFill>
                <a:srgbClr val="212121"/>
              </a:solidFill>
              <a:latin typeface="Roboto"/>
              <a:ea typeface="Roboto"/>
              <a:cs typeface="Roboto"/>
              <a:sym typeface="Roboto"/>
            </a:endParaRPr>
          </a:p>
        </p:txBody>
      </p:sp>
      <p:sp>
        <p:nvSpPr>
          <p:cNvPr id="434" name="Google Shape;434;p47"/>
          <p:cNvSpPr txBox="1"/>
          <p:nvPr>
            <p:ph type="title"/>
          </p:nvPr>
        </p:nvSpPr>
        <p:spPr>
          <a:xfrm>
            <a:off x="716100" y="972592"/>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b="0" lang="en" sz="2400">
                <a:solidFill>
                  <a:srgbClr val="212121"/>
                </a:solidFill>
                <a:latin typeface="Roboto"/>
                <a:ea typeface="Roboto"/>
                <a:cs typeface="Roboto"/>
                <a:sym typeface="Roboto"/>
              </a:rPr>
              <a:t>Volume &amp; Active Days</a:t>
            </a:r>
            <a:endParaRPr b="0" sz="2400">
              <a:solidFill>
                <a:srgbClr val="212121"/>
              </a:solidFill>
              <a:latin typeface="Roboto"/>
              <a:ea typeface="Roboto"/>
              <a:cs typeface="Roboto"/>
              <a:sym typeface="Roboto"/>
            </a:endParaRPr>
          </a:p>
        </p:txBody>
      </p:sp>
      <p:pic>
        <p:nvPicPr>
          <p:cNvPr id="435" name="Google Shape;435;p47"/>
          <p:cNvPicPr preferRelativeResize="0"/>
          <p:nvPr/>
        </p:nvPicPr>
        <p:blipFill>
          <a:blip r:embed="rId4">
            <a:alphaModFix/>
          </a:blip>
          <a:stretch>
            <a:fillRect/>
          </a:stretch>
        </p:blipFill>
        <p:spPr>
          <a:xfrm>
            <a:off x="3303888" y="1833275"/>
            <a:ext cx="2247064" cy="1697524"/>
          </a:xfrm>
          <a:prstGeom prst="rect">
            <a:avLst/>
          </a:prstGeom>
          <a:noFill/>
          <a:ln>
            <a:noFill/>
          </a:ln>
        </p:spPr>
      </p:pic>
      <p:sp>
        <p:nvSpPr>
          <p:cNvPr id="436" name="Google Shape;436;p47"/>
          <p:cNvSpPr/>
          <p:nvPr/>
        </p:nvSpPr>
        <p:spPr>
          <a:xfrm>
            <a:off x="4768625" y="2786775"/>
            <a:ext cx="856200" cy="7440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437" name="Google Shape;437;p47"/>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latin typeface="Roboto"/>
                <a:ea typeface="Roboto"/>
                <a:cs typeface="Roboto"/>
                <a:sym typeface="Roboto"/>
              </a:rPr>
              <a:t>Disclaimer</a:t>
            </a:r>
            <a:endParaRPr sz="1100">
              <a:solidFill>
                <a:srgbClr val="980000"/>
              </a:solidFill>
              <a:latin typeface="Roboto"/>
              <a:ea typeface="Roboto"/>
              <a:cs typeface="Roboto"/>
              <a:sym typeface="Roboto"/>
            </a:endParaRPr>
          </a:p>
          <a:p>
            <a:pPr indent="0" lvl="0" marL="0" rtl="0" algn="l">
              <a:spcBef>
                <a:spcPts val="0"/>
              </a:spcBef>
              <a:spcAft>
                <a:spcPts val="0"/>
              </a:spcAft>
              <a:buNone/>
            </a:pPr>
            <a:r>
              <a:rPr lang="en" sz="900">
                <a:solidFill>
                  <a:srgbClr val="980000"/>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980000"/>
              </a:solidFill>
              <a:latin typeface="Roboto"/>
              <a:ea typeface="Roboto"/>
              <a:cs typeface="Roboto"/>
              <a:sym typeface="Roboto"/>
            </a:endParaRPr>
          </a:p>
        </p:txBody>
      </p:sp>
      <p:pic>
        <p:nvPicPr>
          <p:cNvPr id="438" name="Google Shape;438;p47" title="Screenshot 2026-01-03 121317.png"/>
          <p:cNvPicPr preferRelativeResize="0"/>
          <p:nvPr/>
        </p:nvPicPr>
        <p:blipFill>
          <a:blip r:embed="rId5">
            <a:alphaModFix/>
          </a:blip>
          <a:stretch>
            <a:fillRect/>
          </a:stretch>
        </p:blipFill>
        <p:spPr>
          <a:xfrm>
            <a:off x="44200" y="1745838"/>
            <a:ext cx="3278437" cy="1931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2" name="Shape 442"/>
        <p:cNvGrpSpPr/>
        <p:nvPr/>
      </p:nvGrpSpPr>
      <p:grpSpPr>
        <a:xfrm>
          <a:off x="0" y="0"/>
          <a:ext cx="0" cy="0"/>
          <a:chOff x="0" y="0"/>
          <a:chExt cx="0" cy="0"/>
        </a:xfrm>
      </p:grpSpPr>
      <p:sp>
        <p:nvSpPr>
          <p:cNvPr id="443" name="Google Shape;443;p48"/>
          <p:cNvSpPr txBox="1"/>
          <p:nvPr>
            <p:ph idx="1" type="subTitle"/>
          </p:nvPr>
        </p:nvSpPr>
        <p:spPr>
          <a:xfrm>
            <a:off x="3029025" y="2887175"/>
            <a:ext cx="5715000" cy="1400400"/>
          </a:xfrm>
          <a:prstGeom prst="rect">
            <a:avLst/>
          </a:prstGeom>
        </p:spPr>
        <p:txBody>
          <a:bodyPr anchorCtr="0" anchor="t" bIns="91425" lIns="91425" spcFirstLastPara="1" rIns="91425" wrap="square" tIns="91425">
            <a:noAutofit/>
          </a:bodyPr>
          <a:lstStyle/>
          <a:p>
            <a:pPr indent="-298450" lvl="0" marL="457200" rtl="0" algn="just">
              <a:spcBef>
                <a:spcPts val="0"/>
              </a:spcBef>
              <a:spcAft>
                <a:spcPts val="0"/>
              </a:spcAft>
              <a:buClr>
                <a:srgbClr val="212121"/>
              </a:buClr>
              <a:buSzPts val="1100"/>
              <a:buChar char="●"/>
            </a:pPr>
            <a:r>
              <a:rPr lang="en" sz="1100">
                <a:solidFill>
                  <a:srgbClr val="000000"/>
                </a:solidFill>
                <a:latin typeface="Roboto"/>
                <a:ea typeface="Roboto"/>
                <a:cs typeface="Roboto"/>
                <a:sym typeface="Roboto"/>
              </a:rPr>
              <a:t>Users are most responsive in the </a:t>
            </a:r>
            <a:r>
              <a:rPr b="1" lang="en" sz="1100">
                <a:solidFill>
                  <a:srgbClr val="000000"/>
                </a:solidFill>
                <a:latin typeface="Roboto"/>
                <a:ea typeface="Roboto"/>
                <a:cs typeface="Roboto"/>
                <a:sym typeface="Roboto"/>
              </a:rPr>
              <a:t>evening window</a:t>
            </a:r>
            <a:r>
              <a:rPr lang="en" sz="1100">
                <a:solidFill>
                  <a:srgbClr val="000000"/>
                </a:solidFill>
                <a:latin typeface="Roboto"/>
                <a:ea typeface="Roboto"/>
                <a:cs typeface="Roboto"/>
                <a:sym typeface="Roboto"/>
              </a:rPr>
              <a:t>, making it the optimal time for high-impact blast messages.</a:t>
            </a:r>
            <a:endParaRPr sz="1100">
              <a:solidFill>
                <a:srgbClr val="000000"/>
              </a:solidFill>
              <a:latin typeface="Roboto"/>
              <a:ea typeface="Roboto"/>
              <a:cs typeface="Roboto"/>
              <a:sym typeface="Roboto"/>
            </a:endParaRPr>
          </a:p>
          <a:p>
            <a:pPr indent="-298450" lvl="0" marL="457200" rtl="0" algn="just">
              <a:spcBef>
                <a:spcPts val="0"/>
              </a:spcBef>
              <a:spcAft>
                <a:spcPts val="0"/>
              </a:spcAft>
              <a:buClr>
                <a:srgbClr val="000000"/>
              </a:buClr>
              <a:buSzPts val="1100"/>
              <a:buFont typeface="Arial"/>
              <a:buChar char="●"/>
            </a:pPr>
            <a:r>
              <a:rPr b="1" lang="en" sz="1100">
                <a:solidFill>
                  <a:srgbClr val="000000"/>
                </a:solidFill>
                <a:latin typeface="Roboto"/>
                <a:ea typeface="Roboto"/>
                <a:cs typeface="Roboto"/>
                <a:sym typeface="Roboto"/>
              </a:rPr>
              <a:t>Consistent Engagement</a:t>
            </a:r>
            <a:r>
              <a:rPr lang="en" sz="1100">
                <a:solidFill>
                  <a:srgbClr val="000000"/>
                </a:solidFill>
                <a:latin typeface="Roboto"/>
                <a:ea typeface="Roboto"/>
                <a:cs typeface="Roboto"/>
                <a:sym typeface="Roboto"/>
              </a:rPr>
              <a:t> Throughout the Week.</a:t>
            </a:r>
            <a:endParaRPr sz="1100">
              <a:solidFill>
                <a:srgbClr val="000000"/>
              </a:solidFill>
              <a:latin typeface="Roboto"/>
              <a:ea typeface="Roboto"/>
              <a:cs typeface="Roboto"/>
              <a:sym typeface="Roboto"/>
            </a:endParaRPr>
          </a:p>
          <a:p>
            <a:pPr indent="-298450" lvl="0" marL="457200" rtl="0" algn="just">
              <a:spcBef>
                <a:spcPts val="0"/>
              </a:spcBef>
              <a:spcAft>
                <a:spcPts val="0"/>
              </a:spcAft>
              <a:buClr>
                <a:srgbClr val="000000"/>
              </a:buClr>
              <a:buSzPts val="1100"/>
              <a:buFont typeface="Arial"/>
              <a:buChar char="●"/>
            </a:pPr>
            <a:r>
              <a:rPr b="1" lang="en" sz="1100">
                <a:solidFill>
                  <a:srgbClr val="000000"/>
                </a:solidFill>
                <a:latin typeface="Roboto"/>
                <a:ea typeface="Roboto"/>
                <a:cs typeface="Roboto"/>
                <a:sym typeface="Roboto"/>
              </a:rPr>
              <a:t>Low Engagement </a:t>
            </a:r>
            <a:r>
              <a:rPr lang="en" sz="1100">
                <a:solidFill>
                  <a:srgbClr val="000000"/>
                </a:solidFill>
                <a:latin typeface="Roboto"/>
                <a:ea typeface="Roboto"/>
                <a:cs typeface="Roboto"/>
                <a:sym typeface="Roboto"/>
              </a:rPr>
              <a:t>During Early Morning Hours</a:t>
            </a:r>
            <a:endParaRPr sz="1100">
              <a:solidFill>
                <a:srgbClr val="000000"/>
              </a:solidFill>
              <a:latin typeface="Roboto"/>
              <a:ea typeface="Roboto"/>
              <a:cs typeface="Roboto"/>
              <a:sym typeface="Roboto"/>
            </a:endParaRPr>
          </a:p>
        </p:txBody>
      </p:sp>
      <p:sp>
        <p:nvSpPr>
          <p:cNvPr id="444" name="Google Shape;444;p48"/>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5" name="Google Shape;445;p48"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446" name="Google Shape;446;p48"/>
          <p:cNvSpPr txBox="1"/>
          <p:nvPr>
            <p:ph type="title"/>
          </p:nvPr>
        </p:nvSpPr>
        <p:spPr>
          <a:xfrm>
            <a:off x="716100" y="6469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solidFill>
                  <a:srgbClr val="212121"/>
                </a:solidFill>
                <a:latin typeface="Roboto"/>
                <a:ea typeface="Roboto"/>
                <a:cs typeface="Roboto"/>
                <a:sym typeface="Roboto"/>
              </a:rPr>
              <a:t>Traffic Users</a:t>
            </a:r>
            <a:endParaRPr sz="3600">
              <a:solidFill>
                <a:srgbClr val="212121"/>
              </a:solidFill>
              <a:latin typeface="Roboto"/>
              <a:ea typeface="Roboto"/>
              <a:cs typeface="Roboto"/>
              <a:sym typeface="Roboto"/>
            </a:endParaRPr>
          </a:p>
        </p:txBody>
      </p:sp>
      <p:sp>
        <p:nvSpPr>
          <p:cNvPr id="447" name="Google Shape;447;p48"/>
          <p:cNvSpPr txBox="1"/>
          <p:nvPr>
            <p:ph idx="1" type="subTitle"/>
          </p:nvPr>
        </p:nvSpPr>
        <p:spPr>
          <a:xfrm>
            <a:off x="3116259" y="3717099"/>
            <a:ext cx="5627400" cy="986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200">
                <a:solidFill>
                  <a:srgbClr val="212121"/>
                </a:solidFill>
                <a:latin typeface="Roboto"/>
                <a:ea typeface="Roboto"/>
                <a:cs typeface="Roboto"/>
                <a:sym typeface="Roboto"/>
              </a:rPr>
              <a:t>User engagement peaks</a:t>
            </a:r>
            <a:r>
              <a:rPr lang="en" sz="1200">
                <a:solidFill>
                  <a:srgbClr val="212121"/>
                </a:solidFill>
                <a:latin typeface="Roboto"/>
                <a:ea typeface="Roboto"/>
                <a:cs typeface="Roboto"/>
                <a:sym typeface="Roboto"/>
              </a:rPr>
              <a:t> in the evening </a:t>
            </a:r>
            <a:r>
              <a:rPr b="1" lang="en" sz="1200">
                <a:solidFill>
                  <a:srgbClr val="212121"/>
                </a:solidFill>
                <a:latin typeface="Roboto"/>
                <a:ea typeface="Roboto"/>
                <a:cs typeface="Roboto"/>
                <a:sym typeface="Roboto"/>
              </a:rPr>
              <a:t>(15.00–23.00)</a:t>
            </a:r>
            <a:r>
              <a:rPr lang="en" sz="1200">
                <a:solidFill>
                  <a:srgbClr val="212121"/>
                </a:solidFill>
                <a:latin typeface="Roboto"/>
                <a:ea typeface="Roboto"/>
                <a:cs typeface="Roboto"/>
                <a:sym typeface="Roboto"/>
              </a:rPr>
              <a:t> and remains </a:t>
            </a:r>
            <a:r>
              <a:rPr b="1" lang="en" sz="1200">
                <a:solidFill>
                  <a:srgbClr val="212121"/>
                </a:solidFill>
                <a:latin typeface="Roboto"/>
                <a:ea typeface="Roboto"/>
                <a:cs typeface="Roboto"/>
                <a:sym typeface="Roboto"/>
              </a:rPr>
              <a:t>stable throughout the week</a:t>
            </a:r>
            <a:r>
              <a:rPr lang="en" sz="1200">
                <a:solidFill>
                  <a:srgbClr val="212121"/>
                </a:solidFill>
                <a:latin typeface="Roboto"/>
                <a:ea typeface="Roboto"/>
                <a:cs typeface="Roboto"/>
                <a:sym typeface="Roboto"/>
              </a:rPr>
              <a:t>, with the highest activity on </a:t>
            </a:r>
            <a:r>
              <a:rPr b="1" lang="en" sz="1200">
                <a:solidFill>
                  <a:srgbClr val="212121"/>
                </a:solidFill>
                <a:latin typeface="Roboto"/>
                <a:ea typeface="Roboto"/>
                <a:cs typeface="Roboto"/>
                <a:sym typeface="Roboto"/>
              </a:rPr>
              <a:t>Wednesday - Fridays</a:t>
            </a:r>
            <a:r>
              <a:rPr lang="en" sz="1200">
                <a:solidFill>
                  <a:srgbClr val="212121"/>
                </a:solidFill>
                <a:latin typeface="Roboto"/>
                <a:ea typeface="Roboto"/>
                <a:cs typeface="Roboto"/>
                <a:sym typeface="Roboto"/>
              </a:rPr>
              <a:t>, making evenings on weekdays the optimal window for blast messaging.</a:t>
            </a:r>
            <a:endParaRPr sz="1200">
              <a:solidFill>
                <a:srgbClr val="212121"/>
              </a:solidFill>
              <a:latin typeface="Roboto"/>
              <a:ea typeface="Roboto"/>
              <a:cs typeface="Roboto"/>
              <a:sym typeface="Roboto"/>
            </a:endParaRPr>
          </a:p>
        </p:txBody>
      </p:sp>
      <p:sp>
        <p:nvSpPr>
          <p:cNvPr id="448" name="Google Shape;448;p48"/>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latin typeface="Roboto"/>
                <a:ea typeface="Roboto"/>
                <a:cs typeface="Roboto"/>
                <a:sym typeface="Roboto"/>
              </a:rPr>
              <a:t>Disclaimer</a:t>
            </a:r>
            <a:endParaRPr sz="1100">
              <a:solidFill>
                <a:srgbClr val="980000"/>
              </a:solidFill>
              <a:latin typeface="Roboto"/>
              <a:ea typeface="Roboto"/>
              <a:cs typeface="Roboto"/>
              <a:sym typeface="Roboto"/>
            </a:endParaRPr>
          </a:p>
          <a:p>
            <a:pPr indent="0" lvl="0" marL="0" rtl="0" algn="l">
              <a:spcBef>
                <a:spcPts val="0"/>
              </a:spcBef>
              <a:spcAft>
                <a:spcPts val="0"/>
              </a:spcAft>
              <a:buNone/>
            </a:pPr>
            <a:r>
              <a:rPr lang="en" sz="900">
                <a:solidFill>
                  <a:srgbClr val="980000"/>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980000"/>
              </a:solidFill>
              <a:latin typeface="Roboto"/>
              <a:ea typeface="Roboto"/>
              <a:cs typeface="Roboto"/>
              <a:sym typeface="Roboto"/>
            </a:endParaRPr>
          </a:p>
        </p:txBody>
      </p:sp>
      <p:pic>
        <p:nvPicPr>
          <p:cNvPr id="449" name="Google Shape;449;p48"/>
          <p:cNvPicPr preferRelativeResize="0"/>
          <p:nvPr/>
        </p:nvPicPr>
        <p:blipFill rotWithShape="1">
          <a:blip r:embed="rId4">
            <a:alphaModFix/>
          </a:blip>
          <a:srcRect b="0" l="0" r="15017" t="0"/>
          <a:stretch/>
        </p:blipFill>
        <p:spPr>
          <a:xfrm>
            <a:off x="169400" y="1739657"/>
            <a:ext cx="2946849" cy="1721047"/>
          </a:xfrm>
          <a:prstGeom prst="rect">
            <a:avLst/>
          </a:prstGeom>
          <a:noFill/>
          <a:ln>
            <a:noFill/>
          </a:ln>
        </p:spPr>
      </p:pic>
      <p:pic>
        <p:nvPicPr>
          <p:cNvPr id="450" name="Google Shape;450;p48"/>
          <p:cNvPicPr preferRelativeResize="0"/>
          <p:nvPr/>
        </p:nvPicPr>
        <p:blipFill rotWithShape="1">
          <a:blip r:embed="rId4">
            <a:alphaModFix/>
          </a:blip>
          <a:srcRect b="89400" l="84608" r="0" t="0"/>
          <a:stretch/>
        </p:blipFill>
        <p:spPr>
          <a:xfrm>
            <a:off x="169400" y="1332700"/>
            <a:ext cx="1190662" cy="406956"/>
          </a:xfrm>
          <a:prstGeom prst="rect">
            <a:avLst/>
          </a:prstGeom>
          <a:noFill/>
          <a:ln>
            <a:noFill/>
          </a:ln>
        </p:spPr>
      </p:pic>
      <p:pic>
        <p:nvPicPr>
          <p:cNvPr id="451" name="Google Shape;451;p48"/>
          <p:cNvPicPr preferRelativeResize="0"/>
          <p:nvPr/>
        </p:nvPicPr>
        <p:blipFill rotWithShape="1">
          <a:blip r:embed="rId5">
            <a:alphaModFix/>
          </a:blip>
          <a:srcRect b="0" l="0" r="0" t="1507"/>
          <a:stretch/>
        </p:blipFill>
        <p:spPr>
          <a:xfrm>
            <a:off x="3116250" y="1434200"/>
            <a:ext cx="3029124" cy="1523675"/>
          </a:xfrm>
          <a:prstGeom prst="rect">
            <a:avLst/>
          </a:prstGeom>
          <a:noFill/>
          <a:ln>
            <a:noFill/>
          </a:ln>
        </p:spPr>
      </p:pic>
      <p:pic>
        <p:nvPicPr>
          <p:cNvPr id="452" name="Google Shape;452;p48"/>
          <p:cNvPicPr preferRelativeResize="0"/>
          <p:nvPr/>
        </p:nvPicPr>
        <p:blipFill rotWithShape="1">
          <a:blip r:embed="rId6">
            <a:alphaModFix/>
          </a:blip>
          <a:srcRect b="0" l="0" r="1342" t="0"/>
          <a:stretch/>
        </p:blipFill>
        <p:spPr>
          <a:xfrm>
            <a:off x="6235250" y="1477375"/>
            <a:ext cx="2721699" cy="1480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6" name="Shape 456"/>
        <p:cNvGrpSpPr/>
        <p:nvPr/>
      </p:nvGrpSpPr>
      <p:grpSpPr>
        <a:xfrm>
          <a:off x="0" y="0"/>
          <a:ext cx="0" cy="0"/>
          <a:chOff x="0" y="0"/>
          <a:chExt cx="0" cy="0"/>
        </a:xfrm>
      </p:grpSpPr>
      <p:sp>
        <p:nvSpPr>
          <p:cNvPr id="457" name="Google Shape;457;p49"/>
          <p:cNvSpPr txBox="1"/>
          <p:nvPr>
            <p:ph idx="1" type="subTitle"/>
          </p:nvPr>
        </p:nvSpPr>
        <p:spPr>
          <a:xfrm>
            <a:off x="819450" y="3207875"/>
            <a:ext cx="7505100" cy="685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rgbClr val="000000"/>
                </a:solidFill>
                <a:latin typeface="Roboto"/>
                <a:ea typeface="Roboto"/>
                <a:cs typeface="Roboto"/>
                <a:sym typeface="Roboto"/>
              </a:rPr>
              <a:t>The overall traffic </a:t>
            </a:r>
            <a:r>
              <a:rPr b="1" lang="en" sz="1100">
                <a:solidFill>
                  <a:srgbClr val="000000"/>
                </a:solidFill>
                <a:latin typeface="Roboto"/>
                <a:ea typeface="Roboto"/>
                <a:cs typeface="Roboto"/>
                <a:sym typeface="Roboto"/>
              </a:rPr>
              <a:t>decline </a:t>
            </a:r>
            <a:r>
              <a:rPr lang="en" sz="1100">
                <a:solidFill>
                  <a:srgbClr val="000000"/>
                </a:solidFill>
                <a:latin typeface="Roboto"/>
                <a:ea typeface="Roboto"/>
                <a:cs typeface="Roboto"/>
                <a:sym typeface="Roboto"/>
              </a:rPr>
              <a:t>is primarily driven by the </a:t>
            </a:r>
            <a:r>
              <a:rPr b="1" lang="en" sz="1100">
                <a:solidFill>
                  <a:srgbClr val="000000"/>
                </a:solidFill>
                <a:latin typeface="Roboto"/>
                <a:ea typeface="Roboto"/>
                <a:cs typeface="Roboto"/>
                <a:sym typeface="Roboto"/>
              </a:rPr>
              <a:t>decrease in Email usage</a:t>
            </a:r>
            <a:r>
              <a:rPr lang="en" sz="1100">
                <a:solidFill>
                  <a:srgbClr val="000000"/>
                </a:solidFill>
                <a:latin typeface="Roboto"/>
                <a:ea typeface="Roboto"/>
                <a:cs typeface="Roboto"/>
                <a:sym typeface="Roboto"/>
              </a:rPr>
              <a:t>, while the shift in user behavior toward WhatsApp highlights churn risk among Email-dependent clients and revenue opportunities through WhatsApp-focused engagement.</a:t>
            </a:r>
            <a:endParaRPr sz="1100">
              <a:solidFill>
                <a:srgbClr val="000000"/>
              </a:solidFill>
              <a:latin typeface="Roboto"/>
              <a:ea typeface="Roboto"/>
              <a:cs typeface="Roboto"/>
              <a:sym typeface="Roboto"/>
            </a:endParaRPr>
          </a:p>
        </p:txBody>
      </p:sp>
      <p:sp>
        <p:nvSpPr>
          <p:cNvPr id="458" name="Google Shape;458;p49"/>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9" name="Google Shape;459;p49"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460" name="Google Shape;460;p49"/>
          <p:cNvSpPr txBox="1"/>
          <p:nvPr>
            <p:ph type="title"/>
          </p:nvPr>
        </p:nvSpPr>
        <p:spPr>
          <a:xfrm>
            <a:off x="2479600" y="506025"/>
            <a:ext cx="4023300" cy="685800"/>
          </a:xfrm>
          <a:prstGeom prst="rect">
            <a:avLst/>
          </a:prstGeom>
        </p:spPr>
        <p:txBody>
          <a:bodyPr anchorCtr="0" anchor="b" bIns="91425" lIns="731500" spcFirstLastPara="1" rIns="731500" wrap="square" tIns="91425">
            <a:noAutofit/>
          </a:bodyPr>
          <a:lstStyle/>
          <a:p>
            <a:pPr indent="0" lvl="0" marL="0" rtl="0" algn="l">
              <a:spcBef>
                <a:spcPts val="0"/>
              </a:spcBef>
              <a:spcAft>
                <a:spcPts val="0"/>
              </a:spcAft>
              <a:buNone/>
            </a:pPr>
            <a:r>
              <a:rPr lang="en" sz="3600">
                <a:solidFill>
                  <a:srgbClr val="212121"/>
                </a:solidFill>
                <a:latin typeface="Roboto"/>
                <a:ea typeface="Roboto"/>
                <a:cs typeface="Roboto"/>
                <a:sym typeface="Roboto"/>
              </a:rPr>
              <a:t>Trend </a:t>
            </a:r>
            <a:r>
              <a:rPr lang="en" sz="3600">
                <a:solidFill>
                  <a:srgbClr val="212121"/>
                </a:solidFill>
                <a:latin typeface="Roboto"/>
                <a:ea typeface="Roboto"/>
                <a:cs typeface="Roboto"/>
                <a:sym typeface="Roboto"/>
              </a:rPr>
              <a:t>Users</a:t>
            </a:r>
            <a:endParaRPr sz="3600">
              <a:solidFill>
                <a:srgbClr val="212121"/>
              </a:solidFill>
              <a:latin typeface="Roboto"/>
              <a:ea typeface="Roboto"/>
              <a:cs typeface="Roboto"/>
              <a:sym typeface="Roboto"/>
            </a:endParaRPr>
          </a:p>
        </p:txBody>
      </p:sp>
      <p:pic>
        <p:nvPicPr>
          <p:cNvPr id="461" name="Google Shape;461;p49"/>
          <p:cNvPicPr preferRelativeResize="0"/>
          <p:nvPr/>
        </p:nvPicPr>
        <p:blipFill>
          <a:blip r:embed="rId4">
            <a:alphaModFix/>
          </a:blip>
          <a:stretch>
            <a:fillRect/>
          </a:stretch>
        </p:blipFill>
        <p:spPr>
          <a:xfrm>
            <a:off x="531976" y="1332700"/>
            <a:ext cx="3799500" cy="1885375"/>
          </a:xfrm>
          <a:prstGeom prst="rect">
            <a:avLst/>
          </a:prstGeom>
          <a:noFill/>
          <a:ln>
            <a:noFill/>
          </a:ln>
        </p:spPr>
      </p:pic>
      <p:pic>
        <p:nvPicPr>
          <p:cNvPr id="462" name="Google Shape;462;p49"/>
          <p:cNvPicPr preferRelativeResize="0"/>
          <p:nvPr/>
        </p:nvPicPr>
        <p:blipFill>
          <a:blip r:embed="rId5">
            <a:alphaModFix/>
          </a:blip>
          <a:stretch>
            <a:fillRect/>
          </a:stretch>
        </p:blipFill>
        <p:spPr>
          <a:xfrm>
            <a:off x="5060425" y="1411725"/>
            <a:ext cx="3631075" cy="1806350"/>
          </a:xfrm>
          <a:prstGeom prst="rect">
            <a:avLst/>
          </a:prstGeom>
          <a:noFill/>
          <a:ln>
            <a:noFill/>
          </a:ln>
        </p:spPr>
      </p:pic>
      <p:sp>
        <p:nvSpPr>
          <p:cNvPr id="463" name="Google Shape;463;p49"/>
          <p:cNvSpPr txBox="1"/>
          <p:nvPr>
            <p:ph idx="1" type="subTitle"/>
          </p:nvPr>
        </p:nvSpPr>
        <p:spPr>
          <a:xfrm>
            <a:off x="700400" y="1046025"/>
            <a:ext cx="1361700" cy="365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200">
                <a:solidFill>
                  <a:srgbClr val="000000"/>
                </a:solidFill>
                <a:latin typeface="Arial"/>
                <a:ea typeface="Arial"/>
                <a:cs typeface="Arial"/>
                <a:sym typeface="Arial"/>
              </a:rPr>
              <a:t>Daily Usage</a:t>
            </a:r>
            <a:endParaRPr b="1" sz="1200">
              <a:solidFill>
                <a:srgbClr val="000000"/>
              </a:solidFill>
              <a:latin typeface="Arial"/>
              <a:ea typeface="Arial"/>
              <a:cs typeface="Arial"/>
              <a:sym typeface="Arial"/>
            </a:endParaRPr>
          </a:p>
        </p:txBody>
      </p:sp>
      <p:sp>
        <p:nvSpPr>
          <p:cNvPr id="464" name="Google Shape;464;p49"/>
          <p:cNvSpPr txBox="1"/>
          <p:nvPr>
            <p:ph idx="1" type="subTitle"/>
          </p:nvPr>
        </p:nvSpPr>
        <p:spPr>
          <a:xfrm>
            <a:off x="5060425" y="1133375"/>
            <a:ext cx="1361700" cy="365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200">
                <a:solidFill>
                  <a:srgbClr val="000000"/>
                </a:solidFill>
                <a:latin typeface="Arial"/>
                <a:ea typeface="Arial"/>
                <a:cs typeface="Arial"/>
                <a:sym typeface="Arial"/>
              </a:rPr>
              <a:t>Monthly </a:t>
            </a:r>
            <a:r>
              <a:rPr b="1" lang="en" sz="1200">
                <a:solidFill>
                  <a:srgbClr val="000000"/>
                </a:solidFill>
                <a:latin typeface="Arial"/>
                <a:ea typeface="Arial"/>
                <a:cs typeface="Arial"/>
                <a:sym typeface="Arial"/>
              </a:rPr>
              <a:t>Usage</a:t>
            </a:r>
            <a:endParaRPr b="1" sz="1200">
              <a:solidFill>
                <a:srgbClr val="000000"/>
              </a:solidFill>
              <a:latin typeface="Arial"/>
              <a:ea typeface="Arial"/>
              <a:cs typeface="Arial"/>
              <a:sym typeface="Arial"/>
            </a:endParaRPr>
          </a:p>
        </p:txBody>
      </p:sp>
      <p:sp>
        <p:nvSpPr>
          <p:cNvPr id="465" name="Google Shape;465;p49"/>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latin typeface="Roboto"/>
                <a:ea typeface="Roboto"/>
                <a:cs typeface="Roboto"/>
                <a:sym typeface="Roboto"/>
              </a:rPr>
              <a:t>Disclaimer</a:t>
            </a:r>
            <a:endParaRPr sz="1100">
              <a:solidFill>
                <a:srgbClr val="980000"/>
              </a:solidFill>
              <a:latin typeface="Roboto"/>
              <a:ea typeface="Roboto"/>
              <a:cs typeface="Roboto"/>
              <a:sym typeface="Roboto"/>
            </a:endParaRPr>
          </a:p>
          <a:p>
            <a:pPr indent="0" lvl="0" marL="0" rtl="0" algn="l">
              <a:spcBef>
                <a:spcPts val="0"/>
              </a:spcBef>
              <a:spcAft>
                <a:spcPts val="0"/>
              </a:spcAft>
              <a:buNone/>
            </a:pPr>
            <a:r>
              <a:rPr lang="en" sz="900">
                <a:solidFill>
                  <a:srgbClr val="980000"/>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980000"/>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9" name="Shape 469"/>
        <p:cNvGrpSpPr/>
        <p:nvPr/>
      </p:nvGrpSpPr>
      <p:grpSpPr>
        <a:xfrm>
          <a:off x="0" y="0"/>
          <a:ext cx="0" cy="0"/>
          <a:chOff x="0" y="0"/>
          <a:chExt cx="0" cy="0"/>
        </a:xfrm>
      </p:grpSpPr>
      <p:sp>
        <p:nvSpPr>
          <p:cNvPr id="470" name="Google Shape;470;p50"/>
          <p:cNvSpPr txBox="1"/>
          <p:nvPr>
            <p:ph idx="1" type="subTitle"/>
          </p:nvPr>
        </p:nvSpPr>
        <p:spPr>
          <a:xfrm>
            <a:off x="4593850" y="1783750"/>
            <a:ext cx="4236300" cy="2203800"/>
          </a:xfrm>
          <a:prstGeom prst="rect">
            <a:avLst/>
          </a:prstGeom>
          <a:noFill/>
        </p:spPr>
        <p:txBody>
          <a:bodyPr anchorCtr="0" anchor="t" bIns="91425" lIns="91425" spcFirstLastPara="1" rIns="91425" wrap="square" tIns="91425">
            <a:noAutofit/>
          </a:bodyPr>
          <a:lstStyle/>
          <a:p>
            <a:pPr indent="-184150" lvl="0" marL="285750" rtl="0" algn="just">
              <a:spcBef>
                <a:spcPts val="0"/>
              </a:spcBef>
              <a:spcAft>
                <a:spcPts val="0"/>
              </a:spcAft>
              <a:buClr>
                <a:srgbClr val="212121"/>
              </a:buClr>
              <a:buSzPts val="1100"/>
              <a:buFont typeface="Arial"/>
              <a:buChar char="●"/>
            </a:pPr>
            <a:r>
              <a:rPr b="1" lang="en" sz="1100">
                <a:solidFill>
                  <a:srgbClr val="212121"/>
                </a:solidFill>
                <a:latin typeface="Roboto"/>
                <a:ea typeface="Roboto"/>
                <a:cs typeface="Roboto"/>
                <a:sym typeface="Roboto"/>
              </a:rPr>
              <a:t>Relatively Low Churn Risk</a:t>
            </a:r>
            <a:r>
              <a:rPr lang="en" sz="1100">
                <a:solidFill>
                  <a:srgbClr val="212121"/>
                </a:solidFill>
                <a:latin typeface="Roboto"/>
                <a:ea typeface="Roboto"/>
                <a:cs typeface="Roboto"/>
                <a:sym typeface="Roboto"/>
              </a:rPr>
              <a:t> for High-Volume &amp; High-Engagement Users</a:t>
            </a:r>
            <a:endParaRPr sz="1100">
              <a:solidFill>
                <a:srgbClr val="212121"/>
              </a:solidFill>
              <a:latin typeface="Roboto"/>
              <a:ea typeface="Roboto"/>
              <a:cs typeface="Roboto"/>
              <a:sym typeface="Roboto"/>
            </a:endParaRPr>
          </a:p>
          <a:p>
            <a:pPr indent="-184150" lvl="0" marL="285750" rtl="0" algn="just">
              <a:spcBef>
                <a:spcPts val="0"/>
              </a:spcBef>
              <a:spcAft>
                <a:spcPts val="0"/>
              </a:spcAft>
              <a:buClr>
                <a:srgbClr val="212121"/>
              </a:buClr>
              <a:buSzPts val="1100"/>
              <a:buFont typeface="Arial"/>
              <a:buChar char="●"/>
            </a:pPr>
            <a:r>
              <a:rPr b="1" lang="en" sz="1100">
                <a:solidFill>
                  <a:srgbClr val="212121"/>
                </a:solidFill>
                <a:latin typeface="Roboto"/>
                <a:ea typeface="Roboto"/>
                <a:cs typeface="Roboto"/>
                <a:sym typeface="Roboto"/>
              </a:rPr>
              <a:t>Early Warning</a:t>
            </a:r>
            <a:r>
              <a:rPr lang="en" sz="1100">
                <a:solidFill>
                  <a:srgbClr val="212121"/>
                </a:solidFill>
                <a:latin typeface="Roboto"/>
                <a:ea typeface="Roboto"/>
                <a:cs typeface="Roboto"/>
                <a:sym typeface="Roboto"/>
              </a:rPr>
              <a:t>: Usage &amp; Revenue Drop Begins to Appear</a:t>
            </a:r>
            <a:endParaRPr sz="1100">
              <a:solidFill>
                <a:srgbClr val="212121"/>
              </a:solidFill>
              <a:latin typeface="Roboto"/>
              <a:ea typeface="Roboto"/>
              <a:cs typeface="Roboto"/>
              <a:sym typeface="Roboto"/>
            </a:endParaRPr>
          </a:p>
          <a:p>
            <a:pPr indent="-184150" lvl="0" marL="285750" rtl="0" algn="just">
              <a:spcBef>
                <a:spcPts val="0"/>
              </a:spcBef>
              <a:spcAft>
                <a:spcPts val="0"/>
              </a:spcAft>
              <a:buClr>
                <a:srgbClr val="212121"/>
              </a:buClr>
              <a:buSzPts val="1100"/>
              <a:buChar char="●"/>
            </a:pPr>
            <a:r>
              <a:rPr b="1" lang="en" sz="1100">
                <a:solidFill>
                  <a:srgbClr val="212121"/>
                </a:solidFill>
                <a:latin typeface="Roboto"/>
                <a:ea typeface="Roboto"/>
                <a:cs typeface="Roboto"/>
                <a:sym typeface="Roboto"/>
              </a:rPr>
              <a:t>Upsell Opportunity</a:t>
            </a:r>
            <a:r>
              <a:rPr lang="en" sz="1100">
                <a:solidFill>
                  <a:srgbClr val="212121"/>
                </a:solidFill>
                <a:latin typeface="Roboto"/>
                <a:ea typeface="Roboto"/>
                <a:cs typeface="Roboto"/>
                <a:sym typeface="Roboto"/>
              </a:rPr>
              <a:t> pada High-Active, Low-Volume Users</a:t>
            </a:r>
            <a:endParaRPr b="1" sz="1100">
              <a:solidFill>
                <a:srgbClr val="212121"/>
              </a:solidFill>
              <a:latin typeface="Roboto"/>
              <a:ea typeface="Roboto"/>
              <a:cs typeface="Roboto"/>
              <a:sym typeface="Roboto"/>
            </a:endParaRPr>
          </a:p>
        </p:txBody>
      </p:sp>
      <p:sp>
        <p:nvSpPr>
          <p:cNvPr id="471" name="Google Shape;471;p50"/>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50"/>
          <p:cNvSpPr/>
          <p:nvPr/>
        </p:nvSpPr>
        <p:spPr>
          <a:xfrm rot="-8512697">
            <a:off x="7428225" y="-72135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pic>
        <p:nvPicPr>
          <p:cNvPr id="473" name="Google Shape;473;p50"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474" name="Google Shape;474;p50"/>
          <p:cNvSpPr txBox="1"/>
          <p:nvPr>
            <p:ph type="title"/>
          </p:nvPr>
        </p:nvSpPr>
        <p:spPr>
          <a:xfrm>
            <a:off x="716100" y="6469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solidFill>
                  <a:srgbClr val="212121"/>
                </a:solidFill>
                <a:latin typeface="Roboto"/>
                <a:ea typeface="Roboto"/>
                <a:cs typeface="Roboto"/>
                <a:sym typeface="Roboto"/>
              </a:rPr>
              <a:t>Customer Behavior</a:t>
            </a:r>
            <a:endParaRPr sz="3600">
              <a:solidFill>
                <a:srgbClr val="212121"/>
              </a:solidFill>
              <a:latin typeface="Roboto"/>
              <a:ea typeface="Roboto"/>
              <a:cs typeface="Roboto"/>
              <a:sym typeface="Roboto"/>
            </a:endParaRPr>
          </a:p>
        </p:txBody>
      </p:sp>
      <p:sp>
        <p:nvSpPr>
          <p:cNvPr id="475" name="Google Shape;475;p50"/>
          <p:cNvSpPr txBox="1"/>
          <p:nvPr>
            <p:ph idx="1" type="subTitle"/>
          </p:nvPr>
        </p:nvSpPr>
        <p:spPr>
          <a:xfrm>
            <a:off x="4678900" y="3165725"/>
            <a:ext cx="3948000" cy="555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rgbClr val="212121"/>
                </a:solidFill>
                <a:latin typeface="Roboto"/>
                <a:ea typeface="Roboto"/>
                <a:cs typeface="Roboto"/>
                <a:sym typeface="Roboto"/>
              </a:rPr>
              <a:t>Top users show </a:t>
            </a:r>
            <a:r>
              <a:rPr b="1" lang="en" sz="1100">
                <a:solidFill>
                  <a:srgbClr val="212121"/>
                </a:solidFill>
                <a:latin typeface="Roboto"/>
                <a:ea typeface="Roboto"/>
                <a:cs typeface="Roboto"/>
                <a:sym typeface="Roboto"/>
              </a:rPr>
              <a:t>strong engagement</a:t>
            </a:r>
            <a:r>
              <a:rPr lang="en" sz="1100">
                <a:solidFill>
                  <a:srgbClr val="212121"/>
                </a:solidFill>
                <a:latin typeface="Roboto"/>
                <a:ea typeface="Roboto"/>
                <a:cs typeface="Roboto"/>
                <a:sym typeface="Roboto"/>
              </a:rPr>
              <a:t> and </a:t>
            </a:r>
            <a:r>
              <a:rPr b="1" lang="en" sz="1100">
                <a:solidFill>
                  <a:srgbClr val="212121"/>
                </a:solidFill>
                <a:latin typeface="Roboto"/>
                <a:ea typeface="Roboto"/>
                <a:cs typeface="Roboto"/>
                <a:sym typeface="Roboto"/>
              </a:rPr>
              <a:t>low churn risk</a:t>
            </a:r>
            <a:r>
              <a:rPr lang="en" sz="1100">
                <a:solidFill>
                  <a:srgbClr val="212121"/>
                </a:solidFill>
                <a:latin typeface="Roboto"/>
                <a:ea typeface="Roboto"/>
                <a:cs typeface="Roboto"/>
                <a:sym typeface="Roboto"/>
              </a:rPr>
              <a:t>, but volume is highly concentrated among a few key accounts, highlighting dependency risk and significant </a:t>
            </a:r>
            <a:r>
              <a:rPr b="1" lang="en" sz="1100">
                <a:solidFill>
                  <a:srgbClr val="212121"/>
                </a:solidFill>
                <a:latin typeface="Roboto"/>
                <a:ea typeface="Roboto"/>
                <a:cs typeface="Roboto"/>
                <a:sym typeface="Roboto"/>
              </a:rPr>
              <a:t>upsell potential</a:t>
            </a:r>
            <a:r>
              <a:rPr lang="en" sz="1100">
                <a:solidFill>
                  <a:srgbClr val="212121"/>
                </a:solidFill>
                <a:latin typeface="Roboto"/>
                <a:ea typeface="Roboto"/>
                <a:cs typeface="Roboto"/>
                <a:sym typeface="Roboto"/>
              </a:rPr>
              <a:t> among consistently active yet low-volume clients.</a:t>
            </a:r>
            <a:endParaRPr sz="1100">
              <a:solidFill>
                <a:srgbClr val="212121"/>
              </a:solidFill>
              <a:latin typeface="Roboto"/>
              <a:ea typeface="Roboto"/>
              <a:cs typeface="Roboto"/>
              <a:sym typeface="Roboto"/>
            </a:endParaRPr>
          </a:p>
        </p:txBody>
      </p:sp>
      <p:sp>
        <p:nvSpPr>
          <p:cNvPr id="476" name="Google Shape;476;p50"/>
          <p:cNvSpPr txBox="1"/>
          <p:nvPr>
            <p:ph type="title"/>
          </p:nvPr>
        </p:nvSpPr>
        <p:spPr>
          <a:xfrm>
            <a:off x="716100" y="922492"/>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b="0" lang="en" sz="2400">
                <a:solidFill>
                  <a:srgbClr val="212121"/>
                </a:solidFill>
                <a:latin typeface="Roboto"/>
                <a:ea typeface="Roboto"/>
                <a:cs typeface="Roboto"/>
                <a:sym typeface="Roboto"/>
              </a:rPr>
              <a:t>Top Users</a:t>
            </a:r>
            <a:endParaRPr b="0" sz="2400">
              <a:solidFill>
                <a:srgbClr val="212121"/>
              </a:solidFill>
              <a:latin typeface="Roboto"/>
              <a:ea typeface="Roboto"/>
              <a:cs typeface="Roboto"/>
              <a:sym typeface="Roboto"/>
            </a:endParaRPr>
          </a:p>
        </p:txBody>
      </p:sp>
      <p:sp>
        <p:nvSpPr>
          <p:cNvPr id="477" name="Google Shape;477;p50"/>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latin typeface="Roboto"/>
                <a:ea typeface="Roboto"/>
                <a:cs typeface="Roboto"/>
                <a:sym typeface="Roboto"/>
              </a:rPr>
              <a:t>Disclaimer</a:t>
            </a:r>
            <a:endParaRPr sz="1100">
              <a:solidFill>
                <a:srgbClr val="980000"/>
              </a:solidFill>
              <a:latin typeface="Roboto"/>
              <a:ea typeface="Roboto"/>
              <a:cs typeface="Roboto"/>
              <a:sym typeface="Roboto"/>
            </a:endParaRPr>
          </a:p>
          <a:p>
            <a:pPr indent="0" lvl="0" marL="0" rtl="0" algn="l">
              <a:spcBef>
                <a:spcPts val="0"/>
              </a:spcBef>
              <a:spcAft>
                <a:spcPts val="0"/>
              </a:spcAft>
              <a:buNone/>
            </a:pPr>
            <a:r>
              <a:rPr lang="en" sz="900">
                <a:solidFill>
                  <a:srgbClr val="980000"/>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980000"/>
              </a:solidFill>
              <a:latin typeface="Roboto"/>
              <a:ea typeface="Roboto"/>
              <a:cs typeface="Roboto"/>
              <a:sym typeface="Roboto"/>
            </a:endParaRPr>
          </a:p>
        </p:txBody>
      </p:sp>
      <p:pic>
        <p:nvPicPr>
          <p:cNvPr id="478" name="Google Shape;478;p50"/>
          <p:cNvPicPr preferRelativeResize="0"/>
          <p:nvPr/>
        </p:nvPicPr>
        <p:blipFill>
          <a:blip r:embed="rId4">
            <a:alphaModFix/>
          </a:blip>
          <a:stretch>
            <a:fillRect/>
          </a:stretch>
        </p:blipFill>
        <p:spPr>
          <a:xfrm>
            <a:off x="211925" y="1275949"/>
            <a:ext cx="2077225" cy="1534000"/>
          </a:xfrm>
          <a:prstGeom prst="rect">
            <a:avLst/>
          </a:prstGeom>
          <a:noFill/>
          <a:ln>
            <a:noFill/>
          </a:ln>
        </p:spPr>
      </p:pic>
      <p:pic>
        <p:nvPicPr>
          <p:cNvPr id="479" name="Google Shape;479;p50"/>
          <p:cNvPicPr preferRelativeResize="0"/>
          <p:nvPr/>
        </p:nvPicPr>
        <p:blipFill>
          <a:blip r:embed="rId5">
            <a:alphaModFix/>
          </a:blip>
          <a:stretch>
            <a:fillRect/>
          </a:stretch>
        </p:blipFill>
        <p:spPr>
          <a:xfrm>
            <a:off x="173149" y="2718900"/>
            <a:ext cx="2220609" cy="1534000"/>
          </a:xfrm>
          <a:prstGeom prst="rect">
            <a:avLst/>
          </a:prstGeom>
          <a:noFill/>
          <a:ln>
            <a:noFill/>
          </a:ln>
        </p:spPr>
      </p:pic>
      <p:pic>
        <p:nvPicPr>
          <p:cNvPr id="480" name="Google Shape;480;p50"/>
          <p:cNvPicPr preferRelativeResize="0"/>
          <p:nvPr/>
        </p:nvPicPr>
        <p:blipFill>
          <a:blip r:embed="rId6">
            <a:alphaModFix/>
          </a:blip>
          <a:stretch>
            <a:fillRect/>
          </a:stretch>
        </p:blipFill>
        <p:spPr>
          <a:xfrm>
            <a:off x="2458300" y="1760700"/>
            <a:ext cx="2220600" cy="23193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84" name="Shape 484"/>
        <p:cNvGrpSpPr/>
        <p:nvPr/>
      </p:nvGrpSpPr>
      <p:grpSpPr>
        <a:xfrm>
          <a:off x="0" y="0"/>
          <a:ext cx="0" cy="0"/>
          <a:chOff x="0" y="0"/>
          <a:chExt cx="0" cy="0"/>
        </a:xfrm>
      </p:grpSpPr>
      <p:pic>
        <p:nvPicPr>
          <p:cNvPr id="485" name="Google Shape;485;p51"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486" name="Google Shape;486;p51"/>
          <p:cNvSpPr txBox="1"/>
          <p:nvPr>
            <p:ph idx="4294967295" type="title"/>
          </p:nvPr>
        </p:nvSpPr>
        <p:spPr>
          <a:xfrm>
            <a:off x="1186000" y="760325"/>
            <a:ext cx="6462600" cy="679200"/>
          </a:xfrm>
          <a:prstGeom prst="rect">
            <a:avLst/>
          </a:prstGeom>
        </p:spPr>
        <p:txBody>
          <a:bodyPr anchorCtr="0" anchor="ctr" bIns="91425" lIns="731500" spcFirstLastPara="1" rIns="731500" wrap="square" tIns="91425">
            <a:noAutofit/>
          </a:bodyPr>
          <a:lstStyle/>
          <a:p>
            <a:pPr indent="0" lvl="0" marL="0" rtl="0" algn="ctr">
              <a:spcBef>
                <a:spcPts val="0"/>
              </a:spcBef>
              <a:spcAft>
                <a:spcPts val="0"/>
              </a:spcAft>
              <a:buNone/>
            </a:pPr>
            <a:r>
              <a:rPr b="1" lang="en" sz="3000">
                <a:solidFill>
                  <a:srgbClr val="212121"/>
                </a:solidFill>
                <a:latin typeface="Comic Sans MS"/>
                <a:ea typeface="Comic Sans MS"/>
                <a:cs typeface="Comic Sans MS"/>
                <a:sym typeface="Comic Sans MS"/>
              </a:rPr>
              <a:t>Insight Summary</a:t>
            </a:r>
            <a:endParaRPr b="1" sz="3000">
              <a:solidFill>
                <a:srgbClr val="212121"/>
              </a:solidFill>
              <a:latin typeface="Comic Sans MS"/>
              <a:ea typeface="Comic Sans MS"/>
              <a:cs typeface="Comic Sans MS"/>
              <a:sym typeface="Comic Sans MS"/>
            </a:endParaRPr>
          </a:p>
        </p:txBody>
      </p:sp>
      <p:sp>
        <p:nvSpPr>
          <p:cNvPr id="487" name="Google Shape;487;p51"/>
          <p:cNvSpPr txBox="1"/>
          <p:nvPr>
            <p:ph idx="4294967295" type="title"/>
          </p:nvPr>
        </p:nvSpPr>
        <p:spPr>
          <a:xfrm>
            <a:off x="-117425" y="2618825"/>
            <a:ext cx="3928500" cy="1434900"/>
          </a:xfrm>
          <a:prstGeom prst="rect">
            <a:avLst/>
          </a:prstGeom>
        </p:spPr>
        <p:txBody>
          <a:bodyPr anchorCtr="0" anchor="t" bIns="91425" lIns="731500" spcFirstLastPara="1" rIns="731500" wrap="square" tIns="91425">
            <a:noAutofit/>
          </a:bodyPr>
          <a:lstStyle/>
          <a:p>
            <a:pPr indent="0" lvl="0" marL="0" rtl="0" algn="l">
              <a:spcBef>
                <a:spcPts val="0"/>
              </a:spcBef>
              <a:spcAft>
                <a:spcPts val="0"/>
              </a:spcAft>
              <a:buNone/>
            </a:pPr>
            <a:r>
              <a:rPr lang="en" sz="1800">
                <a:solidFill>
                  <a:srgbClr val="212121"/>
                </a:solidFill>
                <a:latin typeface="Roboto"/>
                <a:ea typeface="Roboto"/>
                <a:cs typeface="Roboto"/>
                <a:sym typeface="Roboto"/>
              </a:rPr>
              <a:t>WhatsApp drives </a:t>
            </a:r>
            <a:r>
              <a:rPr b="1" lang="en" sz="1800">
                <a:solidFill>
                  <a:srgbClr val="212121"/>
                </a:solidFill>
                <a:latin typeface="Roboto"/>
                <a:ea typeface="Roboto"/>
                <a:cs typeface="Roboto"/>
                <a:sym typeface="Roboto"/>
              </a:rPr>
              <a:t>volume</a:t>
            </a:r>
            <a:r>
              <a:rPr lang="en" sz="1800">
                <a:solidFill>
                  <a:srgbClr val="212121"/>
                </a:solidFill>
                <a:latin typeface="Roboto"/>
                <a:ea typeface="Roboto"/>
                <a:cs typeface="Roboto"/>
                <a:sym typeface="Roboto"/>
              </a:rPr>
              <a:t>, SMS drives </a:t>
            </a:r>
            <a:r>
              <a:rPr b="1" lang="en" sz="1800">
                <a:solidFill>
                  <a:srgbClr val="212121"/>
                </a:solidFill>
                <a:latin typeface="Roboto"/>
                <a:ea typeface="Roboto"/>
                <a:cs typeface="Roboto"/>
                <a:sym typeface="Roboto"/>
              </a:rPr>
              <a:t>revenue</a:t>
            </a:r>
            <a:r>
              <a:rPr lang="en" sz="1800">
                <a:solidFill>
                  <a:srgbClr val="212121"/>
                </a:solidFill>
                <a:latin typeface="Roboto"/>
                <a:ea typeface="Roboto"/>
                <a:cs typeface="Roboto"/>
                <a:sym typeface="Roboto"/>
              </a:rPr>
              <a:t>, enabling a balanced omnichannel strategy.</a:t>
            </a:r>
            <a:endParaRPr sz="1800">
              <a:solidFill>
                <a:srgbClr val="212121"/>
              </a:solidFill>
              <a:latin typeface="Roboto"/>
              <a:ea typeface="Roboto"/>
              <a:cs typeface="Roboto"/>
              <a:sym typeface="Roboto"/>
            </a:endParaRPr>
          </a:p>
        </p:txBody>
      </p:sp>
      <p:pic>
        <p:nvPicPr>
          <p:cNvPr id="488" name="Google Shape;488;p51" title="pricing_1728450.png"/>
          <p:cNvPicPr preferRelativeResize="0"/>
          <p:nvPr/>
        </p:nvPicPr>
        <p:blipFill>
          <a:blip r:embed="rId4">
            <a:alphaModFix/>
          </a:blip>
          <a:stretch>
            <a:fillRect/>
          </a:stretch>
        </p:blipFill>
        <p:spPr>
          <a:xfrm>
            <a:off x="639700" y="1654725"/>
            <a:ext cx="964100" cy="964100"/>
          </a:xfrm>
          <a:prstGeom prst="rect">
            <a:avLst/>
          </a:prstGeom>
          <a:noFill/>
          <a:ln>
            <a:noFill/>
          </a:ln>
        </p:spPr>
      </p:pic>
      <p:sp>
        <p:nvSpPr>
          <p:cNvPr id="489" name="Google Shape;489;p51"/>
          <p:cNvSpPr txBox="1"/>
          <p:nvPr>
            <p:ph idx="4294967295" type="title"/>
          </p:nvPr>
        </p:nvSpPr>
        <p:spPr>
          <a:xfrm>
            <a:off x="2669370" y="2674064"/>
            <a:ext cx="3612000" cy="1599300"/>
          </a:xfrm>
          <a:prstGeom prst="rect">
            <a:avLst/>
          </a:prstGeom>
        </p:spPr>
        <p:txBody>
          <a:bodyPr anchorCtr="0" anchor="t" bIns="91425" lIns="731500" spcFirstLastPara="1" rIns="731500" wrap="square" tIns="91425">
            <a:noAutofit/>
          </a:bodyPr>
          <a:lstStyle/>
          <a:p>
            <a:pPr indent="0" lvl="0" marL="0" rtl="0" algn="ctr">
              <a:spcBef>
                <a:spcPts val="0"/>
              </a:spcBef>
              <a:spcAft>
                <a:spcPts val="0"/>
              </a:spcAft>
              <a:buNone/>
            </a:pPr>
            <a:r>
              <a:rPr lang="en" sz="1800">
                <a:solidFill>
                  <a:srgbClr val="212121"/>
                </a:solidFill>
                <a:latin typeface="Roboto"/>
                <a:ea typeface="Roboto"/>
                <a:cs typeface="Roboto"/>
                <a:sym typeface="Roboto"/>
              </a:rPr>
              <a:t>SMS for </a:t>
            </a:r>
            <a:r>
              <a:rPr b="1" lang="en" sz="1800">
                <a:solidFill>
                  <a:srgbClr val="212121"/>
                </a:solidFill>
                <a:latin typeface="Roboto"/>
                <a:ea typeface="Roboto"/>
                <a:cs typeface="Roboto"/>
                <a:sym typeface="Roboto"/>
              </a:rPr>
              <a:t>critical reliability</a:t>
            </a:r>
            <a:r>
              <a:rPr lang="en" sz="1800">
                <a:solidFill>
                  <a:srgbClr val="212121"/>
                </a:solidFill>
                <a:latin typeface="Roboto"/>
                <a:ea typeface="Roboto"/>
                <a:cs typeface="Roboto"/>
                <a:sym typeface="Roboto"/>
              </a:rPr>
              <a:t>, </a:t>
            </a:r>
            <a:r>
              <a:rPr b="1" lang="en" sz="1800">
                <a:solidFill>
                  <a:srgbClr val="212121"/>
                </a:solidFill>
                <a:latin typeface="Roboto"/>
                <a:ea typeface="Roboto"/>
                <a:cs typeface="Roboto"/>
                <a:sym typeface="Roboto"/>
              </a:rPr>
              <a:t>optimize </a:t>
            </a:r>
            <a:r>
              <a:rPr lang="en" sz="1800">
                <a:solidFill>
                  <a:srgbClr val="212121"/>
                </a:solidFill>
                <a:latin typeface="Roboto"/>
                <a:ea typeface="Roboto"/>
                <a:cs typeface="Roboto"/>
                <a:sym typeface="Roboto"/>
              </a:rPr>
              <a:t>WhatsApp and Email, limit Calls.</a:t>
            </a:r>
            <a:endParaRPr sz="1800">
              <a:solidFill>
                <a:srgbClr val="212121"/>
              </a:solidFill>
              <a:latin typeface="Roboto"/>
              <a:ea typeface="Roboto"/>
              <a:cs typeface="Roboto"/>
              <a:sym typeface="Roboto"/>
            </a:endParaRPr>
          </a:p>
        </p:txBody>
      </p:sp>
      <p:pic>
        <p:nvPicPr>
          <p:cNvPr id="490" name="Google Shape;490;p51" title="sms_3988094.png"/>
          <p:cNvPicPr preferRelativeResize="0"/>
          <p:nvPr/>
        </p:nvPicPr>
        <p:blipFill>
          <a:blip r:embed="rId5">
            <a:alphaModFix/>
          </a:blip>
          <a:stretch>
            <a:fillRect/>
          </a:stretch>
        </p:blipFill>
        <p:spPr>
          <a:xfrm>
            <a:off x="4089950" y="1671370"/>
            <a:ext cx="964100" cy="964110"/>
          </a:xfrm>
          <a:prstGeom prst="rect">
            <a:avLst/>
          </a:prstGeom>
          <a:noFill/>
          <a:ln>
            <a:noFill/>
          </a:ln>
        </p:spPr>
      </p:pic>
      <p:sp>
        <p:nvSpPr>
          <p:cNvPr id="491" name="Google Shape;491;p51"/>
          <p:cNvSpPr txBox="1"/>
          <p:nvPr>
            <p:ph idx="4294967295" type="title"/>
          </p:nvPr>
        </p:nvSpPr>
        <p:spPr>
          <a:xfrm>
            <a:off x="5413816" y="2626959"/>
            <a:ext cx="3796800" cy="2393700"/>
          </a:xfrm>
          <a:prstGeom prst="rect">
            <a:avLst/>
          </a:prstGeom>
        </p:spPr>
        <p:txBody>
          <a:bodyPr anchorCtr="0" anchor="t" bIns="91425" lIns="731500" spcFirstLastPara="1" rIns="731500" wrap="square" tIns="91425">
            <a:noAutofit/>
          </a:bodyPr>
          <a:lstStyle/>
          <a:p>
            <a:pPr indent="0" lvl="0" marL="0" rtl="0" algn="r">
              <a:spcBef>
                <a:spcPts val="0"/>
              </a:spcBef>
              <a:spcAft>
                <a:spcPts val="0"/>
              </a:spcAft>
              <a:buNone/>
            </a:pPr>
            <a:r>
              <a:rPr lang="en" sz="1800">
                <a:solidFill>
                  <a:srgbClr val="212121"/>
                </a:solidFill>
                <a:latin typeface="Roboto"/>
                <a:ea typeface="Roboto"/>
                <a:cs typeface="Roboto"/>
                <a:sym typeface="Roboto"/>
              </a:rPr>
              <a:t>Engagement </a:t>
            </a:r>
            <a:r>
              <a:rPr b="1" lang="en" sz="1800">
                <a:solidFill>
                  <a:srgbClr val="212121"/>
                </a:solidFill>
                <a:latin typeface="Roboto"/>
                <a:ea typeface="Roboto"/>
                <a:cs typeface="Roboto"/>
                <a:sym typeface="Roboto"/>
              </a:rPr>
              <a:t>stable</a:t>
            </a:r>
            <a:r>
              <a:rPr lang="en" sz="1800">
                <a:solidFill>
                  <a:srgbClr val="212121"/>
                </a:solidFill>
                <a:latin typeface="Roboto"/>
                <a:ea typeface="Roboto"/>
                <a:cs typeface="Roboto"/>
                <a:sym typeface="Roboto"/>
              </a:rPr>
              <a:t>, </a:t>
            </a:r>
            <a:br>
              <a:rPr lang="en" sz="1800">
                <a:solidFill>
                  <a:srgbClr val="212121"/>
                </a:solidFill>
                <a:latin typeface="Roboto"/>
                <a:ea typeface="Roboto"/>
                <a:cs typeface="Roboto"/>
                <a:sym typeface="Roboto"/>
              </a:rPr>
            </a:br>
            <a:r>
              <a:rPr lang="en" sz="1800">
                <a:solidFill>
                  <a:srgbClr val="212121"/>
                </a:solidFill>
                <a:latin typeface="Roboto"/>
                <a:ea typeface="Roboto"/>
                <a:cs typeface="Roboto"/>
                <a:sym typeface="Roboto"/>
              </a:rPr>
              <a:t>volume </a:t>
            </a:r>
            <a:r>
              <a:rPr b="1" lang="en" sz="1800">
                <a:solidFill>
                  <a:srgbClr val="212121"/>
                </a:solidFill>
                <a:latin typeface="Roboto"/>
                <a:ea typeface="Roboto"/>
                <a:cs typeface="Roboto"/>
                <a:sym typeface="Roboto"/>
              </a:rPr>
              <a:t>concentrated</a:t>
            </a:r>
            <a:r>
              <a:rPr lang="en" sz="1800">
                <a:solidFill>
                  <a:srgbClr val="212121"/>
                </a:solidFill>
                <a:latin typeface="Roboto"/>
                <a:ea typeface="Roboto"/>
                <a:cs typeface="Roboto"/>
                <a:sym typeface="Roboto"/>
              </a:rPr>
              <a:t>, </a:t>
            </a:r>
            <a:br>
              <a:rPr lang="en" sz="1800">
                <a:solidFill>
                  <a:srgbClr val="212121"/>
                </a:solidFill>
                <a:latin typeface="Roboto"/>
                <a:ea typeface="Roboto"/>
                <a:cs typeface="Roboto"/>
                <a:sym typeface="Roboto"/>
              </a:rPr>
            </a:br>
            <a:r>
              <a:rPr lang="en" sz="1800">
                <a:solidFill>
                  <a:srgbClr val="212121"/>
                </a:solidFill>
                <a:latin typeface="Roboto"/>
                <a:ea typeface="Roboto"/>
                <a:cs typeface="Roboto"/>
                <a:sym typeface="Roboto"/>
              </a:rPr>
              <a:t>email </a:t>
            </a:r>
            <a:r>
              <a:rPr b="1" lang="en" sz="1800">
                <a:solidFill>
                  <a:srgbClr val="212121"/>
                </a:solidFill>
                <a:latin typeface="Roboto"/>
                <a:ea typeface="Roboto"/>
                <a:cs typeface="Roboto"/>
                <a:sym typeface="Roboto"/>
              </a:rPr>
              <a:t>declining</a:t>
            </a:r>
            <a:r>
              <a:rPr lang="en" sz="1800">
                <a:solidFill>
                  <a:srgbClr val="212121"/>
                </a:solidFill>
                <a:latin typeface="Roboto"/>
                <a:ea typeface="Roboto"/>
                <a:cs typeface="Roboto"/>
                <a:sym typeface="Roboto"/>
              </a:rPr>
              <a:t>, WhatsApp drives </a:t>
            </a:r>
            <a:r>
              <a:rPr b="1" lang="en" sz="1800">
                <a:solidFill>
                  <a:srgbClr val="212121"/>
                </a:solidFill>
                <a:latin typeface="Roboto"/>
                <a:ea typeface="Roboto"/>
                <a:cs typeface="Roboto"/>
                <a:sym typeface="Roboto"/>
              </a:rPr>
              <a:t>upsell opportunities</a:t>
            </a:r>
            <a:r>
              <a:rPr lang="en" sz="1800">
                <a:solidFill>
                  <a:srgbClr val="212121"/>
                </a:solidFill>
                <a:latin typeface="Roboto"/>
                <a:ea typeface="Roboto"/>
                <a:cs typeface="Roboto"/>
                <a:sym typeface="Roboto"/>
              </a:rPr>
              <a:t>.</a:t>
            </a:r>
            <a:endParaRPr sz="1800">
              <a:solidFill>
                <a:srgbClr val="212121"/>
              </a:solidFill>
              <a:latin typeface="Roboto"/>
              <a:ea typeface="Roboto"/>
              <a:cs typeface="Roboto"/>
              <a:sym typeface="Roboto"/>
            </a:endParaRPr>
          </a:p>
        </p:txBody>
      </p:sp>
      <p:pic>
        <p:nvPicPr>
          <p:cNvPr id="492" name="Google Shape;492;p51" title="usp_5030066.png"/>
          <p:cNvPicPr preferRelativeResize="0"/>
          <p:nvPr/>
        </p:nvPicPr>
        <p:blipFill>
          <a:blip r:embed="rId6">
            <a:alphaModFix/>
          </a:blip>
          <a:stretch>
            <a:fillRect/>
          </a:stretch>
        </p:blipFill>
        <p:spPr>
          <a:xfrm>
            <a:off x="7167650" y="1651900"/>
            <a:ext cx="964100" cy="964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2"/>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2"/>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2"/>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500" name="Google Shape;500;p52"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501" name="Google Shape;501;p52"/>
          <p:cNvSpPr txBox="1"/>
          <p:nvPr>
            <p:ph type="title"/>
          </p:nvPr>
        </p:nvSpPr>
        <p:spPr>
          <a:xfrm>
            <a:off x="716100" y="58545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latin typeface="Roboto"/>
                <a:ea typeface="Roboto"/>
                <a:cs typeface="Roboto"/>
                <a:sym typeface="Roboto"/>
              </a:rPr>
              <a:t>Recommendations</a:t>
            </a:r>
            <a:endParaRPr sz="3600">
              <a:latin typeface="Roboto"/>
              <a:ea typeface="Roboto"/>
              <a:cs typeface="Roboto"/>
              <a:sym typeface="Roboto"/>
            </a:endParaRPr>
          </a:p>
        </p:txBody>
      </p:sp>
      <p:sp>
        <p:nvSpPr>
          <p:cNvPr id="502" name="Google Shape;502;p52"/>
          <p:cNvSpPr txBox="1"/>
          <p:nvPr/>
        </p:nvSpPr>
        <p:spPr>
          <a:xfrm>
            <a:off x="2387375" y="1478528"/>
            <a:ext cx="5276100" cy="603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Reduce Dependency Risk through Volume Diversification</a:t>
            </a:r>
            <a:endParaRPr b="1" sz="1800">
              <a:solidFill>
                <a:schemeClr val="lt1"/>
              </a:solidFill>
              <a:latin typeface="Roboto"/>
              <a:ea typeface="Roboto"/>
              <a:cs typeface="Roboto"/>
              <a:sym typeface="Roboto"/>
            </a:endParaRPr>
          </a:p>
        </p:txBody>
      </p:sp>
      <p:sp>
        <p:nvSpPr>
          <p:cNvPr id="503" name="Google Shape;503;p52"/>
          <p:cNvSpPr txBox="1"/>
          <p:nvPr>
            <p:ph idx="1" type="subTitle"/>
          </p:nvPr>
        </p:nvSpPr>
        <p:spPr>
          <a:xfrm>
            <a:off x="2387375" y="1929425"/>
            <a:ext cx="45300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8FAFB"/>
                </a:solidFill>
                <a:latin typeface="Roboto"/>
                <a:ea typeface="Roboto"/>
                <a:cs typeface="Roboto"/>
                <a:sym typeface="Roboto"/>
              </a:rPr>
              <a:t>Action:</a:t>
            </a:r>
            <a:r>
              <a:rPr lang="en" sz="1200">
                <a:solidFill>
                  <a:srgbClr val="F8FAFB"/>
                </a:solidFill>
                <a:latin typeface="Roboto"/>
                <a:ea typeface="Roboto"/>
                <a:cs typeface="Roboto"/>
                <a:sym typeface="Roboto"/>
              </a:rPr>
              <a:t> Encourage increased volume from existing active but low-volume clients through bundling packages and usage incentives.</a:t>
            </a:r>
            <a:endParaRPr sz="1200">
              <a:solidFill>
                <a:srgbClr val="F8FAFB"/>
              </a:solidFill>
              <a:latin typeface="Roboto"/>
              <a:ea typeface="Roboto"/>
              <a:cs typeface="Roboto"/>
              <a:sym typeface="Roboto"/>
            </a:endParaRPr>
          </a:p>
          <a:p>
            <a:pPr indent="0" lvl="0" marL="0" rtl="0" algn="l">
              <a:spcBef>
                <a:spcPts val="0"/>
              </a:spcBef>
              <a:spcAft>
                <a:spcPts val="0"/>
              </a:spcAft>
              <a:buNone/>
            </a:pPr>
            <a:r>
              <a:t/>
            </a:r>
            <a:endParaRPr sz="1200">
              <a:solidFill>
                <a:srgbClr val="F8FAFB"/>
              </a:solidFill>
              <a:latin typeface="Roboto"/>
              <a:ea typeface="Roboto"/>
              <a:cs typeface="Roboto"/>
              <a:sym typeface="Roboto"/>
            </a:endParaRPr>
          </a:p>
        </p:txBody>
      </p:sp>
      <p:pic>
        <p:nvPicPr>
          <p:cNvPr id="504" name="Google Shape;504;p52" title="diversification_15546383.png"/>
          <p:cNvPicPr preferRelativeResize="0"/>
          <p:nvPr/>
        </p:nvPicPr>
        <p:blipFill>
          <a:blip r:embed="rId4">
            <a:alphaModFix/>
          </a:blip>
          <a:stretch>
            <a:fillRect/>
          </a:stretch>
        </p:blipFill>
        <p:spPr>
          <a:xfrm>
            <a:off x="1480522" y="1558750"/>
            <a:ext cx="870328" cy="870300"/>
          </a:xfrm>
          <a:prstGeom prst="rect">
            <a:avLst/>
          </a:prstGeom>
          <a:noFill/>
          <a:ln>
            <a:noFill/>
          </a:ln>
        </p:spPr>
      </p:pic>
      <p:pic>
        <p:nvPicPr>
          <p:cNvPr id="505" name="Google Shape;505;p52" title="money-currency_3532917.png"/>
          <p:cNvPicPr preferRelativeResize="0"/>
          <p:nvPr/>
        </p:nvPicPr>
        <p:blipFill>
          <a:blip r:embed="rId5">
            <a:alphaModFix/>
          </a:blip>
          <a:stretch>
            <a:fillRect/>
          </a:stretch>
        </p:blipFill>
        <p:spPr>
          <a:xfrm>
            <a:off x="3226142" y="2757435"/>
            <a:ext cx="870324" cy="870335"/>
          </a:xfrm>
          <a:prstGeom prst="rect">
            <a:avLst/>
          </a:prstGeom>
          <a:noFill/>
          <a:ln>
            <a:noFill/>
          </a:ln>
        </p:spPr>
      </p:pic>
      <p:sp>
        <p:nvSpPr>
          <p:cNvPr id="506" name="Google Shape;506;p52"/>
          <p:cNvSpPr txBox="1"/>
          <p:nvPr/>
        </p:nvSpPr>
        <p:spPr>
          <a:xfrm>
            <a:off x="2797692" y="3627782"/>
            <a:ext cx="1662900" cy="6996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064">
                <a:solidFill>
                  <a:schemeClr val="lt1"/>
                </a:solidFill>
                <a:latin typeface="Roboto"/>
                <a:ea typeface="Roboto"/>
                <a:cs typeface="Roboto"/>
                <a:sym typeface="Roboto"/>
              </a:rPr>
              <a:t>INCREASE REVENUE</a:t>
            </a:r>
            <a:endParaRPr b="1" sz="1064">
              <a:solidFill>
                <a:schemeClr val="lt1"/>
              </a:solidFill>
              <a:latin typeface="Roboto"/>
              <a:ea typeface="Roboto"/>
              <a:cs typeface="Roboto"/>
              <a:sym typeface="Roboto"/>
            </a:endParaRPr>
          </a:p>
        </p:txBody>
      </p:sp>
      <p:sp>
        <p:nvSpPr>
          <p:cNvPr id="507" name="Google Shape;507;p52"/>
          <p:cNvSpPr txBox="1"/>
          <p:nvPr/>
        </p:nvSpPr>
        <p:spPr>
          <a:xfrm>
            <a:off x="2797692" y="3812050"/>
            <a:ext cx="16629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447">
                <a:solidFill>
                  <a:schemeClr val="lt1"/>
                </a:solidFill>
                <a:latin typeface="Roboto"/>
                <a:ea typeface="Roboto"/>
                <a:cs typeface="Roboto"/>
                <a:sym typeface="Roboto"/>
              </a:rPr>
              <a:t>Rp. 1.667.700</a:t>
            </a:r>
            <a:endParaRPr b="1" sz="1447">
              <a:solidFill>
                <a:schemeClr val="lt1"/>
              </a:solidFill>
              <a:latin typeface="Roboto"/>
              <a:ea typeface="Roboto"/>
              <a:cs typeface="Roboto"/>
              <a:sym typeface="Roboto"/>
            </a:endParaRPr>
          </a:p>
        </p:txBody>
      </p:sp>
      <p:pic>
        <p:nvPicPr>
          <p:cNvPr id="508" name="Google Shape;508;p52" title="interest-rate_6536324.png"/>
          <p:cNvPicPr preferRelativeResize="0"/>
          <p:nvPr/>
        </p:nvPicPr>
        <p:blipFill>
          <a:blip r:embed="rId6">
            <a:alphaModFix/>
          </a:blip>
          <a:stretch>
            <a:fillRect/>
          </a:stretch>
        </p:blipFill>
        <p:spPr>
          <a:xfrm>
            <a:off x="5215767" y="2812115"/>
            <a:ext cx="760975" cy="760975"/>
          </a:xfrm>
          <a:prstGeom prst="rect">
            <a:avLst/>
          </a:prstGeom>
          <a:noFill/>
          <a:ln>
            <a:noFill/>
          </a:ln>
        </p:spPr>
      </p:pic>
      <p:sp>
        <p:nvSpPr>
          <p:cNvPr id="509" name="Google Shape;509;p52"/>
          <p:cNvSpPr txBox="1"/>
          <p:nvPr/>
        </p:nvSpPr>
        <p:spPr>
          <a:xfrm>
            <a:off x="4764804" y="3627782"/>
            <a:ext cx="1662900" cy="6996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064">
                <a:solidFill>
                  <a:schemeClr val="lt1"/>
                </a:solidFill>
                <a:latin typeface="Roboto"/>
                <a:ea typeface="Roboto"/>
                <a:cs typeface="Roboto"/>
                <a:sym typeface="Roboto"/>
              </a:rPr>
              <a:t>RATE </a:t>
            </a:r>
            <a:r>
              <a:rPr b="1" lang="en" sz="1064">
                <a:solidFill>
                  <a:schemeClr val="lt1"/>
                </a:solidFill>
                <a:latin typeface="Roboto"/>
                <a:ea typeface="Roboto"/>
                <a:cs typeface="Roboto"/>
                <a:sym typeface="Roboto"/>
              </a:rPr>
              <a:t>REVENUE</a:t>
            </a:r>
            <a:endParaRPr b="1" sz="1064">
              <a:solidFill>
                <a:schemeClr val="lt1"/>
              </a:solidFill>
              <a:latin typeface="Roboto"/>
              <a:ea typeface="Roboto"/>
              <a:cs typeface="Roboto"/>
              <a:sym typeface="Roboto"/>
            </a:endParaRPr>
          </a:p>
        </p:txBody>
      </p:sp>
      <p:sp>
        <p:nvSpPr>
          <p:cNvPr id="510" name="Google Shape;510;p52"/>
          <p:cNvSpPr txBox="1"/>
          <p:nvPr/>
        </p:nvSpPr>
        <p:spPr>
          <a:xfrm>
            <a:off x="4764804" y="3812050"/>
            <a:ext cx="16629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447">
                <a:solidFill>
                  <a:schemeClr val="lt1"/>
                </a:solidFill>
                <a:latin typeface="Roboto"/>
                <a:ea typeface="Roboto"/>
                <a:cs typeface="Roboto"/>
                <a:sym typeface="Roboto"/>
              </a:rPr>
              <a:t>6.91%</a:t>
            </a:r>
            <a:endParaRPr b="1" sz="1447">
              <a:solidFill>
                <a:schemeClr val="lt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3"/>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53"/>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53"/>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518" name="Google Shape;518;p53"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519" name="Google Shape;519;p53"/>
          <p:cNvSpPr txBox="1"/>
          <p:nvPr>
            <p:ph type="title"/>
          </p:nvPr>
        </p:nvSpPr>
        <p:spPr>
          <a:xfrm>
            <a:off x="716100" y="58545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latin typeface="Roboto"/>
                <a:ea typeface="Roboto"/>
                <a:cs typeface="Roboto"/>
                <a:sym typeface="Roboto"/>
              </a:rPr>
              <a:t>Recommendations</a:t>
            </a:r>
            <a:endParaRPr sz="3600">
              <a:latin typeface="Roboto"/>
              <a:ea typeface="Roboto"/>
              <a:cs typeface="Roboto"/>
              <a:sym typeface="Roboto"/>
            </a:endParaRPr>
          </a:p>
        </p:txBody>
      </p:sp>
      <p:sp>
        <p:nvSpPr>
          <p:cNvPr id="520" name="Google Shape;520;p53"/>
          <p:cNvSpPr txBox="1"/>
          <p:nvPr/>
        </p:nvSpPr>
        <p:spPr>
          <a:xfrm>
            <a:off x="2399200" y="1563203"/>
            <a:ext cx="5276100" cy="603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Shift Revenue Growth to WhatsApp-Centric Strategy</a:t>
            </a:r>
            <a:endParaRPr b="1" sz="1800">
              <a:solidFill>
                <a:schemeClr val="lt1"/>
              </a:solidFill>
              <a:latin typeface="Roboto"/>
              <a:ea typeface="Roboto"/>
              <a:cs typeface="Roboto"/>
              <a:sym typeface="Roboto"/>
            </a:endParaRPr>
          </a:p>
        </p:txBody>
      </p:sp>
      <p:sp>
        <p:nvSpPr>
          <p:cNvPr id="521" name="Google Shape;521;p53"/>
          <p:cNvSpPr txBox="1"/>
          <p:nvPr>
            <p:ph idx="1" type="subTitle"/>
          </p:nvPr>
        </p:nvSpPr>
        <p:spPr>
          <a:xfrm>
            <a:off x="2399200" y="2014100"/>
            <a:ext cx="45300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8FAFB"/>
                </a:solidFill>
                <a:latin typeface="Roboto"/>
                <a:ea typeface="Roboto"/>
                <a:cs typeface="Roboto"/>
                <a:sym typeface="Roboto"/>
              </a:rPr>
              <a:t>Action:</a:t>
            </a:r>
            <a:r>
              <a:rPr lang="en" sz="1200">
                <a:solidFill>
                  <a:srgbClr val="F8FAFB"/>
                </a:solidFill>
                <a:latin typeface="Roboto"/>
                <a:ea typeface="Roboto"/>
                <a:cs typeface="Roboto"/>
                <a:sym typeface="Roboto"/>
              </a:rPr>
              <a:t> </a:t>
            </a:r>
            <a:r>
              <a:rPr lang="en" sz="1200">
                <a:solidFill>
                  <a:srgbClr val="F8FAFB"/>
                </a:solidFill>
                <a:latin typeface="Roboto"/>
                <a:ea typeface="Roboto"/>
                <a:cs typeface="Roboto"/>
                <a:sym typeface="Roboto"/>
              </a:rPr>
              <a:t>Focus on WhatsApp as the primary channel for upsells, automation, and value-added services.</a:t>
            </a:r>
            <a:endParaRPr sz="1200">
              <a:solidFill>
                <a:srgbClr val="F8FAFB"/>
              </a:solidFill>
              <a:latin typeface="Roboto"/>
              <a:ea typeface="Roboto"/>
              <a:cs typeface="Roboto"/>
              <a:sym typeface="Roboto"/>
            </a:endParaRPr>
          </a:p>
          <a:p>
            <a:pPr indent="0" lvl="0" marL="0" rtl="0" algn="l">
              <a:spcBef>
                <a:spcPts val="0"/>
              </a:spcBef>
              <a:spcAft>
                <a:spcPts val="0"/>
              </a:spcAft>
              <a:buNone/>
            </a:pPr>
            <a:r>
              <a:t/>
            </a:r>
            <a:endParaRPr sz="1200">
              <a:solidFill>
                <a:srgbClr val="F8FAFB"/>
              </a:solidFill>
              <a:latin typeface="Roboto"/>
              <a:ea typeface="Roboto"/>
              <a:cs typeface="Roboto"/>
              <a:sym typeface="Roboto"/>
            </a:endParaRPr>
          </a:p>
        </p:txBody>
      </p:sp>
      <p:pic>
        <p:nvPicPr>
          <p:cNvPr id="522" name="Google Shape;522;p53" title="whatsapp_2335318.png"/>
          <p:cNvPicPr preferRelativeResize="0"/>
          <p:nvPr/>
        </p:nvPicPr>
        <p:blipFill>
          <a:blip r:embed="rId4">
            <a:alphaModFix/>
          </a:blip>
          <a:stretch>
            <a:fillRect/>
          </a:stretch>
        </p:blipFill>
        <p:spPr>
          <a:xfrm>
            <a:off x="1468699" y="1563200"/>
            <a:ext cx="870278" cy="870300"/>
          </a:xfrm>
          <a:prstGeom prst="rect">
            <a:avLst/>
          </a:prstGeom>
          <a:noFill/>
          <a:ln>
            <a:noFill/>
          </a:ln>
        </p:spPr>
      </p:pic>
      <p:pic>
        <p:nvPicPr>
          <p:cNvPr id="523" name="Google Shape;523;p53" title="interest-rate_6536324.png"/>
          <p:cNvPicPr preferRelativeResize="0"/>
          <p:nvPr/>
        </p:nvPicPr>
        <p:blipFill>
          <a:blip r:embed="rId5">
            <a:alphaModFix/>
          </a:blip>
          <a:stretch>
            <a:fillRect/>
          </a:stretch>
        </p:blipFill>
        <p:spPr>
          <a:xfrm>
            <a:off x="2178799" y="2990264"/>
            <a:ext cx="804950" cy="804950"/>
          </a:xfrm>
          <a:prstGeom prst="rect">
            <a:avLst/>
          </a:prstGeom>
          <a:noFill/>
          <a:ln>
            <a:noFill/>
          </a:ln>
        </p:spPr>
      </p:pic>
      <p:sp>
        <p:nvSpPr>
          <p:cNvPr id="524" name="Google Shape;524;p53"/>
          <p:cNvSpPr txBox="1"/>
          <p:nvPr/>
        </p:nvSpPr>
        <p:spPr>
          <a:xfrm>
            <a:off x="2915047" y="3301375"/>
            <a:ext cx="1079400" cy="6996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GROWTH REVENUE</a:t>
            </a:r>
            <a:endParaRPr b="1">
              <a:solidFill>
                <a:schemeClr val="lt1"/>
              </a:solidFill>
              <a:latin typeface="Roboto"/>
              <a:ea typeface="Roboto"/>
              <a:cs typeface="Roboto"/>
              <a:sym typeface="Roboto"/>
            </a:endParaRPr>
          </a:p>
        </p:txBody>
      </p:sp>
      <p:sp>
        <p:nvSpPr>
          <p:cNvPr id="525" name="Google Shape;525;p53"/>
          <p:cNvSpPr txBox="1"/>
          <p:nvPr/>
        </p:nvSpPr>
        <p:spPr>
          <a:xfrm>
            <a:off x="4058627" y="3301375"/>
            <a:ext cx="10308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247">
                <a:solidFill>
                  <a:srgbClr val="00FF00"/>
                </a:solidFill>
                <a:latin typeface="Roboto"/>
                <a:ea typeface="Roboto"/>
                <a:cs typeface="Roboto"/>
                <a:sym typeface="Roboto"/>
              </a:rPr>
              <a:t>Whatsapp</a:t>
            </a:r>
            <a:endParaRPr b="1" sz="1247">
              <a:solidFill>
                <a:srgbClr val="00FF00"/>
              </a:solidFill>
              <a:latin typeface="Roboto"/>
              <a:ea typeface="Roboto"/>
              <a:cs typeface="Roboto"/>
              <a:sym typeface="Roboto"/>
            </a:endParaRPr>
          </a:p>
          <a:p>
            <a:pPr indent="0" lvl="0" marL="0" rtl="0" algn="ctr">
              <a:spcBef>
                <a:spcPts val="0"/>
              </a:spcBef>
              <a:spcAft>
                <a:spcPts val="0"/>
              </a:spcAft>
              <a:buNone/>
            </a:pPr>
            <a:r>
              <a:rPr b="1" lang="en" sz="1247">
                <a:solidFill>
                  <a:schemeClr val="lt1"/>
                </a:solidFill>
                <a:latin typeface="Roboto"/>
                <a:ea typeface="Roboto"/>
                <a:cs typeface="Roboto"/>
                <a:sym typeface="Roboto"/>
              </a:rPr>
              <a:t>55.2%</a:t>
            </a:r>
            <a:endParaRPr b="1" sz="1247">
              <a:solidFill>
                <a:schemeClr val="lt1"/>
              </a:solidFill>
              <a:latin typeface="Roboto"/>
              <a:ea typeface="Roboto"/>
              <a:cs typeface="Roboto"/>
              <a:sym typeface="Roboto"/>
            </a:endParaRPr>
          </a:p>
        </p:txBody>
      </p:sp>
      <p:sp>
        <p:nvSpPr>
          <p:cNvPr id="526" name="Google Shape;526;p53"/>
          <p:cNvSpPr txBox="1"/>
          <p:nvPr/>
        </p:nvSpPr>
        <p:spPr>
          <a:xfrm>
            <a:off x="4845652" y="3301375"/>
            <a:ext cx="10308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247">
                <a:solidFill>
                  <a:srgbClr val="FF6B65"/>
                </a:solidFill>
                <a:latin typeface="Roboto"/>
                <a:ea typeface="Roboto"/>
                <a:cs typeface="Roboto"/>
                <a:sym typeface="Roboto"/>
              </a:rPr>
              <a:t>Email</a:t>
            </a:r>
            <a:endParaRPr b="1" sz="1247">
              <a:solidFill>
                <a:srgbClr val="FF6B65"/>
              </a:solidFill>
              <a:latin typeface="Roboto"/>
              <a:ea typeface="Roboto"/>
              <a:cs typeface="Roboto"/>
              <a:sym typeface="Roboto"/>
            </a:endParaRPr>
          </a:p>
          <a:p>
            <a:pPr indent="0" lvl="0" marL="0" rtl="0" algn="ctr">
              <a:spcBef>
                <a:spcPts val="0"/>
              </a:spcBef>
              <a:spcAft>
                <a:spcPts val="0"/>
              </a:spcAft>
              <a:buNone/>
            </a:pPr>
            <a:r>
              <a:rPr b="1" lang="en" sz="1247">
                <a:solidFill>
                  <a:schemeClr val="lt1"/>
                </a:solidFill>
                <a:latin typeface="Roboto"/>
                <a:ea typeface="Roboto"/>
                <a:cs typeface="Roboto"/>
                <a:sym typeface="Roboto"/>
              </a:rPr>
              <a:t>-</a:t>
            </a:r>
            <a:r>
              <a:rPr b="1" lang="en" sz="1247">
                <a:solidFill>
                  <a:schemeClr val="lt1"/>
                </a:solidFill>
                <a:latin typeface="Roboto"/>
                <a:ea typeface="Roboto"/>
                <a:cs typeface="Roboto"/>
                <a:sym typeface="Roboto"/>
              </a:rPr>
              <a:t>5%</a:t>
            </a:r>
            <a:endParaRPr b="1" sz="1247">
              <a:solidFill>
                <a:schemeClr val="lt1"/>
              </a:solidFill>
              <a:latin typeface="Roboto"/>
              <a:ea typeface="Roboto"/>
              <a:cs typeface="Roboto"/>
              <a:sym typeface="Roboto"/>
            </a:endParaRPr>
          </a:p>
        </p:txBody>
      </p:sp>
      <p:sp>
        <p:nvSpPr>
          <p:cNvPr id="527" name="Google Shape;527;p53"/>
          <p:cNvSpPr txBox="1"/>
          <p:nvPr/>
        </p:nvSpPr>
        <p:spPr>
          <a:xfrm>
            <a:off x="5476502" y="3301375"/>
            <a:ext cx="10308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247">
                <a:solidFill>
                  <a:srgbClr val="FF9900"/>
                </a:solidFill>
                <a:latin typeface="Roboto"/>
                <a:ea typeface="Roboto"/>
                <a:cs typeface="Roboto"/>
                <a:sym typeface="Roboto"/>
              </a:rPr>
              <a:t>SMS</a:t>
            </a:r>
            <a:endParaRPr b="1" sz="1247">
              <a:solidFill>
                <a:srgbClr val="FF9900"/>
              </a:solidFill>
              <a:latin typeface="Roboto"/>
              <a:ea typeface="Roboto"/>
              <a:cs typeface="Roboto"/>
              <a:sym typeface="Roboto"/>
            </a:endParaRPr>
          </a:p>
          <a:p>
            <a:pPr indent="0" lvl="0" marL="0" rtl="0" algn="ctr">
              <a:spcBef>
                <a:spcPts val="0"/>
              </a:spcBef>
              <a:spcAft>
                <a:spcPts val="0"/>
              </a:spcAft>
              <a:buNone/>
            </a:pPr>
            <a:r>
              <a:rPr b="1" lang="en" sz="1247">
                <a:solidFill>
                  <a:schemeClr val="lt1"/>
                </a:solidFill>
                <a:latin typeface="Roboto"/>
                <a:ea typeface="Roboto"/>
                <a:cs typeface="Roboto"/>
                <a:sym typeface="Roboto"/>
              </a:rPr>
              <a:t>-5%</a:t>
            </a:r>
            <a:endParaRPr b="1" sz="1247">
              <a:solidFill>
                <a:schemeClr val="lt1"/>
              </a:solidFill>
              <a:latin typeface="Roboto"/>
              <a:ea typeface="Roboto"/>
              <a:cs typeface="Roboto"/>
              <a:sym typeface="Roboto"/>
            </a:endParaRPr>
          </a:p>
        </p:txBody>
      </p:sp>
      <p:sp>
        <p:nvSpPr>
          <p:cNvPr id="528" name="Google Shape;528;p53"/>
          <p:cNvSpPr txBox="1"/>
          <p:nvPr/>
        </p:nvSpPr>
        <p:spPr>
          <a:xfrm>
            <a:off x="6109627" y="3301375"/>
            <a:ext cx="10308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247">
                <a:solidFill>
                  <a:srgbClr val="FFFF00"/>
                </a:solidFill>
                <a:latin typeface="Roboto"/>
                <a:ea typeface="Roboto"/>
                <a:cs typeface="Roboto"/>
                <a:sym typeface="Roboto"/>
              </a:rPr>
              <a:t>CALL</a:t>
            </a:r>
            <a:endParaRPr b="1" sz="1247">
              <a:solidFill>
                <a:srgbClr val="FFFF00"/>
              </a:solidFill>
              <a:latin typeface="Roboto"/>
              <a:ea typeface="Roboto"/>
              <a:cs typeface="Roboto"/>
              <a:sym typeface="Roboto"/>
            </a:endParaRPr>
          </a:p>
          <a:p>
            <a:pPr indent="0" lvl="0" marL="0" rtl="0" algn="ctr">
              <a:spcBef>
                <a:spcPts val="0"/>
              </a:spcBef>
              <a:spcAft>
                <a:spcPts val="0"/>
              </a:spcAft>
              <a:buNone/>
            </a:pPr>
            <a:r>
              <a:rPr b="1" lang="en" sz="1247">
                <a:solidFill>
                  <a:schemeClr val="lt1"/>
                </a:solidFill>
                <a:latin typeface="Roboto"/>
                <a:ea typeface="Roboto"/>
                <a:cs typeface="Roboto"/>
                <a:sym typeface="Roboto"/>
              </a:rPr>
              <a:t>-5%</a:t>
            </a:r>
            <a:endParaRPr b="1" sz="1247">
              <a:solidFill>
                <a:schemeClr val="lt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4"/>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4"/>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4"/>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536" name="Google Shape;536;p54"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537" name="Google Shape;537;p54"/>
          <p:cNvSpPr txBox="1"/>
          <p:nvPr>
            <p:ph type="title"/>
          </p:nvPr>
        </p:nvSpPr>
        <p:spPr>
          <a:xfrm>
            <a:off x="716100" y="58545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latin typeface="Roboto"/>
                <a:ea typeface="Roboto"/>
                <a:cs typeface="Roboto"/>
                <a:sym typeface="Roboto"/>
              </a:rPr>
              <a:t>Recommendations</a:t>
            </a:r>
            <a:endParaRPr sz="3600">
              <a:latin typeface="Roboto"/>
              <a:ea typeface="Roboto"/>
              <a:cs typeface="Roboto"/>
              <a:sym typeface="Roboto"/>
            </a:endParaRPr>
          </a:p>
        </p:txBody>
      </p:sp>
      <p:sp>
        <p:nvSpPr>
          <p:cNvPr id="538" name="Google Shape;538;p54"/>
          <p:cNvSpPr txBox="1"/>
          <p:nvPr/>
        </p:nvSpPr>
        <p:spPr>
          <a:xfrm>
            <a:off x="2472863" y="1467953"/>
            <a:ext cx="5276100" cy="603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Protect SMS as Critical Revenue Backbone</a:t>
            </a:r>
            <a:endParaRPr b="1" sz="1800">
              <a:solidFill>
                <a:schemeClr val="lt1"/>
              </a:solidFill>
              <a:latin typeface="Roboto"/>
              <a:ea typeface="Roboto"/>
              <a:cs typeface="Roboto"/>
              <a:sym typeface="Roboto"/>
            </a:endParaRPr>
          </a:p>
        </p:txBody>
      </p:sp>
      <p:sp>
        <p:nvSpPr>
          <p:cNvPr id="539" name="Google Shape;539;p54"/>
          <p:cNvSpPr txBox="1"/>
          <p:nvPr>
            <p:ph idx="1" type="subTitle"/>
          </p:nvPr>
        </p:nvSpPr>
        <p:spPr>
          <a:xfrm>
            <a:off x="2472863" y="1918850"/>
            <a:ext cx="45300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8FAFB"/>
                </a:solidFill>
                <a:latin typeface="Roboto"/>
                <a:ea typeface="Roboto"/>
                <a:cs typeface="Roboto"/>
                <a:sym typeface="Roboto"/>
              </a:rPr>
              <a:t>Action:</a:t>
            </a:r>
            <a:r>
              <a:rPr lang="en" sz="1200">
                <a:solidFill>
                  <a:srgbClr val="F8FAFB"/>
                </a:solidFill>
                <a:latin typeface="Roboto"/>
                <a:ea typeface="Roboto"/>
                <a:cs typeface="Roboto"/>
                <a:sym typeface="Roboto"/>
              </a:rPr>
              <a:t> </a:t>
            </a:r>
            <a:r>
              <a:rPr lang="en" sz="1200">
                <a:solidFill>
                  <a:srgbClr val="F8FAFB"/>
                </a:solidFill>
                <a:latin typeface="Roboto"/>
                <a:ea typeface="Roboto"/>
                <a:cs typeface="Roboto"/>
                <a:sym typeface="Roboto"/>
              </a:rPr>
              <a:t>Maintain the quality, pricing power, and positioning of SMS as a critical channel, not a mass blast.</a:t>
            </a:r>
            <a:endParaRPr sz="1200">
              <a:solidFill>
                <a:srgbClr val="F8FAFB"/>
              </a:solidFill>
              <a:latin typeface="Roboto"/>
              <a:ea typeface="Roboto"/>
              <a:cs typeface="Roboto"/>
              <a:sym typeface="Roboto"/>
            </a:endParaRPr>
          </a:p>
          <a:p>
            <a:pPr indent="0" lvl="0" marL="0" rtl="0" algn="l">
              <a:spcBef>
                <a:spcPts val="0"/>
              </a:spcBef>
              <a:spcAft>
                <a:spcPts val="0"/>
              </a:spcAft>
              <a:buNone/>
            </a:pPr>
            <a:r>
              <a:t/>
            </a:r>
            <a:endParaRPr sz="1200">
              <a:solidFill>
                <a:srgbClr val="F8FAFB"/>
              </a:solidFill>
              <a:latin typeface="Roboto"/>
              <a:ea typeface="Roboto"/>
              <a:cs typeface="Roboto"/>
              <a:sym typeface="Roboto"/>
            </a:endParaRPr>
          </a:p>
        </p:txBody>
      </p:sp>
      <p:pic>
        <p:nvPicPr>
          <p:cNvPr id="540" name="Google Shape;540;p54" title="sms_3988094.png"/>
          <p:cNvPicPr preferRelativeResize="0"/>
          <p:nvPr/>
        </p:nvPicPr>
        <p:blipFill>
          <a:blip r:embed="rId4">
            <a:alphaModFix/>
          </a:blip>
          <a:stretch>
            <a:fillRect/>
          </a:stretch>
        </p:blipFill>
        <p:spPr>
          <a:xfrm>
            <a:off x="1395031" y="1632895"/>
            <a:ext cx="1035924" cy="1035924"/>
          </a:xfrm>
          <a:prstGeom prst="rect">
            <a:avLst/>
          </a:prstGeom>
          <a:noFill/>
          <a:ln>
            <a:noFill/>
          </a:ln>
        </p:spPr>
      </p:pic>
      <p:pic>
        <p:nvPicPr>
          <p:cNvPr id="541" name="Google Shape;541;p54" title="money-currency_3532917.png"/>
          <p:cNvPicPr preferRelativeResize="0"/>
          <p:nvPr/>
        </p:nvPicPr>
        <p:blipFill>
          <a:blip r:embed="rId5">
            <a:alphaModFix/>
          </a:blip>
          <a:stretch>
            <a:fillRect/>
          </a:stretch>
        </p:blipFill>
        <p:spPr>
          <a:xfrm>
            <a:off x="3311630" y="2746860"/>
            <a:ext cx="870324" cy="870335"/>
          </a:xfrm>
          <a:prstGeom prst="rect">
            <a:avLst/>
          </a:prstGeom>
          <a:noFill/>
          <a:ln>
            <a:noFill/>
          </a:ln>
        </p:spPr>
      </p:pic>
      <p:sp>
        <p:nvSpPr>
          <p:cNvPr id="542" name="Google Shape;542;p54"/>
          <p:cNvSpPr txBox="1"/>
          <p:nvPr/>
        </p:nvSpPr>
        <p:spPr>
          <a:xfrm>
            <a:off x="2883179" y="3617207"/>
            <a:ext cx="1662900" cy="6996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064">
                <a:solidFill>
                  <a:schemeClr val="lt1"/>
                </a:solidFill>
                <a:latin typeface="Roboto"/>
                <a:ea typeface="Roboto"/>
                <a:cs typeface="Roboto"/>
                <a:sym typeface="Roboto"/>
              </a:rPr>
              <a:t>INCREASE REVENUE</a:t>
            </a:r>
            <a:endParaRPr b="1" sz="1064">
              <a:solidFill>
                <a:schemeClr val="lt1"/>
              </a:solidFill>
              <a:latin typeface="Roboto"/>
              <a:ea typeface="Roboto"/>
              <a:cs typeface="Roboto"/>
              <a:sym typeface="Roboto"/>
            </a:endParaRPr>
          </a:p>
        </p:txBody>
      </p:sp>
      <p:sp>
        <p:nvSpPr>
          <p:cNvPr id="543" name="Google Shape;543;p54"/>
          <p:cNvSpPr txBox="1"/>
          <p:nvPr/>
        </p:nvSpPr>
        <p:spPr>
          <a:xfrm>
            <a:off x="2702162" y="3801475"/>
            <a:ext cx="20250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447">
                <a:solidFill>
                  <a:schemeClr val="lt1"/>
                </a:solidFill>
                <a:latin typeface="Roboto"/>
                <a:ea typeface="Roboto"/>
                <a:cs typeface="Roboto"/>
                <a:sym typeface="Roboto"/>
              </a:rPr>
              <a:t>Rp. </a:t>
            </a:r>
            <a:r>
              <a:rPr b="1" lang="en" sz="1447">
                <a:solidFill>
                  <a:schemeClr val="lt1"/>
                </a:solidFill>
                <a:latin typeface="Roboto"/>
                <a:ea typeface="Roboto"/>
                <a:cs typeface="Roboto"/>
                <a:sym typeface="Roboto"/>
              </a:rPr>
              <a:t>307.138</a:t>
            </a:r>
            <a:endParaRPr b="1" sz="1447">
              <a:solidFill>
                <a:schemeClr val="lt1"/>
              </a:solidFill>
              <a:latin typeface="Roboto"/>
              <a:ea typeface="Roboto"/>
              <a:cs typeface="Roboto"/>
              <a:sym typeface="Roboto"/>
            </a:endParaRPr>
          </a:p>
        </p:txBody>
      </p:sp>
      <p:pic>
        <p:nvPicPr>
          <p:cNvPr id="544" name="Google Shape;544;p54" title="interest-rate_6536324.png"/>
          <p:cNvPicPr preferRelativeResize="0"/>
          <p:nvPr/>
        </p:nvPicPr>
        <p:blipFill>
          <a:blip r:embed="rId6">
            <a:alphaModFix/>
          </a:blip>
          <a:stretch>
            <a:fillRect/>
          </a:stretch>
        </p:blipFill>
        <p:spPr>
          <a:xfrm>
            <a:off x="5301254" y="2801540"/>
            <a:ext cx="760975" cy="760975"/>
          </a:xfrm>
          <a:prstGeom prst="rect">
            <a:avLst/>
          </a:prstGeom>
          <a:noFill/>
          <a:ln>
            <a:noFill/>
          </a:ln>
        </p:spPr>
      </p:pic>
      <p:sp>
        <p:nvSpPr>
          <p:cNvPr id="545" name="Google Shape;545;p54"/>
          <p:cNvSpPr txBox="1"/>
          <p:nvPr/>
        </p:nvSpPr>
        <p:spPr>
          <a:xfrm>
            <a:off x="4850292" y="3617207"/>
            <a:ext cx="1662900" cy="6996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064">
                <a:solidFill>
                  <a:schemeClr val="lt1"/>
                </a:solidFill>
                <a:latin typeface="Roboto"/>
                <a:ea typeface="Roboto"/>
                <a:cs typeface="Roboto"/>
                <a:sym typeface="Roboto"/>
              </a:rPr>
              <a:t>RATE REVENUE</a:t>
            </a:r>
            <a:endParaRPr b="1" sz="1064">
              <a:solidFill>
                <a:schemeClr val="lt1"/>
              </a:solidFill>
              <a:latin typeface="Roboto"/>
              <a:ea typeface="Roboto"/>
              <a:cs typeface="Roboto"/>
              <a:sym typeface="Roboto"/>
            </a:endParaRPr>
          </a:p>
        </p:txBody>
      </p:sp>
      <p:sp>
        <p:nvSpPr>
          <p:cNvPr id="546" name="Google Shape;546;p54"/>
          <p:cNvSpPr txBox="1"/>
          <p:nvPr/>
        </p:nvSpPr>
        <p:spPr>
          <a:xfrm>
            <a:off x="4850292" y="3801475"/>
            <a:ext cx="16629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447">
                <a:solidFill>
                  <a:schemeClr val="lt1"/>
                </a:solidFill>
                <a:latin typeface="Roboto"/>
                <a:ea typeface="Roboto"/>
                <a:cs typeface="Roboto"/>
                <a:sym typeface="Roboto"/>
              </a:rPr>
              <a:t>2.6%</a:t>
            </a:r>
            <a:endParaRPr b="1" sz="1447">
              <a:solidFill>
                <a:schemeClr val="lt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5"/>
          <p:cNvSpPr txBox="1"/>
          <p:nvPr>
            <p:ph idx="4294967295"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552" name="Google Shape;552;p55"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553" name="Google Shape;553;p55">
            <a:hlinkClick r:id="rId4"/>
          </p:cNvPr>
          <p:cNvSpPr txBox="1"/>
          <p:nvPr>
            <p:ph type="title"/>
          </p:nvPr>
        </p:nvSpPr>
        <p:spPr>
          <a:xfrm>
            <a:off x="2952900" y="346425"/>
            <a:ext cx="3238200" cy="66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u="sng">
                <a:solidFill>
                  <a:schemeClr val="hlink"/>
                </a:solidFill>
                <a:hlinkClick r:id="rId5"/>
              </a:rPr>
              <a:t>Dashboard</a:t>
            </a:r>
            <a:endParaRPr sz="3000" u="sng"/>
          </a:p>
        </p:txBody>
      </p:sp>
      <p:pic>
        <p:nvPicPr>
          <p:cNvPr id="554" name="Google Shape;554;p55" title="Dashboard 1 (3).png"/>
          <p:cNvPicPr preferRelativeResize="0"/>
          <p:nvPr/>
        </p:nvPicPr>
        <p:blipFill>
          <a:blip r:embed="rId6">
            <a:alphaModFix/>
          </a:blip>
          <a:stretch>
            <a:fillRect/>
          </a:stretch>
        </p:blipFill>
        <p:spPr>
          <a:xfrm>
            <a:off x="4661799" y="2718650"/>
            <a:ext cx="3965886" cy="1447057"/>
          </a:xfrm>
          <a:prstGeom prst="rect">
            <a:avLst/>
          </a:prstGeom>
          <a:noFill/>
          <a:ln>
            <a:noFill/>
          </a:ln>
        </p:spPr>
      </p:pic>
      <p:pic>
        <p:nvPicPr>
          <p:cNvPr id="555" name="Google Shape;555;p55" title="Dashboard 1.png"/>
          <p:cNvPicPr preferRelativeResize="0"/>
          <p:nvPr/>
        </p:nvPicPr>
        <p:blipFill>
          <a:blip r:embed="rId7">
            <a:alphaModFix/>
          </a:blip>
          <a:stretch>
            <a:fillRect/>
          </a:stretch>
        </p:blipFill>
        <p:spPr>
          <a:xfrm>
            <a:off x="2342516" y="1049450"/>
            <a:ext cx="4458968" cy="1626950"/>
          </a:xfrm>
          <a:prstGeom prst="rect">
            <a:avLst/>
          </a:prstGeom>
          <a:noFill/>
          <a:ln>
            <a:noFill/>
          </a:ln>
        </p:spPr>
      </p:pic>
      <p:pic>
        <p:nvPicPr>
          <p:cNvPr id="556" name="Google Shape;556;p55" title="Dashboard 1 (2).png"/>
          <p:cNvPicPr preferRelativeResize="0"/>
          <p:nvPr/>
        </p:nvPicPr>
        <p:blipFill>
          <a:blip r:embed="rId8">
            <a:alphaModFix/>
          </a:blip>
          <a:stretch>
            <a:fillRect/>
          </a:stretch>
        </p:blipFill>
        <p:spPr>
          <a:xfrm>
            <a:off x="511425" y="2729275"/>
            <a:ext cx="3907664" cy="1425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6">
            <a:hlinkClick r:id="rId3"/>
          </p:cNvPr>
          <p:cNvSpPr/>
          <p:nvPr/>
        </p:nvSpPr>
        <p:spPr>
          <a:xfrm>
            <a:off x="3620231" y="2342309"/>
            <a:ext cx="658500" cy="658500"/>
          </a:xfrm>
          <a:prstGeom prst="ellipse">
            <a:avLst/>
          </a:prstGeom>
          <a:solidFill>
            <a:srgbClr val="FFFFFF">
              <a:alpha val="36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56">
            <a:hlinkClick r:id="rId4"/>
          </p:cNvPr>
          <p:cNvSpPr/>
          <p:nvPr/>
        </p:nvSpPr>
        <p:spPr>
          <a:xfrm>
            <a:off x="4865281" y="2342309"/>
            <a:ext cx="658500" cy="658500"/>
          </a:xfrm>
          <a:prstGeom prst="ellipse">
            <a:avLst/>
          </a:prstGeom>
          <a:solidFill>
            <a:srgbClr val="FFFFFF">
              <a:alpha val="36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6"/>
          <p:cNvSpPr txBox="1"/>
          <p:nvPr>
            <p:ph idx="1" type="subTitle"/>
          </p:nvPr>
        </p:nvSpPr>
        <p:spPr>
          <a:xfrm>
            <a:off x="2272950" y="1637377"/>
            <a:ext cx="4598100" cy="65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Do you have any questions?</a:t>
            </a:r>
            <a:endParaRPr/>
          </a:p>
          <a:p>
            <a:pPr indent="0" lvl="0" marL="0" rtl="0" algn="ctr">
              <a:spcBef>
                <a:spcPts val="0"/>
              </a:spcBef>
              <a:spcAft>
                <a:spcPts val="0"/>
              </a:spcAft>
              <a:buClr>
                <a:schemeClr val="dk1"/>
              </a:buClr>
              <a:buSzPts val="1100"/>
              <a:buFont typeface="Arial"/>
              <a:buNone/>
            </a:pPr>
            <a:r>
              <a:rPr b="1" lang="en">
                <a:solidFill>
                  <a:schemeClr val="hlink"/>
                </a:solidFill>
                <a:uFill>
                  <a:noFill/>
                </a:uFill>
                <a:hlinkClick r:id="rId5"/>
              </a:rPr>
              <a:t>m</a:t>
            </a:r>
            <a:r>
              <a:rPr b="1" lang="en">
                <a:solidFill>
                  <a:schemeClr val="hlink"/>
                </a:solidFill>
                <a:uFill>
                  <a:noFill/>
                </a:uFill>
                <a:hlinkClick r:id="rId6"/>
              </a:rPr>
              <a:t>ikhaelput@gmail.com</a:t>
            </a:r>
            <a:endParaRPr b="1"/>
          </a:p>
        </p:txBody>
      </p:sp>
      <p:sp>
        <p:nvSpPr>
          <p:cNvPr id="564" name="Google Shape;564;p56"/>
          <p:cNvSpPr txBox="1"/>
          <p:nvPr>
            <p:ph type="title"/>
          </p:nvPr>
        </p:nvSpPr>
        <p:spPr>
          <a:xfrm>
            <a:off x="2274600" y="870298"/>
            <a:ext cx="4594800" cy="914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565" name="Google Shape;565;p56">
            <a:hlinkClick r:id="rId7"/>
          </p:cNvPr>
          <p:cNvSpPr txBox="1"/>
          <p:nvPr/>
        </p:nvSpPr>
        <p:spPr>
          <a:xfrm>
            <a:off x="3184675" y="3000800"/>
            <a:ext cx="15297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u="sng">
                <a:solidFill>
                  <a:schemeClr val="hlink"/>
                </a:solidFill>
                <a:latin typeface="Mulish"/>
                <a:ea typeface="Mulish"/>
                <a:cs typeface="Mulish"/>
                <a:sym typeface="Mulish"/>
                <a:hlinkClick r:id="rId8"/>
              </a:rPr>
              <a:t>Code Python</a:t>
            </a:r>
            <a:endParaRPr b="1">
              <a:solidFill>
                <a:schemeClr val="lt1"/>
              </a:solidFill>
              <a:latin typeface="Mulish"/>
              <a:ea typeface="Mulish"/>
              <a:cs typeface="Mulish"/>
              <a:sym typeface="Mulish"/>
            </a:endParaRPr>
          </a:p>
        </p:txBody>
      </p:sp>
      <p:pic>
        <p:nvPicPr>
          <p:cNvPr id="566" name="Google Shape;566;p56" title="Salinan Logo RevoU x OCA x Telkom.png"/>
          <p:cNvPicPr preferRelativeResize="0"/>
          <p:nvPr/>
        </p:nvPicPr>
        <p:blipFill>
          <a:blip r:embed="rId9">
            <a:alphaModFix/>
          </a:blip>
          <a:stretch>
            <a:fillRect/>
          </a:stretch>
        </p:blipFill>
        <p:spPr>
          <a:xfrm>
            <a:off x="0" y="0"/>
            <a:ext cx="2349829" cy="870300"/>
          </a:xfrm>
          <a:prstGeom prst="rect">
            <a:avLst/>
          </a:prstGeom>
          <a:noFill/>
          <a:ln>
            <a:noFill/>
          </a:ln>
        </p:spPr>
      </p:pic>
      <p:sp>
        <p:nvSpPr>
          <p:cNvPr id="567" name="Google Shape;567;p56">
            <a:hlinkClick r:id="rId10"/>
          </p:cNvPr>
          <p:cNvSpPr txBox="1"/>
          <p:nvPr/>
        </p:nvSpPr>
        <p:spPr>
          <a:xfrm>
            <a:off x="4599475" y="2992273"/>
            <a:ext cx="11901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u="sng">
                <a:solidFill>
                  <a:schemeClr val="hlink"/>
                </a:solidFill>
                <a:latin typeface="Mulish"/>
                <a:ea typeface="Mulish"/>
                <a:cs typeface="Mulish"/>
                <a:sym typeface="Mulish"/>
                <a:hlinkClick r:id="rId11"/>
              </a:rPr>
              <a:t>Linkedin</a:t>
            </a:r>
            <a:endParaRPr b="1">
              <a:solidFill>
                <a:schemeClr val="lt1"/>
              </a:solidFill>
              <a:latin typeface="Mulish"/>
              <a:ea typeface="Mulish"/>
              <a:cs typeface="Mulish"/>
              <a:sym typeface="Mulish"/>
            </a:endParaRPr>
          </a:p>
        </p:txBody>
      </p:sp>
      <p:pic>
        <p:nvPicPr>
          <p:cNvPr id="568" name="Google Shape;568;p56" title="icon linkedin.png"/>
          <p:cNvPicPr preferRelativeResize="0"/>
          <p:nvPr/>
        </p:nvPicPr>
        <p:blipFill>
          <a:blip r:embed="rId12">
            <a:alphaModFix/>
          </a:blip>
          <a:stretch>
            <a:fillRect/>
          </a:stretch>
        </p:blipFill>
        <p:spPr>
          <a:xfrm>
            <a:off x="4926813" y="2403839"/>
            <a:ext cx="535425" cy="535425"/>
          </a:xfrm>
          <a:prstGeom prst="rect">
            <a:avLst/>
          </a:prstGeom>
          <a:noFill/>
          <a:ln>
            <a:noFill/>
          </a:ln>
        </p:spPr>
      </p:pic>
      <p:pic>
        <p:nvPicPr>
          <p:cNvPr id="569" name="Google Shape;569;p56" title="Colab.png"/>
          <p:cNvPicPr preferRelativeResize="0"/>
          <p:nvPr/>
        </p:nvPicPr>
        <p:blipFill>
          <a:blip r:embed="rId13">
            <a:alphaModFix/>
          </a:blip>
          <a:stretch>
            <a:fillRect/>
          </a:stretch>
        </p:blipFill>
        <p:spPr>
          <a:xfrm>
            <a:off x="3452951" y="2365505"/>
            <a:ext cx="993024" cy="612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7"/>
          <p:cNvSpPr txBox="1"/>
          <p:nvPr>
            <p:ph type="title"/>
          </p:nvPr>
        </p:nvSpPr>
        <p:spPr>
          <a:xfrm>
            <a:off x="2102225" y="2239275"/>
            <a:ext cx="4809000" cy="178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Appendix.</a:t>
            </a:r>
            <a:endParaRPr/>
          </a:p>
        </p:txBody>
      </p:sp>
      <p:sp>
        <p:nvSpPr>
          <p:cNvPr id="575" name="Google Shape;575;p57"/>
          <p:cNvSpPr/>
          <p:nvPr/>
        </p:nvSpPr>
        <p:spPr>
          <a:xfrm rot="5400000">
            <a:off x="6548425" y="-948317"/>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2"/>
        </a:solidFill>
      </p:bgPr>
    </p:bg>
    <p:spTree>
      <p:nvGrpSpPr>
        <p:cNvPr id="579" name="Shape 579"/>
        <p:cNvGrpSpPr/>
        <p:nvPr/>
      </p:nvGrpSpPr>
      <p:grpSpPr>
        <a:xfrm>
          <a:off x="0" y="0"/>
          <a:ext cx="0" cy="0"/>
          <a:chOff x="0" y="0"/>
          <a:chExt cx="0" cy="0"/>
        </a:xfrm>
      </p:grpSpPr>
      <p:pic>
        <p:nvPicPr>
          <p:cNvPr id="580" name="Google Shape;580;p58"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581" name="Google Shape;581;p58">
            <a:hlinkClick r:id="rId4"/>
          </p:cNvPr>
          <p:cNvSpPr txBox="1"/>
          <p:nvPr>
            <p:ph idx="4294967295" type="title"/>
          </p:nvPr>
        </p:nvSpPr>
        <p:spPr>
          <a:xfrm>
            <a:off x="154725" y="3642450"/>
            <a:ext cx="3907200" cy="1148400"/>
          </a:xfrm>
          <a:prstGeom prst="rect">
            <a:avLst/>
          </a:prstGeom>
        </p:spPr>
        <p:txBody>
          <a:bodyPr anchorCtr="0" anchor="t" bIns="91425" lIns="731500" spcFirstLastPara="1" rIns="731500" wrap="square" tIns="91425">
            <a:noAutofit/>
          </a:bodyPr>
          <a:lstStyle/>
          <a:p>
            <a:pPr indent="0" lvl="0" marL="0" rtl="0" algn="l">
              <a:spcBef>
                <a:spcPts val="0"/>
              </a:spcBef>
              <a:spcAft>
                <a:spcPts val="0"/>
              </a:spcAft>
              <a:buNone/>
            </a:pPr>
            <a:r>
              <a:rPr b="1" lang="en" sz="3000">
                <a:solidFill>
                  <a:srgbClr val="E06666"/>
                </a:solidFill>
                <a:uFill>
                  <a:noFill/>
                </a:uFill>
                <a:latin typeface="Comic Sans MS"/>
                <a:ea typeface="Comic Sans MS"/>
                <a:cs typeface="Comic Sans MS"/>
                <a:sym typeface="Comic Sans MS"/>
                <a:hlinkClick r:id="rId5">
                  <a:extLst>
                    <a:ext uri="{A12FA001-AC4F-418D-AE19-62706E023703}">
                      <ahyp:hlinkClr val="tx"/>
                    </a:ext>
                  </a:extLst>
                </a:hlinkClick>
              </a:rPr>
              <a:t>Video </a:t>
            </a:r>
            <a:endParaRPr b="1" sz="3000">
              <a:solidFill>
                <a:srgbClr val="E06666"/>
              </a:solidFill>
              <a:latin typeface="Comic Sans MS"/>
              <a:ea typeface="Comic Sans MS"/>
              <a:cs typeface="Comic Sans MS"/>
              <a:sym typeface="Comic Sans MS"/>
            </a:endParaRPr>
          </a:p>
          <a:p>
            <a:pPr indent="0" lvl="0" marL="0" rtl="0" algn="l">
              <a:spcBef>
                <a:spcPts val="0"/>
              </a:spcBef>
              <a:spcAft>
                <a:spcPts val="0"/>
              </a:spcAft>
              <a:buNone/>
            </a:pPr>
            <a:r>
              <a:rPr b="1" lang="en" sz="3000">
                <a:solidFill>
                  <a:srgbClr val="E06666"/>
                </a:solidFill>
                <a:uFill>
                  <a:noFill/>
                </a:uFill>
                <a:latin typeface="Comic Sans MS"/>
                <a:ea typeface="Comic Sans MS"/>
                <a:cs typeface="Comic Sans MS"/>
                <a:sym typeface="Comic Sans MS"/>
                <a:hlinkClick r:id="rId6">
                  <a:extLst>
                    <a:ext uri="{A12FA001-AC4F-418D-AE19-62706E023703}">
                      <ahyp:hlinkClr val="tx"/>
                    </a:ext>
                  </a:extLst>
                </a:hlinkClick>
              </a:rPr>
              <a:t>Presentation</a:t>
            </a:r>
            <a:endParaRPr b="1" sz="3000">
              <a:solidFill>
                <a:srgbClr val="E06666"/>
              </a:solidFill>
              <a:latin typeface="Comic Sans MS"/>
              <a:ea typeface="Comic Sans MS"/>
              <a:cs typeface="Comic Sans MS"/>
              <a:sym typeface="Comic Sans MS"/>
            </a:endParaRPr>
          </a:p>
        </p:txBody>
      </p:sp>
      <p:pic>
        <p:nvPicPr>
          <p:cNvPr id="582" name="Google Shape;582;p58" title="VI - Mikhael.mp4">
            <a:hlinkClick r:id="rId7"/>
          </p:cNvPr>
          <p:cNvPicPr preferRelativeResize="0"/>
          <p:nvPr/>
        </p:nvPicPr>
        <p:blipFill>
          <a:blip r:embed="rId8">
            <a:alphaModFix/>
          </a:blip>
          <a:stretch>
            <a:fillRect/>
          </a:stretch>
        </p:blipFill>
        <p:spPr>
          <a:xfrm>
            <a:off x="3035063" y="1024838"/>
            <a:ext cx="5026474" cy="2827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1000"/>
                                        <p:tgtEl>
                                          <p:spTgt spid="5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586" name="Shape 586"/>
        <p:cNvGrpSpPr/>
        <p:nvPr/>
      </p:nvGrpSpPr>
      <p:grpSpPr>
        <a:xfrm>
          <a:off x="0" y="0"/>
          <a:ext cx="0" cy="0"/>
          <a:chOff x="0" y="0"/>
          <a:chExt cx="0" cy="0"/>
        </a:xfrm>
      </p:grpSpPr>
      <p:pic>
        <p:nvPicPr>
          <p:cNvPr id="587" name="Google Shape;587;p59" title="VI - Top Channel Preference.png"/>
          <p:cNvPicPr preferRelativeResize="0"/>
          <p:nvPr/>
        </p:nvPicPr>
        <p:blipFill rotWithShape="1">
          <a:blip r:embed="rId3">
            <a:alphaModFix/>
          </a:blip>
          <a:srcRect b="77168" l="88565" r="0" t="0"/>
          <a:stretch/>
        </p:blipFill>
        <p:spPr>
          <a:xfrm>
            <a:off x="114550" y="1133375"/>
            <a:ext cx="1041340" cy="773400"/>
          </a:xfrm>
          <a:prstGeom prst="rect">
            <a:avLst/>
          </a:prstGeom>
          <a:noFill/>
          <a:ln>
            <a:noFill/>
          </a:ln>
        </p:spPr>
      </p:pic>
      <p:sp>
        <p:nvSpPr>
          <p:cNvPr id="588" name="Google Shape;588;p59"/>
          <p:cNvSpPr txBox="1"/>
          <p:nvPr>
            <p:ph idx="1" type="subTitle"/>
          </p:nvPr>
        </p:nvSpPr>
        <p:spPr>
          <a:xfrm>
            <a:off x="4584175" y="1800388"/>
            <a:ext cx="4286100" cy="1400400"/>
          </a:xfrm>
          <a:prstGeom prst="rect">
            <a:avLst/>
          </a:prstGeom>
        </p:spPr>
        <p:txBody>
          <a:bodyPr anchorCtr="0" anchor="t" bIns="91425" lIns="91425" spcFirstLastPara="1" rIns="91425" wrap="square" tIns="91425">
            <a:noAutofit/>
          </a:bodyPr>
          <a:lstStyle/>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SMS is the </a:t>
            </a:r>
            <a:r>
              <a:rPr b="1" lang="en" sz="1100">
                <a:solidFill>
                  <a:srgbClr val="212121"/>
                </a:solidFill>
                <a:latin typeface="Roboto"/>
                <a:ea typeface="Roboto"/>
                <a:cs typeface="Roboto"/>
                <a:sym typeface="Roboto"/>
              </a:rPr>
              <a:t>most reliable channel.</a:t>
            </a:r>
            <a:r>
              <a:rPr lang="en" sz="1100">
                <a:solidFill>
                  <a:srgbClr val="212121"/>
                </a:solidFill>
                <a:latin typeface="Roboto"/>
                <a:ea typeface="Roboto"/>
                <a:cs typeface="Roboto"/>
                <a:sym typeface="Roboto"/>
              </a:rPr>
              <a:t> There are </a:t>
            </a:r>
            <a:r>
              <a:rPr b="1" lang="en" sz="1100">
                <a:solidFill>
                  <a:srgbClr val="212121"/>
                </a:solidFill>
                <a:latin typeface="Roboto"/>
                <a:ea typeface="Roboto"/>
                <a:cs typeface="Roboto"/>
                <a:sym typeface="Roboto"/>
              </a:rPr>
              <a:t>almost zero issues</a:t>
            </a:r>
            <a:r>
              <a:rPr lang="en" sz="1100">
                <a:solidFill>
                  <a:srgbClr val="212121"/>
                </a:solidFill>
                <a:latin typeface="Roboto"/>
                <a:ea typeface="Roboto"/>
                <a:cs typeface="Roboto"/>
                <a:sym typeface="Roboto"/>
              </a:rPr>
              <a:t>, making it </a:t>
            </a:r>
            <a:r>
              <a:rPr b="1" lang="en" sz="1100">
                <a:solidFill>
                  <a:srgbClr val="212121"/>
                </a:solidFill>
                <a:latin typeface="Roboto"/>
                <a:ea typeface="Roboto"/>
                <a:cs typeface="Roboto"/>
                <a:sym typeface="Roboto"/>
              </a:rPr>
              <a:t>suitable for critical communication.</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The </a:t>
            </a:r>
            <a:r>
              <a:rPr b="1" lang="en" sz="1100">
                <a:solidFill>
                  <a:srgbClr val="212121"/>
                </a:solidFill>
                <a:latin typeface="Roboto"/>
                <a:ea typeface="Roboto"/>
                <a:cs typeface="Roboto"/>
                <a:sym typeface="Roboto"/>
              </a:rPr>
              <a:t>main problem</a:t>
            </a:r>
            <a:r>
              <a:rPr lang="en" sz="1100">
                <a:solidFill>
                  <a:srgbClr val="212121"/>
                </a:solidFill>
                <a:latin typeface="Roboto"/>
                <a:ea typeface="Roboto"/>
                <a:cs typeface="Roboto"/>
                <a:sym typeface="Roboto"/>
              </a:rPr>
              <a:t> with </a:t>
            </a:r>
            <a:r>
              <a:rPr b="1" lang="en" sz="1100">
                <a:solidFill>
                  <a:srgbClr val="212121"/>
                </a:solidFill>
                <a:latin typeface="Roboto"/>
                <a:ea typeface="Roboto"/>
                <a:cs typeface="Roboto"/>
                <a:sym typeface="Roboto"/>
              </a:rPr>
              <a:t>Whatsatpp &amp; Email </a:t>
            </a:r>
            <a:r>
              <a:rPr lang="en" sz="1100">
                <a:solidFill>
                  <a:srgbClr val="212121"/>
                </a:solidFill>
                <a:latin typeface="Roboto"/>
                <a:ea typeface="Roboto"/>
                <a:cs typeface="Roboto"/>
                <a:sym typeface="Roboto"/>
              </a:rPr>
              <a:t>is not that it fails, but that </a:t>
            </a:r>
            <a:r>
              <a:rPr b="1" lang="en" sz="1100">
                <a:solidFill>
                  <a:srgbClr val="212121"/>
                </a:solidFill>
                <a:latin typeface="Roboto"/>
                <a:ea typeface="Roboto"/>
                <a:cs typeface="Roboto"/>
                <a:sym typeface="Roboto"/>
              </a:rPr>
              <a:t>it has a high pending rate</a:t>
            </a:r>
            <a:r>
              <a:rPr lang="en" sz="1100">
                <a:solidFill>
                  <a:srgbClr val="212121"/>
                </a:solidFill>
                <a:latin typeface="Roboto"/>
                <a:ea typeface="Roboto"/>
                <a:cs typeface="Roboto"/>
                <a:sym typeface="Roboto"/>
              </a:rPr>
              <a:t>.</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Calls are </a:t>
            </a:r>
            <a:r>
              <a:rPr b="1" lang="en" sz="1100">
                <a:solidFill>
                  <a:srgbClr val="212121"/>
                </a:solidFill>
                <a:latin typeface="Roboto"/>
                <a:ea typeface="Roboto"/>
                <a:cs typeface="Roboto"/>
                <a:sym typeface="Roboto"/>
              </a:rPr>
              <a:t>not scalable and highly inefficient.</a:t>
            </a:r>
            <a:r>
              <a:rPr lang="en" sz="1100">
                <a:solidFill>
                  <a:srgbClr val="212121"/>
                </a:solidFill>
                <a:latin typeface="Roboto"/>
                <a:ea typeface="Roboto"/>
                <a:cs typeface="Roboto"/>
                <a:sym typeface="Roboto"/>
              </a:rPr>
              <a:t> The majority of calls are not connected, </a:t>
            </a:r>
            <a:r>
              <a:rPr b="1" lang="en" sz="1100">
                <a:solidFill>
                  <a:srgbClr val="212121"/>
                </a:solidFill>
                <a:latin typeface="Roboto"/>
                <a:ea typeface="Roboto"/>
                <a:cs typeface="Roboto"/>
                <a:sym typeface="Roboto"/>
              </a:rPr>
              <a:t>not due to technical issues, but rather user behavior (RNA)</a:t>
            </a:r>
            <a:r>
              <a:rPr lang="en" sz="1100">
                <a:solidFill>
                  <a:srgbClr val="212121"/>
                </a:solidFill>
                <a:latin typeface="Roboto"/>
                <a:ea typeface="Roboto"/>
                <a:cs typeface="Roboto"/>
                <a:sym typeface="Roboto"/>
              </a:rPr>
              <a:t>.</a:t>
            </a:r>
            <a:endParaRPr b="1" sz="1100">
              <a:solidFill>
                <a:srgbClr val="212121"/>
              </a:solidFill>
              <a:latin typeface="Roboto"/>
              <a:ea typeface="Roboto"/>
              <a:cs typeface="Roboto"/>
              <a:sym typeface="Roboto"/>
            </a:endParaRPr>
          </a:p>
        </p:txBody>
      </p:sp>
      <p:sp>
        <p:nvSpPr>
          <p:cNvPr id="589" name="Google Shape;589;p59"/>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59"/>
          <p:cNvSpPr/>
          <p:nvPr/>
        </p:nvSpPr>
        <p:spPr>
          <a:xfrm rot="-8512697">
            <a:off x="-1654550" y="182149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pic>
        <p:nvPicPr>
          <p:cNvPr id="591" name="Google Shape;591;p59" title="Salinan Logo RevoU x OCA x Telkom.png"/>
          <p:cNvPicPr preferRelativeResize="0"/>
          <p:nvPr/>
        </p:nvPicPr>
        <p:blipFill>
          <a:blip r:embed="rId4">
            <a:alphaModFix/>
          </a:blip>
          <a:stretch>
            <a:fillRect/>
          </a:stretch>
        </p:blipFill>
        <p:spPr>
          <a:xfrm>
            <a:off x="0" y="0"/>
            <a:ext cx="2349829" cy="870300"/>
          </a:xfrm>
          <a:prstGeom prst="rect">
            <a:avLst/>
          </a:prstGeom>
          <a:noFill/>
          <a:ln>
            <a:noFill/>
          </a:ln>
        </p:spPr>
      </p:pic>
      <p:sp>
        <p:nvSpPr>
          <p:cNvPr id="592" name="Google Shape;592;p59"/>
          <p:cNvSpPr txBox="1"/>
          <p:nvPr>
            <p:ph type="title"/>
          </p:nvPr>
        </p:nvSpPr>
        <p:spPr>
          <a:xfrm>
            <a:off x="716100" y="6469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solidFill>
                  <a:srgbClr val="212121"/>
                </a:solidFill>
                <a:latin typeface="Roboto"/>
                <a:ea typeface="Roboto"/>
                <a:cs typeface="Roboto"/>
                <a:sym typeface="Roboto"/>
              </a:rPr>
              <a:t>Product usage</a:t>
            </a:r>
            <a:endParaRPr sz="3600">
              <a:solidFill>
                <a:srgbClr val="212121"/>
              </a:solidFill>
              <a:latin typeface="Roboto"/>
              <a:ea typeface="Roboto"/>
              <a:cs typeface="Roboto"/>
              <a:sym typeface="Roboto"/>
            </a:endParaRPr>
          </a:p>
        </p:txBody>
      </p:sp>
      <p:sp>
        <p:nvSpPr>
          <p:cNvPr id="593" name="Google Shape;593;p59"/>
          <p:cNvSpPr txBox="1"/>
          <p:nvPr>
            <p:ph idx="1" type="subTitle"/>
          </p:nvPr>
        </p:nvSpPr>
        <p:spPr>
          <a:xfrm>
            <a:off x="4649600" y="3200788"/>
            <a:ext cx="4220700" cy="773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200">
                <a:solidFill>
                  <a:srgbClr val="212121"/>
                </a:solidFill>
                <a:latin typeface="Roboto"/>
                <a:ea typeface="Roboto"/>
                <a:cs typeface="Roboto"/>
                <a:sym typeface="Roboto"/>
              </a:rPr>
              <a:t>SMS is the most reliable channel, WhatsApp and Email show delivery delays, while Call is highly ineffective due to user non-response rather than technical failure.</a:t>
            </a:r>
            <a:endParaRPr sz="1200">
              <a:solidFill>
                <a:srgbClr val="212121"/>
              </a:solidFill>
              <a:latin typeface="Roboto"/>
              <a:ea typeface="Roboto"/>
              <a:cs typeface="Roboto"/>
              <a:sym typeface="Roboto"/>
            </a:endParaRPr>
          </a:p>
        </p:txBody>
      </p:sp>
      <p:sp>
        <p:nvSpPr>
          <p:cNvPr id="594" name="Google Shape;594;p59"/>
          <p:cNvSpPr txBox="1"/>
          <p:nvPr>
            <p:ph type="title"/>
          </p:nvPr>
        </p:nvSpPr>
        <p:spPr>
          <a:xfrm>
            <a:off x="2724800" y="1133375"/>
            <a:ext cx="3694200" cy="5649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b="0" lang="en" sz="2400">
                <a:solidFill>
                  <a:srgbClr val="212121"/>
                </a:solidFill>
                <a:latin typeface="Roboto"/>
                <a:ea typeface="Roboto"/>
                <a:cs typeface="Roboto"/>
                <a:sym typeface="Roboto"/>
              </a:rPr>
              <a:t>Bottom Users</a:t>
            </a:r>
            <a:endParaRPr b="0" sz="2400">
              <a:solidFill>
                <a:srgbClr val="212121"/>
              </a:solidFill>
              <a:latin typeface="Roboto"/>
              <a:ea typeface="Roboto"/>
              <a:cs typeface="Roboto"/>
              <a:sym typeface="Roboto"/>
            </a:endParaRPr>
          </a:p>
        </p:txBody>
      </p:sp>
      <p:pic>
        <p:nvPicPr>
          <p:cNvPr id="595" name="Google Shape;595;p59" title="VI - Bottom Channel Preference.png"/>
          <p:cNvPicPr preferRelativeResize="0"/>
          <p:nvPr/>
        </p:nvPicPr>
        <p:blipFill rotWithShape="1">
          <a:blip r:embed="rId5">
            <a:alphaModFix/>
          </a:blip>
          <a:srcRect b="0" l="0" r="11332" t="0"/>
          <a:stretch/>
        </p:blipFill>
        <p:spPr>
          <a:xfrm>
            <a:off x="234000" y="1800400"/>
            <a:ext cx="4286101" cy="2018300"/>
          </a:xfrm>
          <a:prstGeom prst="rect">
            <a:avLst/>
          </a:prstGeom>
          <a:noFill/>
          <a:ln>
            <a:noFill/>
          </a:ln>
        </p:spPr>
      </p:pic>
      <p:sp>
        <p:nvSpPr>
          <p:cNvPr id="596" name="Google Shape;596;p59"/>
          <p:cNvSpPr txBox="1"/>
          <p:nvPr>
            <p:ph idx="1" type="subTitle"/>
          </p:nvPr>
        </p:nvSpPr>
        <p:spPr>
          <a:xfrm>
            <a:off x="44200" y="4211863"/>
            <a:ext cx="6458700" cy="8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latin typeface="Roboto"/>
                <a:ea typeface="Roboto"/>
                <a:cs typeface="Roboto"/>
                <a:sym typeface="Roboto"/>
              </a:rPr>
              <a:t>Disclaimer</a:t>
            </a:r>
            <a:endParaRPr sz="1100">
              <a:solidFill>
                <a:srgbClr val="980000"/>
              </a:solidFill>
              <a:latin typeface="Roboto"/>
              <a:ea typeface="Roboto"/>
              <a:cs typeface="Roboto"/>
              <a:sym typeface="Roboto"/>
            </a:endParaRPr>
          </a:p>
          <a:p>
            <a:pPr indent="0" lvl="0" marL="0" rtl="0" algn="l">
              <a:spcBef>
                <a:spcPts val="0"/>
              </a:spcBef>
              <a:spcAft>
                <a:spcPts val="0"/>
              </a:spcAft>
              <a:buNone/>
            </a:pPr>
            <a:r>
              <a:rPr lang="en" sz="900">
                <a:solidFill>
                  <a:srgbClr val="980000"/>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900">
              <a:solidFill>
                <a:srgbClr val="980000"/>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0" name="Shape 600"/>
        <p:cNvGrpSpPr/>
        <p:nvPr/>
      </p:nvGrpSpPr>
      <p:grpSpPr>
        <a:xfrm>
          <a:off x="0" y="0"/>
          <a:ext cx="0" cy="0"/>
          <a:chOff x="0" y="0"/>
          <a:chExt cx="0" cy="0"/>
        </a:xfrm>
      </p:grpSpPr>
      <p:sp>
        <p:nvSpPr>
          <p:cNvPr id="601" name="Google Shape;601;p60"/>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0"/>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0"/>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604" name="Google Shape;604;p60"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605" name="Google Shape;605;p60"/>
          <p:cNvSpPr txBox="1"/>
          <p:nvPr>
            <p:ph type="title"/>
          </p:nvPr>
        </p:nvSpPr>
        <p:spPr>
          <a:xfrm>
            <a:off x="716100" y="58545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t>Recomendation</a:t>
            </a:r>
            <a:endParaRPr sz="3600"/>
          </a:p>
        </p:txBody>
      </p:sp>
      <p:pic>
        <p:nvPicPr>
          <p:cNvPr id="606" name="Google Shape;606;p60"/>
          <p:cNvPicPr preferRelativeResize="0"/>
          <p:nvPr/>
        </p:nvPicPr>
        <p:blipFill>
          <a:blip r:embed="rId4">
            <a:alphaModFix/>
          </a:blip>
          <a:stretch>
            <a:fillRect/>
          </a:stretch>
        </p:blipFill>
        <p:spPr>
          <a:xfrm>
            <a:off x="1046687" y="1906900"/>
            <a:ext cx="1688200" cy="1710450"/>
          </a:xfrm>
          <a:prstGeom prst="rect">
            <a:avLst/>
          </a:prstGeom>
          <a:noFill/>
          <a:ln>
            <a:noFill/>
          </a:ln>
        </p:spPr>
      </p:pic>
      <p:sp>
        <p:nvSpPr>
          <p:cNvPr id="607" name="Google Shape;607;p60"/>
          <p:cNvSpPr txBox="1"/>
          <p:nvPr/>
        </p:nvSpPr>
        <p:spPr>
          <a:xfrm>
            <a:off x="3010514" y="1906900"/>
            <a:ext cx="4385700" cy="365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200">
                <a:solidFill>
                  <a:schemeClr val="lt1"/>
                </a:solidFill>
                <a:latin typeface="Anek Devanagari"/>
                <a:ea typeface="Anek Devanagari"/>
                <a:cs typeface="Anek Devanagari"/>
                <a:sym typeface="Anek Devanagari"/>
              </a:rPr>
              <a:t>Sales &amp; Account Management</a:t>
            </a:r>
            <a:endParaRPr b="1" sz="2200">
              <a:solidFill>
                <a:schemeClr val="lt1"/>
              </a:solidFill>
              <a:latin typeface="Anek Devanagari"/>
              <a:ea typeface="Anek Devanagari"/>
              <a:cs typeface="Anek Devanagari"/>
              <a:sym typeface="Anek Devanagari"/>
            </a:endParaRPr>
          </a:p>
        </p:txBody>
      </p:sp>
      <p:sp>
        <p:nvSpPr>
          <p:cNvPr id="608" name="Google Shape;608;p60"/>
          <p:cNvSpPr txBox="1"/>
          <p:nvPr>
            <p:ph idx="1" type="subTitle"/>
          </p:nvPr>
        </p:nvSpPr>
        <p:spPr>
          <a:xfrm>
            <a:off x="3010513" y="2194850"/>
            <a:ext cx="5086800" cy="128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8FAFB"/>
                </a:solidFill>
                <a:latin typeface="Arial"/>
                <a:ea typeface="Arial"/>
                <a:cs typeface="Arial"/>
                <a:sym typeface="Arial"/>
              </a:rPr>
              <a:t>Action:</a:t>
            </a:r>
            <a:r>
              <a:rPr lang="en" sz="1400">
                <a:solidFill>
                  <a:srgbClr val="F8FAFB"/>
                </a:solidFill>
                <a:latin typeface="Arial"/>
                <a:ea typeface="Arial"/>
                <a:cs typeface="Arial"/>
                <a:sym typeface="Arial"/>
              </a:rPr>
              <a:t> Conduct a Business Review with the Top 3 Clients to address the decline in March volume. Offer a “Q2 Kick-off” promotional package.</a:t>
            </a:r>
            <a:endParaRPr sz="1400">
              <a:solidFill>
                <a:srgbClr val="F8FAFB"/>
              </a:solidFill>
              <a:latin typeface="Arial"/>
              <a:ea typeface="Arial"/>
              <a:cs typeface="Arial"/>
              <a:sym typeface="Arial"/>
            </a:endParaRPr>
          </a:p>
          <a:p>
            <a:pPr indent="0" lvl="0" marL="0" rtl="0" algn="l">
              <a:spcBef>
                <a:spcPts val="0"/>
              </a:spcBef>
              <a:spcAft>
                <a:spcPts val="0"/>
              </a:spcAft>
              <a:buNone/>
            </a:pPr>
            <a:r>
              <a:t/>
            </a:r>
            <a:endParaRPr sz="1400">
              <a:solidFill>
                <a:srgbClr val="F8FAFB"/>
              </a:solidFill>
              <a:latin typeface="Arial"/>
              <a:ea typeface="Arial"/>
              <a:cs typeface="Arial"/>
              <a:sym typeface="Arial"/>
            </a:endParaRPr>
          </a:p>
          <a:p>
            <a:pPr indent="0" lvl="0" marL="0" rtl="0" algn="l">
              <a:spcBef>
                <a:spcPts val="0"/>
              </a:spcBef>
              <a:spcAft>
                <a:spcPts val="0"/>
              </a:spcAft>
              <a:buNone/>
            </a:pPr>
            <a:r>
              <a:rPr b="1" lang="en" sz="1400">
                <a:solidFill>
                  <a:srgbClr val="F8FAFB"/>
                </a:solidFill>
                <a:latin typeface="Arial"/>
                <a:ea typeface="Arial"/>
                <a:cs typeface="Arial"/>
                <a:sym typeface="Arial"/>
              </a:rPr>
              <a:t>Goal:</a:t>
            </a:r>
            <a:r>
              <a:rPr lang="en" sz="1400">
                <a:solidFill>
                  <a:srgbClr val="F8FAFB"/>
                </a:solidFill>
                <a:latin typeface="Arial"/>
                <a:ea typeface="Arial"/>
                <a:cs typeface="Arial"/>
                <a:sym typeface="Arial"/>
              </a:rPr>
              <a:t> Restore the volume trend to 45k+ per month.</a:t>
            </a:r>
            <a:endParaRPr sz="1400">
              <a:solidFill>
                <a:srgbClr val="F8FAFB"/>
              </a:solidFill>
              <a:latin typeface="Arial"/>
              <a:ea typeface="Arial"/>
              <a:cs typeface="Arial"/>
              <a:sym typeface="Arial"/>
            </a:endParaRPr>
          </a:p>
          <a:p>
            <a:pPr indent="0" lvl="0" marL="0" rtl="0" algn="l">
              <a:spcBef>
                <a:spcPts val="0"/>
              </a:spcBef>
              <a:spcAft>
                <a:spcPts val="0"/>
              </a:spcAft>
              <a:buNone/>
            </a:pPr>
            <a:r>
              <a:t/>
            </a:r>
            <a:endParaRPr sz="1400">
              <a:solidFill>
                <a:srgbClr val="F8FAFB"/>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2" name="Shape 612"/>
        <p:cNvGrpSpPr/>
        <p:nvPr/>
      </p:nvGrpSpPr>
      <p:grpSpPr>
        <a:xfrm>
          <a:off x="0" y="0"/>
          <a:ext cx="0" cy="0"/>
          <a:chOff x="0" y="0"/>
          <a:chExt cx="0" cy="0"/>
        </a:xfrm>
      </p:grpSpPr>
      <p:sp>
        <p:nvSpPr>
          <p:cNvPr id="613" name="Google Shape;613;p61"/>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61"/>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61"/>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616" name="Google Shape;616;p61"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617" name="Google Shape;617;p61"/>
          <p:cNvSpPr txBox="1"/>
          <p:nvPr>
            <p:ph type="title"/>
          </p:nvPr>
        </p:nvSpPr>
        <p:spPr>
          <a:xfrm>
            <a:off x="716100" y="516425"/>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t>Recomendation</a:t>
            </a:r>
            <a:endParaRPr sz="3600"/>
          </a:p>
        </p:txBody>
      </p:sp>
      <p:pic>
        <p:nvPicPr>
          <p:cNvPr id="618" name="Google Shape;618;p61"/>
          <p:cNvPicPr preferRelativeResize="0"/>
          <p:nvPr/>
        </p:nvPicPr>
        <p:blipFill>
          <a:blip r:embed="rId4">
            <a:alphaModFix/>
          </a:blip>
          <a:stretch>
            <a:fillRect/>
          </a:stretch>
        </p:blipFill>
        <p:spPr>
          <a:xfrm>
            <a:off x="1046687" y="1919425"/>
            <a:ext cx="1688200" cy="1710450"/>
          </a:xfrm>
          <a:prstGeom prst="rect">
            <a:avLst/>
          </a:prstGeom>
          <a:noFill/>
          <a:ln>
            <a:noFill/>
          </a:ln>
        </p:spPr>
      </p:pic>
      <p:sp>
        <p:nvSpPr>
          <p:cNvPr id="619" name="Google Shape;619;p61"/>
          <p:cNvSpPr txBox="1"/>
          <p:nvPr/>
        </p:nvSpPr>
        <p:spPr>
          <a:xfrm>
            <a:off x="3010514" y="1919425"/>
            <a:ext cx="4385700" cy="365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200">
                <a:solidFill>
                  <a:schemeClr val="lt1"/>
                </a:solidFill>
                <a:latin typeface="Anek Devanagari"/>
                <a:ea typeface="Anek Devanagari"/>
                <a:cs typeface="Anek Devanagari"/>
                <a:sym typeface="Anek Devanagari"/>
              </a:rPr>
              <a:t>Product &amp; Tech (CTO)</a:t>
            </a:r>
            <a:endParaRPr b="1" sz="2200">
              <a:solidFill>
                <a:schemeClr val="lt1"/>
              </a:solidFill>
              <a:latin typeface="Anek Devanagari"/>
              <a:ea typeface="Anek Devanagari"/>
              <a:cs typeface="Anek Devanagari"/>
              <a:sym typeface="Anek Devanagari"/>
            </a:endParaRPr>
          </a:p>
        </p:txBody>
      </p:sp>
      <p:sp>
        <p:nvSpPr>
          <p:cNvPr id="620" name="Google Shape;620;p61"/>
          <p:cNvSpPr txBox="1"/>
          <p:nvPr>
            <p:ph idx="1" type="subTitle"/>
          </p:nvPr>
        </p:nvSpPr>
        <p:spPr>
          <a:xfrm>
            <a:off x="3010513" y="2207375"/>
            <a:ext cx="5086800" cy="128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8FAFB"/>
                </a:solidFill>
                <a:latin typeface="Arial"/>
                <a:ea typeface="Arial"/>
                <a:cs typeface="Arial"/>
                <a:sym typeface="Arial"/>
              </a:rPr>
              <a:t>Action: </a:t>
            </a:r>
            <a:r>
              <a:rPr lang="en" sz="1400">
                <a:solidFill>
                  <a:srgbClr val="F8FAFB"/>
                </a:solidFill>
                <a:latin typeface="Arial"/>
                <a:ea typeface="Arial"/>
                <a:cs typeface="Arial"/>
                <a:sym typeface="Arial"/>
              </a:rPr>
              <a:t>Audit Voice Call routes and rotate sender numbers (Number Masking) to avoid spam labels.</a:t>
            </a:r>
            <a:endParaRPr sz="1400">
              <a:solidFill>
                <a:srgbClr val="F8FAFB"/>
              </a:solidFill>
              <a:latin typeface="Arial"/>
              <a:ea typeface="Arial"/>
              <a:cs typeface="Arial"/>
              <a:sym typeface="Arial"/>
            </a:endParaRPr>
          </a:p>
          <a:p>
            <a:pPr indent="0" lvl="0" marL="0" rtl="0" algn="l">
              <a:spcBef>
                <a:spcPts val="0"/>
              </a:spcBef>
              <a:spcAft>
                <a:spcPts val="0"/>
              </a:spcAft>
              <a:buNone/>
            </a:pPr>
            <a:r>
              <a:t/>
            </a:r>
            <a:endParaRPr b="1" sz="1400">
              <a:solidFill>
                <a:srgbClr val="F8FAFB"/>
              </a:solidFill>
              <a:latin typeface="Arial"/>
              <a:ea typeface="Arial"/>
              <a:cs typeface="Arial"/>
              <a:sym typeface="Arial"/>
            </a:endParaRPr>
          </a:p>
          <a:p>
            <a:pPr indent="0" lvl="0" marL="0" rtl="0" algn="l">
              <a:spcBef>
                <a:spcPts val="0"/>
              </a:spcBef>
              <a:spcAft>
                <a:spcPts val="0"/>
              </a:spcAft>
              <a:buNone/>
            </a:pPr>
            <a:r>
              <a:rPr b="1" lang="en" sz="1400">
                <a:solidFill>
                  <a:srgbClr val="F8FAFB"/>
                </a:solidFill>
                <a:latin typeface="Arial"/>
                <a:ea typeface="Arial"/>
                <a:cs typeface="Arial"/>
                <a:sym typeface="Arial"/>
              </a:rPr>
              <a:t>Goal:</a:t>
            </a:r>
            <a:r>
              <a:rPr lang="en" sz="1400">
                <a:solidFill>
                  <a:srgbClr val="F8FAFB"/>
                </a:solidFill>
                <a:latin typeface="Arial"/>
                <a:ea typeface="Arial"/>
                <a:cs typeface="Arial"/>
                <a:sym typeface="Arial"/>
              </a:rPr>
              <a:t> Increase Voice Call Success Rate to at least 60%.</a:t>
            </a:r>
            <a:endParaRPr sz="1400">
              <a:solidFill>
                <a:srgbClr val="F8FAFB"/>
              </a:solidFill>
              <a:latin typeface="Arial"/>
              <a:ea typeface="Arial"/>
              <a:cs typeface="Arial"/>
              <a:sym typeface="Arial"/>
            </a:endParaRPr>
          </a:p>
          <a:p>
            <a:pPr indent="0" lvl="0" marL="0" rtl="0" algn="l">
              <a:spcBef>
                <a:spcPts val="0"/>
              </a:spcBef>
              <a:spcAft>
                <a:spcPts val="0"/>
              </a:spcAft>
              <a:buNone/>
            </a:pPr>
            <a:r>
              <a:t/>
            </a:r>
            <a:endParaRPr b="1" sz="1400">
              <a:solidFill>
                <a:srgbClr val="F8FAFB"/>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4" name="Shape 624"/>
        <p:cNvGrpSpPr/>
        <p:nvPr/>
      </p:nvGrpSpPr>
      <p:grpSpPr>
        <a:xfrm>
          <a:off x="0" y="0"/>
          <a:ext cx="0" cy="0"/>
          <a:chOff x="0" y="0"/>
          <a:chExt cx="0" cy="0"/>
        </a:xfrm>
      </p:grpSpPr>
      <p:sp>
        <p:nvSpPr>
          <p:cNvPr id="625" name="Google Shape;625;p62"/>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62"/>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62"/>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628" name="Google Shape;628;p62"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629" name="Google Shape;629;p62"/>
          <p:cNvSpPr txBox="1"/>
          <p:nvPr>
            <p:ph type="title"/>
          </p:nvPr>
        </p:nvSpPr>
        <p:spPr>
          <a:xfrm>
            <a:off x="716100" y="516425"/>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t>Recomendation</a:t>
            </a:r>
            <a:endParaRPr sz="3600"/>
          </a:p>
        </p:txBody>
      </p:sp>
      <p:pic>
        <p:nvPicPr>
          <p:cNvPr id="630" name="Google Shape;630;p62"/>
          <p:cNvPicPr preferRelativeResize="0"/>
          <p:nvPr/>
        </p:nvPicPr>
        <p:blipFill>
          <a:blip r:embed="rId4">
            <a:alphaModFix/>
          </a:blip>
          <a:stretch>
            <a:fillRect/>
          </a:stretch>
        </p:blipFill>
        <p:spPr>
          <a:xfrm>
            <a:off x="1046687" y="1906900"/>
            <a:ext cx="1688200" cy="1710450"/>
          </a:xfrm>
          <a:prstGeom prst="rect">
            <a:avLst/>
          </a:prstGeom>
          <a:noFill/>
          <a:ln>
            <a:noFill/>
          </a:ln>
        </p:spPr>
      </p:pic>
      <p:sp>
        <p:nvSpPr>
          <p:cNvPr id="631" name="Google Shape;631;p62"/>
          <p:cNvSpPr txBox="1"/>
          <p:nvPr/>
        </p:nvSpPr>
        <p:spPr>
          <a:xfrm>
            <a:off x="3010514" y="1906900"/>
            <a:ext cx="4385700" cy="365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200">
                <a:solidFill>
                  <a:schemeClr val="lt1"/>
                </a:solidFill>
                <a:latin typeface="Anek Devanagari"/>
                <a:ea typeface="Anek Devanagari"/>
                <a:cs typeface="Anek Devanagari"/>
                <a:sym typeface="Anek Devanagari"/>
              </a:rPr>
              <a:t>Operations</a:t>
            </a:r>
            <a:endParaRPr b="1" sz="2200">
              <a:solidFill>
                <a:schemeClr val="lt1"/>
              </a:solidFill>
              <a:latin typeface="Anek Devanagari"/>
              <a:ea typeface="Anek Devanagari"/>
              <a:cs typeface="Anek Devanagari"/>
              <a:sym typeface="Anek Devanagari"/>
            </a:endParaRPr>
          </a:p>
        </p:txBody>
      </p:sp>
      <p:sp>
        <p:nvSpPr>
          <p:cNvPr id="632" name="Google Shape;632;p62"/>
          <p:cNvSpPr txBox="1"/>
          <p:nvPr>
            <p:ph idx="1" type="subTitle"/>
          </p:nvPr>
        </p:nvSpPr>
        <p:spPr>
          <a:xfrm>
            <a:off x="3010513" y="2194850"/>
            <a:ext cx="5086800" cy="128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8FAFB"/>
                </a:solidFill>
                <a:latin typeface="Arial"/>
                <a:ea typeface="Arial"/>
                <a:cs typeface="Arial"/>
                <a:sym typeface="Arial"/>
              </a:rPr>
              <a:t>Action:</a:t>
            </a:r>
            <a:r>
              <a:rPr lang="en" sz="1400">
                <a:solidFill>
                  <a:srgbClr val="F8FAFB"/>
                </a:solidFill>
                <a:latin typeface="Arial"/>
                <a:ea typeface="Arial"/>
                <a:cs typeface="Arial"/>
                <a:sym typeface="Arial"/>
              </a:rPr>
              <a:t> Implement the “Smart Queue” feature or low-cost incentives for deliveries outside of peak hours (afternoon/evening).</a:t>
            </a:r>
            <a:endParaRPr sz="1400">
              <a:solidFill>
                <a:srgbClr val="F8FAFB"/>
              </a:solidFill>
              <a:latin typeface="Arial"/>
              <a:ea typeface="Arial"/>
              <a:cs typeface="Arial"/>
              <a:sym typeface="Arial"/>
            </a:endParaRPr>
          </a:p>
          <a:p>
            <a:pPr indent="0" lvl="0" marL="0" rtl="0" algn="l">
              <a:spcBef>
                <a:spcPts val="0"/>
              </a:spcBef>
              <a:spcAft>
                <a:spcPts val="0"/>
              </a:spcAft>
              <a:buNone/>
            </a:pPr>
            <a:r>
              <a:t/>
            </a:r>
            <a:endParaRPr b="1" sz="1400">
              <a:solidFill>
                <a:srgbClr val="F8FAFB"/>
              </a:solidFill>
              <a:latin typeface="Arial"/>
              <a:ea typeface="Arial"/>
              <a:cs typeface="Arial"/>
              <a:sym typeface="Arial"/>
            </a:endParaRPr>
          </a:p>
          <a:p>
            <a:pPr indent="0" lvl="0" marL="0" rtl="0" algn="l">
              <a:spcBef>
                <a:spcPts val="0"/>
              </a:spcBef>
              <a:spcAft>
                <a:spcPts val="0"/>
              </a:spcAft>
              <a:buNone/>
            </a:pPr>
            <a:r>
              <a:rPr b="1" lang="en" sz="1400">
                <a:solidFill>
                  <a:srgbClr val="F8FAFB"/>
                </a:solidFill>
                <a:latin typeface="Arial"/>
                <a:ea typeface="Arial"/>
                <a:cs typeface="Arial"/>
                <a:sym typeface="Arial"/>
              </a:rPr>
              <a:t>Goal: </a:t>
            </a:r>
            <a:r>
              <a:rPr lang="en" sz="1400">
                <a:solidFill>
                  <a:srgbClr val="F8FAFB"/>
                </a:solidFill>
                <a:latin typeface="Arial"/>
                <a:ea typeface="Arial"/>
                <a:cs typeface="Arial"/>
                <a:sym typeface="Arial"/>
              </a:rPr>
              <a:t>Even out server load (Load Balancing).</a:t>
            </a:r>
            <a:endParaRPr sz="1400">
              <a:solidFill>
                <a:srgbClr val="F8FAFB"/>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6" name="Shape 636"/>
        <p:cNvGrpSpPr/>
        <p:nvPr/>
      </p:nvGrpSpPr>
      <p:grpSpPr>
        <a:xfrm>
          <a:off x="0" y="0"/>
          <a:ext cx="0" cy="0"/>
          <a:chOff x="0" y="0"/>
          <a:chExt cx="0" cy="0"/>
        </a:xfrm>
      </p:grpSpPr>
      <p:sp>
        <p:nvSpPr>
          <p:cNvPr id="637" name="Google Shape;637;p63"/>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63"/>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3"/>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640" name="Google Shape;640;p63"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641" name="Google Shape;641;p63"/>
          <p:cNvSpPr txBox="1"/>
          <p:nvPr>
            <p:ph type="title"/>
          </p:nvPr>
        </p:nvSpPr>
        <p:spPr>
          <a:xfrm>
            <a:off x="716100" y="64285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t>Revenue &amp; Volume Breakdown</a:t>
            </a:r>
            <a:endParaRPr sz="3600"/>
          </a:p>
        </p:txBody>
      </p:sp>
      <p:pic>
        <p:nvPicPr>
          <p:cNvPr id="642" name="Google Shape;642;p63" title="Total Volume.png"/>
          <p:cNvPicPr preferRelativeResize="0"/>
          <p:nvPr/>
        </p:nvPicPr>
        <p:blipFill>
          <a:blip r:embed="rId4">
            <a:alphaModFix/>
          </a:blip>
          <a:stretch>
            <a:fillRect/>
          </a:stretch>
        </p:blipFill>
        <p:spPr>
          <a:xfrm>
            <a:off x="337225" y="1469563"/>
            <a:ext cx="4554254" cy="2521187"/>
          </a:xfrm>
          <a:prstGeom prst="rect">
            <a:avLst/>
          </a:prstGeom>
          <a:noFill/>
          <a:ln>
            <a:noFill/>
          </a:ln>
        </p:spPr>
      </p:pic>
      <p:sp>
        <p:nvSpPr>
          <p:cNvPr id="643" name="Google Shape;643;p63"/>
          <p:cNvSpPr txBox="1"/>
          <p:nvPr>
            <p:ph idx="1" type="subTitle"/>
          </p:nvPr>
        </p:nvSpPr>
        <p:spPr>
          <a:xfrm>
            <a:off x="5012775" y="1606675"/>
            <a:ext cx="3766500" cy="1283100"/>
          </a:xfrm>
          <a:prstGeom prst="rect">
            <a:avLst/>
          </a:prstGeom>
        </p:spPr>
        <p:txBody>
          <a:bodyPr anchorCtr="0" anchor="t" bIns="91425" lIns="91425" spcFirstLastPara="1" rIns="91425" wrap="square" tIns="91425">
            <a:noAutofit/>
          </a:bodyPr>
          <a:lstStyle/>
          <a:p>
            <a:pPr indent="-203200" lvl="0" marL="28575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Cash Cows: </a:t>
            </a:r>
            <a:r>
              <a:rPr lang="en" sz="1100">
                <a:solidFill>
                  <a:srgbClr val="F8FAFB"/>
                </a:solidFill>
                <a:latin typeface="Arial"/>
                <a:ea typeface="Arial"/>
                <a:cs typeface="Arial"/>
                <a:sym typeface="Arial"/>
              </a:rPr>
              <a:t>WhatsApp (~11.9M) and SMS (~11.8M) contribute ~91% of total revenue.</a:t>
            </a:r>
            <a:endParaRPr sz="1100">
              <a:solidFill>
                <a:srgbClr val="F8FAFB"/>
              </a:solidFill>
              <a:latin typeface="Arial"/>
              <a:ea typeface="Arial"/>
              <a:cs typeface="Arial"/>
              <a:sym typeface="Arial"/>
            </a:endParaRPr>
          </a:p>
          <a:p>
            <a:pPr indent="-203200" lvl="0" marL="28575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High Volume, Low Value:</a:t>
            </a:r>
            <a:r>
              <a:rPr lang="en" sz="1100">
                <a:solidFill>
                  <a:srgbClr val="F8FAFB"/>
                </a:solidFill>
                <a:latin typeface="Arial"/>
                <a:ea typeface="Arial"/>
                <a:cs typeface="Arial"/>
                <a:sym typeface="Arial"/>
              </a:rPr>
              <a:t> Email has high volume (40k messages) but minimal revenue contribution (~1.5M) due to low price per unit.</a:t>
            </a:r>
            <a:endParaRPr sz="1100">
              <a:solidFill>
                <a:srgbClr val="F8FAFB"/>
              </a:solidFill>
              <a:latin typeface="Arial"/>
              <a:ea typeface="Arial"/>
              <a:cs typeface="Arial"/>
              <a:sym typeface="Arial"/>
            </a:endParaRPr>
          </a:p>
        </p:txBody>
      </p:sp>
      <p:sp>
        <p:nvSpPr>
          <p:cNvPr id="644" name="Google Shape;644;p63"/>
          <p:cNvSpPr txBox="1"/>
          <p:nvPr>
            <p:ph idx="1" type="subTitle"/>
          </p:nvPr>
        </p:nvSpPr>
        <p:spPr>
          <a:xfrm>
            <a:off x="5012775" y="2870125"/>
            <a:ext cx="38787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8FAFB"/>
                </a:solidFill>
                <a:latin typeface="Arial"/>
                <a:ea typeface="Arial"/>
                <a:cs typeface="Arial"/>
                <a:sym typeface="Arial"/>
              </a:rPr>
              <a:t>Revenue dependence on WhatsApp and SMS is very high. Regulatory changes to pricing on these two platforms will have a direct impact on the company's bottom line.</a:t>
            </a:r>
            <a:endParaRPr sz="1200">
              <a:solidFill>
                <a:srgbClr val="F8FAFB"/>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8" name="Shape 648"/>
        <p:cNvGrpSpPr/>
        <p:nvPr/>
      </p:nvGrpSpPr>
      <p:grpSpPr>
        <a:xfrm>
          <a:off x="0" y="0"/>
          <a:ext cx="0" cy="0"/>
          <a:chOff x="0" y="0"/>
          <a:chExt cx="0" cy="0"/>
        </a:xfrm>
      </p:grpSpPr>
      <p:sp>
        <p:nvSpPr>
          <p:cNvPr id="649" name="Google Shape;649;p64"/>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4"/>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4"/>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652" name="Google Shape;652;p64"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653" name="Google Shape;653;p64"/>
          <p:cNvSpPr txBox="1"/>
          <p:nvPr>
            <p:ph type="title"/>
          </p:nvPr>
        </p:nvSpPr>
        <p:spPr>
          <a:xfrm>
            <a:off x="716100" y="516425"/>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t>Executive Summary</a:t>
            </a:r>
            <a:endParaRPr sz="3600"/>
          </a:p>
        </p:txBody>
      </p:sp>
      <p:pic>
        <p:nvPicPr>
          <p:cNvPr id="654" name="Google Shape;654;p64" title="group_7158872.png"/>
          <p:cNvPicPr preferRelativeResize="0"/>
          <p:nvPr/>
        </p:nvPicPr>
        <p:blipFill>
          <a:blip r:embed="rId4">
            <a:alphaModFix/>
          </a:blip>
          <a:stretch>
            <a:fillRect/>
          </a:stretch>
        </p:blipFill>
        <p:spPr>
          <a:xfrm>
            <a:off x="2374284" y="2366455"/>
            <a:ext cx="674719" cy="674719"/>
          </a:xfrm>
          <a:prstGeom prst="rect">
            <a:avLst/>
          </a:prstGeom>
          <a:noFill/>
          <a:ln>
            <a:noFill/>
          </a:ln>
        </p:spPr>
      </p:pic>
      <p:sp>
        <p:nvSpPr>
          <p:cNvPr id="655" name="Google Shape;655;p64"/>
          <p:cNvSpPr txBox="1"/>
          <p:nvPr/>
        </p:nvSpPr>
        <p:spPr>
          <a:xfrm>
            <a:off x="1902564" y="3041172"/>
            <a:ext cx="1618200" cy="330300"/>
          </a:xfrm>
          <a:prstGeom prst="rect">
            <a:avLst/>
          </a:prstGeom>
          <a:noFill/>
          <a:ln>
            <a:noFill/>
          </a:ln>
        </p:spPr>
        <p:txBody>
          <a:bodyPr anchorCtr="0" anchor="t" bIns="82575" lIns="82575" spcFirstLastPara="1" rIns="82575" wrap="square" tIns="82575">
            <a:noAutofit/>
          </a:bodyPr>
          <a:lstStyle/>
          <a:p>
            <a:pPr indent="0" lvl="0" marL="0" rtl="0" algn="ctr">
              <a:spcBef>
                <a:spcPts val="0"/>
              </a:spcBef>
              <a:spcAft>
                <a:spcPts val="0"/>
              </a:spcAft>
              <a:buNone/>
            </a:pPr>
            <a:r>
              <a:rPr b="1" lang="en" sz="1264">
                <a:solidFill>
                  <a:schemeClr val="lt1"/>
                </a:solidFill>
                <a:latin typeface="Mulish"/>
                <a:ea typeface="Mulish"/>
                <a:cs typeface="Mulish"/>
                <a:sym typeface="Mulish"/>
              </a:rPr>
              <a:t>20 Users</a:t>
            </a:r>
            <a:endParaRPr b="1" sz="1264">
              <a:solidFill>
                <a:schemeClr val="lt1"/>
              </a:solidFill>
              <a:latin typeface="Mulish"/>
              <a:ea typeface="Mulish"/>
              <a:cs typeface="Mulish"/>
              <a:sym typeface="Mulish"/>
            </a:endParaRPr>
          </a:p>
        </p:txBody>
      </p:sp>
      <p:pic>
        <p:nvPicPr>
          <p:cNvPr id="656" name="Google Shape;656;p64" title="sms_3988094.png"/>
          <p:cNvPicPr preferRelativeResize="0"/>
          <p:nvPr/>
        </p:nvPicPr>
        <p:blipFill>
          <a:blip r:embed="rId5">
            <a:alphaModFix/>
          </a:blip>
          <a:stretch>
            <a:fillRect/>
          </a:stretch>
        </p:blipFill>
        <p:spPr>
          <a:xfrm>
            <a:off x="1266452" y="1535712"/>
            <a:ext cx="786167" cy="786167"/>
          </a:xfrm>
          <a:prstGeom prst="rect">
            <a:avLst/>
          </a:prstGeom>
          <a:noFill/>
          <a:ln>
            <a:noFill/>
          </a:ln>
        </p:spPr>
      </p:pic>
      <p:sp>
        <p:nvSpPr>
          <p:cNvPr id="657" name="Google Shape;657;p64"/>
          <p:cNvSpPr txBox="1"/>
          <p:nvPr/>
        </p:nvSpPr>
        <p:spPr>
          <a:xfrm>
            <a:off x="756150" y="2368470"/>
            <a:ext cx="1618200" cy="330300"/>
          </a:xfrm>
          <a:prstGeom prst="rect">
            <a:avLst/>
          </a:prstGeom>
          <a:noFill/>
          <a:ln>
            <a:noFill/>
          </a:ln>
        </p:spPr>
        <p:txBody>
          <a:bodyPr anchorCtr="0" anchor="t" bIns="82575" lIns="82575" spcFirstLastPara="1" rIns="82575" wrap="square" tIns="82575">
            <a:noAutofit/>
          </a:bodyPr>
          <a:lstStyle/>
          <a:p>
            <a:pPr indent="0" lvl="0" marL="0" rtl="0" algn="ctr">
              <a:spcBef>
                <a:spcPts val="0"/>
              </a:spcBef>
              <a:spcAft>
                <a:spcPts val="0"/>
              </a:spcAft>
              <a:buNone/>
            </a:pPr>
            <a:r>
              <a:rPr b="1" lang="en" sz="1264">
                <a:solidFill>
                  <a:schemeClr val="lt1"/>
                </a:solidFill>
                <a:latin typeface="Mulish"/>
                <a:ea typeface="Mulish"/>
                <a:cs typeface="Mulish"/>
                <a:sym typeface="Mulish"/>
              </a:rPr>
              <a:t>20.000</a:t>
            </a:r>
            <a:endParaRPr b="1" sz="1264">
              <a:solidFill>
                <a:schemeClr val="lt1"/>
              </a:solidFill>
              <a:latin typeface="Mulish"/>
              <a:ea typeface="Mulish"/>
              <a:cs typeface="Mulish"/>
              <a:sym typeface="Mulish"/>
            </a:endParaRPr>
          </a:p>
        </p:txBody>
      </p:sp>
      <p:sp>
        <p:nvSpPr>
          <p:cNvPr id="658" name="Google Shape;658;p64"/>
          <p:cNvSpPr txBox="1"/>
          <p:nvPr/>
        </p:nvSpPr>
        <p:spPr>
          <a:xfrm>
            <a:off x="756150" y="3598788"/>
            <a:ext cx="1618200" cy="330300"/>
          </a:xfrm>
          <a:prstGeom prst="rect">
            <a:avLst/>
          </a:prstGeom>
          <a:noFill/>
          <a:ln>
            <a:noFill/>
          </a:ln>
        </p:spPr>
        <p:txBody>
          <a:bodyPr anchorCtr="0" anchor="t" bIns="82575" lIns="82575" spcFirstLastPara="1" rIns="82575" wrap="square" tIns="82575">
            <a:noAutofit/>
          </a:bodyPr>
          <a:lstStyle/>
          <a:p>
            <a:pPr indent="0" lvl="0" marL="0" rtl="0" algn="ctr">
              <a:spcBef>
                <a:spcPts val="0"/>
              </a:spcBef>
              <a:spcAft>
                <a:spcPts val="0"/>
              </a:spcAft>
              <a:buNone/>
            </a:pPr>
            <a:r>
              <a:rPr b="1" lang="en" sz="1264">
                <a:solidFill>
                  <a:schemeClr val="lt1"/>
                </a:solidFill>
                <a:latin typeface="Mulish"/>
                <a:ea typeface="Mulish"/>
                <a:cs typeface="Mulish"/>
                <a:sym typeface="Mulish"/>
              </a:rPr>
              <a:t>12749</a:t>
            </a:r>
            <a:endParaRPr b="1" sz="1264">
              <a:solidFill>
                <a:schemeClr val="lt1"/>
              </a:solidFill>
              <a:latin typeface="Mulish"/>
              <a:ea typeface="Mulish"/>
              <a:cs typeface="Mulish"/>
              <a:sym typeface="Mulish"/>
            </a:endParaRPr>
          </a:p>
        </p:txBody>
      </p:sp>
      <p:sp>
        <p:nvSpPr>
          <p:cNvPr id="659" name="Google Shape;659;p64"/>
          <p:cNvSpPr txBox="1"/>
          <p:nvPr/>
        </p:nvSpPr>
        <p:spPr>
          <a:xfrm>
            <a:off x="3131677" y="2339869"/>
            <a:ext cx="1618200" cy="330300"/>
          </a:xfrm>
          <a:prstGeom prst="rect">
            <a:avLst/>
          </a:prstGeom>
          <a:noFill/>
          <a:ln>
            <a:noFill/>
          </a:ln>
        </p:spPr>
        <p:txBody>
          <a:bodyPr anchorCtr="0" anchor="t" bIns="82575" lIns="82575" spcFirstLastPara="1" rIns="82575" wrap="square" tIns="82575">
            <a:noAutofit/>
          </a:bodyPr>
          <a:lstStyle/>
          <a:p>
            <a:pPr indent="0" lvl="0" marL="0" rtl="0" algn="ctr">
              <a:spcBef>
                <a:spcPts val="0"/>
              </a:spcBef>
              <a:spcAft>
                <a:spcPts val="0"/>
              </a:spcAft>
              <a:buNone/>
            </a:pPr>
            <a:r>
              <a:rPr b="1" lang="en" sz="1264">
                <a:solidFill>
                  <a:schemeClr val="lt1"/>
                </a:solidFill>
                <a:latin typeface="Mulish"/>
                <a:ea typeface="Mulish"/>
                <a:cs typeface="Mulish"/>
                <a:sym typeface="Mulish"/>
              </a:rPr>
              <a:t>40.000</a:t>
            </a:r>
            <a:endParaRPr b="1" sz="1264">
              <a:solidFill>
                <a:schemeClr val="lt1"/>
              </a:solidFill>
              <a:latin typeface="Mulish"/>
              <a:ea typeface="Mulish"/>
              <a:cs typeface="Mulish"/>
              <a:sym typeface="Mulish"/>
            </a:endParaRPr>
          </a:p>
        </p:txBody>
      </p:sp>
      <p:sp>
        <p:nvSpPr>
          <p:cNvPr id="660" name="Google Shape;660;p64"/>
          <p:cNvSpPr txBox="1"/>
          <p:nvPr/>
        </p:nvSpPr>
        <p:spPr>
          <a:xfrm>
            <a:off x="3161193" y="3570186"/>
            <a:ext cx="1618200" cy="330300"/>
          </a:xfrm>
          <a:prstGeom prst="rect">
            <a:avLst/>
          </a:prstGeom>
          <a:noFill/>
          <a:ln>
            <a:noFill/>
          </a:ln>
        </p:spPr>
        <p:txBody>
          <a:bodyPr anchorCtr="0" anchor="t" bIns="82575" lIns="82575" spcFirstLastPara="1" rIns="82575" wrap="square" tIns="82575">
            <a:noAutofit/>
          </a:bodyPr>
          <a:lstStyle/>
          <a:p>
            <a:pPr indent="0" lvl="0" marL="0" rtl="0" algn="ctr">
              <a:spcBef>
                <a:spcPts val="0"/>
              </a:spcBef>
              <a:spcAft>
                <a:spcPts val="0"/>
              </a:spcAft>
              <a:buNone/>
            </a:pPr>
            <a:r>
              <a:rPr b="1" lang="en" sz="1264">
                <a:solidFill>
                  <a:schemeClr val="lt1"/>
                </a:solidFill>
                <a:latin typeface="Mulish"/>
                <a:ea typeface="Mulish"/>
                <a:cs typeface="Mulish"/>
                <a:sym typeface="Mulish"/>
              </a:rPr>
              <a:t>50.000</a:t>
            </a:r>
            <a:endParaRPr b="1" sz="1264">
              <a:solidFill>
                <a:schemeClr val="lt1"/>
              </a:solidFill>
              <a:latin typeface="Mulish"/>
              <a:ea typeface="Mulish"/>
              <a:cs typeface="Mulish"/>
              <a:sym typeface="Mulish"/>
            </a:endParaRPr>
          </a:p>
        </p:txBody>
      </p:sp>
      <p:pic>
        <p:nvPicPr>
          <p:cNvPr id="661" name="Google Shape;661;p64"/>
          <p:cNvPicPr preferRelativeResize="0"/>
          <p:nvPr/>
        </p:nvPicPr>
        <p:blipFill>
          <a:blip r:embed="rId6">
            <a:alphaModFix/>
          </a:blip>
          <a:stretch>
            <a:fillRect/>
          </a:stretch>
        </p:blipFill>
        <p:spPr>
          <a:xfrm>
            <a:off x="3547660" y="1584047"/>
            <a:ext cx="786167" cy="751697"/>
          </a:xfrm>
          <a:prstGeom prst="rect">
            <a:avLst/>
          </a:prstGeom>
          <a:noFill/>
          <a:ln>
            <a:noFill/>
          </a:ln>
        </p:spPr>
      </p:pic>
      <p:pic>
        <p:nvPicPr>
          <p:cNvPr id="662" name="Google Shape;662;p64"/>
          <p:cNvPicPr preferRelativeResize="0"/>
          <p:nvPr/>
        </p:nvPicPr>
        <p:blipFill>
          <a:blip r:embed="rId7">
            <a:alphaModFix/>
          </a:blip>
          <a:stretch>
            <a:fillRect/>
          </a:stretch>
        </p:blipFill>
        <p:spPr>
          <a:xfrm>
            <a:off x="3574037" y="2772941"/>
            <a:ext cx="792422" cy="786189"/>
          </a:xfrm>
          <a:prstGeom prst="rect">
            <a:avLst/>
          </a:prstGeom>
          <a:noFill/>
          <a:ln>
            <a:noFill/>
          </a:ln>
        </p:spPr>
      </p:pic>
      <p:pic>
        <p:nvPicPr>
          <p:cNvPr id="663" name="Google Shape;663;p64" title="united-states_10939178.png"/>
          <p:cNvPicPr preferRelativeResize="0"/>
          <p:nvPr/>
        </p:nvPicPr>
        <p:blipFill>
          <a:blip r:embed="rId8">
            <a:alphaModFix/>
          </a:blip>
          <a:stretch>
            <a:fillRect/>
          </a:stretch>
        </p:blipFill>
        <p:spPr>
          <a:xfrm>
            <a:off x="1201649" y="2856723"/>
            <a:ext cx="786167" cy="786193"/>
          </a:xfrm>
          <a:prstGeom prst="rect">
            <a:avLst/>
          </a:prstGeom>
          <a:noFill/>
          <a:ln>
            <a:noFill/>
          </a:ln>
        </p:spPr>
      </p:pic>
      <p:sp>
        <p:nvSpPr>
          <p:cNvPr id="664" name="Google Shape;664;p64"/>
          <p:cNvSpPr txBox="1"/>
          <p:nvPr>
            <p:ph idx="1" type="subTitle"/>
          </p:nvPr>
        </p:nvSpPr>
        <p:spPr>
          <a:xfrm>
            <a:off x="4779400" y="1606675"/>
            <a:ext cx="3999900" cy="1283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Total Revenue (Est): IDR 26.0 Million</a:t>
            </a:r>
            <a:r>
              <a:rPr lang="en" sz="1100">
                <a:solidFill>
                  <a:srgbClr val="F8FAFB"/>
                </a:solidFill>
                <a:latin typeface="Arial"/>
                <a:ea typeface="Arial"/>
                <a:cs typeface="Arial"/>
                <a:sym typeface="Arial"/>
              </a:rPr>
              <a:t> (Dominated by WA &amp; SMS).</a:t>
            </a:r>
            <a:endParaRPr sz="1100">
              <a:solidFill>
                <a:srgbClr val="F8FAFB"/>
              </a:solidFill>
              <a:latin typeface="Arial"/>
              <a:ea typeface="Arial"/>
              <a:cs typeface="Arial"/>
              <a:sym typeface="Arial"/>
            </a:endParaRPr>
          </a:p>
          <a:p>
            <a:pPr indent="-317500" lvl="0" marL="45720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Total Volume: 122,749 Messages.</a:t>
            </a:r>
            <a:endParaRPr b="1" sz="1100">
              <a:solidFill>
                <a:srgbClr val="F8FAFB"/>
              </a:solidFill>
              <a:latin typeface="Arial"/>
              <a:ea typeface="Arial"/>
              <a:cs typeface="Arial"/>
              <a:sym typeface="Arial"/>
            </a:endParaRPr>
          </a:p>
          <a:p>
            <a:pPr indent="-317500" lvl="0" marL="45720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Success Rate: 71.3%</a:t>
            </a:r>
            <a:r>
              <a:rPr lang="en" sz="1100">
                <a:solidFill>
                  <a:srgbClr val="F8FAFB"/>
                </a:solidFill>
                <a:latin typeface="Arial"/>
                <a:ea typeface="Arial"/>
                <a:cs typeface="Arial"/>
                <a:sym typeface="Arial"/>
              </a:rPr>
              <a:t> (Average of all channels).</a:t>
            </a:r>
            <a:endParaRPr sz="1100">
              <a:solidFill>
                <a:srgbClr val="F8FAFB"/>
              </a:solidFill>
              <a:latin typeface="Arial"/>
              <a:ea typeface="Arial"/>
              <a:cs typeface="Arial"/>
              <a:sym typeface="Arial"/>
            </a:endParaRPr>
          </a:p>
          <a:p>
            <a:pPr indent="-317500" lvl="0" marL="45720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Active Clients: 20 Companies </a:t>
            </a:r>
            <a:r>
              <a:rPr lang="en" sz="1100">
                <a:solidFill>
                  <a:srgbClr val="F8FAFB"/>
                </a:solidFill>
                <a:latin typeface="Arial"/>
                <a:ea typeface="Arial"/>
                <a:cs typeface="Arial"/>
                <a:sym typeface="Arial"/>
              </a:rPr>
              <a:t>(100% Multi-channel).</a:t>
            </a:r>
            <a:endParaRPr b="1" sz="1100">
              <a:solidFill>
                <a:srgbClr val="F8FAFB"/>
              </a:solidFill>
              <a:latin typeface="Arial"/>
              <a:ea typeface="Arial"/>
              <a:cs typeface="Arial"/>
              <a:sym typeface="Arial"/>
            </a:endParaRPr>
          </a:p>
        </p:txBody>
      </p:sp>
      <p:sp>
        <p:nvSpPr>
          <p:cNvPr id="665" name="Google Shape;665;p64"/>
          <p:cNvSpPr txBox="1"/>
          <p:nvPr>
            <p:ph idx="1" type="subTitle"/>
          </p:nvPr>
        </p:nvSpPr>
        <p:spPr>
          <a:xfrm>
            <a:off x="4891475" y="2870125"/>
            <a:ext cx="39999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8FAFB"/>
                </a:solidFill>
                <a:latin typeface="Arial"/>
                <a:ea typeface="Arial"/>
                <a:cs typeface="Arial"/>
                <a:sym typeface="Arial"/>
              </a:rPr>
              <a:t>In terms of revenue, we are very strong in WhatsApp &amp; SMS. However, there are significant operational risks in Voice Call services (low success rate) and business risks in the declining volume trend in March.</a:t>
            </a:r>
            <a:endParaRPr sz="1200">
              <a:solidFill>
                <a:srgbClr val="F8FAFB"/>
              </a:solidFill>
              <a:latin typeface="Arial"/>
              <a:ea typeface="Arial"/>
              <a:cs typeface="Arial"/>
              <a:sym typeface="Arial"/>
            </a:endParaRPr>
          </a:p>
        </p:txBody>
      </p:sp>
      <p:pic>
        <p:nvPicPr>
          <p:cNvPr id="666" name="Google Shape;666;p64"/>
          <p:cNvPicPr preferRelativeResize="0"/>
          <p:nvPr/>
        </p:nvPicPr>
        <p:blipFill>
          <a:blip r:embed="rId9">
            <a:alphaModFix/>
          </a:blip>
          <a:stretch>
            <a:fillRect/>
          </a:stretch>
        </p:blipFill>
        <p:spPr>
          <a:xfrm>
            <a:off x="1902575" y="1335800"/>
            <a:ext cx="3922525" cy="24719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0" name="Shape 670"/>
        <p:cNvGrpSpPr/>
        <p:nvPr/>
      </p:nvGrpSpPr>
      <p:grpSpPr>
        <a:xfrm>
          <a:off x="0" y="0"/>
          <a:ext cx="0" cy="0"/>
          <a:chOff x="0" y="0"/>
          <a:chExt cx="0" cy="0"/>
        </a:xfrm>
      </p:grpSpPr>
      <p:sp>
        <p:nvSpPr>
          <p:cNvPr id="671" name="Google Shape;671;p65"/>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65"/>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65"/>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674" name="Google Shape;674;p65"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675" name="Google Shape;675;p65"/>
          <p:cNvSpPr txBox="1"/>
          <p:nvPr>
            <p:ph type="title"/>
          </p:nvPr>
        </p:nvSpPr>
        <p:spPr>
          <a:xfrm>
            <a:off x="716100" y="516425"/>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t>Operational Health</a:t>
            </a:r>
            <a:endParaRPr sz="3600"/>
          </a:p>
        </p:txBody>
      </p:sp>
      <p:sp>
        <p:nvSpPr>
          <p:cNvPr id="676" name="Google Shape;676;p65"/>
          <p:cNvSpPr txBox="1"/>
          <p:nvPr>
            <p:ph idx="1" type="subTitle"/>
          </p:nvPr>
        </p:nvSpPr>
        <p:spPr>
          <a:xfrm>
            <a:off x="5012775" y="1503400"/>
            <a:ext cx="3766500" cy="1283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Top Performer: </a:t>
            </a:r>
            <a:r>
              <a:rPr lang="en" sz="1100">
                <a:solidFill>
                  <a:srgbClr val="F8FAFB"/>
                </a:solidFill>
                <a:latin typeface="Arial"/>
                <a:ea typeface="Arial"/>
                <a:cs typeface="Arial"/>
                <a:sym typeface="Arial"/>
              </a:rPr>
              <a:t>SMS ranks first with a 99.6% success rate. Very stable.</a:t>
            </a:r>
            <a:endParaRPr sz="1100">
              <a:solidFill>
                <a:srgbClr val="F8FAFB"/>
              </a:solidFill>
              <a:latin typeface="Arial"/>
              <a:ea typeface="Arial"/>
              <a:cs typeface="Arial"/>
              <a:sym typeface="Arial"/>
            </a:endParaRPr>
          </a:p>
          <a:p>
            <a:pPr indent="-317500" lvl="0" marL="45720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Standard: </a:t>
            </a:r>
            <a:r>
              <a:rPr lang="en" sz="1100">
                <a:solidFill>
                  <a:srgbClr val="F8FAFB"/>
                </a:solidFill>
                <a:latin typeface="Arial"/>
                <a:ea typeface="Arial"/>
                <a:cs typeface="Arial"/>
                <a:sym typeface="Arial"/>
              </a:rPr>
              <a:t>WhatsApp (84%) &amp; Email (81%) are at a reasonable level.</a:t>
            </a:r>
            <a:endParaRPr sz="1100">
              <a:solidFill>
                <a:srgbClr val="F8FAFB"/>
              </a:solidFill>
              <a:latin typeface="Arial"/>
              <a:ea typeface="Arial"/>
              <a:cs typeface="Arial"/>
              <a:sym typeface="Arial"/>
            </a:endParaRPr>
          </a:p>
          <a:p>
            <a:pPr indent="-317500" lvl="0" marL="45720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Critical Issue:</a:t>
            </a:r>
            <a:r>
              <a:rPr lang="en" sz="1100">
                <a:solidFill>
                  <a:srgbClr val="F8FAFB"/>
                </a:solidFill>
                <a:latin typeface="Arial"/>
                <a:ea typeface="Arial"/>
                <a:cs typeface="Arial"/>
                <a:sym typeface="Arial"/>
              </a:rPr>
              <a:t> Voice Call only has a 21.8% success rate. This means that out of 5 calls, 4 fail/are not answered.</a:t>
            </a:r>
            <a:endParaRPr b="1" sz="1100">
              <a:solidFill>
                <a:srgbClr val="F8FAFB"/>
              </a:solidFill>
              <a:latin typeface="Arial"/>
              <a:ea typeface="Arial"/>
              <a:cs typeface="Arial"/>
              <a:sym typeface="Arial"/>
            </a:endParaRPr>
          </a:p>
        </p:txBody>
      </p:sp>
      <p:sp>
        <p:nvSpPr>
          <p:cNvPr id="677" name="Google Shape;677;p65"/>
          <p:cNvSpPr txBox="1"/>
          <p:nvPr>
            <p:ph idx="1" type="subTitle"/>
          </p:nvPr>
        </p:nvSpPr>
        <p:spPr>
          <a:xfrm>
            <a:off x="5012775" y="3023938"/>
            <a:ext cx="38787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8FAFB"/>
                </a:solidFill>
                <a:latin typeface="Arial"/>
                <a:ea typeface="Arial"/>
                <a:cs typeface="Arial"/>
                <a:sym typeface="Arial"/>
              </a:rPr>
              <a:t>Voice Call service has the worst performance. This has the potential to waste server resources and reduce client trust.</a:t>
            </a:r>
            <a:endParaRPr sz="1200">
              <a:solidFill>
                <a:srgbClr val="F8FAFB"/>
              </a:solidFill>
              <a:latin typeface="Arial"/>
              <a:ea typeface="Arial"/>
              <a:cs typeface="Arial"/>
              <a:sym typeface="Arial"/>
            </a:endParaRPr>
          </a:p>
        </p:txBody>
      </p:sp>
      <p:pic>
        <p:nvPicPr>
          <p:cNvPr id="678" name="Google Shape;678;p65" title="Success Rate.png"/>
          <p:cNvPicPr preferRelativeResize="0"/>
          <p:nvPr/>
        </p:nvPicPr>
        <p:blipFill>
          <a:blip r:embed="rId4">
            <a:alphaModFix/>
          </a:blip>
          <a:stretch>
            <a:fillRect/>
          </a:stretch>
        </p:blipFill>
        <p:spPr>
          <a:xfrm>
            <a:off x="340100" y="1420998"/>
            <a:ext cx="4672673" cy="258675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2" name="Shape 682"/>
        <p:cNvGrpSpPr/>
        <p:nvPr/>
      </p:nvGrpSpPr>
      <p:grpSpPr>
        <a:xfrm>
          <a:off x="0" y="0"/>
          <a:ext cx="0" cy="0"/>
          <a:chOff x="0" y="0"/>
          <a:chExt cx="0" cy="0"/>
        </a:xfrm>
      </p:grpSpPr>
      <p:sp>
        <p:nvSpPr>
          <p:cNvPr id="683" name="Google Shape;683;p66"/>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6"/>
          <p:cNvSpPr/>
          <p:nvPr/>
        </p:nvSpPr>
        <p:spPr>
          <a:xfrm rot="-8512697">
            <a:off x="-1550150" y="2235095"/>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6"/>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686" name="Google Shape;686;p66"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687" name="Google Shape;687;p66"/>
          <p:cNvSpPr txBox="1"/>
          <p:nvPr>
            <p:ph type="title"/>
          </p:nvPr>
        </p:nvSpPr>
        <p:spPr>
          <a:xfrm>
            <a:off x="716100" y="64285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t>Trend &amp; Time Analysis</a:t>
            </a:r>
            <a:endParaRPr sz="3600"/>
          </a:p>
        </p:txBody>
      </p:sp>
      <p:sp>
        <p:nvSpPr>
          <p:cNvPr id="688" name="Google Shape;688;p66"/>
          <p:cNvSpPr txBox="1"/>
          <p:nvPr>
            <p:ph idx="1" type="subTitle"/>
          </p:nvPr>
        </p:nvSpPr>
        <p:spPr>
          <a:xfrm>
            <a:off x="457850" y="3289100"/>
            <a:ext cx="3766500" cy="982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Alert (Decreasing Trend): </a:t>
            </a:r>
            <a:r>
              <a:rPr lang="en" sz="1100">
                <a:solidFill>
                  <a:srgbClr val="F8FAFB"/>
                </a:solidFill>
                <a:latin typeface="Arial"/>
                <a:ea typeface="Arial"/>
                <a:cs typeface="Arial"/>
                <a:sym typeface="Arial"/>
              </a:rPr>
              <a:t>Volume decreased by 28% from January (49k) to March (35k).</a:t>
            </a:r>
            <a:endParaRPr sz="1100">
              <a:solidFill>
                <a:srgbClr val="F8FAFB"/>
              </a:solidFill>
              <a:latin typeface="Arial"/>
              <a:ea typeface="Arial"/>
              <a:cs typeface="Arial"/>
              <a:sym typeface="Arial"/>
            </a:endParaRPr>
          </a:p>
          <a:p>
            <a:pPr indent="-317500" lvl="0" marL="45720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Peak Hours: </a:t>
            </a:r>
            <a:r>
              <a:rPr lang="en" sz="1100">
                <a:solidFill>
                  <a:srgbClr val="F8FAFB"/>
                </a:solidFill>
                <a:latin typeface="Arial"/>
                <a:ea typeface="Arial"/>
                <a:cs typeface="Arial"/>
                <a:sym typeface="Arial"/>
              </a:rPr>
              <a:t>Traffic peaked between 9:00 a.m. and 12:00 p.m.</a:t>
            </a:r>
            <a:endParaRPr sz="1100">
              <a:solidFill>
                <a:srgbClr val="F8FAFB"/>
              </a:solidFill>
              <a:latin typeface="Arial"/>
              <a:ea typeface="Arial"/>
              <a:cs typeface="Arial"/>
              <a:sym typeface="Arial"/>
            </a:endParaRPr>
          </a:p>
        </p:txBody>
      </p:sp>
      <p:sp>
        <p:nvSpPr>
          <p:cNvPr id="689" name="Google Shape;689;p66"/>
          <p:cNvSpPr txBox="1"/>
          <p:nvPr>
            <p:ph idx="1" type="subTitle"/>
          </p:nvPr>
        </p:nvSpPr>
        <p:spPr>
          <a:xfrm>
            <a:off x="4612125" y="3299146"/>
            <a:ext cx="40740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8FAFB"/>
                </a:solidFill>
                <a:latin typeface="Arial"/>
                <a:ea typeface="Arial"/>
                <a:cs typeface="Arial"/>
                <a:sym typeface="Arial"/>
              </a:rPr>
              <a:t>There has been a significant decline in usage after January (possibly due to seasonal effects). Operationally, servers must be ready to accommodate the ‘Morning Blast’ load spike between 9:00 a.m. and 12:00 p.m</a:t>
            </a:r>
            <a:endParaRPr sz="1200">
              <a:solidFill>
                <a:srgbClr val="F8FAFB"/>
              </a:solidFill>
              <a:latin typeface="Arial"/>
              <a:ea typeface="Arial"/>
              <a:cs typeface="Arial"/>
              <a:sym typeface="Arial"/>
            </a:endParaRPr>
          </a:p>
        </p:txBody>
      </p:sp>
      <p:pic>
        <p:nvPicPr>
          <p:cNvPr id="690" name="Google Shape;690;p66" title="Top Traffic.png"/>
          <p:cNvPicPr preferRelativeResize="0"/>
          <p:nvPr/>
        </p:nvPicPr>
        <p:blipFill>
          <a:blip r:embed="rId4">
            <a:alphaModFix/>
          </a:blip>
          <a:stretch>
            <a:fillRect/>
          </a:stretch>
        </p:blipFill>
        <p:spPr>
          <a:xfrm>
            <a:off x="642500" y="1418475"/>
            <a:ext cx="3486626" cy="1880674"/>
          </a:xfrm>
          <a:prstGeom prst="rect">
            <a:avLst/>
          </a:prstGeom>
          <a:noFill/>
          <a:ln>
            <a:noFill/>
          </a:ln>
        </p:spPr>
      </p:pic>
      <p:pic>
        <p:nvPicPr>
          <p:cNvPr id="691" name="Google Shape;691;p66" title="Trend Line.png"/>
          <p:cNvPicPr preferRelativeResize="0"/>
          <p:nvPr/>
        </p:nvPicPr>
        <p:blipFill>
          <a:blip r:embed="rId5">
            <a:alphaModFix/>
          </a:blip>
          <a:stretch>
            <a:fillRect/>
          </a:stretch>
        </p:blipFill>
        <p:spPr>
          <a:xfrm>
            <a:off x="4715400" y="1408424"/>
            <a:ext cx="3350467" cy="18806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5" name="Shape 695"/>
        <p:cNvGrpSpPr/>
        <p:nvPr/>
      </p:nvGrpSpPr>
      <p:grpSpPr>
        <a:xfrm>
          <a:off x="0" y="0"/>
          <a:ext cx="0" cy="0"/>
          <a:chOff x="0" y="0"/>
          <a:chExt cx="0" cy="0"/>
        </a:xfrm>
      </p:grpSpPr>
      <p:sp>
        <p:nvSpPr>
          <p:cNvPr id="696" name="Google Shape;696;p67"/>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67"/>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67"/>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699" name="Google Shape;699;p67"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700" name="Google Shape;700;p67"/>
          <p:cNvSpPr txBox="1"/>
          <p:nvPr>
            <p:ph type="title"/>
          </p:nvPr>
        </p:nvSpPr>
        <p:spPr>
          <a:xfrm>
            <a:off x="716100" y="516425"/>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t>Customer Portfolio (Top User)</a:t>
            </a:r>
            <a:endParaRPr sz="3600"/>
          </a:p>
        </p:txBody>
      </p:sp>
      <p:sp>
        <p:nvSpPr>
          <p:cNvPr id="701" name="Google Shape;701;p67"/>
          <p:cNvSpPr txBox="1"/>
          <p:nvPr>
            <p:ph idx="1" type="subTitle"/>
          </p:nvPr>
        </p:nvSpPr>
        <p:spPr>
          <a:xfrm>
            <a:off x="5012775" y="1503400"/>
            <a:ext cx="3766500" cy="1283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8FAFB"/>
              </a:buClr>
              <a:buSzPts val="1400"/>
              <a:buChar char="●"/>
            </a:pPr>
            <a:r>
              <a:rPr b="1" lang="en" sz="1100">
                <a:solidFill>
                  <a:srgbClr val="F8FAFB"/>
                </a:solidFill>
                <a:latin typeface="Arial"/>
                <a:ea typeface="Arial"/>
                <a:cs typeface="Arial"/>
                <a:sym typeface="Arial"/>
              </a:rPr>
              <a:t>Top 3 Clients</a:t>
            </a:r>
            <a:r>
              <a:rPr lang="en" sz="1100">
                <a:solidFill>
                  <a:srgbClr val="F8FAFB"/>
                </a:solidFill>
                <a:latin typeface="Arial"/>
                <a:ea typeface="Arial"/>
                <a:cs typeface="Arial"/>
                <a:sym typeface="Arial"/>
              </a:rPr>
              <a:t>: CV Wisata Indo (Travel), PT Dana Nusantara (Finance), CV Land Sejahtera (Property/General)</a:t>
            </a:r>
            <a:endParaRPr sz="1100">
              <a:solidFill>
                <a:srgbClr val="F8FAFB"/>
              </a:solidFill>
              <a:latin typeface="Arial"/>
              <a:ea typeface="Arial"/>
              <a:cs typeface="Arial"/>
              <a:sym typeface="Arial"/>
            </a:endParaRPr>
          </a:p>
          <a:p>
            <a:pPr indent="-317500" lvl="0" marL="457200" rtl="0" algn="l">
              <a:spcBef>
                <a:spcPts val="0"/>
              </a:spcBef>
              <a:spcAft>
                <a:spcPts val="0"/>
              </a:spcAft>
              <a:buClr>
                <a:srgbClr val="F8FAFB"/>
              </a:buClr>
              <a:buSzPts val="1400"/>
              <a:buChar char="●"/>
            </a:pPr>
            <a:r>
              <a:rPr lang="en" sz="1100">
                <a:solidFill>
                  <a:srgbClr val="F8FAFB"/>
                </a:solidFill>
                <a:latin typeface="Arial"/>
                <a:ea typeface="Arial"/>
                <a:cs typeface="Arial"/>
                <a:sym typeface="Arial"/>
              </a:rPr>
              <a:t>These three clients have nearly identical volumes (~24k messages).</a:t>
            </a:r>
            <a:endParaRPr b="1" sz="1100">
              <a:solidFill>
                <a:srgbClr val="F8FAFB"/>
              </a:solidFill>
              <a:latin typeface="Arial"/>
              <a:ea typeface="Arial"/>
              <a:cs typeface="Arial"/>
              <a:sym typeface="Arial"/>
            </a:endParaRPr>
          </a:p>
        </p:txBody>
      </p:sp>
      <p:sp>
        <p:nvSpPr>
          <p:cNvPr id="702" name="Google Shape;702;p67"/>
          <p:cNvSpPr txBox="1"/>
          <p:nvPr>
            <p:ph idx="1" type="subTitle"/>
          </p:nvPr>
        </p:nvSpPr>
        <p:spPr>
          <a:xfrm>
            <a:off x="5012775" y="3023938"/>
            <a:ext cx="38787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8FAFB"/>
                </a:solidFill>
                <a:latin typeface="Arial"/>
                <a:ea typeface="Arial"/>
                <a:cs typeface="Arial"/>
                <a:sym typeface="Arial"/>
              </a:rPr>
              <a:t>All 20 current active users are Multi-channel Users (using all channels). This is a sign of good product stickiness, but the risk of churn becomes fatal if one client leaves.</a:t>
            </a:r>
            <a:endParaRPr sz="1200">
              <a:solidFill>
                <a:srgbClr val="F8FAFB"/>
              </a:solidFill>
              <a:latin typeface="Arial"/>
              <a:ea typeface="Arial"/>
              <a:cs typeface="Arial"/>
              <a:sym typeface="Arial"/>
            </a:endParaRPr>
          </a:p>
        </p:txBody>
      </p:sp>
      <p:pic>
        <p:nvPicPr>
          <p:cNvPr id="703" name="Google Shape;703;p67" title="Top Users.png"/>
          <p:cNvPicPr preferRelativeResize="0"/>
          <p:nvPr/>
        </p:nvPicPr>
        <p:blipFill>
          <a:blip r:embed="rId4">
            <a:alphaModFix/>
          </a:blip>
          <a:stretch>
            <a:fillRect/>
          </a:stretch>
        </p:blipFill>
        <p:spPr>
          <a:xfrm>
            <a:off x="386001" y="1503400"/>
            <a:ext cx="4378653" cy="2421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7" name="Shape 707"/>
        <p:cNvGrpSpPr/>
        <p:nvPr/>
      </p:nvGrpSpPr>
      <p:grpSpPr>
        <a:xfrm>
          <a:off x="0" y="0"/>
          <a:ext cx="0" cy="0"/>
          <a:chOff x="0" y="0"/>
          <a:chExt cx="0" cy="0"/>
        </a:xfrm>
      </p:grpSpPr>
      <p:sp>
        <p:nvSpPr>
          <p:cNvPr id="708" name="Google Shape;708;p68"/>
          <p:cNvSpPr/>
          <p:nvPr/>
        </p:nvSpPr>
        <p:spPr>
          <a:xfrm>
            <a:off x="603975" y="801025"/>
            <a:ext cx="870300" cy="870300"/>
          </a:xfrm>
          <a:prstGeom prst="ellipse">
            <a:avLst/>
          </a:prstGeom>
          <a:solidFill>
            <a:srgbClr val="FFFFFF">
              <a:alpha val="36080"/>
            </a:srgbClr>
          </a:solidFill>
          <a:ln>
            <a:noFill/>
          </a:ln>
        </p:spPr>
        <p:txBody>
          <a:bodyPr anchorCtr="0" anchor="ctr" bIns="60850" lIns="60850" spcFirstLastPara="1" rIns="60850" wrap="square" tIns="60850">
            <a:noAutofit/>
          </a:bodyPr>
          <a:lstStyle/>
          <a:p>
            <a:pPr indent="0" lvl="0" marL="0" rtl="0" algn="l">
              <a:spcBef>
                <a:spcPts val="0"/>
              </a:spcBef>
              <a:spcAft>
                <a:spcPts val="0"/>
              </a:spcAft>
              <a:buNone/>
            </a:pPr>
            <a:r>
              <a:t/>
            </a:r>
            <a:endParaRPr sz="932">
              <a:solidFill>
                <a:schemeClr val="lt1"/>
              </a:solidFill>
            </a:endParaRPr>
          </a:p>
        </p:txBody>
      </p:sp>
      <p:sp>
        <p:nvSpPr>
          <p:cNvPr id="709" name="Google Shape;709;p68"/>
          <p:cNvSpPr txBox="1"/>
          <p:nvPr>
            <p:ph type="title"/>
          </p:nvPr>
        </p:nvSpPr>
        <p:spPr>
          <a:xfrm>
            <a:off x="1853750" y="1356485"/>
            <a:ext cx="6778800" cy="8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 OCA Indonesia</a:t>
            </a:r>
            <a:endParaRPr/>
          </a:p>
        </p:txBody>
      </p:sp>
      <p:sp>
        <p:nvSpPr>
          <p:cNvPr id="710" name="Google Shape;710;p68"/>
          <p:cNvSpPr txBox="1"/>
          <p:nvPr>
            <p:ph idx="2" type="title"/>
          </p:nvPr>
        </p:nvSpPr>
        <p:spPr>
          <a:xfrm>
            <a:off x="626744" y="931748"/>
            <a:ext cx="824700" cy="608700"/>
          </a:xfrm>
          <a:prstGeom prst="rect">
            <a:avLst/>
          </a:prstGeom>
        </p:spPr>
        <p:txBody>
          <a:bodyPr anchorCtr="0" anchor="b" bIns="60850" lIns="60850" spcFirstLastPara="1" rIns="60850" wrap="square" tIns="60850">
            <a:noAutofit/>
          </a:bodyPr>
          <a:lstStyle/>
          <a:p>
            <a:pPr indent="0" lvl="0" marL="0" rtl="0" algn="ctr">
              <a:spcBef>
                <a:spcPts val="0"/>
              </a:spcBef>
              <a:spcAft>
                <a:spcPts val="0"/>
              </a:spcAft>
              <a:buNone/>
            </a:pPr>
            <a:r>
              <a:rPr lang="en" sz="3661"/>
              <a:t>0</a:t>
            </a:r>
            <a:r>
              <a:rPr lang="en" sz="3661"/>
              <a:t>1</a:t>
            </a:r>
            <a:endParaRPr sz="3328"/>
          </a:p>
        </p:txBody>
      </p:sp>
      <p:sp>
        <p:nvSpPr>
          <p:cNvPr id="711" name="Google Shape;711;p68"/>
          <p:cNvSpPr txBox="1"/>
          <p:nvPr>
            <p:ph idx="1" type="subTitle"/>
          </p:nvPr>
        </p:nvSpPr>
        <p:spPr>
          <a:xfrm>
            <a:off x="1856300" y="2004387"/>
            <a:ext cx="6773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Communication Platform-as-a-Service (CPaaS)</a:t>
            </a:r>
            <a:endParaRPr/>
          </a:p>
        </p:txBody>
      </p:sp>
      <p:sp>
        <p:nvSpPr>
          <p:cNvPr id="712" name="Google Shape;712;p68"/>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713" name="Google Shape;713;p68"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7" name="Shape 717"/>
        <p:cNvGrpSpPr/>
        <p:nvPr/>
      </p:nvGrpSpPr>
      <p:grpSpPr>
        <a:xfrm>
          <a:off x="0" y="0"/>
          <a:ext cx="0" cy="0"/>
          <a:chOff x="0" y="0"/>
          <a:chExt cx="0" cy="0"/>
        </a:xfrm>
      </p:grpSpPr>
      <p:sp>
        <p:nvSpPr>
          <p:cNvPr id="718" name="Google Shape;718;p69"/>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pic>
        <p:nvPicPr>
          <p:cNvPr id="719" name="Google Shape;719;p69"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720" name="Google Shape;720;p69"/>
          <p:cNvSpPr txBox="1"/>
          <p:nvPr>
            <p:ph type="title"/>
          </p:nvPr>
        </p:nvSpPr>
        <p:spPr>
          <a:xfrm>
            <a:off x="1934177" y="870310"/>
            <a:ext cx="4727100" cy="82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Business Problem</a:t>
            </a:r>
            <a:endParaRPr sz="2600"/>
          </a:p>
        </p:txBody>
      </p:sp>
      <p:sp>
        <p:nvSpPr>
          <p:cNvPr id="721" name="Google Shape;721;p69"/>
          <p:cNvSpPr txBox="1"/>
          <p:nvPr>
            <p:ph idx="1" type="subTitle"/>
          </p:nvPr>
        </p:nvSpPr>
        <p:spPr>
          <a:xfrm>
            <a:off x="1934175" y="1557125"/>
            <a:ext cx="6726900" cy="5505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200"/>
              <a:t>OCA Indonesia has difficulty comparing channel performance and understanding user behavior due to fragmented data. Therefore, a consolidated report is needed that integrates multichannel data, standardizes key metrics, and analyzes user behavior to provide quick visibility into performance, user habits, and operational efficiency to support decision making.</a:t>
            </a:r>
            <a:endParaRPr sz="1200"/>
          </a:p>
        </p:txBody>
      </p:sp>
      <p:sp>
        <p:nvSpPr>
          <p:cNvPr id="722" name="Google Shape;722;p69"/>
          <p:cNvSpPr txBox="1"/>
          <p:nvPr>
            <p:ph type="title"/>
          </p:nvPr>
        </p:nvSpPr>
        <p:spPr>
          <a:xfrm>
            <a:off x="409750" y="2161725"/>
            <a:ext cx="6726900" cy="82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Objective</a:t>
            </a:r>
            <a:endParaRPr sz="2600"/>
          </a:p>
        </p:txBody>
      </p:sp>
      <p:sp>
        <p:nvSpPr>
          <p:cNvPr id="723" name="Google Shape;723;p69"/>
          <p:cNvSpPr txBox="1"/>
          <p:nvPr>
            <p:ph idx="1" type="subTitle"/>
          </p:nvPr>
        </p:nvSpPr>
        <p:spPr>
          <a:xfrm>
            <a:off x="409850" y="2848575"/>
            <a:ext cx="8324400" cy="128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To provide a consolidated analytical report that enables OCA Indonesia to :</a:t>
            </a:r>
            <a:endParaRPr sz="1200"/>
          </a:p>
          <a:p>
            <a:pPr indent="-304800" lvl="0" marL="457200" rtl="0" algn="l">
              <a:spcBef>
                <a:spcPts val="0"/>
              </a:spcBef>
              <a:spcAft>
                <a:spcPts val="0"/>
              </a:spcAft>
              <a:buSzPts val="1200"/>
              <a:buChar char="●"/>
            </a:pPr>
            <a:r>
              <a:rPr lang="en" sz="1200"/>
              <a:t>Compare performance across multiple communication channels.</a:t>
            </a:r>
            <a:endParaRPr sz="1200"/>
          </a:p>
          <a:p>
            <a:pPr indent="-304800" lvl="0" marL="457200" rtl="0" algn="l">
              <a:spcBef>
                <a:spcPts val="0"/>
              </a:spcBef>
              <a:spcAft>
                <a:spcPts val="0"/>
              </a:spcAft>
              <a:buSzPts val="1200"/>
              <a:buChar char="●"/>
            </a:pPr>
            <a:r>
              <a:rPr lang="en" sz="1200"/>
              <a:t>Understand user behavior and interaction patterns.</a:t>
            </a:r>
            <a:endParaRPr sz="1200"/>
          </a:p>
          <a:p>
            <a:pPr indent="-304800" lvl="0" marL="457200" rtl="0" algn="l">
              <a:spcBef>
                <a:spcPts val="0"/>
              </a:spcBef>
              <a:spcAft>
                <a:spcPts val="0"/>
              </a:spcAft>
              <a:buSzPts val="1200"/>
              <a:buChar char="●"/>
            </a:pPr>
            <a:r>
              <a:rPr lang="en" sz="1200"/>
              <a:t>Support operational monitoring and strategic business decision-making</a:t>
            </a:r>
            <a:endParaRPr sz="1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7" name="Shape 727"/>
        <p:cNvGrpSpPr/>
        <p:nvPr/>
      </p:nvGrpSpPr>
      <p:grpSpPr>
        <a:xfrm>
          <a:off x="0" y="0"/>
          <a:ext cx="0" cy="0"/>
          <a:chOff x="0" y="0"/>
          <a:chExt cx="0" cy="0"/>
        </a:xfrm>
      </p:grpSpPr>
      <p:sp>
        <p:nvSpPr>
          <p:cNvPr id="728" name="Google Shape;728;p70"/>
          <p:cNvSpPr/>
          <p:nvPr/>
        </p:nvSpPr>
        <p:spPr>
          <a:xfrm rot="10800000">
            <a:off x="8347078" y="12121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70"/>
          <p:cNvSpPr/>
          <p:nvPr/>
        </p:nvSpPr>
        <p:spPr>
          <a:xfrm rot="10800000">
            <a:off x="7732411" y="105897"/>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70"/>
          <p:cNvSpPr txBox="1"/>
          <p:nvPr>
            <p:ph idx="1" type="subTitle"/>
          </p:nvPr>
        </p:nvSpPr>
        <p:spPr>
          <a:xfrm>
            <a:off x="44188" y="4131686"/>
            <a:ext cx="6458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FFF2CC"/>
                </a:solidFill>
              </a:rPr>
              <a:t>Disclaimer</a:t>
            </a:r>
            <a:endParaRPr b="1" sz="1400">
              <a:solidFill>
                <a:srgbClr val="FFF2CC"/>
              </a:solidFill>
            </a:endParaRPr>
          </a:p>
          <a:p>
            <a:pPr indent="0" lvl="0" marL="0" rtl="0" algn="l">
              <a:spcBef>
                <a:spcPts val="0"/>
              </a:spcBef>
              <a:spcAft>
                <a:spcPts val="0"/>
              </a:spcAft>
              <a:buNone/>
            </a:pPr>
            <a:r>
              <a:rPr lang="en" sz="1200">
                <a:solidFill>
                  <a:srgbClr val="FFF2CC"/>
                </a:solidFill>
              </a:rPr>
              <a:t>"The data provided is a representation of the original data which amount has been adjusted. The data used is NOT representation of original data, adjusted for educational purposes and does not reflect the actual business condition of the company."</a:t>
            </a:r>
            <a:endParaRPr sz="1200">
              <a:solidFill>
                <a:srgbClr val="FFF2CC"/>
              </a:solidFill>
            </a:endParaRPr>
          </a:p>
        </p:txBody>
      </p:sp>
      <p:sp>
        <p:nvSpPr>
          <p:cNvPr id="731" name="Google Shape;731;p70"/>
          <p:cNvSpPr txBox="1"/>
          <p:nvPr>
            <p:ph type="title"/>
          </p:nvPr>
        </p:nvSpPr>
        <p:spPr>
          <a:xfrm>
            <a:off x="716100" y="320050"/>
            <a:ext cx="7711800" cy="68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500"/>
              <a:t>Root Cause Analysis</a:t>
            </a:r>
            <a:endParaRPr sz="3500"/>
          </a:p>
        </p:txBody>
      </p:sp>
      <p:pic>
        <p:nvPicPr>
          <p:cNvPr id="732" name="Google Shape;732;p70"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pic>
        <p:nvPicPr>
          <p:cNvPr id="733" name="Google Shape;733;p70"/>
          <p:cNvPicPr preferRelativeResize="0"/>
          <p:nvPr/>
        </p:nvPicPr>
        <p:blipFill>
          <a:blip r:embed="rId4">
            <a:alphaModFix/>
          </a:blip>
          <a:stretch>
            <a:fillRect/>
          </a:stretch>
        </p:blipFill>
        <p:spPr>
          <a:xfrm>
            <a:off x="2358572" y="954962"/>
            <a:ext cx="4426855" cy="32335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E2A47"/>
        </a:solidFill>
      </p:bgPr>
    </p:bg>
    <p:spTree>
      <p:nvGrpSpPr>
        <p:cNvPr id="737" name="Shape 737"/>
        <p:cNvGrpSpPr/>
        <p:nvPr/>
      </p:nvGrpSpPr>
      <p:grpSpPr>
        <a:xfrm>
          <a:off x="0" y="0"/>
          <a:ext cx="0" cy="0"/>
          <a:chOff x="0" y="0"/>
          <a:chExt cx="0" cy="0"/>
        </a:xfrm>
      </p:grpSpPr>
      <p:pic>
        <p:nvPicPr>
          <p:cNvPr id="738" name="Google Shape;738;p71">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reless Communications Service Provider Company Profile by Slidesgo">
  <a:themeElements>
    <a:clrScheme name="Simple Light">
      <a:dk1>
        <a:srgbClr val="294C85"/>
      </a:dk1>
      <a:lt1>
        <a:srgbClr val="FFFFFF"/>
      </a:lt1>
      <a:dk2>
        <a:srgbClr val="47AFEC"/>
      </a:dk2>
      <a:lt2>
        <a:srgbClr val="1A54B6"/>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