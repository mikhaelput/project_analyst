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5143500" cx="9144000"/>
  <p:notesSz cx="6858000" cy="9144000"/>
  <p:embeddedFontLst>
    <p:embeddedFont>
      <p:font typeface="Roboto ExtraBold"/>
      <p:bold r:id="rId28"/>
      <p:boldItalic r:id="rId29"/>
    </p:embeddedFont>
    <p:embeddedFont>
      <p:font typeface="Roboto Black"/>
      <p:bold r:id="rId30"/>
      <p:boldItalic r:id="rId31"/>
    </p:embeddedFont>
    <p:embeddedFont>
      <p:font typeface="Economica"/>
      <p:regular r:id="rId32"/>
      <p:bold r:id="rId33"/>
      <p:italic r:id="rId34"/>
      <p:boldItalic r:id="rId35"/>
    </p:embeddedFont>
    <p:embeddedFont>
      <p:font typeface="Roboto"/>
      <p:regular r:id="rId36"/>
      <p:bold r:id="rId37"/>
      <p:italic r:id="rId38"/>
      <p:boldItalic r:id="rId39"/>
    </p:embeddedFont>
    <p:embeddedFont>
      <p:font typeface="PT Sans Narrow"/>
      <p:regular r:id="rId40"/>
      <p:bold r:id="rId41"/>
    </p:embeddedFont>
    <p:embeddedFont>
      <p:font typeface="Roboto SemiBold"/>
      <p:regular r:id="rId42"/>
      <p:bold r:id="rId43"/>
      <p:italic r:id="rId44"/>
      <p:boldItalic r:id="rId45"/>
    </p:embeddedFont>
    <p:embeddedFont>
      <p:font typeface="Roboto Light"/>
      <p:regular r:id="rId46"/>
      <p:bold r:id="rId47"/>
      <p:italic r:id="rId48"/>
      <p:boldItalic r:id="rId49"/>
    </p:embeddedFont>
    <p:embeddedFont>
      <p:font typeface="Open Sans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TSansNarrow-regular.fntdata"/><Relationship Id="rId42" Type="http://schemas.openxmlformats.org/officeDocument/2006/relationships/font" Target="fonts/RobotoSemiBold-regular.fntdata"/><Relationship Id="rId41" Type="http://schemas.openxmlformats.org/officeDocument/2006/relationships/font" Target="fonts/PTSansNarrow-bold.fntdata"/><Relationship Id="rId44" Type="http://schemas.openxmlformats.org/officeDocument/2006/relationships/font" Target="fonts/RobotoSemiBold-italic.fntdata"/><Relationship Id="rId43" Type="http://schemas.openxmlformats.org/officeDocument/2006/relationships/font" Target="fonts/RobotoSemiBold-bold.fntdata"/><Relationship Id="rId46" Type="http://schemas.openxmlformats.org/officeDocument/2006/relationships/font" Target="fonts/RobotoLight-regular.fntdata"/><Relationship Id="rId45" Type="http://schemas.openxmlformats.org/officeDocument/2006/relationships/font" Target="fonts/RobotoSemiBold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RobotoLight-italic.fntdata"/><Relationship Id="rId47" Type="http://schemas.openxmlformats.org/officeDocument/2006/relationships/font" Target="fonts/RobotoLight-bold.fntdata"/><Relationship Id="rId49" Type="http://schemas.openxmlformats.org/officeDocument/2006/relationships/font" Target="fonts/RobotoLigh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Black-boldItalic.fntdata"/><Relationship Id="rId30" Type="http://schemas.openxmlformats.org/officeDocument/2006/relationships/font" Target="fonts/RobotoBlack-bold.fntdata"/><Relationship Id="rId33" Type="http://schemas.openxmlformats.org/officeDocument/2006/relationships/font" Target="fonts/Economica-bold.fntdata"/><Relationship Id="rId32" Type="http://schemas.openxmlformats.org/officeDocument/2006/relationships/font" Target="fonts/Economica-regular.fntdata"/><Relationship Id="rId35" Type="http://schemas.openxmlformats.org/officeDocument/2006/relationships/font" Target="fonts/Economica-boldItalic.fntdata"/><Relationship Id="rId34" Type="http://schemas.openxmlformats.org/officeDocument/2006/relationships/font" Target="fonts/Economica-italic.fntdata"/><Relationship Id="rId37" Type="http://schemas.openxmlformats.org/officeDocument/2006/relationships/font" Target="fonts/Roboto-bold.fntdata"/><Relationship Id="rId36" Type="http://schemas.openxmlformats.org/officeDocument/2006/relationships/font" Target="fonts/Roboto-regular.fntdata"/><Relationship Id="rId39" Type="http://schemas.openxmlformats.org/officeDocument/2006/relationships/font" Target="fonts/Roboto-boldItalic.fntdata"/><Relationship Id="rId38" Type="http://schemas.openxmlformats.org/officeDocument/2006/relationships/font" Target="fonts/Roboto-italic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RobotoExtraBold-bold.fntdata"/><Relationship Id="rId27" Type="http://schemas.openxmlformats.org/officeDocument/2006/relationships/slide" Target="slides/slide23.xml"/><Relationship Id="rId29" Type="http://schemas.openxmlformats.org/officeDocument/2006/relationships/font" Target="fonts/RobotoExtraBold-boldItalic.fntdata"/><Relationship Id="rId51" Type="http://schemas.openxmlformats.org/officeDocument/2006/relationships/font" Target="fonts/OpenSans-bold.fntdata"/><Relationship Id="rId50" Type="http://schemas.openxmlformats.org/officeDocument/2006/relationships/font" Target="fonts/OpenSans-regular.fntdata"/><Relationship Id="rId53" Type="http://schemas.openxmlformats.org/officeDocument/2006/relationships/font" Target="fonts/OpenSans-boldItalic.fntdata"/><Relationship Id="rId52" Type="http://schemas.openxmlformats.org/officeDocument/2006/relationships/font" Target="fonts/OpenSans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80872a9b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80872a9b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0872a9b1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80872a9b1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eac97e838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eac97e838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0872a9b1c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80872a9b1c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a5bc3af54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8a5bc3af5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0d1bbcbd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80d1bbcbd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8a5bc3af54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8a5bc3af5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0d1bbcbd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80d1bbcbd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0d1bbcbd4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80d1bbcbd4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0d1bbcbd4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80d1bbcbd4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80d1bbcbd4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80d1bbcbd4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80d1bbcbd4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80d1bbcbd4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80d1bbcbd4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80d1bbcbd4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8a5bc3af54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8a5bc3af54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80d1bbcbd4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80d1bbcbd4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80d1bbcbd4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80d1bbcbd4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8a5bc3af54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8a5bc3af54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80d1bbcbd4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80d1bbcbd4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8a5bc3af54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8a5bc3af54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8a32bf02f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8a32bf02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8a5bc3af54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8a5bc3af54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8a5bc3af54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8a5bc3af54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8a5bc3af54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8a5bc3af54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linkedin.com/in/mikhael-putra-iswanto-a8051876/" TargetMode="External"/><Relationship Id="rId4" Type="http://schemas.openxmlformats.org/officeDocument/2006/relationships/hyperlink" Target="https://www.kaggle.com/datasets/adilshamim8/social-media-addiction-vs-relationships/data" TargetMode="External"/><Relationship Id="rId5" Type="http://schemas.openxmlformats.org/officeDocument/2006/relationships/hyperlink" Target="https://colab.research.google.com/drive/1sXn4VVfA47JhnV46yP7HdwzTUKRAdd66?usp=sharing" TargetMode="External"/><Relationship Id="rId6" Type="http://schemas.openxmlformats.org/officeDocument/2006/relationships/hyperlink" Target="https://public.tableau.com/views/Addicttion_DEEP_Visualization/Dashboard1?:language=en-US&amp;publish=yes&amp;:sid=&amp;:redirect=auth&amp;:display_count=n&amp;:origin=viz_share_link" TargetMode="External"/><Relationship Id="rId7" Type="http://schemas.openxmlformats.org/officeDocument/2006/relationships/hyperlink" Target="https://public.tableau.com/views/Addicttion_DEEP_Visualization/Dashboard1?:language=en-US&amp;publish=yes&amp;:sid=&amp;:redirect=auth&amp;:display_count=n&amp;:origin=viz_share_link" TargetMode="External"/><Relationship Id="rId8" Type="http://schemas.openxmlformats.org/officeDocument/2006/relationships/hyperlink" Target="https://docs.google.com/presentation/d/1J57Jcd3vgRAv1W0uV3uNHMQvXPj_1Pj7AlTnaGIkTRE/edit?usp=sharing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himsical.com/deep-63nANp1FyidaxXFJ2YxMrA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9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24.png"/><Relationship Id="rId6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Relationship Id="rId4" Type="http://schemas.openxmlformats.org/officeDocument/2006/relationships/image" Target="../media/image21.png"/><Relationship Id="rId5" Type="http://schemas.openxmlformats.org/officeDocument/2006/relationships/image" Target="../media/image13.png"/><Relationship Id="rId6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3.png"/><Relationship Id="rId5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public.tableau.com/views/Addicttion_DEEP_Visualization/Dashboard2?:language=en-US&amp;publish=yes&amp;:sid=&amp;:redirect=auth&amp;:display_count=n&amp;:origin=viz_share_link" TargetMode="External"/><Relationship Id="rId4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ww.linkedin.com/in/mikhael-putra-iswanto-a8051876/" TargetMode="External"/><Relationship Id="rId4" Type="http://schemas.openxmlformats.org/officeDocument/2006/relationships/hyperlink" Target="https://www.kaggle.com/datasets/adilshamim8/social-media-addiction-vs-relationships/data" TargetMode="External"/><Relationship Id="rId5" Type="http://schemas.openxmlformats.org/officeDocument/2006/relationships/hyperlink" Target="https://colab.research.google.com/drive/1sXn4VVfA47JhnV46yP7HdwzTUKRAdd66?usp=sharing" TargetMode="External"/><Relationship Id="rId6" Type="http://schemas.openxmlformats.org/officeDocument/2006/relationships/hyperlink" Target="https://public.tableau.com/views/Addicttion_DEEP_Visualization/Dashboard1?:language=en-US&amp;publish=yes&amp;:sid=&amp;:redirect=auth&amp;:display_count=n&amp;:origin=viz_share_link" TargetMode="External"/><Relationship Id="rId7" Type="http://schemas.openxmlformats.org/officeDocument/2006/relationships/hyperlink" Target="https://public.tableau.com/views/Addicttion_DEEP_Visualization/Dashboard1?:language=en-US&amp;publish=yes&amp;:sid=&amp;:redirect=auth&amp;:display_count=n&amp;:origin=viz_share_link" TargetMode="External"/><Relationship Id="rId8" Type="http://schemas.openxmlformats.org/officeDocument/2006/relationships/hyperlink" Target="https://docs.google.com/presentation/d/1J57Jcd3vgRAv1W0uV3uNHMQvXPj_1Pj7AlTnaGIkTRE/edit?usp=sharing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colab.research.google.com/drive/1sXn4VVfA47JhnV46yP7HdwzTUKRAdd66?usp=sharing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Relationship Id="rId4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Relationship Id="rId4" Type="http://schemas.openxmlformats.org/officeDocument/2006/relationships/image" Target="../media/image3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2719415" y="2685988"/>
            <a:ext cx="3705000" cy="554100"/>
          </a:xfrm>
          <a:prstGeom prst="rect">
            <a:avLst/>
          </a:prstGeom>
        </p:spPr>
        <p:txBody>
          <a:bodyPr anchorCtr="0" anchor="b" bIns="72225" lIns="72225" spcFirstLastPara="1" rIns="72225" wrap="square" tIns="72225">
            <a:no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82"/>
              <a:buFont typeface="Arial"/>
              <a:buNone/>
            </a:pPr>
            <a:r>
              <a:rPr b="1" lang="id" sz="2354">
                <a:latin typeface="Roboto"/>
                <a:ea typeface="Roboto"/>
                <a:cs typeface="Roboto"/>
                <a:sym typeface="Roboto"/>
              </a:rPr>
              <a:t>Exploring Students' </a:t>
            </a:r>
            <a:br>
              <a:rPr b="1" lang="id" sz="2354">
                <a:latin typeface="Roboto"/>
                <a:ea typeface="Roboto"/>
                <a:cs typeface="Roboto"/>
                <a:sym typeface="Roboto"/>
              </a:rPr>
            </a:br>
            <a:r>
              <a:rPr b="1" lang="id" sz="2354">
                <a:latin typeface="Roboto"/>
                <a:ea typeface="Roboto"/>
                <a:cs typeface="Roboto"/>
                <a:sym typeface="Roboto"/>
              </a:rPr>
              <a:t>Social Media Addiction:</a:t>
            </a:r>
            <a:endParaRPr b="1" sz="2354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82"/>
              <a:buFont typeface="Arial"/>
              <a:buNone/>
            </a:pPr>
            <a:r>
              <a:t/>
            </a:r>
            <a:endParaRPr b="1" sz="2354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162075" y="3560251"/>
            <a:ext cx="3164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400">
                <a:uFill>
                  <a:noFill/>
                </a:uFill>
                <a:hlinkClick r:id="rId3"/>
              </a:rPr>
              <a:t>Mikhael Putra Iswanto</a:t>
            </a:r>
            <a:endParaRPr b="1" sz="14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d" sz="1400"/>
              <a:t>RevoU - FSDA Madrid batch JUN25</a:t>
            </a:r>
            <a:endParaRPr sz="14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100">
                <a:solidFill>
                  <a:srgbClr val="FF0000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</a:t>
            </a:r>
            <a:r>
              <a:rPr lang="id" sz="1100"/>
              <a:t> </a:t>
            </a:r>
            <a:r>
              <a:rPr b="1" lang="id" sz="1100">
                <a:solidFill>
                  <a:srgbClr val="1474AF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Collab</a:t>
            </a:r>
            <a:r>
              <a:rPr lang="id" sz="1100"/>
              <a:t> </a:t>
            </a:r>
            <a:r>
              <a:rPr b="1" lang="id" sz="1100" u="sng">
                <a:solidFill>
                  <a:srgbClr val="FF9900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Tableau</a:t>
            </a:r>
            <a:r>
              <a:rPr lang="id" sz="1100" u="sng">
                <a:solidFill>
                  <a:srgbClr val="FF9900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id" sz="1100">
                <a:solidFill>
                  <a:srgbClr val="1474AF"/>
                </a:solidFill>
                <a:uFill>
                  <a:noFill/>
                </a:u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</a:t>
            </a:r>
            <a:endParaRPr b="1" sz="1100">
              <a:solidFill>
                <a:srgbClr val="1474AF"/>
              </a:solidFill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2390625" y="2947363"/>
            <a:ext cx="43629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535">
                <a:solidFill>
                  <a:srgbClr val="1474A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Survey Insights Q1 2025</a:t>
            </a:r>
            <a:endParaRPr sz="2535"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819725" y="-334825"/>
            <a:ext cx="571500" cy="58017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7752825" y="-329100"/>
            <a:ext cx="571500" cy="58017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" name="Google Shape;67;p13"/>
          <p:cNvSpPr txBox="1"/>
          <p:nvPr>
            <p:ph type="ctrTitle"/>
          </p:nvPr>
        </p:nvSpPr>
        <p:spPr>
          <a:xfrm>
            <a:off x="2920224" y="1891875"/>
            <a:ext cx="3303600" cy="34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3600">
                <a:solidFill>
                  <a:srgbClr val="FF0000"/>
                </a:solidFill>
              </a:rPr>
              <a:t>_Calm </a:t>
            </a:r>
            <a:r>
              <a:rPr b="1" lang="id" sz="3600">
                <a:solidFill>
                  <a:srgbClr val="FF9900"/>
                </a:solidFill>
              </a:rPr>
              <a:t>Space_</a:t>
            </a:r>
            <a:endParaRPr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/>
        </p:nvSpPr>
        <p:spPr>
          <a:xfrm>
            <a:off x="451052" y="750325"/>
            <a:ext cx="3804000" cy="3456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7750" lIns="97750" spcFirstLastPara="1" rIns="97750" wrap="square" tIns="97750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8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707875" y="799975"/>
            <a:ext cx="390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600">
                <a:solidFill>
                  <a:srgbClr val="1474AF"/>
                </a:solidFill>
                <a:latin typeface="Roboto"/>
                <a:ea typeface="Roboto"/>
                <a:cs typeface="Roboto"/>
                <a:sym typeface="Roboto"/>
              </a:rPr>
              <a:t>Industry Model &amp; Business Processes</a:t>
            </a:r>
            <a:endParaRPr sz="1600"/>
          </a:p>
        </p:txBody>
      </p:sp>
      <p:sp>
        <p:nvSpPr>
          <p:cNvPr id="74" name="Google Shape;74;p14"/>
          <p:cNvSpPr txBox="1"/>
          <p:nvPr/>
        </p:nvSpPr>
        <p:spPr>
          <a:xfrm>
            <a:off x="707875" y="1313025"/>
            <a:ext cx="3588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latin typeface="Roboto Light"/>
                <a:ea typeface="Roboto Light"/>
                <a:cs typeface="Roboto Light"/>
                <a:sym typeface="Roboto Light"/>
              </a:rPr>
              <a:t>An </a:t>
            </a: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B2B SaaS EdTech company</a:t>
            </a:r>
            <a:r>
              <a:rPr lang="id" sz="1200">
                <a:latin typeface="Roboto Light"/>
                <a:ea typeface="Roboto Light"/>
                <a:cs typeface="Roboto Light"/>
                <a:sym typeface="Roboto Light"/>
              </a:rPr>
              <a:t> focuses on student well-being and engagement through a platform that monitors social media usage, sleep patterns, and potential conflicts. The platform also provides data-driven interventions to support mental health and academic performance.</a:t>
            </a:r>
            <a:endParaRPr sz="12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latin typeface="Roboto Light"/>
                <a:ea typeface="Roboto Light"/>
                <a:cs typeface="Roboto Light"/>
                <a:sym typeface="Roboto Light"/>
              </a:rPr>
              <a:t>Primary revenue comes from annual licenses offered and additional revenue through professional consulting and premium analytics packages.</a:t>
            </a:r>
            <a:endParaRPr sz="12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6841801" y="1766775"/>
            <a:ext cx="1787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d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Decision Maker </a:t>
            </a:r>
            <a:r>
              <a:rPr b="1" i="1" lang="id" sz="1000"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i="1" lang="id" sz="900">
                <a:latin typeface="Calibri"/>
                <a:ea typeface="Calibri"/>
                <a:cs typeface="Calibri"/>
                <a:sym typeface="Calibri"/>
              </a:rPr>
              <a:t>CEO</a:t>
            </a:r>
            <a:endParaRPr i="1"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d" sz="1000">
                <a:latin typeface="Calibri"/>
                <a:ea typeface="Calibri"/>
                <a:cs typeface="Calibri"/>
                <a:sym typeface="Calibri"/>
              </a:rPr>
              <a:t>Consulted - </a:t>
            </a:r>
            <a:r>
              <a:rPr i="1" lang="id" sz="900">
                <a:latin typeface="Calibri"/>
                <a:ea typeface="Calibri"/>
                <a:cs typeface="Calibri"/>
                <a:sym typeface="Calibri"/>
              </a:rPr>
              <a:t>Psikolog, Teacher Advisor</a:t>
            </a:r>
            <a:br>
              <a:rPr i="1" lang="id" sz="900">
                <a:latin typeface="Calibri"/>
                <a:ea typeface="Calibri"/>
                <a:cs typeface="Calibri"/>
                <a:sym typeface="Calibri"/>
              </a:rPr>
            </a:br>
            <a:r>
              <a:rPr b="1" i="1" lang="id" sz="1000">
                <a:latin typeface="Calibri"/>
                <a:ea typeface="Calibri"/>
                <a:cs typeface="Calibri"/>
                <a:sym typeface="Calibri"/>
              </a:rPr>
              <a:t>Informed - </a:t>
            </a:r>
            <a:r>
              <a:rPr i="1" lang="id" sz="900">
                <a:latin typeface="Calibri"/>
                <a:ea typeface="Calibri"/>
                <a:cs typeface="Calibri"/>
                <a:sym typeface="Calibri"/>
              </a:rPr>
              <a:t>School board, All teaching </a:t>
            </a:r>
            <a:r>
              <a:rPr i="1" lang="id" sz="900">
                <a:latin typeface="Calibri"/>
                <a:ea typeface="Calibri"/>
                <a:cs typeface="Calibri"/>
                <a:sym typeface="Calibri"/>
              </a:rPr>
              <a:t>staff, students</a:t>
            </a:r>
            <a:endParaRPr i="1" sz="9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4075" y="1460725"/>
            <a:ext cx="632350" cy="96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4283" y="1581525"/>
            <a:ext cx="789525" cy="8106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/>
        </p:nvSpPr>
        <p:spPr>
          <a:xfrm>
            <a:off x="4296575" y="2473475"/>
            <a:ext cx="1787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d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(Approver</a:t>
            </a:r>
            <a:r>
              <a:rPr b="1" i="1" lang="id" sz="1000">
                <a:latin typeface="Calibri"/>
                <a:ea typeface="Calibri"/>
                <a:cs typeface="Calibri"/>
                <a:sym typeface="Calibri"/>
              </a:rPr>
              <a:t>)</a:t>
            </a:r>
            <a:endParaRPr b="1" i="1"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d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 of Data &amp; Research</a:t>
            </a:r>
            <a:endParaRPr i="1"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5573150" y="2018150"/>
            <a:ext cx="318000" cy="112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5402994" y="2473475"/>
            <a:ext cx="1787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d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1" lang="id" sz="1000">
                <a:latin typeface="Calibri"/>
                <a:ea typeface="Calibri"/>
                <a:cs typeface="Calibri"/>
                <a:sym typeface="Calibri"/>
              </a:rPr>
              <a:t>Responsible)</a:t>
            </a:r>
            <a:endParaRPr b="1" i="1"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d" sz="800">
                <a:latin typeface="Calibri"/>
                <a:ea typeface="Calibri"/>
                <a:cs typeface="Calibri"/>
                <a:sym typeface="Calibri"/>
              </a:rPr>
              <a:t>Data Analyst</a:t>
            </a:r>
            <a:endParaRPr i="1"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4674225" y="1313025"/>
            <a:ext cx="2226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d" sz="1300">
                <a:latin typeface="Roboto SemiBold"/>
                <a:ea typeface="Roboto SemiBold"/>
                <a:cs typeface="Roboto SemiBold"/>
                <a:sym typeface="Roboto SemiBold"/>
              </a:rPr>
              <a:t>&gt; Stakeholder Analysis</a:t>
            </a:r>
            <a:endParaRPr sz="1300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2" name="Google Shape;82;p14"/>
          <p:cNvSpPr txBox="1"/>
          <p:nvPr>
            <p:ph idx="4294967295" type="ctrTitle"/>
          </p:nvPr>
        </p:nvSpPr>
        <p:spPr>
          <a:xfrm>
            <a:off x="7307896" y="751069"/>
            <a:ext cx="1348200" cy="34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800">
                <a:solidFill>
                  <a:srgbClr val="FF0000"/>
                </a:solidFill>
              </a:rPr>
              <a:t>_Calm </a:t>
            </a:r>
            <a:r>
              <a:rPr b="1" lang="id" sz="1800">
                <a:solidFill>
                  <a:srgbClr val="FF9900"/>
                </a:solidFill>
              </a:rPr>
              <a:t>Space_</a:t>
            </a:r>
            <a:endParaRPr sz="1800"/>
          </a:p>
        </p:txBody>
      </p:sp>
      <p:sp>
        <p:nvSpPr>
          <p:cNvPr id="83" name="Google Shape;83;p14"/>
          <p:cNvSpPr/>
          <p:nvPr/>
        </p:nvSpPr>
        <p:spPr>
          <a:xfrm>
            <a:off x="832700" y="3603800"/>
            <a:ext cx="1140600" cy="5304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Data Collection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2079800" y="3768950"/>
            <a:ext cx="265200" cy="20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3698600" y="3768950"/>
            <a:ext cx="265200" cy="20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2451500" y="3603800"/>
            <a:ext cx="1140600" cy="5304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Analytics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4070300" y="3603800"/>
            <a:ext cx="1140600" cy="5304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Intervention</a:t>
            </a:r>
            <a:endParaRPr b="1"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5317400" y="3768950"/>
            <a:ext cx="265200" cy="20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6936200" y="3768950"/>
            <a:ext cx="265200" cy="20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5689100" y="3603800"/>
            <a:ext cx="1140600" cy="530400"/>
          </a:xfrm>
          <a:prstGeom prst="roundRect">
            <a:avLst>
              <a:gd fmla="val 16667" name="adj"/>
            </a:avLst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Reporting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7307900" y="3603800"/>
            <a:ext cx="1140600" cy="530400"/>
          </a:xfrm>
          <a:prstGeom prst="roundRect">
            <a:avLst>
              <a:gd fmla="val 16667" name="adj"/>
            </a:avLst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Business Ops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/>
          <p:nvPr/>
        </p:nvSpPr>
        <p:spPr>
          <a:xfrm>
            <a:off x="303750" y="738050"/>
            <a:ext cx="2528700" cy="598800"/>
          </a:xfrm>
          <a:prstGeom prst="snip1Rect">
            <a:avLst>
              <a:gd fmla="val 16667" name="adj"/>
            </a:avLst>
          </a:pr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448650" y="737975"/>
            <a:ext cx="22389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2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Methodology</a:t>
            </a:r>
            <a:endParaRPr b="1" sz="2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303738" y="2042875"/>
            <a:ext cx="1209900" cy="672000"/>
          </a:xfrm>
          <a:prstGeom prst="rect">
            <a:avLst/>
          </a:prstGeom>
          <a:solidFill>
            <a:srgbClr val="E6B8AF"/>
          </a:solidFill>
          <a:ln>
            <a:noFill/>
          </a:ln>
        </p:spPr>
        <p:txBody>
          <a:bodyPr anchorCtr="0" anchor="t" bIns="97750" lIns="97750" spcFirstLastPara="1" rIns="97750" wrap="square" tIns="97750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1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1" sz="171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Defining 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problem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2093250" y="2042875"/>
            <a:ext cx="1283400" cy="6720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t" bIns="97750" lIns="97750" spcFirstLastPara="1" rIns="97750" wrap="square" tIns="97750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1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sz="171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cleaning &amp; preparation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3984444" y="2042875"/>
            <a:ext cx="1126200" cy="6720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7750" lIns="97750" spcFirstLastPara="1" rIns="97750" wrap="square" tIns="97750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1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sz="171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Exploratory data analysis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5718475" y="2042875"/>
            <a:ext cx="1120800" cy="7377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7750" lIns="97750" spcFirstLastPara="1" rIns="97750" wrap="square" tIns="977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1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1" sz="171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Analysis Framework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1607286" y="2351919"/>
            <a:ext cx="392400" cy="12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0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750" lIns="97750" spcFirstLastPara="1" rIns="97750" wrap="square" tIns="97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96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3484366" y="2351919"/>
            <a:ext cx="392400" cy="12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0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750" lIns="97750" spcFirstLastPara="1" rIns="97750" wrap="square" tIns="97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96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7381650" y="2042875"/>
            <a:ext cx="1524000" cy="672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7750" lIns="97750" spcFirstLastPara="1" rIns="97750" wrap="square" tIns="97750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1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b="1" sz="171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Insights &amp; recommendation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5218403" y="2326259"/>
            <a:ext cx="392400" cy="12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0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750" lIns="97750" spcFirstLastPara="1" rIns="97750" wrap="square" tIns="97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96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6946988" y="2351919"/>
            <a:ext cx="392400" cy="12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0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750" lIns="97750" spcFirstLastPara="1" rIns="97750" wrap="square" tIns="97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96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303725" y="2978628"/>
            <a:ext cx="1303500" cy="9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4117" lvl="0" marL="192450" rtl="0" algn="l">
              <a:spcBef>
                <a:spcPts val="0"/>
              </a:spcBef>
              <a:spcAft>
                <a:spcPts val="0"/>
              </a:spcAft>
              <a:buSzPts val="1069"/>
              <a:buFont typeface="Calibri"/>
              <a:buChar char="●"/>
            </a:pPr>
            <a:r>
              <a:rPr lang="id" sz="1069">
                <a:latin typeface="Calibri"/>
                <a:ea typeface="Calibri"/>
                <a:cs typeface="Calibri"/>
                <a:sym typeface="Calibri"/>
              </a:rPr>
              <a:t>Exploratory and understand data and problem</a:t>
            </a:r>
            <a:endParaRPr sz="1069">
              <a:latin typeface="Calibri"/>
              <a:ea typeface="Calibri"/>
              <a:cs typeface="Calibri"/>
              <a:sym typeface="Calibri"/>
            </a:endParaRPr>
          </a:p>
          <a:p>
            <a:pPr indent="-164117" lvl="0" marL="192450" rtl="0" algn="l">
              <a:spcBef>
                <a:spcPts val="0"/>
              </a:spcBef>
              <a:spcAft>
                <a:spcPts val="0"/>
              </a:spcAft>
              <a:buSzPts val="1069"/>
              <a:buFont typeface="Calibri"/>
              <a:buChar char="●"/>
            </a:pPr>
            <a:r>
              <a:rPr lang="id" sz="1069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Determine the user using DARCI</a:t>
            </a:r>
            <a:endParaRPr sz="1069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4117" lvl="0" marL="192450" rtl="0" algn="l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069"/>
              <a:buFont typeface="Calibri"/>
              <a:buChar char="●"/>
            </a:pPr>
            <a:r>
              <a:rPr lang="id" sz="1069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Define Objective</a:t>
            </a:r>
            <a:endParaRPr sz="1069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2083123" y="2987903"/>
            <a:ext cx="13035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4117" lvl="0" marL="192450" rtl="0" algn="l">
              <a:spcBef>
                <a:spcPts val="0"/>
              </a:spcBef>
              <a:spcAft>
                <a:spcPts val="0"/>
              </a:spcAft>
              <a:buSzPts val="1069"/>
              <a:buFont typeface="Calibri"/>
              <a:buChar char="●"/>
            </a:pPr>
            <a:r>
              <a:rPr lang="id" sz="1069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Data cleaning &amp; preparation using Python</a:t>
            </a:r>
            <a:endParaRPr sz="106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3973954" y="2987903"/>
            <a:ext cx="130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4117" lvl="0" marL="192450" rtl="0" algn="l">
              <a:spcBef>
                <a:spcPts val="0"/>
              </a:spcBef>
              <a:spcAft>
                <a:spcPts val="0"/>
              </a:spcAft>
              <a:buSzPts val="1069"/>
              <a:buFont typeface="Calibri"/>
              <a:buChar char="●"/>
            </a:pPr>
            <a:r>
              <a:rPr lang="id" sz="1069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EDA using</a:t>
            </a:r>
            <a:r>
              <a:rPr lang="id" sz="1069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id" sz="1069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python, &amp; tableau</a:t>
            </a:r>
            <a:endParaRPr sz="106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7447063" y="2987900"/>
            <a:ext cx="13932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4117" lvl="0" marL="192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9"/>
              <a:buFont typeface="Calibri"/>
              <a:buChar char="●"/>
            </a:pPr>
            <a:r>
              <a:rPr lang="id" sz="10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 of the remarkable insights &amp; Recommendations</a:t>
            </a:r>
            <a:endParaRPr sz="10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5718470" y="2987903"/>
            <a:ext cx="130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4117" lvl="0" marL="192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9"/>
              <a:buFont typeface="Calibri"/>
              <a:buChar char="●"/>
            </a:pPr>
            <a:r>
              <a:rPr lang="id" sz="10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Segmentation</a:t>
            </a:r>
            <a:endParaRPr sz="10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4117" lvl="0" marL="192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9"/>
              <a:buFont typeface="Calibri"/>
              <a:buChar char="●"/>
            </a:pPr>
            <a:r>
              <a:rPr lang="id" sz="10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Correlation</a:t>
            </a:r>
            <a:endParaRPr sz="10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>
            <p:ph idx="4294967295" type="ctrTitle"/>
          </p:nvPr>
        </p:nvSpPr>
        <p:spPr>
          <a:xfrm>
            <a:off x="7307896" y="751069"/>
            <a:ext cx="1348200" cy="34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800">
                <a:solidFill>
                  <a:srgbClr val="FF0000"/>
                </a:solidFill>
              </a:rPr>
              <a:t>_Calm </a:t>
            </a:r>
            <a:r>
              <a:rPr b="1" lang="id" sz="1800">
                <a:solidFill>
                  <a:srgbClr val="FF9900"/>
                </a:solidFill>
              </a:rPr>
              <a:t>Space_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>
            <p:ph type="title"/>
          </p:nvPr>
        </p:nvSpPr>
        <p:spPr>
          <a:xfrm>
            <a:off x="917175" y="792963"/>
            <a:ext cx="3433800" cy="36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400">
                <a:latin typeface="Roboto"/>
                <a:ea typeface="Roboto"/>
                <a:cs typeface="Roboto"/>
                <a:sym typeface="Roboto"/>
              </a:rPr>
              <a:t>Objective </a:t>
            </a:r>
            <a:r>
              <a:rPr b="1" lang="id" sz="1400">
                <a:solidFill>
                  <a:srgbClr val="1474AF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b="1" lang="id" sz="1400">
                <a:solidFill>
                  <a:srgbClr val="1474AF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Root Causes Analysi</a:t>
            </a:r>
            <a:r>
              <a:rPr b="1" lang="id" sz="1400">
                <a:solidFill>
                  <a:srgbClr val="1474AF"/>
                </a:solidFill>
                <a:latin typeface="Roboto"/>
                <a:ea typeface="Roboto"/>
                <a:cs typeface="Roboto"/>
                <a:sym typeface="Roboto"/>
              </a:rPr>
              <a:t>s)</a:t>
            </a:r>
            <a:endParaRPr b="1" sz="1400">
              <a:solidFill>
                <a:srgbClr val="1474A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16"/>
          <p:cNvSpPr txBox="1"/>
          <p:nvPr>
            <p:ph type="title"/>
          </p:nvPr>
        </p:nvSpPr>
        <p:spPr>
          <a:xfrm>
            <a:off x="917175" y="1251563"/>
            <a:ext cx="3508200" cy="200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SzPts val="1100"/>
              <a:buFont typeface="Roboto"/>
              <a:buAutoNum type="arabicPeriod"/>
            </a:pPr>
            <a:r>
              <a:rPr lang="id" sz="1100">
                <a:latin typeface="Roboto"/>
                <a:ea typeface="Roboto"/>
                <a:cs typeface="Roboto"/>
                <a:sym typeface="Roboto"/>
              </a:rPr>
              <a:t>Identify the quantitative relationship between social media usage hours and mental health outcomes, sleep duration, and frequency of social conflicts.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SzPts val="1100"/>
              <a:buFont typeface="Roboto"/>
              <a:buAutoNum type="arabicPeriod"/>
            </a:pPr>
            <a:r>
              <a:rPr lang="id" sz="1100">
                <a:latin typeface="Roboto"/>
                <a:ea typeface="Roboto"/>
                <a:cs typeface="Roboto"/>
                <a:sym typeface="Roboto"/>
              </a:rPr>
              <a:t>Segment users (students) by gender, academic,  country and usage patterns to understand intervention priorities per market.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SzPts val="1100"/>
              <a:buFont typeface="Roboto"/>
              <a:buAutoNum type="arabicPeriod"/>
            </a:pPr>
            <a:r>
              <a:rPr lang="id" sz="1100">
                <a:latin typeface="Roboto"/>
                <a:ea typeface="Roboto"/>
                <a:cs typeface="Roboto"/>
                <a:sym typeface="Roboto"/>
              </a:rPr>
              <a:t>Build a simple predictive model that can estimate the risk of interpersonal conflict based on surveys.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SzPts val="1100"/>
              <a:buFont typeface="Roboto"/>
              <a:buAutoNum type="arabicPeriod"/>
            </a:pPr>
            <a:r>
              <a:rPr lang="id" sz="1100">
                <a:latin typeface="Roboto"/>
                <a:ea typeface="Roboto"/>
                <a:cs typeface="Roboto"/>
                <a:sym typeface="Roboto"/>
              </a:rPr>
              <a:t>Provide actionable recommendations for stakeholders.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Google Shape;119;p16"/>
          <p:cNvSpPr txBox="1"/>
          <p:nvPr>
            <p:ph type="title"/>
          </p:nvPr>
        </p:nvSpPr>
        <p:spPr>
          <a:xfrm>
            <a:off x="4766425" y="1478545"/>
            <a:ext cx="3621900" cy="266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65100" lvl="0" marL="17999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AutoNum type="arabicPeriod"/>
            </a:pPr>
            <a:r>
              <a:rPr lang="id" sz="1100">
                <a:latin typeface="Roboto"/>
                <a:ea typeface="Roboto"/>
                <a:cs typeface="Roboto"/>
                <a:sym typeface="Roboto"/>
              </a:rPr>
              <a:t>The variables analyzed are limited to 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165100" lvl="0" marL="36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id" sz="1100">
                <a:latin typeface="Roboto"/>
                <a:ea typeface="Roboto"/>
                <a:cs typeface="Roboto"/>
                <a:sym typeface="Roboto"/>
              </a:rPr>
              <a:t>Social Media Usage - Avg_Daily_Usage_Hours, Most_Used_Platform, Addicted_Score.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165100" lvl="0" marL="36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id" sz="1100">
                <a:latin typeface="Roboto"/>
                <a:ea typeface="Roboto"/>
                <a:cs typeface="Roboto"/>
                <a:sym typeface="Roboto"/>
              </a:rPr>
              <a:t>Well-being &amp; Health - Sleep_Hours_Per_Night, Mental_Health_Score.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165100" lvl="0" marL="36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id" sz="1100">
                <a:latin typeface="Roboto"/>
                <a:ea typeface="Roboto"/>
                <a:cs typeface="Roboto"/>
                <a:sym typeface="Roboto"/>
              </a:rPr>
              <a:t>Social Interaction - Conflicts_Over_Social_Media, Relationship_Status.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165100" lvl="0" marL="36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id" sz="1100">
                <a:latin typeface="Roboto"/>
                <a:ea typeface="Roboto"/>
                <a:cs typeface="Roboto"/>
                <a:sym typeface="Roboto"/>
              </a:rPr>
              <a:t>Demografi - Gender, Age, Academic_Level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165100" lvl="0" marL="1799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AutoNum type="arabicPeriod"/>
            </a:pPr>
            <a:r>
              <a:rPr lang="id" sz="1100">
                <a:latin typeface="Roboto"/>
                <a:ea typeface="Roboto"/>
                <a:cs typeface="Roboto"/>
                <a:sym typeface="Roboto"/>
              </a:rPr>
              <a:t>All data is questionnaire-based, so its validity is limited.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165100" lvl="0" marL="1799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AutoNum type="arabicPeriod"/>
            </a:pPr>
            <a:r>
              <a:rPr lang="id" sz="1100">
                <a:latin typeface="Roboto"/>
                <a:ea typeface="Roboto"/>
                <a:cs typeface="Roboto"/>
                <a:sym typeface="Roboto"/>
              </a:rPr>
              <a:t>The data only describes a single point in time, not a cause-and-effect relationship.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165100" lvl="0" marL="1799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AutoNum type="arabicPeriod"/>
            </a:pPr>
            <a:r>
              <a:rPr lang="id" sz="1100">
                <a:latin typeface="Roboto"/>
                <a:ea typeface="Roboto"/>
                <a:cs typeface="Roboto"/>
                <a:sym typeface="Roboto"/>
              </a:rPr>
              <a:t>The results apply to the dataset respondent population and cannot be directly generalized to all students globally.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165100" lvl="0" marL="1799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AutoNum type="arabicPeriod"/>
            </a:pPr>
            <a:r>
              <a:rPr lang="id" sz="1100">
                <a:latin typeface="Roboto"/>
                <a:ea typeface="Roboto"/>
                <a:cs typeface="Roboto"/>
                <a:sym typeface="Roboto"/>
              </a:rPr>
              <a:t>Actionable insights are intended for school boards, teachers, and psychologists, not for clinical decisions.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p16"/>
          <p:cNvSpPr txBox="1"/>
          <p:nvPr>
            <p:ph type="title"/>
          </p:nvPr>
        </p:nvSpPr>
        <p:spPr>
          <a:xfrm>
            <a:off x="4840800" y="800848"/>
            <a:ext cx="3433800" cy="36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400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Scope</a:t>
            </a:r>
            <a:endParaRPr b="1" sz="1400">
              <a:solidFill>
                <a:srgbClr val="E0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" name="Google Shape;121;p16"/>
          <p:cNvCxnSpPr/>
          <p:nvPr/>
        </p:nvCxnSpPr>
        <p:spPr>
          <a:xfrm>
            <a:off x="4543000" y="999238"/>
            <a:ext cx="0" cy="335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" name="Google Shape;122;p16"/>
          <p:cNvSpPr txBox="1"/>
          <p:nvPr>
            <p:ph idx="4294967295" type="ctrTitle"/>
          </p:nvPr>
        </p:nvSpPr>
        <p:spPr>
          <a:xfrm>
            <a:off x="7307896" y="751069"/>
            <a:ext cx="1348200" cy="34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800">
                <a:solidFill>
                  <a:srgbClr val="FF0000"/>
                </a:solidFill>
              </a:rPr>
              <a:t>_Calm </a:t>
            </a:r>
            <a:r>
              <a:rPr b="1" lang="id" sz="1800">
                <a:solidFill>
                  <a:srgbClr val="FF9900"/>
                </a:solidFill>
              </a:rPr>
              <a:t>Space_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 txBox="1"/>
          <p:nvPr>
            <p:ph type="title"/>
          </p:nvPr>
        </p:nvSpPr>
        <p:spPr>
          <a:xfrm>
            <a:off x="4437150" y="773722"/>
            <a:ext cx="2139300" cy="50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400">
                <a:latin typeface="Roboto"/>
                <a:ea typeface="Roboto"/>
                <a:cs typeface="Roboto"/>
                <a:sym typeface="Roboto"/>
              </a:rPr>
              <a:t>Hypothesis</a:t>
            </a:r>
            <a:endParaRPr b="1" sz="1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17"/>
          <p:cNvSpPr txBox="1"/>
          <p:nvPr>
            <p:ph type="title"/>
          </p:nvPr>
        </p:nvSpPr>
        <p:spPr>
          <a:xfrm>
            <a:off x="4437150" y="1273822"/>
            <a:ext cx="3837300" cy="179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65100" lvl="0" marL="269999" rtl="0" algn="just">
              <a:spcBef>
                <a:spcPts val="0"/>
              </a:spcBef>
              <a:spcAft>
                <a:spcPts val="0"/>
              </a:spcAft>
              <a:buSzPts val="1100"/>
              <a:buFont typeface="Calibri"/>
              <a:buAutoNum type="arabicPeriod"/>
            </a:pP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Student 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who </a:t>
            </a: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use social media more than 5 hours/day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 have </a:t>
            </a: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risk of interpersonal conflict that is twice as high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 as student who use social media for </a:t>
            </a: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less than 3 hours/day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165100" lvl="0" marL="269999" rtl="0" algn="just">
              <a:spcBef>
                <a:spcPts val="0"/>
              </a:spcBef>
              <a:spcAft>
                <a:spcPts val="0"/>
              </a:spcAft>
              <a:buSzPts val="1100"/>
              <a:buFont typeface="Calibri"/>
              <a:buAutoNum type="arabicPeriod"/>
            </a:pP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Students 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who </a:t>
            </a: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sleep less than 6 hours/day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 tend to have anxiety/depression scores that are </a:t>
            </a: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25% higher than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 those who sleep </a:t>
            </a: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7 hours or more per day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165100" lvl="0" marL="269999" rtl="0" algn="just">
              <a:spcBef>
                <a:spcPts val="0"/>
              </a:spcBef>
              <a:spcAft>
                <a:spcPts val="0"/>
              </a:spcAft>
              <a:buSzPts val="1100"/>
              <a:buFont typeface="Calibri"/>
              <a:buAutoNum type="arabicPeriod"/>
            </a:pPr>
            <a:r>
              <a:rPr lang="id" sz="1100"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Combination high screen time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 (&gt; 5 hours/day) &amp; </a:t>
            </a: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short sleep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 (&lt; 6 hours/day) </a:t>
            </a: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increases risk of interpersonality conflict 2 times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 compared with low screen time &amp; enough sleep.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9" name="Google Shape;129;p17" title="Academic Responden.png"/>
          <p:cNvPicPr preferRelativeResize="0"/>
          <p:nvPr/>
        </p:nvPicPr>
        <p:blipFill rotWithShape="1">
          <a:blip r:embed="rId3">
            <a:alphaModFix/>
          </a:blip>
          <a:srcRect b="18097" l="7774" r="6331" t="22471"/>
          <a:stretch/>
        </p:blipFill>
        <p:spPr>
          <a:xfrm>
            <a:off x="994721" y="3189713"/>
            <a:ext cx="5288881" cy="81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 title="Count Country.png"/>
          <p:cNvPicPr preferRelativeResize="0"/>
          <p:nvPr/>
        </p:nvPicPr>
        <p:blipFill rotWithShape="1">
          <a:blip r:embed="rId4">
            <a:alphaModFix/>
          </a:blip>
          <a:srcRect b="19276" l="20940" r="20940" t="22275"/>
          <a:stretch/>
        </p:blipFill>
        <p:spPr>
          <a:xfrm>
            <a:off x="6936900" y="3295971"/>
            <a:ext cx="1212375" cy="55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>
            <p:ph type="title"/>
          </p:nvPr>
        </p:nvSpPr>
        <p:spPr>
          <a:xfrm>
            <a:off x="955500" y="4060746"/>
            <a:ext cx="7233000" cy="2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000">
                <a:highlight>
                  <a:srgbClr val="FCE5CD"/>
                </a:highlight>
                <a:latin typeface="Calibri"/>
                <a:ea typeface="Calibri"/>
                <a:cs typeface="Calibri"/>
                <a:sym typeface="Calibri"/>
              </a:rPr>
              <a:t>Total. Responden Survey</a:t>
            </a:r>
            <a:endParaRPr b="1" sz="1000">
              <a:highlight>
                <a:srgbClr val="FCE5CD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" name="Google Shape;132;p17"/>
          <p:cNvCxnSpPr/>
          <p:nvPr/>
        </p:nvCxnSpPr>
        <p:spPr>
          <a:xfrm>
            <a:off x="944650" y="3129375"/>
            <a:ext cx="710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" name="Google Shape;133;p17"/>
          <p:cNvSpPr txBox="1"/>
          <p:nvPr>
            <p:ph type="title"/>
          </p:nvPr>
        </p:nvSpPr>
        <p:spPr>
          <a:xfrm>
            <a:off x="955500" y="3949000"/>
            <a:ext cx="7233000" cy="50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0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Key Metrics (Conflict Rate, Average Sleep Duration, Screen Time Hours, Anxiety/Mental Health Score) </a:t>
            </a:r>
            <a:endParaRPr b="1" sz="1000">
              <a:highlight>
                <a:srgbClr val="FFF2C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 txBox="1"/>
          <p:nvPr>
            <p:ph type="title"/>
          </p:nvPr>
        </p:nvSpPr>
        <p:spPr>
          <a:xfrm>
            <a:off x="797025" y="763350"/>
            <a:ext cx="3068100" cy="50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400">
                <a:latin typeface="Roboto"/>
                <a:ea typeface="Roboto"/>
                <a:cs typeface="Roboto"/>
                <a:sym typeface="Roboto"/>
              </a:rPr>
              <a:t>Business Problem</a:t>
            </a:r>
            <a:endParaRPr b="1" sz="1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17"/>
          <p:cNvSpPr txBox="1"/>
          <p:nvPr>
            <p:ph type="title"/>
          </p:nvPr>
        </p:nvSpPr>
        <p:spPr>
          <a:xfrm>
            <a:off x="820550" y="1239931"/>
            <a:ext cx="3264900" cy="105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100">
                <a:latin typeface="Roboto"/>
                <a:ea typeface="Roboto"/>
                <a:cs typeface="Roboto"/>
                <a:sym typeface="Roboto"/>
              </a:rPr>
              <a:t>“</a:t>
            </a: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Within 6 months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, Calm Space aims to reduce incidents of interpersonal conflict among students due to</a:t>
            </a: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 excessive social media use by 15%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, by increasing average</a:t>
            </a: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 sleep quality by more than 30 minutes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 per night and </a:t>
            </a: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lowering self-reported anxiety levels.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”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17"/>
          <p:cNvSpPr txBox="1"/>
          <p:nvPr>
            <p:ph idx="4294967295" type="ctrTitle"/>
          </p:nvPr>
        </p:nvSpPr>
        <p:spPr>
          <a:xfrm>
            <a:off x="7307896" y="751069"/>
            <a:ext cx="1348200" cy="34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800">
                <a:solidFill>
                  <a:srgbClr val="FF0000"/>
                </a:solidFill>
              </a:rPr>
              <a:t>_Calm </a:t>
            </a:r>
            <a:r>
              <a:rPr b="1" lang="id" sz="1800">
                <a:solidFill>
                  <a:srgbClr val="FF9900"/>
                </a:solidFill>
              </a:rPr>
              <a:t>Space_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8" title="Responden _ Count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856" y="1298870"/>
            <a:ext cx="6278974" cy="33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>
            <p:ph type="title"/>
          </p:nvPr>
        </p:nvSpPr>
        <p:spPr>
          <a:xfrm>
            <a:off x="311700" y="492325"/>
            <a:ext cx="6453900" cy="5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800">
                <a:latin typeface="Roboto"/>
                <a:ea typeface="Roboto"/>
                <a:cs typeface="Roboto"/>
                <a:sym typeface="Roboto"/>
              </a:rPr>
              <a:t>Country of Responden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3" name="Google Shape;143;p18" title="Continen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1316" y="1570675"/>
            <a:ext cx="2979371" cy="110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 txBox="1"/>
          <p:nvPr/>
        </p:nvSpPr>
        <p:spPr>
          <a:xfrm>
            <a:off x="5062424" y="3169625"/>
            <a:ext cx="3615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survey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was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conducted 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across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five continents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but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respondents 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were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concentrated in India, the United States, and Canada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which may indicate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greater access to the survey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in those regions or a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bias in the distribution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of the survey.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/>
          <p:nvPr/>
        </p:nvSpPr>
        <p:spPr>
          <a:xfrm>
            <a:off x="1320950" y="3406275"/>
            <a:ext cx="7773000" cy="135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7553375" y="1466000"/>
            <a:ext cx="364500" cy="3528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1" name="Google Shape;151;p19"/>
          <p:cNvSpPr txBox="1"/>
          <p:nvPr>
            <p:ph type="title"/>
          </p:nvPr>
        </p:nvSpPr>
        <p:spPr>
          <a:xfrm>
            <a:off x="311700" y="280650"/>
            <a:ext cx="6453900" cy="5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600">
                <a:latin typeface="Roboto"/>
                <a:ea typeface="Roboto"/>
                <a:cs typeface="Roboto"/>
                <a:sym typeface="Roboto"/>
              </a:rPr>
              <a:t>Almost All </a:t>
            </a:r>
            <a:r>
              <a:rPr b="1" lang="id" sz="1600">
                <a:latin typeface="Roboto"/>
                <a:ea typeface="Roboto"/>
                <a:cs typeface="Roboto"/>
                <a:sym typeface="Roboto"/>
              </a:rPr>
              <a:t>Respondents have Conflict Rate Over Social Media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2" name="Google Shape;152;p19" title="Conflict Rat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550" y="3540650"/>
            <a:ext cx="1150400" cy="46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9" title="Conflict Rate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002825"/>
            <a:ext cx="7606167" cy="1355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9" title="Conflict Rate (3).png"/>
          <p:cNvPicPr preferRelativeResize="0"/>
          <p:nvPr/>
        </p:nvPicPr>
        <p:blipFill rotWithShape="1">
          <a:blip r:embed="rId5">
            <a:alphaModFix/>
          </a:blip>
          <a:srcRect b="0" l="130" r="140" t="0"/>
          <a:stretch/>
        </p:blipFill>
        <p:spPr>
          <a:xfrm>
            <a:off x="417525" y="2357986"/>
            <a:ext cx="7606165" cy="99276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9"/>
          <p:cNvSpPr txBox="1"/>
          <p:nvPr/>
        </p:nvSpPr>
        <p:spPr>
          <a:xfrm>
            <a:off x="1320950" y="3426125"/>
            <a:ext cx="7472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Almost all respondents reported conflicts,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indicating that the problem is systematic rather than individual/personal.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level of education did not have a significant effect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on reducing conflicts, although it appeared to be better at the graduate level.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differences between genders were very small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indicating that conflicts were fairly evenly distributed and not biased towards a particular gender.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6" name="Google Shape;156;p19" title="icons8-conflict-5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0550" y="3268625"/>
            <a:ext cx="272025" cy="27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/>
          <p:nvPr/>
        </p:nvSpPr>
        <p:spPr>
          <a:xfrm>
            <a:off x="1320950" y="3406275"/>
            <a:ext cx="7773000" cy="1189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170550" y="3304613"/>
            <a:ext cx="364500" cy="3528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3" name="Google Shape;163;p20" title="AVG Sleep Hours .png"/>
          <p:cNvPicPr preferRelativeResize="0"/>
          <p:nvPr/>
        </p:nvPicPr>
        <p:blipFill rotWithShape="1">
          <a:blip r:embed="rId3">
            <a:alphaModFix/>
          </a:blip>
          <a:srcRect b="0" l="8333" r="8333" t="0"/>
          <a:stretch/>
        </p:blipFill>
        <p:spPr>
          <a:xfrm>
            <a:off x="170550" y="3481875"/>
            <a:ext cx="1150400" cy="46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/>
        </p:nvSpPr>
        <p:spPr>
          <a:xfrm>
            <a:off x="1320950" y="3550612"/>
            <a:ext cx="7472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High school students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show </a:t>
            </a: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highest potential for sleep deprivation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sleeping less than 6 hours.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Graduate students have the highest average number of hours of sleep,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with males sleeping slightly longer than females.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There is an pattern </a:t>
            </a: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increase in hours of sleep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as the level of education increases.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20"/>
          <p:cNvSpPr txBox="1"/>
          <p:nvPr>
            <p:ph type="title"/>
          </p:nvPr>
        </p:nvSpPr>
        <p:spPr>
          <a:xfrm>
            <a:off x="311700" y="280650"/>
            <a:ext cx="5183700" cy="5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600">
                <a:latin typeface="Roboto"/>
                <a:ea typeface="Roboto"/>
                <a:cs typeface="Roboto"/>
                <a:sym typeface="Roboto"/>
              </a:rPr>
              <a:t>Average Sleep Duration Responden</a:t>
            </a:r>
            <a:endParaRPr b="1" sz="16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6" name="Google Shape;166;p20" title="AVG Sleep Hours (Acadmic &amp; Gender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7450" y="1012825"/>
            <a:ext cx="8375602" cy="198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/>
          <p:nvPr/>
        </p:nvSpPr>
        <p:spPr>
          <a:xfrm>
            <a:off x="1971825" y="3327966"/>
            <a:ext cx="7122000" cy="1662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72" name="Google Shape;172;p21" title="Avg Mental Health Score 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125" y="3646475"/>
            <a:ext cx="1840700" cy="46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1"/>
          <p:cNvSpPr txBox="1"/>
          <p:nvPr/>
        </p:nvSpPr>
        <p:spPr>
          <a:xfrm>
            <a:off x="1971825" y="3332191"/>
            <a:ext cx="7031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overall average of respondents was in the medium category (6.2).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Females tended to have higher scores in the high category than males, except at the undergraduate level.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high anxiety category was quite dominant at all academic levels, especially at the graduate and undergraduate levels.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High school respondents were relatively fewer, but when high, they showed significant scores (7.0–7.1).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Mental health is highest at age 22 and lowest at ages 18–20.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21"/>
          <p:cNvSpPr txBox="1"/>
          <p:nvPr>
            <p:ph type="title"/>
          </p:nvPr>
        </p:nvSpPr>
        <p:spPr>
          <a:xfrm>
            <a:off x="311700" y="280650"/>
            <a:ext cx="6006900" cy="5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600">
                <a:latin typeface="Roboto"/>
                <a:ea typeface="Roboto"/>
                <a:cs typeface="Roboto"/>
                <a:sym typeface="Roboto"/>
              </a:rPr>
              <a:t>Anxiety/Mental Health Score </a:t>
            </a:r>
            <a:r>
              <a:rPr b="1" lang="id" sz="1600">
                <a:latin typeface="Roboto"/>
                <a:ea typeface="Roboto"/>
                <a:cs typeface="Roboto"/>
                <a:sym typeface="Roboto"/>
              </a:rPr>
              <a:t>Responden uses social media</a:t>
            </a:r>
            <a:endParaRPr b="1" sz="16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5" name="Google Shape;175;p21" title="icons8-mental-health-6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575" y="3379100"/>
            <a:ext cx="411575" cy="41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1" title="Avg Mental Health Score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9738" y="895350"/>
            <a:ext cx="5750831" cy="240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1" title="Avg Mental Health Score (Age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54225" y="2250575"/>
            <a:ext cx="2748750" cy="92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1"/>
          <p:cNvSpPr/>
          <p:nvPr/>
        </p:nvSpPr>
        <p:spPr>
          <a:xfrm>
            <a:off x="5729700" y="2707575"/>
            <a:ext cx="2875200" cy="176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1193125" y="1359875"/>
            <a:ext cx="1092000" cy="176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/>
          <p:nvPr/>
        </p:nvSpPr>
        <p:spPr>
          <a:xfrm>
            <a:off x="1971825" y="3454900"/>
            <a:ext cx="7122000" cy="139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5" name="Google Shape;185;p22"/>
          <p:cNvSpPr txBox="1"/>
          <p:nvPr/>
        </p:nvSpPr>
        <p:spPr>
          <a:xfrm>
            <a:off x="1902475" y="3499050"/>
            <a:ext cx="7122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Students </a:t>
            </a: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dominate 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usage </a:t>
            </a: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for 4-6 hours per day.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Undergraduates 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use social media </a:t>
            </a: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most intensively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on a daily basis, with some even reaching 8 hours per day.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Graduate 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students are </a:t>
            </a: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relatively balanced 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(3-6 hours) and rarely exceed 7 hours per day. 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High school 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students use social media less, but </a:t>
            </a: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still significantly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up to 5 hours per day.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Social media usage has become a dominant daily routine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rather than just an additional activity.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22"/>
          <p:cNvSpPr txBox="1"/>
          <p:nvPr>
            <p:ph type="title"/>
          </p:nvPr>
        </p:nvSpPr>
        <p:spPr>
          <a:xfrm>
            <a:off x="311700" y="280650"/>
            <a:ext cx="5183700" cy="5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600">
                <a:latin typeface="Roboto"/>
                <a:ea typeface="Roboto"/>
                <a:cs typeface="Roboto"/>
                <a:sym typeface="Roboto"/>
              </a:rPr>
              <a:t>Screen Time Responden</a:t>
            </a:r>
            <a:endParaRPr b="1" sz="16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7" name="Google Shape;187;p22" title="AVG Screentime Hour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250" y="3697825"/>
            <a:ext cx="180022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2" title="icons8-time-machine-8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350" y="3379100"/>
            <a:ext cx="434600" cy="43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2" title="AVG Screentime Hours (3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8525" y="819150"/>
            <a:ext cx="6647263" cy="255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2"/>
          <p:cNvSpPr/>
          <p:nvPr/>
        </p:nvSpPr>
        <p:spPr>
          <a:xfrm>
            <a:off x="849025" y="2278950"/>
            <a:ext cx="3386700" cy="818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3" title="AVG Screentime Hours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163" y="819150"/>
            <a:ext cx="6401667" cy="255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3"/>
          <p:cNvSpPr/>
          <p:nvPr/>
        </p:nvSpPr>
        <p:spPr>
          <a:xfrm>
            <a:off x="311700" y="3542625"/>
            <a:ext cx="8469600" cy="1339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7" name="Google Shape;197;p23"/>
          <p:cNvSpPr txBox="1"/>
          <p:nvPr/>
        </p:nvSpPr>
        <p:spPr>
          <a:xfrm>
            <a:off x="523850" y="3650175"/>
            <a:ext cx="8019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AutoNum type="arabicPeriod"/>
            </a:pP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Undergraduate students 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with a relationship status of “</a:t>
            </a: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single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” or “</a:t>
            </a: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complicated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” are at risk of excessive screen time (≥5 hours/day), which can </a:t>
            </a: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potentially reduce mental health and productivity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AutoNum type="arabicPeriod"/>
            </a:pP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Undergraduates 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are the group </a:t>
            </a: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most vulnerable to excessive screen time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not high school students.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AutoNum type="arabicPeriod"/>
            </a:pP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“</a:t>
            </a: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complicated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” relationship status </a:t>
            </a: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triggers extreme screen time patterns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1"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potentially impacting mental health</a:t>
            </a:r>
            <a:r>
              <a:rPr lang="id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23"/>
          <p:cNvSpPr txBox="1"/>
          <p:nvPr>
            <p:ph type="title"/>
          </p:nvPr>
        </p:nvSpPr>
        <p:spPr>
          <a:xfrm>
            <a:off x="311700" y="280650"/>
            <a:ext cx="5183700" cy="5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600">
                <a:latin typeface="Roboto"/>
                <a:ea typeface="Roboto"/>
                <a:cs typeface="Roboto"/>
                <a:sym typeface="Roboto"/>
              </a:rPr>
              <a:t>Correlation of Relationship with Screen Time Responden</a:t>
            </a:r>
            <a:endParaRPr b="1"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23"/>
          <p:cNvSpPr/>
          <p:nvPr/>
        </p:nvSpPr>
        <p:spPr>
          <a:xfrm>
            <a:off x="1617700" y="2328325"/>
            <a:ext cx="5288700" cy="769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"/>
          <p:cNvSpPr txBox="1"/>
          <p:nvPr/>
        </p:nvSpPr>
        <p:spPr>
          <a:xfrm>
            <a:off x="3740850" y="1512750"/>
            <a:ext cx="4802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“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Moderate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” zone (3–5 hours) is actually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most prone to conflict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Conflict is not linear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with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screen time.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possible that those who are online for a very long time (&gt;5 hours) are more “passive/observing” and therefore less involved in direct conflict, while those who are online for 3–5 hours are more actively interacting.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24"/>
          <p:cNvSpPr txBox="1"/>
          <p:nvPr>
            <p:ph type="title"/>
          </p:nvPr>
        </p:nvSpPr>
        <p:spPr>
          <a:xfrm>
            <a:off x="311700" y="280650"/>
            <a:ext cx="5183700" cy="5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600">
                <a:latin typeface="Roboto"/>
                <a:ea typeface="Roboto"/>
                <a:cs typeface="Roboto"/>
                <a:sym typeface="Roboto"/>
              </a:rPr>
              <a:t>Correlation of Screen Time Responden with conflicts</a:t>
            </a:r>
            <a:endParaRPr b="1" sz="16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6" name="Google Shape;206;p24" title="Screen time vs Conflic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100" y="1088950"/>
            <a:ext cx="2283975" cy="3550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4"/>
          <p:cNvSpPr txBox="1"/>
          <p:nvPr/>
        </p:nvSpPr>
        <p:spPr>
          <a:xfrm>
            <a:off x="3740850" y="1313025"/>
            <a:ext cx="855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d" sz="1300">
                <a:latin typeface="Roboto SemiBold"/>
                <a:ea typeface="Roboto SemiBold"/>
                <a:cs typeface="Roboto SemiBold"/>
                <a:sym typeface="Roboto SemiBold"/>
              </a:rPr>
              <a:t>&gt; Insight</a:t>
            </a:r>
            <a:endParaRPr sz="1300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208" name="Google Shape;208;p24"/>
          <p:cNvSpPr txBox="1"/>
          <p:nvPr/>
        </p:nvSpPr>
        <p:spPr>
          <a:xfrm>
            <a:off x="3740850" y="2990250"/>
            <a:ext cx="1401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d" sz="1300">
                <a:latin typeface="Roboto SemiBold"/>
                <a:ea typeface="Roboto SemiBold"/>
                <a:cs typeface="Roboto SemiBold"/>
                <a:sym typeface="Roboto SemiBold"/>
              </a:rPr>
              <a:t>&gt; Recommendation</a:t>
            </a:r>
            <a:endParaRPr sz="1300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209" name="Google Shape;209;p24"/>
          <p:cNvSpPr txBox="1"/>
          <p:nvPr/>
        </p:nvSpPr>
        <p:spPr>
          <a:xfrm>
            <a:off x="3751787" y="3155184"/>
            <a:ext cx="4802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Adakan workshop tentang etika komunikasi digital dan cara mengelola emosi saat online. Fokus pada siswa dengan screen time 3–5 jam/hari.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Dorong siswa untuk lebih banyak melakukan interaksi positif, seperti kerjasama akademi, berbagi karya, atau diskusi sehat. Tingkatkan kualitas, bukan hanya kurangi waktu layar.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Gunakan alat bantu monitoring dan refleksi.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 txBox="1"/>
          <p:nvPr/>
        </p:nvSpPr>
        <p:spPr>
          <a:xfrm>
            <a:off x="3740850" y="1512750"/>
            <a:ext cx="4802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Sleep duration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is one of the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key factors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affecting mental health.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Consistently getting 7 hours 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of sleep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supports 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healthier psychological condition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(113%).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Less than 6 hours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of sleep shows the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lowest health score 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(-85%).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25"/>
          <p:cNvSpPr txBox="1"/>
          <p:nvPr>
            <p:ph type="title"/>
          </p:nvPr>
        </p:nvSpPr>
        <p:spPr>
          <a:xfrm>
            <a:off x="311700" y="280650"/>
            <a:ext cx="5623500" cy="5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822">
                <a:latin typeface="Roboto"/>
                <a:ea typeface="Roboto"/>
                <a:cs typeface="Roboto"/>
                <a:sym typeface="Roboto"/>
              </a:rPr>
              <a:t>Correlation of Screen Time Responden with Mental Health</a:t>
            </a:r>
            <a:endParaRPr b="1" sz="1822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25"/>
          <p:cNvSpPr txBox="1"/>
          <p:nvPr/>
        </p:nvSpPr>
        <p:spPr>
          <a:xfrm>
            <a:off x="3740850" y="1313025"/>
            <a:ext cx="855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d" sz="1300">
                <a:latin typeface="Roboto SemiBold"/>
                <a:ea typeface="Roboto SemiBold"/>
                <a:cs typeface="Roboto SemiBold"/>
                <a:sym typeface="Roboto SemiBold"/>
              </a:rPr>
              <a:t>&gt; Insight</a:t>
            </a:r>
            <a:endParaRPr sz="1300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217" name="Google Shape;217;p25"/>
          <p:cNvSpPr txBox="1"/>
          <p:nvPr/>
        </p:nvSpPr>
        <p:spPr>
          <a:xfrm>
            <a:off x="3740850" y="2990250"/>
            <a:ext cx="1401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d" sz="1300">
                <a:latin typeface="Roboto SemiBold"/>
                <a:ea typeface="Roboto SemiBold"/>
                <a:cs typeface="Roboto SemiBold"/>
                <a:sym typeface="Roboto SemiBold"/>
              </a:rPr>
              <a:t>&gt; Recommendation</a:t>
            </a:r>
            <a:endParaRPr sz="1300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218" name="Google Shape;218;p25"/>
          <p:cNvSpPr txBox="1"/>
          <p:nvPr/>
        </p:nvSpPr>
        <p:spPr>
          <a:xfrm>
            <a:off x="3751787" y="3155184"/>
            <a:ext cx="480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Education for students on factors that disrupt sleep (screen time &amp; sleep routines)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9" name="Google Shape;219;p25" title="Sleep vs Mental Healt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71550"/>
            <a:ext cx="3341790" cy="401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/>
          <p:cNvSpPr txBox="1"/>
          <p:nvPr/>
        </p:nvSpPr>
        <p:spPr>
          <a:xfrm>
            <a:off x="1137900" y="4047391"/>
            <a:ext cx="6868200" cy="5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9750" lIns="109750" spcFirstLastPara="1" rIns="109750" wrap="square" tIns="109750">
            <a:spAutoFit/>
          </a:bodyPr>
          <a:lstStyle/>
          <a:p>
            <a:pPr indent="-351957" lvl="0" marL="548896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1"/>
              <a:buFont typeface="Roboto"/>
              <a:buAutoNum type="arabicPeriod"/>
            </a:pPr>
            <a:r>
              <a:rPr b="1" lang="id" sz="122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strong negative correlation</a:t>
            </a:r>
            <a:r>
              <a:rPr lang="id" sz="122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between </a:t>
            </a:r>
            <a:r>
              <a:rPr b="1" lang="id" sz="122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daily usage</a:t>
            </a:r>
            <a:r>
              <a:rPr lang="id" sz="122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duration and </a:t>
            </a:r>
            <a:r>
              <a:rPr b="1" lang="id" sz="122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hours of sleep</a:t>
            </a:r>
            <a:endParaRPr b="1" sz="122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1957" lvl="0" marL="548896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1"/>
              <a:buFont typeface="Roboto"/>
              <a:buAutoNum type="arabicPeriod"/>
            </a:pPr>
            <a:r>
              <a:rPr lang="id" sz="122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b="1" lang="id" sz="122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longer a person</a:t>
            </a:r>
            <a:r>
              <a:rPr lang="id" sz="122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uses social media, the </a:t>
            </a:r>
            <a:r>
              <a:rPr b="1" lang="id" sz="122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fewer hours</a:t>
            </a:r>
            <a:r>
              <a:rPr lang="id" sz="122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of sleep they get.</a:t>
            </a:r>
            <a:endParaRPr sz="122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5" name="Google Shape;22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7900" y="999525"/>
            <a:ext cx="6470541" cy="3047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"/>
          <p:cNvSpPr txBox="1"/>
          <p:nvPr/>
        </p:nvSpPr>
        <p:spPr>
          <a:xfrm>
            <a:off x="3740850" y="1559900"/>
            <a:ext cx="4802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combination of screen use and lack of sleep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contributes to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conflict 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(score 1.0).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Low screen time and adequate sleep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help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reduce 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potential for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conflict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Groups with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inconsistent sleep/screen time patterns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remain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vulnerable 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conflict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27"/>
          <p:cNvSpPr txBox="1"/>
          <p:nvPr>
            <p:ph type="title"/>
          </p:nvPr>
        </p:nvSpPr>
        <p:spPr>
          <a:xfrm>
            <a:off x="311700" y="280650"/>
            <a:ext cx="5183700" cy="5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600">
                <a:latin typeface="Roboto"/>
                <a:ea typeface="Roboto"/>
                <a:cs typeface="Roboto"/>
                <a:sym typeface="Roboto"/>
              </a:rPr>
              <a:t>Correlation of Screen Time &amp; Time Sleep Responden with Conflicts over Social Media</a:t>
            </a:r>
            <a:endParaRPr b="1" sz="16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2" name="Google Shape;232;p27" title="Screen Time &amp; Sleep vs Conflic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375" y="908525"/>
            <a:ext cx="3315699" cy="345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7"/>
          <p:cNvSpPr txBox="1"/>
          <p:nvPr/>
        </p:nvSpPr>
        <p:spPr>
          <a:xfrm>
            <a:off x="3740850" y="1313025"/>
            <a:ext cx="855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d" sz="1300">
                <a:latin typeface="Roboto SemiBold"/>
                <a:ea typeface="Roboto SemiBold"/>
                <a:cs typeface="Roboto SemiBold"/>
                <a:sym typeface="Roboto SemiBold"/>
              </a:rPr>
              <a:t>&gt; Insight</a:t>
            </a:r>
            <a:endParaRPr sz="1300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234" name="Google Shape;234;p27"/>
          <p:cNvSpPr txBox="1"/>
          <p:nvPr/>
        </p:nvSpPr>
        <p:spPr>
          <a:xfrm>
            <a:off x="3740850" y="2990250"/>
            <a:ext cx="1401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d" sz="1300">
                <a:latin typeface="Roboto SemiBold"/>
                <a:ea typeface="Roboto SemiBold"/>
                <a:cs typeface="Roboto SemiBold"/>
                <a:sym typeface="Roboto SemiBold"/>
              </a:rPr>
              <a:t>&gt; Recommendation</a:t>
            </a:r>
            <a:endParaRPr sz="1300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235" name="Google Shape;235;p27"/>
          <p:cNvSpPr txBox="1"/>
          <p:nvPr/>
        </p:nvSpPr>
        <p:spPr>
          <a:xfrm>
            <a:off x="3751787" y="3155184"/>
            <a:ext cx="4802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Educate parents and students about screen time + sleep and how to improve sleep quality and duration Reduce excessive screen time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Provide positive alternative activities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8"/>
          <p:cNvSpPr txBox="1"/>
          <p:nvPr/>
        </p:nvSpPr>
        <p:spPr>
          <a:xfrm>
            <a:off x="311700" y="1342325"/>
            <a:ext cx="3768000" cy="2955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Conflict are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Systematic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not isolated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Strong negative correlation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between screen time &amp; sleep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Sleep 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 a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Key Mediator,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Students sleeping &lt;6H have the lowest mental health scores (-85%)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Undergraduates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especially “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single”/“complicated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” status, are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most vulnerable to conflict and anxiety.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Graduate students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show more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balance 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(3–6h usage, 7h sleep).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“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moderate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” usage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group (3–5h/day) is paradoxically most conflict-prone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possibly due to higher interaction intensity.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28"/>
          <p:cNvSpPr txBox="1"/>
          <p:nvPr>
            <p:ph type="title"/>
          </p:nvPr>
        </p:nvSpPr>
        <p:spPr>
          <a:xfrm>
            <a:off x="311700" y="751075"/>
            <a:ext cx="5183700" cy="5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400">
                <a:highlight>
                  <a:srgbClr val="F4CCCC"/>
                </a:highlight>
                <a:latin typeface="Roboto"/>
                <a:ea typeface="Roboto"/>
                <a:cs typeface="Roboto"/>
                <a:sym typeface="Roboto"/>
              </a:rPr>
              <a:t>Summary Insight &amp; Recommendation</a:t>
            </a:r>
            <a:endParaRPr b="1" sz="1400">
              <a:highlight>
                <a:srgbClr val="F4CCC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28"/>
          <p:cNvSpPr txBox="1"/>
          <p:nvPr>
            <p:ph idx="4294967295" type="ctrTitle"/>
          </p:nvPr>
        </p:nvSpPr>
        <p:spPr>
          <a:xfrm>
            <a:off x="7307896" y="751069"/>
            <a:ext cx="1348200" cy="34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800">
                <a:solidFill>
                  <a:srgbClr val="FF0000"/>
                </a:solidFill>
              </a:rPr>
              <a:t>_Calm </a:t>
            </a:r>
            <a:r>
              <a:rPr b="1" lang="id" sz="1800">
                <a:solidFill>
                  <a:srgbClr val="FF9900"/>
                </a:solidFill>
              </a:rPr>
              <a:t>Space_</a:t>
            </a:r>
            <a:endParaRPr sz="1800"/>
          </a:p>
        </p:txBody>
      </p:sp>
      <p:sp>
        <p:nvSpPr>
          <p:cNvPr id="243" name="Google Shape;243;p28"/>
          <p:cNvSpPr txBox="1"/>
          <p:nvPr/>
        </p:nvSpPr>
        <p:spPr>
          <a:xfrm>
            <a:off x="4888100" y="1351175"/>
            <a:ext cx="3768000" cy="27705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180000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Focus Q2 2025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on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sleep extension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(+30 min avg) and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screen time moderation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Target undergraduates 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with “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single/complicated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” status as high-risk group.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Deploy gamified 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digital detox campaigns.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Provide institutional wellness dashboards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to demonstrate progress.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Expected outcome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–15% 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conflict reduction, lower anxiety prevalence, and stronger Calm Space brand as a digital wellness solution in education.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9"/>
          <p:cNvSpPr txBox="1"/>
          <p:nvPr>
            <p:ph type="title"/>
          </p:nvPr>
        </p:nvSpPr>
        <p:spPr>
          <a:xfrm>
            <a:off x="239575" y="197080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3000" u="sng">
                <a:latin typeface="Roboto SemiBold"/>
                <a:ea typeface="Roboto SemiBold"/>
                <a:cs typeface="Roboto SemiBold"/>
                <a:sym typeface="Roboto SemiBold"/>
                <a:hlinkClick r:id="rId3"/>
              </a:rPr>
              <a:t>Dashboard</a:t>
            </a:r>
            <a:endParaRPr sz="3000" u="sng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id="249" name="Google Shape;249;p29" title="Dashboard 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8725" y="764325"/>
            <a:ext cx="6436899" cy="361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0"/>
          <p:cNvSpPr txBox="1"/>
          <p:nvPr>
            <p:ph type="title"/>
          </p:nvPr>
        </p:nvSpPr>
        <p:spPr>
          <a:xfrm>
            <a:off x="24510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6000">
                <a:latin typeface="Roboto Black"/>
                <a:ea typeface="Roboto Black"/>
                <a:cs typeface="Roboto Black"/>
                <a:sym typeface="Roboto Black"/>
              </a:rPr>
              <a:t>QnA</a:t>
            </a:r>
            <a:endParaRPr sz="6000"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55" name="Google Shape;255;p30"/>
          <p:cNvSpPr/>
          <p:nvPr/>
        </p:nvSpPr>
        <p:spPr>
          <a:xfrm>
            <a:off x="0" y="3006450"/>
            <a:ext cx="9144000" cy="2137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1"/>
          <p:cNvSpPr txBox="1"/>
          <p:nvPr>
            <p:ph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6800" u="sng"/>
              <a:t>Thank You</a:t>
            </a:r>
            <a:endParaRPr sz="6800" u="sng"/>
          </a:p>
        </p:txBody>
      </p:sp>
      <p:sp>
        <p:nvSpPr>
          <p:cNvPr id="261" name="Google Shape;261;p31"/>
          <p:cNvSpPr txBox="1"/>
          <p:nvPr>
            <p:ph idx="4294967295" type="subTitle"/>
          </p:nvPr>
        </p:nvSpPr>
        <p:spPr>
          <a:xfrm>
            <a:off x="2989650" y="2918351"/>
            <a:ext cx="3164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400">
                <a:uFill>
                  <a:noFill/>
                </a:uFill>
                <a:hlinkClick r:id="rId3"/>
              </a:rPr>
              <a:t>Mikhael Putra Iswanto</a:t>
            </a:r>
            <a:endParaRPr b="1"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400"/>
              <a:t>RevoU - FSDA Madrid batch JUN25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100">
                <a:solidFill>
                  <a:srgbClr val="FF0000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</a:t>
            </a:r>
            <a:r>
              <a:rPr lang="id" sz="1100"/>
              <a:t> </a:t>
            </a:r>
            <a:r>
              <a:rPr b="1" lang="id" sz="1100">
                <a:solidFill>
                  <a:srgbClr val="1474AF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Collab</a:t>
            </a:r>
            <a:r>
              <a:rPr lang="id" sz="1100"/>
              <a:t> </a:t>
            </a:r>
            <a:r>
              <a:rPr b="1" lang="id" sz="1100">
                <a:solidFill>
                  <a:srgbClr val="FF9900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Tableau</a:t>
            </a:r>
            <a:r>
              <a:rPr lang="id" sz="1100">
                <a:solidFill>
                  <a:srgbClr val="FF9900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id" sz="1100">
                <a:solidFill>
                  <a:srgbClr val="1474AF"/>
                </a:solidFill>
                <a:uFill>
                  <a:noFill/>
                </a:u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</a:t>
            </a:r>
            <a:endParaRPr b="1" sz="1100">
              <a:solidFill>
                <a:srgbClr val="1474AF"/>
              </a:solidFill>
            </a:endParaRPr>
          </a:p>
        </p:txBody>
      </p:sp>
      <p:sp>
        <p:nvSpPr>
          <p:cNvPr id="262" name="Google Shape;262;p31"/>
          <p:cNvSpPr txBox="1"/>
          <p:nvPr/>
        </p:nvSpPr>
        <p:spPr>
          <a:xfrm>
            <a:off x="1241000" y="2456650"/>
            <a:ext cx="666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Exploring Students' Social Media Addiction: Survey Insights from Q1 2025</a:t>
            </a:r>
            <a:endParaRPr sz="1800">
              <a:solidFill>
                <a:schemeClr val="dk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2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d" sz="7200">
                <a:solidFill>
                  <a:srgbClr val="1474AF"/>
                </a:solidFill>
              </a:rPr>
              <a:t>APPENDIX</a:t>
            </a:r>
            <a:endParaRPr b="1" i="1" sz="7200">
              <a:solidFill>
                <a:srgbClr val="1474AF"/>
              </a:solidFill>
            </a:endParaRPr>
          </a:p>
        </p:txBody>
      </p:sp>
      <p:sp>
        <p:nvSpPr>
          <p:cNvPr id="268" name="Google Shape;268;p32"/>
          <p:cNvSpPr txBox="1"/>
          <p:nvPr/>
        </p:nvSpPr>
        <p:spPr>
          <a:xfrm>
            <a:off x="4940100" y="2993100"/>
            <a:ext cx="163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800" u="sng">
                <a:solidFill>
                  <a:srgbClr val="FF9900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Python</a:t>
            </a:r>
            <a:endParaRPr b="1" sz="1800">
              <a:solidFill>
                <a:srgbClr val="FF99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3"/>
          <p:cNvSpPr txBox="1"/>
          <p:nvPr/>
        </p:nvSpPr>
        <p:spPr>
          <a:xfrm>
            <a:off x="70218" y="3199350"/>
            <a:ext cx="3988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9750" lIns="109750" spcFirstLastPara="1" rIns="109750" wrap="square" tIns="109750">
            <a:spAutoFit/>
          </a:bodyPr>
          <a:lstStyle/>
          <a:p>
            <a:pPr indent="-344298" lvl="0" marL="548896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id" sz="1100">
                <a:solidFill>
                  <a:schemeClr val="dk1"/>
                </a:solidFill>
              </a:rPr>
              <a:t>Excessive social media use (more than 5 hours/day) is </a:t>
            </a:r>
            <a:r>
              <a:rPr b="1" lang="id" sz="1100">
                <a:solidFill>
                  <a:schemeClr val="dk1"/>
                </a:solidFill>
              </a:rPr>
              <a:t>strongly correlated with poorer mental health.</a:t>
            </a:r>
            <a:endParaRPr b="1" sz="1100">
              <a:solidFill>
                <a:schemeClr val="dk1"/>
              </a:solidFill>
            </a:endParaRPr>
          </a:p>
          <a:p>
            <a:pPr indent="-344298" lvl="0" marL="54889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id" sz="1100">
                <a:solidFill>
                  <a:schemeClr val="dk1"/>
                </a:solidFill>
              </a:rPr>
              <a:t>The most significant impact is seen among </a:t>
            </a:r>
            <a:r>
              <a:rPr b="1" lang="id" sz="1100">
                <a:solidFill>
                  <a:schemeClr val="dk1"/>
                </a:solidFill>
              </a:rPr>
              <a:t>low </a:t>
            </a:r>
            <a:r>
              <a:rPr lang="id" sz="1100">
                <a:solidFill>
                  <a:schemeClr val="dk1"/>
                </a:solidFill>
              </a:rPr>
              <a:t>and </a:t>
            </a:r>
            <a:r>
              <a:rPr b="1" lang="id" sz="1100">
                <a:solidFill>
                  <a:schemeClr val="dk1"/>
                </a:solidFill>
              </a:rPr>
              <a:t>moderate </a:t>
            </a:r>
            <a:r>
              <a:rPr lang="id" sz="1100">
                <a:solidFill>
                  <a:schemeClr val="dk1"/>
                </a:solidFill>
              </a:rPr>
              <a:t>users, while </a:t>
            </a:r>
            <a:r>
              <a:rPr b="1" lang="id" sz="1100">
                <a:solidFill>
                  <a:schemeClr val="dk1"/>
                </a:solidFill>
              </a:rPr>
              <a:t>high </a:t>
            </a:r>
            <a:r>
              <a:rPr lang="id" sz="1100">
                <a:solidFill>
                  <a:schemeClr val="dk1"/>
                </a:solidFill>
              </a:rPr>
              <a:t>users are already at a low point and do not deteriorate much further.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74" name="Google Shape;27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301" y="899325"/>
            <a:ext cx="4327711" cy="21604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5" name="Google Shape;275;p33"/>
          <p:cNvSpPr txBox="1"/>
          <p:nvPr/>
        </p:nvSpPr>
        <p:spPr>
          <a:xfrm>
            <a:off x="4675893" y="3199350"/>
            <a:ext cx="3988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9750" lIns="109750" spcFirstLastPara="1" rIns="109750" wrap="square" tIns="109750">
            <a:spAutoFit/>
          </a:bodyPr>
          <a:lstStyle/>
          <a:p>
            <a:pPr indent="-344298" lvl="0" marL="548896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id" sz="1100">
                <a:solidFill>
                  <a:schemeClr val="dk1"/>
                </a:solidFill>
              </a:rPr>
              <a:t>Positive correlation: the higher the daily use of social media, the higher the conflict on social media</a:t>
            </a:r>
            <a:endParaRPr sz="1100">
              <a:solidFill>
                <a:schemeClr val="dk1"/>
              </a:solidFill>
            </a:endParaRPr>
          </a:p>
          <a:p>
            <a:pPr indent="-344298" lvl="0" marL="54889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id" sz="1100">
                <a:solidFill>
                  <a:schemeClr val="dk1"/>
                </a:solidFill>
              </a:rPr>
              <a:t>Relationship status is related to this correlation, with the highest conflict occurring among those with a “</a:t>
            </a:r>
            <a:r>
              <a:rPr b="1" lang="id" sz="1100">
                <a:solidFill>
                  <a:schemeClr val="dk1"/>
                </a:solidFill>
              </a:rPr>
              <a:t>Complicated</a:t>
            </a:r>
            <a:r>
              <a:rPr lang="id" sz="1100">
                <a:solidFill>
                  <a:schemeClr val="dk1"/>
                </a:solidFill>
              </a:rPr>
              <a:t>” status, followed by “</a:t>
            </a:r>
            <a:r>
              <a:rPr b="1" lang="id" sz="1100">
                <a:solidFill>
                  <a:schemeClr val="dk1"/>
                </a:solidFill>
              </a:rPr>
              <a:t>Single</a:t>
            </a:r>
            <a:r>
              <a:rPr lang="id" sz="1100">
                <a:solidFill>
                  <a:schemeClr val="dk1"/>
                </a:solidFill>
              </a:rPr>
              <a:t>,” and the lowest among those “</a:t>
            </a:r>
            <a:r>
              <a:rPr b="1" lang="id" sz="1100">
                <a:solidFill>
                  <a:schemeClr val="dk1"/>
                </a:solidFill>
              </a:rPr>
              <a:t>in a relationship”.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276" name="Google Shape;27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2160" y="899325"/>
            <a:ext cx="4509342" cy="2147624"/>
          </a:xfrm>
          <a:prstGeom prst="rect">
            <a:avLst/>
          </a:prstGeom>
          <a:noFill/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7" name="Google Shape;277;p33"/>
          <p:cNvSpPr txBox="1"/>
          <p:nvPr/>
        </p:nvSpPr>
        <p:spPr>
          <a:xfrm>
            <a:off x="2599050" y="328600"/>
            <a:ext cx="3945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6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Correlation</a:t>
            </a:r>
            <a:endParaRPr b="1" sz="16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4"/>
          <p:cNvSpPr txBox="1"/>
          <p:nvPr/>
        </p:nvSpPr>
        <p:spPr>
          <a:xfrm>
            <a:off x="319100" y="3346650"/>
            <a:ext cx="8520600" cy="17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9750" lIns="109750" spcFirstLastPara="1" rIns="109750" wrap="square" tIns="109750">
            <a:spAutoFit/>
          </a:bodyPr>
          <a:lstStyle/>
          <a:p>
            <a:pPr indent="-344298" lvl="0" marL="548896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id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USA and India</a:t>
            </a:r>
            <a:r>
              <a:rPr lang="id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have the highest daily social media usage (&gt;6 hours/day), but high usage </a:t>
            </a:r>
            <a:r>
              <a:rPr b="1" lang="id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does not always correlate linearly with conflict. 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4298" lvl="0" marL="54889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id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example, Bangladesh and Pakistan have relatively lower usage hours than the USA, but the resulting conflict is quite high.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4298" lvl="0" marL="54889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id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majority of interactions on social media trigger high conflict (&gt;3). This indicates a </a:t>
            </a:r>
            <a:r>
              <a:rPr b="1" lang="id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high potential for negative impacts on mental health</a:t>
            </a:r>
            <a:r>
              <a:rPr lang="id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especially in countries with high usage hours.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4298" lvl="0" marL="54889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id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higher the usage, the higher the conflicts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4298" lvl="0" marL="54889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id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majority of respondents</a:t>
            </a:r>
            <a:r>
              <a:rPr lang="id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were not low users, but </a:t>
            </a:r>
            <a:r>
              <a:rPr b="1" lang="id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moderate/high users,</a:t>
            </a:r>
            <a:r>
              <a:rPr lang="id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and more than half had been affected by the conflict.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" name="Google Shape;283;p34"/>
          <p:cNvSpPr txBox="1"/>
          <p:nvPr/>
        </p:nvSpPr>
        <p:spPr>
          <a:xfrm>
            <a:off x="319100" y="374175"/>
            <a:ext cx="394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Results Average Daily Usage per Country</a:t>
            </a:r>
            <a:endParaRPr b="1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4" name="Google Shape;284;p34" title="Clustered Usage _ Count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5338" y="865462"/>
            <a:ext cx="4771000" cy="2385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4" title="Stacked Bar_ High Conflict Flag by Usage Categor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4038" y="908425"/>
            <a:ext cx="1654618" cy="2299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5"/>
          <p:cNvSpPr txBox="1"/>
          <p:nvPr/>
        </p:nvSpPr>
        <p:spPr>
          <a:xfrm>
            <a:off x="3719578" y="1791188"/>
            <a:ext cx="4688400" cy="14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9750" lIns="109750" spcFirstLastPara="1" rIns="109750" wrap="square" tIns="109750">
            <a:spAutoFit/>
          </a:bodyPr>
          <a:lstStyle/>
          <a:p>
            <a:pPr indent="-350648" lvl="0" marL="548896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High school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students were the respondents most affected by high conflict, even at moderate usage levels.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0648" lvl="0" marL="54889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Undergraduate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conflict was high at high usage levels, but more balanced at moderate usage levels.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0648" lvl="0" marL="54889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Graduate 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conflict was still significant, but more controlled than at the high school level.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1" name="Google Shape;291;p35"/>
          <p:cNvSpPr txBox="1"/>
          <p:nvPr/>
        </p:nvSpPr>
        <p:spPr>
          <a:xfrm>
            <a:off x="3832925" y="1252825"/>
            <a:ext cx="4869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3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In the first quarter, social media addiction among university and high school students was high and led to social conflicts</a:t>
            </a:r>
            <a:endParaRPr sz="13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2" name="Google Shape;292;p35" title="Stacked Bar_ High Conflict Flag by Usage Category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975" y="774375"/>
            <a:ext cx="3015584" cy="3902501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5"/>
          <p:cNvSpPr txBox="1"/>
          <p:nvPr/>
        </p:nvSpPr>
        <p:spPr>
          <a:xfrm>
            <a:off x="397600" y="374163"/>
            <a:ext cx="751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Results by Academic Level</a:t>
            </a:r>
            <a:endParaRPr b="1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