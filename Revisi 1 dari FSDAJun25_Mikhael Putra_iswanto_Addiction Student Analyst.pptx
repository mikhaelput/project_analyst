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Roboto ExtraBold"/>
      <p:bold r:id="rId35"/>
      <p:boldItalic r:id="rId36"/>
    </p:embeddedFont>
    <p:embeddedFont>
      <p:font typeface="Roboto Black"/>
      <p:bold r:id="rId37"/>
      <p:boldItalic r:id="rId38"/>
    </p:embeddedFont>
    <p:embeddedFont>
      <p:font typeface="Economica"/>
      <p:regular r:id="rId39"/>
      <p:bold r:id="rId40"/>
      <p:italic r:id="rId41"/>
      <p:boldItalic r:id="rId42"/>
    </p:embeddedFont>
    <p:embeddedFont>
      <p:font typeface="Roboto"/>
      <p:regular r:id="rId43"/>
      <p:bold r:id="rId44"/>
      <p:italic r:id="rId45"/>
      <p:boldItalic r:id="rId46"/>
    </p:embeddedFont>
    <p:embeddedFont>
      <p:font typeface="PT Sans Narrow"/>
      <p:regular r:id="rId47"/>
      <p:bold r:id="rId48"/>
    </p:embeddedFont>
    <p:embeddedFont>
      <p:font typeface="Roboto SemiBold"/>
      <p:regular r:id="rId49"/>
      <p:bold r:id="rId50"/>
      <p:italic r:id="rId51"/>
      <p:boldItalic r:id="rId52"/>
    </p:embeddedFont>
    <p:embeddedFont>
      <p:font typeface="Roboto Light"/>
      <p:regular r:id="rId53"/>
      <p:bold r:id="rId54"/>
      <p:italic r:id="rId55"/>
      <p:boldItalic r:id="rId56"/>
    </p:embeddedFont>
    <p:embeddedFont>
      <p:font typeface="Open Sans"/>
      <p:regular r:id="rId57"/>
      <p:bold r:id="rId58"/>
      <p:italic r:id="rId59"/>
      <p:boldItalic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AF95292-2B32-4739-8E17-B6C0FC8E13AF}">
  <a:tblStyle styleId="{AAF95292-2B32-4739-8E17-B6C0FC8E13A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Economica-bold.fntdata"/><Relationship Id="rId42" Type="http://schemas.openxmlformats.org/officeDocument/2006/relationships/font" Target="fonts/Economica-boldItalic.fntdata"/><Relationship Id="rId41" Type="http://schemas.openxmlformats.org/officeDocument/2006/relationships/font" Target="fonts/Economica-italic.fntdata"/><Relationship Id="rId44" Type="http://schemas.openxmlformats.org/officeDocument/2006/relationships/font" Target="fonts/Roboto-bold.fntdata"/><Relationship Id="rId43" Type="http://schemas.openxmlformats.org/officeDocument/2006/relationships/font" Target="fonts/Roboto-regular.fntdata"/><Relationship Id="rId46" Type="http://schemas.openxmlformats.org/officeDocument/2006/relationships/font" Target="fonts/Roboto-boldItalic.fntdata"/><Relationship Id="rId45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PTSansNarrow-bold.fntdata"/><Relationship Id="rId47" Type="http://schemas.openxmlformats.org/officeDocument/2006/relationships/font" Target="fonts/PTSansNarrow-regular.fntdata"/><Relationship Id="rId49" Type="http://schemas.openxmlformats.org/officeDocument/2006/relationships/font" Target="fonts/Roboto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font" Target="fonts/RobotoExtraBold-bold.fntdata"/><Relationship Id="rId34" Type="http://schemas.openxmlformats.org/officeDocument/2006/relationships/slide" Target="slides/slide29.xml"/><Relationship Id="rId37" Type="http://schemas.openxmlformats.org/officeDocument/2006/relationships/font" Target="fonts/RobotoBlack-bold.fntdata"/><Relationship Id="rId36" Type="http://schemas.openxmlformats.org/officeDocument/2006/relationships/font" Target="fonts/RobotoExtraBold-boldItalic.fntdata"/><Relationship Id="rId39" Type="http://schemas.openxmlformats.org/officeDocument/2006/relationships/font" Target="fonts/Economica-regular.fntdata"/><Relationship Id="rId38" Type="http://schemas.openxmlformats.org/officeDocument/2006/relationships/font" Target="fonts/RobotoBlack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OpenSans-bold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SemiBold-italic.fntdata"/><Relationship Id="rId50" Type="http://schemas.openxmlformats.org/officeDocument/2006/relationships/font" Target="fonts/RobotoSemiBold-bold.fntdata"/><Relationship Id="rId53" Type="http://schemas.openxmlformats.org/officeDocument/2006/relationships/font" Target="fonts/RobotoLight-regular.fntdata"/><Relationship Id="rId52" Type="http://schemas.openxmlformats.org/officeDocument/2006/relationships/font" Target="fonts/RobotoSemiBold-boldItalic.fntdata"/><Relationship Id="rId11" Type="http://schemas.openxmlformats.org/officeDocument/2006/relationships/slide" Target="slides/slide6.xml"/><Relationship Id="rId55" Type="http://schemas.openxmlformats.org/officeDocument/2006/relationships/font" Target="fonts/RobotoLight-italic.fntdata"/><Relationship Id="rId10" Type="http://schemas.openxmlformats.org/officeDocument/2006/relationships/slide" Target="slides/slide5.xml"/><Relationship Id="rId54" Type="http://schemas.openxmlformats.org/officeDocument/2006/relationships/font" Target="fonts/RobotoLight-bold.fntdata"/><Relationship Id="rId13" Type="http://schemas.openxmlformats.org/officeDocument/2006/relationships/slide" Target="slides/slide8.xml"/><Relationship Id="rId57" Type="http://schemas.openxmlformats.org/officeDocument/2006/relationships/font" Target="fonts/OpenSans-regular.fntdata"/><Relationship Id="rId12" Type="http://schemas.openxmlformats.org/officeDocument/2006/relationships/slide" Target="slides/slide7.xml"/><Relationship Id="rId56" Type="http://schemas.openxmlformats.org/officeDocument/2006/relationships/font" Target="fonts/RobotoLight-boldItalic.fntdata"/><Relationship Id="rId15" Type="http://schemas.openxmlformats.org/officeDocument/2006/relationships/slide" Target="slides/slide10.xml"/><Relationship Id="rId59" Type="http://schemas.openxmlformats.org/officeDocument/2006/relationships/font" Target="fonts/OpenSans-italic.fntdata"/><Relationship Id="rId14" Type="http://schemas.openxmlformats.org/officeDocument/2006/relationships/slide" Target="slides/slide9.xml"/><Relationship Id="rId58" Type="http://schemas.openxmlformats.org/officeDocument/2006/relationships/font" Target="fonts/OpenSans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817bed5e1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817bed5e1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17bed5e1b_0_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817bed5e1b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17bed5e1b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817bed5e1b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17bed5e1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817bed5e1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17bed5e1b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817bed5e1b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17bed5e1b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817bed5e1b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eac97e838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eac97e838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817bed5e1b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817bed5e1b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817bed5e1b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817bed5e1b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817bed5e1b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817bed5e1b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81a3dc163f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81a3dc163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817bed5e1b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817bed5e1b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8a5bc3af54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8a5bc3af54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817bed5e1b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817bed5e1b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817bed5e1b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817bed5e1b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817bed5e1b_0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817bed5e1b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819584f03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819584f03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817bed5e1b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817bed5e1b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817bed5e1b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817bed5e1b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817bed5e1b_0_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817bed5e1b_0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842f98d79e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842f98d79e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842f98d79e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842f98d79e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8a5bc3af54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38a5bc3af54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80d1bbcbd4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380d1bbcbd4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8a5bc3af54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38a5bc3af54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8a32bf02f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38a32bf02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817bed5e1b_0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3817bed5e1b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8a5bc3af54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8a5bc3af54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8a5bc3af54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38a5bc3af54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hyperlink" Target="https://www.linkedin.com/in/mikhael-putra-iswanto-a8051876/" TargetMode="External"/><Relationship Id="rId5" Type="http://schemas.openxmlformats.org/officeDocument/2006/relationships/hyperlink" Target="https://www.kaggle.com/datasets/adilshamim8/social-media-addiction-vs-relationships/data" TargetMode="External"/><Relationship Id="rId6" Type="http://schemas.openxmlformats.org/officeDocument/2006/relationships/hyperlink" Target="https://colab.research.google.com/drive/1sXn4VVfA47JhnV46yP7HdwzTUKRAdd66?usp=sharing" TargetMode="External"/><Relationship Id="rId7" Type="http://schemas.openxmlformats.org/officeDocument/2006/relationships/hyperlink" Target="https://public.tableau.com/views/Addicttion_DEEP_Visualization/Dashboard1?:language=en-US&amp;publish=yes&amp;:sid=&amp;:redirect=auth&amp;:display_count=n&amp;:origin=viz_share_link" TargetMode="External"/><Relationship Id="rId8" Type="http://schemas.openxmlformats.org/officeDocument/2006/relationships/hyperlink" Target="https://docs.google.com/presentation/d/1OmAvVPz4u-FzwXbqE1LJC5poNU6H6q2YqzcXRPqGNkA/edit?usp=sharing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kaggle.com/datasets/adilshamim8/social-media-addiction-vs-relationships/data" TargetMode="External"/><Relationship Id="rId4" Type="http://schemas.openxmlformats.org/officeDocument/2006/relationships/image" Target="../media/image18.png"/><Relationship Id="rId5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hyperlink" Target="https://whimsical.com/deep-63nANp1FyidaxXFJ2YxMrA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nhlbi.nih.gov/health/sleep/how-much-sleep#:~:text=Experts%20recommend%20that%20adults%20sleep,or%20more%20hours%20a%20night." TargetMode="External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prodiadigital.com/id/artikel/apa-itu-screen-time-dan-panduannya-untuk-anak" TargetMode="External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Relationship Id="rId4" Type="http://schemas.openxmlformats.org/officeDocument/2006/relationships/image" Target="../media/image7.png"/><Relationship Id="rId5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Relationship Id="rId4" Type="http://schemas.openxmlformats.org/officeDocument/2006/relationships/image" Target="../media/image2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public.tableau.com/views/Addicttion_DEEP_Visualization/Dashboard2?:language=en-US&amp;publish=yes&amp;:sid=&amp;:redirect=auth&amp;:display_count=n&amp;:origin=viz_share_link" TargetMode="External"/><Relationship Id="rId4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www.linkedin.com/in/mikhael-putra-iswanto-a8051876/" TargetMode="External"/><Relationship Id="rId4" Type="http://schemas.openxmlformats.org/officeDocument/2006/relationships/hyperlink" Target="https://www.kaggle.com/datasets/adilshamim8/social-media-addiction-vs-relationships/data" TargetMode="External"/><Relationship Id="rId5" Type="http://schemas.openxmlformats.org/officeDocument/2006/relationships/hyperlink" Target="https://colab.research.google.com/drive/1sXn4VVfA47JhnV46yP7HdwzTUKRAdd66?usp=sharing" TargetMode="External"/><Relationship Id="rId6" Type="http://schemas.openxmlformats.org/officeDocument/2006/relationships/hyperlink" Target="https://public.tableau.com/views/Addicttion_DEEP_Visualization/Dashboard1?:language=en-US&amp;publish=yes&amp;:sid=&amp;:redirect=auth&amp;:display_count=n&amp;:origin=viz_share_link" TargetMode="External"/><Relationship Id="rId7" Type="http://schemas.openxmlformats.org/officeDocument/2006/relationships/hyperlink" Target="https://public.tableau.com/views/Addicttion_DEEP_Visualization/Dashboard1?:language=en-US&amp;publish=yes&amp;:sid=&amp;:redirect=auth&amp;:display_count=n&amp;:origin=viz_share_link" TargetMode="External"/><Relationship Id="rId8" Type="http://schemas.openxmlformats.org/officeDocument/2006/relationships/hyperlink" Target="https://docs.google.com/presentation/d/1OmAvVPz4u-FzwXbqE1LJC5poNU6H6q2YqzcXRPqGNkA/edit?usp=sharing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colab.research.google.com/drive/1sXn4VVfA47JhnV46yP7HdwzTUKRAdd66?usp=sharing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1.png"/><Relationship Id="rId4" Type="http://schemas.openxmlformats.org/officeDocument/2006/relationships/image" Target="../media/image2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idx="4294967295" type="ctrTitle"/>
          </p:nvPr>
        </p:nvSpPr>
        <p:spPr>
          <a:xfrm>
            <a:off x="303925" y="270350"/>
            <a:ext cx="26172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3600">
                <a:solidFill>
                  <a:srgbClr val="FF0000"/>
                </a:solidFill>
              </a:rPr>
              <a:t>_Calm </a:t>
            </a:r>
            <a:r>
              <a:rPr b="1" lang="id" sz="3600">
                <a:solidFill>
                  <a:srgbClr val="FF9900"/>
                </a:solidFill>
              </a:rPr>
              <a:t>Space_</a:t>
            </a:r>
            <a:endParaRPr sz="3600"/>
          </a:p>
        </p:txBody>
      </p:sp>
      <p:pic>
        <p:nvPicPr>
          <p:cNvPr id="63" name="Google Shape;63;p13" title="Screenshot 2025-09-21 0926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925" y="1607700"/>
            <a:ext cx="3848100" cy="34480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>
            <p:ph idx="4294967295" type="ctrTitle"/>
          </p:nvPr>
        </p:nvSpPr>
        <p:spPr>
          <a:xfrm>
            <a:off x="4299400" y="1727475"/>
            <a:ext cx="4265400" cy="554100"/>
          </a:xfrm>
          <a:prstGeom prst="rect">
            <a:avLst/>
          </a:prstGeom>
        </p:spPr>
        <p:txBody>
          <a:bodyPr anchorCtr="0" anchor="b" bIns="72225" lIns="72225" spcFirstLastPara="1" rIns="72225" wrap="square" tIns="72225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82"/>
              <a:buFont typeface="Arial"/>
              <a:buNone/>
            </a:pPr>
            <a:r>
              <a:rPr b="1" lang="id" sz="2800">
                <a:latin typeface="Roboto"/>
                <a:ea typeface="Roboto"/>
                <a:cs typeface="Roboto"/>
                <a:sym typeface="Roboto"/>
              </a:rPr>
              <a:t>Social Media Addiction &amp; Student Conflicts</a:t>
            </a:r>
            <a:endParaRPr b="1" sz="2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" name="Google Shape;65;p13"/>
          <p:cNvSpPr txBox="1"/>
          <p:nvPr>
            <p:ph idx="4294967295" type="subTitle"/>
          </p:nvPr>
        </p:nvSpPr>
        <p:spPr>
          <a:xfrm>
            <a:off x="5208025" y="3788001"/>
            <a:ext cx="3164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400"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/>
              </a:rPr>
              <a:t>Mikhael Putra Iswanto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400">
                <a:latin typeface="Roboto"/>
                <a:ea typeface="Roboto"/>
                <a:cs typeface="Roboto"/>
                <a:sym typeface="Roboto"/>
              </a:rPr>
              <a:t>RevoU - FSDA Madrid batch JUN25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100">
                <a:solidFill>
                  <a:srgbClr val="FF0000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id" sz="1100">
                <a:solidFill>
                  <a:srgbClr val="1474AF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Collab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id" sz="1100">
                <a:solidFill>
                  <a:srgbClr val="FF9900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Tableau </a:t>
            </a:r>
            <a:r>
              <a:rPr lang="id" sz="1100">
                <a:solidFill>
                  <a:srgbClr val="1474AF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</a:t>
            </a:r>
            <a:endParaRPr sz="1100">
              <a:solidFill>
                <a:srgbClr val="1474A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4399189" y="2246537"/>
            <a:ext cx="436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400">
                <a:solidFill>
                  <a:srgbClr val="1474AF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Survey Insights Q1 2025</a:t>
            </a:r>
            <a:endParaRPr sz="2400"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4475650" y="2642275"/>
            <a:ext cx="3912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id" sz="1100">
                <a:solidFill>
                  <a:schemeClr val="dk1"/>
                </a:solidFill>
              </a:rPr>
              <a:t>“High screen time, low sleep, higher conflict risk.”</a:t>
            </a:r>
            <a:endParaRPr b="1"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idx="4294967295" type="ctrTitle"/>
          </p:nvPr>
        </p:nvSpPr>
        <p:spPr>
          <a:xfrm>
            <a:off x="303925" y="270350"/>
            <a:ext cx="26172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3600">
                <a:solidFill>
                  <a:srgbClr val="FF0000"/>
                </a:solidFill>
              </a:rPr>
              <a:t>_Calm </a:t>
            </a:r>
            <a:r>
              <a:rPr b="1" lang="id" sz="3600">
                <a:solidFill>
                  <a:srgbClr val="FF9900"/>
                </a:solidFill>
              </a:rPr>
              <a:t>Space_</a:t>
            </a:r>
            <a:endParaRPr sz="3600"/>
          </a:p>
        </p:txBody>
      </p:sp>
      <p:sp>
        <p:nvSpPr>
          <p:cNvPr id="73" name="Google Shape;73;p14"/>
          <p:cNvSpPr txBox="1"/>
          <p:nvPr/>
        </p:nvSpPr>
        <p:spPr>
          <a:xfrm>
            <a:off x="451052" y="1160275"/>
            <a:ext cx="3804000" cy="3456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7750" lIns="97750" spcFirstLastPara="1" rIns="97750" wrap="square" tIns="97750">
            <a:sp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8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707875" y="1209925"/>
            <a:ext cx="3654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600">
                <a:solidFill>
                  <a:srgbClr val="1474AF"/>
                </a:solidFill>
                <a:latin typeface="Roboto"/>
                <a:ea typeface="Roboto"/>
                <a:cs typeface="Roboto"/>
                <a:sym typeface="Roboto"/>
              </a:rPr>
              <a:t>Summary Executive</a:t>
            </a:r>
            <a:endParaRPr sz="1600"/>
          </a:p>
        </p:txBody>
      </p:sp>
      <p:sp>
        <p:nvSpPr>
          <p:cNvPr id="75" name="Google Shape;75;p14"/>
          <p:cNvSpPr txBox="1"/>
          <p:nvPr/>
        </p:nvSpPr>
        <p:spPr>
          <a:xfrm>
            <a:off x="1169725" y="1869125"/>
            <a:ext cx="2226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id">
                <a:latin typeface="Roboto SemiBold"/>
                <a:ea typeface="Roboto SemiBold"/>
                <a:cs typeface="Roboto SemiBold"/>
                <a:sym typeface="Roboto SemiBold"/>
              </a:rPr>
              <a:t>1</a:t>
            </a:r>
            <a:r>
              <a:rPr i="1" lang="id">
                <a:latin typeface="Roboto SemiBold"/>
                <a:ea typeface="Roboto SemiBold"/>
                <a:cs typeface="Roboto SemiBold"/>
                <a:sym typeface="Roboto SemiBold"/>
              </a:rPr>
              <a:t> Problem</a:t>
            </a:r>
            <a:endParaRPr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5286150" y="1869125"/>
            <a:ext cx="2226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id">
                <a:latin typeface="Roboto SemiBold"/>
                <a:ea typeface="Roboto SemiBold"/>
                <a:cs typeface="Roboto SemiBold"/>
                <a:sym typeface="Roboto SemiBold"/>
              </a:rPr>
              <a:t>2</a:t>
            </a:r>
            <a:r>
              <a:rPr i="1" lang="id">
                <a:latin typeface="Roboto SemiBold"/>
                <a:ea typeface="Roboto SemiBold"/>
                <a:cs typeface="Roboto SemiBold"/>
                <a:sym typeface="Roboto SemiBold"/>
              </a:rPr>
              <a:t> Objective</a:t>
            </a:r>
            <a:endParaRPr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1169725" y="2160875"/>
            <a:ext cx="3323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Within 6 months, Calm Space aims to cut student conflicts from social media by 15% by improving sleep (+30 minutes) and reducing anxiety</a:t>
            </a:r>
            <a:endParaRPr sz="12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5286150" y="2160875"/>
            <a:ext cx="3323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cut student conflicts from social media by 15% by improving sleep (+30 minutes) and reducing anxiety in Q2 2025</a:t>
            </a:r>
            <a:endParaRPr sz="12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79" name="Google Shape;79;p14"/>
          <p:cNvGrpSpPr/>
          <p:nvPr/>
        </p:nvGrpSpPr>
        <p:grpSpPr>
          <a:xfrm>
            <a:off x="1169725" y="3958800"/>
            <a:ext cx="7439525" cy="674125"/>
            <a:chOff x="1169725" y="3260725"/>
            <a:chExt cx="7439525" cy="674125"/>
          </a:xfrm>
        </p:grpSpPr>
        <p:sp>
          <p:nvSpPr>
            <p:cNvPr id="80" name="Google Shape;80;p14"/>
            <p:cNvSpPr txBox="1"/>
            <p:nvPr/>
          </p:nvSpPr>
          <p:spPr>
            <a:xfrm>
              <a:off x="1169725" y="3260725"/>
              <a:ext cx="22263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id">
                  <a:latin typeface="Roboto SemiBold"/>
                  <a:ea typeface="Roboto SemiBold"/>
                  <a:cs typeface="Roboto SemiBold"/>
                  <a:sym typeface="Roboto SemiBold"/>
                </a:rPr>
                <a:t>5</a:t>
              </a:r>
              <a:r>
                <a:rPr i="1" lang="id">
                  <a:latin typeface="Roboto SemiBold"/>
                  <a:ea typeface="Roboto SemiBold"/>
                  <a:cs typeface="Roboto SemiBold"/>
                  <a:sym typeface="Roboto SemiBold"/>
                </a:rPr>
                <a:t> Findings</a:t>
              </a:r>
              <a:endParaRPr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81" name="Google Shape;81;p14"/>
            <p:cNvSpPr txBox="1"/>
            <p:nvPr/>
          </p:nvSpPr>
          <p:spPr>
            <a:xfrm>
              <a:off x="5286150" y="3260725"/>
              <a:ext cx="22263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id">
                  <a:latin typeface="Roboto SemiBold"/>
                  <a:ea typeface="Roboto SemiBold"/>
                  <a:cs typeface="Roboto SemiBold"/>
                  <a:sym typeface="Roboto SemiBold"/>
                </a:rPr>
                <a:t>6</a:t>
              </a:r>
              <a:r>
                <a:rPr i="1" lang="id">
                  <a:latin typeface="Roboto SemiBold"/>
                  <a:ea typeface="Roboto SemiBold"/>
                  <a:cs typeface="Roboto SemiBold"/>
                  <a:sym typeface="Roboto SemiBold"/>
                </a:rPr>
                <a:t> Recommendation</a:t>
              </a:r>
              <a:endParaRPr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82" name="Google Shape;82;p14"/>
            <p:cNvSpPr txBox="1"/>
            <p:nvPr/>
          </p:nvSpPr>
          <p:spPr>
            <a:xfrm>
              <a:off x="1169725" y="3565550"/>
              <a:ext cx="3323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d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Student have high prevalence of conflict and Lack of sleep &amp; anxiety </a:t>
              </a:r>
              <a:endParaRPr sz="1200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83" name="Google Shape;83;p14"/>
            <p:cNvSpPr txBox="1"/>
            <p:nvPr/>
          </p:nvSpPr>
          <p:spPr>
            <a:xfrm>
              <a:off x="5286150" y="3565550"/>
              <a:ext cx="33231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d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To deploy </a:t>
              </a:r>
              <a:r>
                <a:rPr lang="id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strategic to take action in Q2 2025.</a:t>
              </a:r>
              <a:endParaRPr sz="1200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84" name="Google Shape;84;p14"/>
          <p:cNvGrpSpPr/>
          <p:nvPr/>
        </p:nvGrpSpPr>
        <p:grpSpPr>
          <a:xfrm>
            <a:off x="1169725" y="2999813"/>
            <a:ext cx="7439525" cy="858925"/>
            <a:chOff x="1169725" y="3990975"/>
            <a:chExt cx="7439525" cy="858925"/>
          </a:xfrm>
        </p:grpSpPr>
        <p:sp>
          <p:nvSpPr>
            <p:cNvPr id="85" name="Google Shape;85;p14"/>
            <p:cNvSpPr txBox="1"/>
            <p:nvPr/>
          </p:nvSpPr>
          <p:spPr>
            <a:xfrm>
              <a:off x="1169725" y="3990975"/>
              <a:ext cx="22263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id">
                  <a:latin typeface="Roboto SemiBold"/>
                  <a:ea typeface="Roboto SemiBold"/>
                  <a:cs typeface="Roboto SemiBold"/>
                  <a:sym typeface="Roboto SemiBold"/>
                </a:rPr>
                <a:t>3</a:t>
              </a:r>
              <a:r>
                <a:rPr i="1" lang="id">
                  <a:latin typeface="Roboto SemiBold"/>
                  <a:ea typeface="Roboto SemiBold"/>
                  <a:cs typeface="Roboto SemiBold"/>
                  <a:sym typeface="Roboto SemiBold"/>
                </a:rPr>
                <a:t> </a:t>
              </a:r>
              <a:r>
                <a:rPr i="1" lang="id">
                  <a:solidFill>
                    <a:schemeClr val="dk1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Key Metrics</a:t>
              </a:r>
              <a:endParaRPr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86" name="Google Shape;86;p14"/>
            <p:cNvSpPr txBox="1"/>
            <p:nvPr/>
          </p:nvSpPr>
          <p:spPr>
            <a:xfrm>
              <a:off x="5286150" y="3990975"/>
              <a:ext cx="22263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id">
                  <a:latin typeface="Roboto SemiBold"/>
                  <a:ea typeface="Roboto SemiBold"/>
                  <a:cs typeface="Roboto SemiBold"/>
                  <a:sym typeface="Roboto SemiBold"/>
                </a:rPr>
                <a:t>4</a:t>
              </a:r>
              <a:r>
                <a:rPr i="1" lang="id">
                  <a:latin typeface="Roboto SemiBold"/>
                  <a:ea typeface="Roboto SemiBold"/>
                  <a:cs typeface="Roboto SemiBold"/>
                  <a:sym typeface="Roboto SemiBold"/>
                </a:rPr>
                <a:t> </a:t>
              </a:r>
              <a:r>
                <a:rPr i="1" lang="id">
                  <a:solidFill>
                    <a:schemeClr val="dk1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Tools</a:t>
              </a:r>
              <a:endParaRPr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87" name="Google Shape;87;p14"/>
            <p:cNvSpPr txBox="1"/>
            <p:nvPr/>
          </p:nvSpPr>
          <p:spPr>
            <a:xfrm>
              <a:off x="1169725" y="4295800"/>
              <a:ext cx="33231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d" sz="1100">
                  <a:solidFill>
                    <a:srgbClr val="202124"/>
                  </a:solidFill>
                </a:rPr>
                <a:t>Avg_Daily_Usage_Hours</a:t>
              </a:r>
              <a:r>
                <a:rPr lang="id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, </a:t>
              </a:r>
              <a:r>
                <a:rPr lang="id" sz="1100">
                  <a:solidFill>
                    <a:srgbClr val="202124"/>
                  </a:solidFill>
                </a:rPr>
                <a:t>Sleep_Hours_Per_Night</a:t>
              </a:r>
              <a:r>
                <a:rPr lang="id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, </a:t>
              </a:r>
              <a:r>
                <a:rPr lang="id" sz="1100">
                  <a:solidFill>
                    <a:srgbClr val="202124"/>
                  </a:solidFill>
                </a:rPr>
                <a:t>Conflicts_Over_Social_Media</a:t>
              </a:r>
              <a:r>
                <a:rPr lang="id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, </a:t>
              </a:r>
              <a:r>
                <a:rPr lang="id" sz="1100">
                  <a:solidFill>
                    <a:srgbClr val="202124"/>
                  </a:solidFill>
                </a:rPr>
                <a:t>Mental_Health_Score</a:t>
              </a:r>
              <a:r>
                <a:rPr lang="id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 sz="1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88" name="Google Shape;88;p14"/>
            <p:cNvSpPr txBox="1"/>
            <p:nvPr/>
          </p:nvSpPr>
          <p:spPr>
            <a:xfrm>
              <a:off x="5286150" y="4295800"/>
              <a:ext cx="33231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d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Google Slide, Python, Tableau</a:t>
              </a:r>
              <a:endParaRPr sz="1200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idx="4294967295" type="ctrTitle"/>
          </p:nvPr>
        </p:nvSpPr>
        <p:spPr>
          <a:xfrm>
            <a:off x="303925" y="270350"/>
            <a:ext cx="26172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3600">
                <a:solidFill>
                  <a:srgbClr val="FF0000"/>
                </a:solidFill>
              </a:rPr>
              <a:t>_Calm </a:t>
            </a:r>
            <a:r>
              <a:rPr b="1" lang="id" sz="3600">
                <a:solidFill>
                  <a:srgbClr val="FF9900"/>
                </a:solidFill>
              </a:rPr>
              <a:t>Space_</a:t>
            </a:r>
            <a:endParaRPr sz="3600"/>
          </a:p>
        </p:txBody>
      </p:sp>
      <p:sp>
        <p:nvSpPr>
          <p:cNvPr id="94" name="Google Shape;94;p15"/>
          <p:cNvSpPr txBox="1"/>
          <p:nvPr/>
        </p:nvSpPr>
        <p:spPr>
          <a:xfrm>
            <a:off x="451052" y="1160275"/>
            <a:ext cx="3804000" cy="3456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7750" lIns="97750" spcFirstLastPara="1" rIns="97750" wrap="square" tIns="97750">
            <a:sp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8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707875" y="1209925"/>
            <a:ext cx="390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600">
                <a:solidFill>
                  <a:srgbClr val="1474AF"/>
                </a:solidFill>
                <a:latin typeface="Roboto"/>
                <a:ea typeface="Roboto"/>
                <a:cs typeface="Roboto"/>
                <a:sym typeface="Roboto"/>
              </a:rPr>
              <a:t>Industry Model &amp; Business Processes</a:t>
            </a:r>
            <a:endParaRPr sz="1600"/>
          </a:p>
        </p:txBody>
      </p:sp>
      <p:sp>
        <p:nvSpPr>
          <p:cNvPr id="96" name="Google Shape;96;p15"/>
          <p:cNvSpPr txBox="1"/>
          <p:nvPr/>
        </p:nvSpPr>
        <p:spPr>
          <a:xfrm>
            <a:off x="492475" y="1580000"/>
            <a:ext cx="38040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d" sz="1100">
                <a:latin typeface="Roboto Light"/>
                <a:ea typeface="Roboto Light"/>
                <a:cs typeface="Roboto Light"/>
                <a:sym typeface="Roboto Light"/>
              </a:rPr>
              <a:t>An </a:t>
            </a: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B2B SaaS EdTech company</a:t>
            </a:r>
            <a:r>
              <a:rPr lang="id" sz="1100">
                <a:latin typeface="Roboto Light"/>
                <a:ea typeface="Roboto Light"/>
                <a:cs typeface="Roboto Light"/>
                <a:sym typeface="Roboto Light"/>
              </a:rPr>
              <a:t> focuses on student well-being and engagement through a platform that monitors social media usage, sleep patterns, and potential conflicts. The platform also provides data-driven interventions to support mental health and academic performance.</a:t>
            </a:r>
            <a:endParaRPr sz="110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d" sz="1100">
                <a:latin typeface="Roboto Light"/>
                <a:ea typeface="Roboto Light"/>
                <a:cs typeface="Roboto Light"/>
                <a:sym typeface="Roboto Light"/>
              </a:rPr>
              <a:t>Primary revenue comes from annual licenses offered and additional revenue through professional consulting and premium analytics packages.</a:t>
            </a:r>
            <a:endParaRPr sz="11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7" name="Google Shape;97;p15"/>
          <p:cNvSpPr txBox="1"/>
          <p:nvPr/>
        </p:nvSpPr>
        <p:spPr>
          <a:xfrm>
            <a:off x="4794799" y="3282525"/>
            <a:ext cx="267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d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 Maker </a:t>
            </a:r>
            <a:r>
              <a:rPr b="1" i="1" lang="id" sz="1200"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i="1" lang="id" sz="1200">
                <a:latin typeface="Calibri"/>
                <a:ea typeface="Calibri"/>
                <a:cs typeface="Calibri"/>
                <a:sym typeface="Calibri"/>
              </a:rPr>
              <a:t>CEO</a:t>
            </a:r>
            <a:endParaRPr i="1"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d" sz="1200">
                <a:latin typeface="Calibri"/>
                <a:ea typeface="Calibri"/>
                <a:cs typeface="Calibri"/>
                <a:sym typeface="Calibri"/>
              </a:rPr>
              <a:t>Consulted - </a:t>
            </a:r>
            <a:r>
              <a:rPr i="1" lang="id" sz="1200">
                <a:latin typeface="Calibri"/>
                <a:ea typeface="Calibri"/>
                <a:cs typeface="Calibri"/>
                <a:sym typeface="Calibri"/>
              </a:rPr>
              <a:t>Psikolog, Teacher Advisor</a:t>
            </a:r>
            <a:br>
              <a:rPr i="1" lang="id" sz="1200">
                <a:latin typeface="Calibri"/>
                <a:ea typeface="Calibri"/>
                <a:cs typeface="Calibri"/>
                <a:sym typeface="Calibri"/>
              </a:rPr>
            </a:br>
            <a:r>
              <a:rPr b="1" i="1" lang="id" sz="1200">
                <a:latin typeface="Calibri"/>
                <a:ea typeface="Calibri"/>
                <a:cs typeface="Calibri"/>
                <a:sym typeface="Calibri"/>
              </a:rPr>
              <a:t>Informed - </a:t>
            </a:r>
            <a:r>
              <a:rPr i="1" lang="id" sz="1200">
                <a:latin typeface="Calibri"/>
                <a:ea typeface="Calibri"/>
                <a:cs typeface="Calibri"/>
                <a:sym typeface="Calibri"/>
              </a:rPr>
              <a:t>School board, All teaching staff, students</a:t>
            </a:r>
            <a:endParaRPr i="1"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1725" y="1850925"/>
            <a:ext cx="632350" cy="96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71458" y="2122125"/>
            <a:ext cx="789525" cy="810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4674225" y="2863675"/>
            <a:ext cx="178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d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(Approver</a:t>
            </a:r>
            <a:r>
              <a:rPr b="1" i="1" lang="id" sz="1200">
                <a:latin typeface="Calibri"/>
                <a:ea typeface="Calibri"/>
                <a:cs typeface="Calibri"/>
                <a:sym typeface="Calibri"/>
              </a:rPr>
              <a:t>)</a:t>
            </a:r>
            <a:endParaRPr b="1" i="1"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d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 of Data &amp; Research</a:t>
            </a:r>
            <a:endParaRPr i="1"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6240175" y="2408350"/>
            <a:ext cx="318000" cy="112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6240169" y="2863675"/>
            <a:ext cx="178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d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1" lang="id" sz="1200">
                <a:latin typeface="Calibri"/>
                <a:ea typeface="Calibri"/>
                <a:cs typeface="Calibri"/>
                <a:sym typeface="Calibri"/>
              </a:rPr>
              <a:t>Responsible)</a:t>
            </a:r>
            <a:endParaRPr b="1" i="1"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id" sz="1200">
                <a:latin typeface="Calibri"/>
                <a:ea typeface="Calibri"/>
                <a:cs typeface="Calibri"/>
                <a:sym typeface="Calibri"/>
              </a:rPr>
              <a:t>Data Analyst</a:t>
            </a:r>
            <a:endParaRPr i="1"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4674225" y="1580000"/>
            <a:ext cx="2226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id">
                <a:latin typeface="Roboto SemiBold"/>
                <a:ea typeface="Roboto SemiBold"/>
                <a:cs typeface="Roboto SemiBold"/>
                <a:sym typeface="Roboto SemiBold"/>
              </a:rPr>
              <a:t>&gt; Stakeholder Analysis</a:t>
            </a:r>
            <a:endParaRPr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pic>
        <p:nvPicPr>
          <p:cNvPr id="104" name="Google Shape;104;p15" title="Addicted Scor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0238" y="3232973"/>
            <a:ext cx="2425627" cy="1523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" name="Google Shape;105;p15"/>
          <p:cNvGrpSpPr/>
          <p:nvPr/>
        </p:nvGrpSpPr>
        <p:grpSpPr>
          <a:xfrm>
            <a:off x="180011" y="4824619"/>
            <a:ext cx="1187769" cy="215541"/>
            <a:chOff x="180011" y="4824619"/>
            <a:chExt cx="1187769" cy="215541"/>
          </a:xfrm>
        </p:grpSpPr>
        <p:sp>
          <p:nvSpPr>
            <p:cNvPr id="106" name="Google Shape;106;p15"/>
            <p:cNvSpPr/>
            <p:nvPr/>
          </p:nvSpPr>
          <p:spPr>
            <a:xfrm>
              <a:off x="183010" y="4847319"/>
              <a:ext cx="168000" cy="167940"/>
            </a:xfrm>
            <a:prstGeom prst="ellipse">
              <a:avLst/>
            </a:prstGeom>
            <a:solidFill>
              <a:srgbClr val="FF9900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386364" y="4847319"/>
              <a:ext cx="168000" cy="16794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589717" y="4847319"/>
              <a:ext cx="168000" cy="16794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793071" y="4847319"/>
              <a:ext cx="168000" cy="16794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0" name="Google Shape;110;p15"/>
            <p:cNvSpPr/>
            <p:nvPr/>
          </p:nvSpPr>
          <p:spPr>
            <a:xfrm>
              <a:off x="996425" y="4847319"/>
              <a:ext cx="168000" cy="16794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1" name="Google Shape;111;p15"/>
            <p:cNvSpPr txBox="1"/>
            <p:nvPr/>
          </p:nvSpPr>
          <p:spPr>
            <a:xfrm>
              <a:off x="180011" y="4826666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2" name="Google Shape;112;p15"/>
            <p:cNvSpPr txBox="1"/>
            <p:nvPr/>
          </p:nvSpPr>
          <p:spPr>
            <a:xfrm>
              <a:off x="386368" y="4826666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2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3" name="Google Shape;113;p15"/>
            <p:cNvSpPr txBox="1"/>
            <p:nvPr/>
          </p:nvSpPr>
          <p:spPr>
            <a:xfrm>
              <a:off x="589722" y="4830760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3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4" name="Google Shape;114;p15"/>
            <p:cNvSpPr txBox="1"/>
            <p:nvPr/>
          </p:nvSpPr>
          <p:spPr>
            <a:xfrm>
              <a:off x="793076" y="4824619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4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5" name="Google Shape;115;p15"/>
            <p:cNvSpPr txBox="1"/>
            <p:nvPr/>
          </p:nvSpPr>
          <p:spPr>
            <a:xfrm>
              <a:off x="996429" y="4828713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5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1199775" y="4849344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7" name="Google Shape;117;p15"/>
            <p:cNvSpPr txBox="1"/>
            <p:nvPr/>
          </p:nvSpPr>
          <p:spPr>
            <a:xfrm>
              <a:off x="1199779" y="4830738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6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idx="4294967295" type="ctrTitle"/>
          </p:nvPr>
        </p:nvSpPr>
        <p:spPr>
          <a:xfrm>
            <a:off x="303925" y="270350"/>
            <a:ext cx="26172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3600">
                <a:solidFill>
                  <a:srgbClr val="FF0000"/>
                </a:solidFill>
              </a:rPr>
              <a:t>_Calm </a:t>
            </a:r>
            <a:r>
              <a:rPr b="1" lang="id" sz="3600">
                <a:solidFill>
                  <a:srgbClr val="FF9900"/>
                </a:solidFill>
              </a:rPr>
              <a:t>Space_</a:t>
            </a:r>
            <a:endParaRPr sz="3600"/>
          </a:p>
        </p:txBody>
      </p:sp>
      <p:sp>
        <p:nvSpPr>
          <p:cNvPr id="123" name="Google Shape;123;p16"/>
          <p:cNvSpPr txBox="1"/>
          <p:nvPr/>
        </p:nvSpPr>
        <p:spPr>
          <a:xfrm>
            <a:off x="451052" y="1140700"/>
            <a:ext cx="3804000" cy="3456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7750" lIns="97750" spcFirstLastPara="1" rIns="97750" wrap="square" tIns="97750">
            <a:sp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8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707875" y="1190350"/>
            <a:ext cx="3106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id" sz="1600">
                <a:solidFill>
                  <a:srgbClr val="1474AF"/>
                </a:solidFill>
                <a:latin typeface="Roboto"/>
                <a:ea typeface="Roboto"/>
                <a:cs typeface="Roboto"/>
                <a:sym typeface="Roboto"/>
              </a:rPr>
              <a:t>Business Problem &amp; Objective</a:t>
            </a:r>
            <a:endParaRPr b="1" sz="1600">
              <a:solidFill>
                <a:srgbClr val="1474A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579463" y="1822525"/>
            <a:ext cx="2226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id">
                <a:latin typeface="Roboto SemiBold"/>
                <a:ea typeface="Roboto SemiBold"/>
                <a:cs typeface="Roboto SemiBold"/>
                <a:sym typeface="Roboto SemiBold"/>
              </a:rPr>
              <a:t>&gt; </a:t>
            </a:r>
            <a:r>
              <a:rPr i="1" lang="id">
                <a:latin typeface="Roboto SemiBold"/>
                <a:ea typeface="Roboto SemiBold"/>
                <a:cs typeface="Roboto SemiBold"/>
                <a:sym typeface="Roboto SemiBold"/>
              </a:rPr>
              <a:t>Business Problem</a:t>
            </a:r>
            <a:endParaRPr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126" name="Google Shape;126;p16"/>
          <p:cNvSpPr txBox="1"/>
          <p:nvPr>
            <p:ph type="title"/>
          </p:nvPr>
        </p:nvSpPr>
        <p:spPr>
          <a:xfrm>
            <a:off x="677601" y="2293850"/>
            <a:ext cx="3577500" cy="105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200">
                <a:latin typeface="Roboto"/>
                <a:ea typeface="Roboto"/>
                <a:cs typeface="Roboto"/>
                <a:sym typeface="Roboto"/>
              </a:rPr>
              <a:t>“</a:t>
            </a: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Within 6 months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, Calm Space aims to reduce incidents of interpersonal conflict among students due to</a:t>
            </a: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 excessive social media use by 15%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, by increasing average</a:t>
            </a: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 sleep quality by more than 30 minutes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 per night and </a:t>
            </a: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lowering self-reported anxiety levels.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”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16"/>
          <p:cNvSpPr txBox="1"/>
          <p:nvPr>
            <p:ph type="title"/>
          </p:nvPr>
        </p:nvSpPr>
        <p:spPr>
          <a:xfrm>
            <a:off x="4965525" y="2162650"/>
            <a:ext cx="3804000" cy="114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200">
                <a:latin typeface="Roboto"/>
                <a:ea typeface="Roboto"/>
                <a:cs typeface="Roboto"/>
                <a:sym typeface="Roboto"/>
              </a:rPr>
              <a:t>⚡ </a:t>
            </a: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Reduce 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interpersonal </a:t>
            </a: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conflicts down 15%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200">
                <a:latin typeface="Roboto"/>
                <a:ea typeface="Roboto"/>
                <a:cs typeface="Roboto"/>
                <a:sym typeface="Roboto"/>
              </a:rPr>
              <a:t>😴 </a:t>
            </a: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Increase 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average </a:t>
            </a: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sleep +30 minutes/night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200">
                <a:latin typeface="Roboto"/>
                <a:ea typeface="Roboto"/>
                <a:cs typeface="Roboto"/>
                <a:sym typeface="Roboto"/>
              </a:rPr>
              <a:t>😟 </a:t>
            </a: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Lower 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self-reported</a:t>
            </a: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 anxiety levels.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p16"/>
          <p:cNvSpPr txBox="1"/>
          <p:nvPr>
            <p:ph type="title"/>
          </p:nvPr>
        </p:nvSpPr>
        <p:spPr>
          <a:xfrm>
            <a:off x="4664000" y="1794240"/>
            <a:ext cx="3433800" cy="36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d" sz="1400">
                <a:latin typeface="Roboto"/>
                <a:ea typeface="Roboto"/>
                <a:cs typeface="Roboto"/>
                <a:sym typeface="Roboto"/>
              </a:rPr>
              <a:t>&gt; </a:t>
            </a:r>
            <a:r>
              <a:rPr b="1" i="1" lang="id" sz="1400">
                <a:latin typeface="Roboto"/>
                <a:ea typeface="Roboto"/>
                <a:cs typeface="Roboto"/>
                <a:sym typeface="Roboto"/>
              </a:rPr>
              <a:t>Objective </a:t>
            </a:r>
            <a:endParaRPr b="1" i="1" sz="1400">
              <a:solidFill>
                <a:srgbClr val="1474A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579463" y="3454775"/>
            <a:ext cx="2226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id">
                <a:latin typeface="Roboto SemiBold"/>
                <a:ea typeface="Roboto SemiBold"/>
                <a:cs typeface="Roboto SemiBold"/>
                <a:sym typeface="Roboto SemiBold"/>
              </a:rPr>
              <a:t>&gt; Project Scope</a:t>
            </a:r>
            <a:endParaRPr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>
            <a:off x="677600" y="3728547"/>
            <a:ext cx="3577500" cy="44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latin typeface="Roboto"/>
                <a:ea typeface="Roboto"/>
                <a:cs typeface="Roboto"/>
                <a:sym typeface="Roboto"/>
              </a:rPr>
              <a:t>F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ocus on screen time, sleep, conflict, mental health student.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31" name="Google Shape;131;p16"/>
          <p:cNvGrpSpPr/>
          <p:nvPr/>
        </p:nvGrpSpPr>
        <p:grpSpPr>
          <a:xfrm>
            <a:off x="180011" y="4824613"/>
            <a:ext cx="1187769" cy="215547"/>
            <a:chOff x="180011" y="4824613"/>
            <a:chExt cx="1187769" cy="215547"/>
          </a:xfrm>
        </p:grpSpPr>
        <p:sp>
          <p:nvSpPr>
            <p:cNvPr id="132" name="Google Shape;132;p16"/>
            <p:cNvSpPr/>
            <p:nvPr/>
          </p:nvSpPr>
          <p:spPr>
            <a:xfrm>
              <a:off x="183010" y="4847319"/>
              <a:ext cx="168000" cy="16794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3" name="Google Shape;133;p16"/>
            <p:cNvSpPr/>
            <p:nvPr/>
          </p:nvSpPr>
          <p:spPr>
            <a:xfrm>
              <a:off x="386364" y="4847319"/>
              <a:ext cx="168000" cy="167940"/>
            </a:xfrm>
            <a:prstGeom prst="ellipse">
              <a:avLst/>
            </a:prstGeom>
            <a:solidFill>
              <a:srgbClr val="FF9900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4" name="Google Shape;134;p16"/>
            <p:cNvSpPr/>
            <p:nvPr/>
          </p:nvSpPr>
          <p:spPr>
            <a:xfrm>
              <a:off x="589717" y="4847319"/>
              <a:ext cx="168000" cy="16794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5" name="Google Shape;135;p16"/>
            <p:cNvSpPr/>
            <p:nvPr/>
          </p:nvSpPr>
          <p:spPr>
            <a:xfrm>
              <a:off x="793071" y="4847319"/>
              <a:ext cx="168000" cy="16794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6" name="Google Shape;136;p16"/>
            <p:cNvSpPr/>
            <p:nvPr/>
          </p:nvSpPr>
          <p:spPr>
            <a:xfrm>
              <a:off x="996425" y="4847319"/>
              <a:ext cx="168000" cy="16794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7" name="Google Shape;137;p16"/>
            <p:cNvSpPr txBox="1"/>
            <p:nvPr/>
          </p:nvSpPr>
          <p:spPr>
            <a:xfrm>
              <a:off x="180011" y="4824616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8" name="Google Shape;138;p16"/>
            <p:cNvSpPr txBox="1"/>
            <p:nvPr/>
          </p:nvSpPr>
          <p:spPr>
            <a:xfrm>
              <a:off x="386368" y="4824616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2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9" name="Google Shape;139;p16"/>
            <p:cNvSpPr txBox="1"/>
            <p:nvPr/>
          </p:nvSpPr>
          <p:spPr>
            <a:xfrm>
              <a:off x="589722" y="4830760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3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0" name="Google Shape;140;p16"/>
            <p:cNvSpPr txBox="1"/>
            <p:nvPr/>
          </p:nvSpPr>
          <p:spPr>
            <a:xfrm>
              <a:off x="793076" y="4824619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4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1" name="Google Shape;141;p16"/>
            <p:cNvSpPr txBox="1"/>
            <p:nvPr/>
          </p:nvSpPr>
          <p:spPr>
            <a:xfrm>
              <a:off x="996429" y="4828713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5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2" name="Google Shape;142;p16"/>
            <p:cNvSpPr/>
            <p:nvPr/>
          </p:nvSpPr>
          <p:spPr>
            <a:xfrm>
              <a:off x="1199775" y="48432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3" name="Google Shape;143;p16"/>
            <p:cNvSpPr txBox="1"/>
            <p:nvPr/>
          </p:nvSpPr>
          <p:spPr>
            <a:xfrm>
              <a:off x="1199779" y="4824613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6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 txBox="1"/>
          <p:nvPr>
            <p:ph idx="4294967295" type="ctrTitle"/>
          </p:nvPr>
        </p:nvSpPr>
        <p:spPr>
          <a:xfrm>
            <a:off x="303925" y="270350"/>
            <a:ext cx="26172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3600">
                <a:solidFill>
                  <a:srgbClr val="FF0000"/>
                </a:solidFill>
              </a:rPr>
              <a:t>_Calm </a:t>
            </a:r>
            <a:r>
              <a:rPr b="1" lang="id" sz="3600">
                <a:solidFill>
                  <a:srgbClr val="FF9900"/>
                </a:solidFill>
              </a:rPr>
              <a:t>Space_</a:t>
            </a:r>
            <a:endParaRPr sz="3600"/>
          </a:p>
        </p:txBody>
      </p:sp>
      <p:sp>
        <p:nvSpPr>
          <p:cNvPr id="149" name="Google Shape;149;p17"/>
          <p:cNvSpPr txBox="1"/>
          <p:nvPr/>
        </p:nvSpPr>
        <p:spPr>
          <a:xfrm>
            <a:off x="451052" y="1140700"/>
            <a:ext cx="3804000" cy="3456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7750" lIns="97750" spcFirstLastPara="1" rIns="97750" wrap="square" tIns="97750">
            <a:sp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8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707875" y="1190350"/>
            <a:ext cx="3106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id" sz="1600">
                <a:solidFill>
                  <a:srgbClr val="1474AF"/>
                </a:solidFill>
                <a:latin typeface="Roboto"/>
                <a:ea typeface="Roboto"/>
                <a:cs typeface="Roboto"/>
                <a:sym typeface="Roboto"/>
              </a:rPr>
              <a:t>Dataset Overview</a:t>
            </a:r>
            <a:endParaRPr b="1" sz="1600">
              <a:solidFill>
                <a:srgbClr val="1474A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p17"/>
          <p:cNvSpPr txBox="1"/>
          <p:nvPr>
            <p:ph type="title"/>
          </p:nvPr>
        </p:nvSpPr>
        <p:spPr>
          <a:xfrm>
            <a:off x="451050" y="1647425"/>
            <a:ext cx="3804000" cy="247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171450" lvl="0" marL="179999" rtl="0" algn="just">
              <a:spcBef>
                <a:spcPts val="0"/>
              </a:spcBef>
              <a:spcAft>
                <a:spcPts val="0"/>
              </a:spcAft>
              <a:buSzPts val="1200"/>
              <a:buFont typeface="Roboto"/>
              <a:buAutoNum type="arabicPeriod"/>
            </a:pPr>
            <a:r>
              <a:rPr lang="id" sz="1200"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lang="id" sz="1200">
                <a:solidFill>
                  <a:srgbClr val="1474AF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Kaggle 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survey dataset (705 respondents, 5 continents, 101 Country).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171450" lvl="0" marL="179999" rtl="0" algn="just">
              <a:spcBef>
                <a:spcPts val="0"/>
              </a:spcBef>
              <a:spcAft>
                <a:spcPts val="0"/>
              </a:spcAft>
              <a:buSzPts val="1200"/>
              <a:buFont typeface="Roboto"/>
              <a:buAutoNum type="arabicPeriod"/>
            </a:pP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Demographic coverage: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 High school, undergraduate, graduate students.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171450" lvl="0" marL="179999" rtl="0" algn="just">
              <a:spcBef>
                <a:spcPts val="0"/>
              </a:spcBef>
              <a:spcAft>
                <a:spcPts val="0"/>
              </a:spcAft>
              <a:buSzPts val="1200"/>
              <a:buFont typeface="Roboto"/>
              <a:buAutoNum type="arabicPeriod"/>
            </a:pPr>
            <a:r>
              <a:rPr lang="id" sz="1200">
                <a:latin typeface="Roboto"/>
                <a:ea typeface="Roboto"/>
                <a:cs typeface="Roboto"/>
                <a:sym typeface="Roboto"/>
              </a:rPr>
              <a:t>Key Metrics variables: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540000" rtl="0" algn="just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Screen Time 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(daily usage, platform, addiction score).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540000" rtl="0" algn="just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Sleep 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(hours/night).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540000" rtl="0" algn="just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Mental Health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 (anxiety/score).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540000" rtl="0" algn="just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Conflicts 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(relationship &amp; social conflict reports).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171450" lvl="0" marL="179999" rtl="0" algn="just">
              <a:spcBef>
                <a:spcPts val="0"/>
              </a:spcBef>
              <a:spcAft>
                <a:spcPts val="0"/>
              </a:spcAft>
              <a:buSzPts val="1200"/>
              <a:buFont typeface="Roboto"/>
              <a:buAutoNum type="arabicPeriod"/>
            </a:pPr>
            <a:r>
              <a:rPr lang="id" sz="1200">
                <a:latin typeface="Roboto"/>
                <a:ea typeface="Roboto"/>
                <a:cs typeface="Roboto"/>
                <a:sym typeface="Roboto"/>
              </a:rPr>
              <a:t>Note: Data is </a:t>
            </a: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cross-sectional &amp; survey-based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 (not causal).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2" name="Google Shape;152;p17" title="Responden _ Country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5001" y="1190350"/>
            <a:ext cx="2891200" cy="167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title="Demographic coverag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66300" y="3000625"/>
            <a:ext cx="2431926" cy="14968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4" name="Google Shape;154;p17"/>
          <p:cNvGrpSpPr/>
          <p:nvPr/>
        </p:nvGrpSpPr>
        <p:grpSpPr>
          <a:xfrm>
            <a:off x="180011" y="4821554"/>
            <a:ext cx="1187769" cy="216559"/>
            <a:chOff x="180011" y="4821554"/>
            <a:chExt cx="1187769" cy="216559"/>
          </a:xfrm>
        </p:grpSpPr>
        <p:sp>
          <p:nvSpPr>
            <p:cNvPr id="155" name="Google Shape;155;p17"/>
            <p:cNvSpPr/>
            <p:nvPr/>
          </p:nvSpPr>
          <p:spPr>
            <a:xfrm>
              <a:off x="183010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6" name="Google Shape;156;p17"/>
            <p:cNvSpPr/>
            <p:nvPr/>
          </p:nvSpPr>
          <p:spPr>
            <a:xfrm>
              <a:off x="386364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7" name="Google Shape;157;p17"/>
            <p:cNvSpPr/>
            <p:nvPr/>
          </p:nvSpPr>
          <p:spPr>
            <a:xfrm>
              <a:off x="589717" y="4847319"/>
              <a:ext cx="168000" cy="168000"/>
            </a:xfrm>
            <a:prstGeom prst="ellipse">
              <a:avLst/>
            </a:prstGeom>
            <a:solidFill>
              <a:srgbClr val="FF9900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8" name="Google Shape;158;p17"/>
            <p:cNvSpPr/>
            <p:nvPr/>
          </p:nvSpPr>
          <p:spPr>
            <a:xfrm>
              <a:off x="793071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9" name="Google Shape;159;p17"/>
            <p:cNvSpPr/>
            <p:nvPr/>
          </p:nvSpPr>
          <p:spPr>
            <a:xfrm>
              <a:off x="996425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0" name="Google Shape;160;p17"/>
            <p:cNvSpPr txBox="1"/>
            <p:nvPr/>
          </p:nvSpPr>
          <p:spPr>
            <a:xfrm>
              <a:off x="180011" y="4824616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1" name="Google Shape;161;p17"/>
            <p:cNvSpPr txBox="1"/>
            <p:nvPr/>
          </p:nvSpPr>
          <p:spPr>
            <a:xfrm>
              <a:off x="386368" y="4821554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2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2" name="Google Shape;162;p17"/>
            <p:cNvSpPr txBox="1"/>
            <p:nvPr/>
          </p:nvSpPr>
          <p:spPr>
            <a:xfrm>
              <a:off x="589722" y="4827697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3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3" name="Google Shape;163;p17"/>
            <p:cNvSpPr txBox="1"/>
            <p:nvPr/>
          </p:nvSpPr>
          <p:spPr>
            <a:xfrm>
              <a:off x="793076" y="4824619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4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4" name="Google Shape;164;p17"/>
            <p:cNvSpPr txBox="1"/>
            <p:nvPr/>
          </p:nvSpPr>
          <p:spPr>
            <a:xfrm>
              <a:off x="996429" y="4828713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5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5" name="Google Shape;165;p17"/>
            <p:cNvSpPr/>
            <p:nvPr/>
          </p:nvSpPr>
          <p:spPr>
            <a:xfrm>
              <a:off x="1199775" y="4845564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6" name="Google Shape;166;p17"/>
            <p:cNvSpPr txBox="1"/>
            <p:nvPr/>
          </p:nvSpPr>
          <p:spPr>
            <a:xfrm>
              <a:off x="1199779" y="4826958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6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 txBox="1"/>
          <p:nvPr>
            <p:ph idx="4294967295" type="ctrTitle"/>
          </p:nvPr>
        </p:nvSpPr>
        <p:spPr>
          <a:xfrm>
            <a:off x="303925" y="270350"/>
            <a:ext cx="26172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3600">
                <a:solidFill>
                  <a:srgbClr val="FF0000"/>
                </a:solidFill>
              </a:rPr>
              <a:t>_Calm </a:t>
            </a:r>
            <a:r>
              <a:rPr b="1" lang="id" sz="3600">
                <a:solidFill>
                  <a:srgbClr val="FF9900"/>
                </a:solidFill>
              </a:rPr>
              <a:t>Space_</a:t>
            </a:r>
            <a:endParaRPr sz="3600"/>
          </a:p>
        </p:txBody>
      </p:sp>
      <p:sp>
        <p:nvSpPr>
          <p:cNvPr id="172" name="Google Shape;172;p18"/>
          <p:cNvSpPr txBox="1"/>
          <p:nvPr/>
        </p:nvSpPr>
        <p:spPr>
          <a:xfrm>
            <a:off x="451052" y="1140700"/>
            <a:ext cx="3804000" cy="3456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7750" lIns="97750" spcFirstLastPara="1" rIns="97750" wrap="square" tIns="97750">
            <a:sp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8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707875" y="1190350"/>
            <a:ext cx="3106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id" sz="1600">
                <a:solidFill>
                  <a:srgbClr val="1474AF"/>
                </a:solidFill>
                <a:latin typeface="Roboto"/>
                <a:ea typeface="Roboto"/>
                <a:cs typeface="Roboto"/>
                <a:sym typeface="Roboto"/>
              </a:rPr>
              <a:t>Analysis Framework</a:t>
            </a:r>
            <a:endParaRPr b="1" sz="1600">
              <a:solidFill>
                <a:srgbClr val="1474A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18"/>
          <p:cNvSpPr txBox="1"/>
          <p:nvPr>
            <p:ph type="title"/>
          </p:nvPr>
        </p:nvSpPr>
        <p:spPr>
          <a:xfrm>
            <a:off x="4437150" y="2027722"/>
            <a:ext cx="3837300" cy="17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165100" lvl="0" marL="269999" rtl="0" algn="just">
              <a:spcBef>
                <a:spcPts val="0"/>
              </a:spcBef>
              <a:spcAft>
                <a:spcPts val="0"/>
              </a:spcAft>
              <a:buSzPts val="1100"/>
              <a:buFont typeface="Calibri"/>
              <a:buAutoNum type="arabicPeriod"/>
            </a:pP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Student 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who </a:t>
            </a: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use social media more than 5 hours/day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 have </a:t>
            </a: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risk of interpersonal conflict that is twice as high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 as student who use social media for </a:t>
            </a: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less than 3 hours/day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165100" lvl="0" marL="269999" rtl="0" algn="just">
              <a:spcBef>
                <a:spcPts val="0"/>
              </a:spcBef>
              <a:spcAft>
                <a:spcPts val="0"/>
              </a:spcAft>
              <a:buSzPts val="1100"/>
              <a:buFont typeface="Calibri"/>
              <a:buAutoNum type="arabicPeriod"/>
            </a:pP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Students 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who </a:t>
            </a: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sleep less than 6 hours/day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 tend to have anxiety/depression scores that are </a:t>
            </a: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25% higher than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 those who sleep </a:t>
            </a: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7 hours or more per day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165100" lvl="0" marL="269999" rtl="0" algn="just">
              <a:spcBef>
                <a:spcPts val="0"/>
              </a:spcBef>
              <a:spcAft>
                <a:spcPts val="0"/>
              </a:spcAft>
              <a:buSzPts val="1100"/>
              <a:buFont typeface="Calibri"/>
              <a:buAutoNum type="arabicPeriod"/>
            </a:pPr>
            <a:r>
              <a:rPr lang="id" sz="1100"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Combination high screen time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 (&gt;5hours/day) &amp; </a:t>
            </a: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short sleep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 (&lt;6hours/day) </a:t>
            </a: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increases risk of interpersonality conflict 2 times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 compared with low screen time &amp; enough sleep.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4653163" y="1566884"/>
            <a:ext cx="2226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id">
                <a:latin typeface="Roboto SemiBold"/>
                <a:ea typeface="Roboto SemiBold"/>
                <a:cs typeface="Roboto SemiBold"/>
                <a:sym typeface="Roboto SemiBold"/>
              </a:rPr>
              <a:t>&gt; </a:t>
            </a:r>
            <a:r>
              <a:rPr b="1" i="1" lang="id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Hypothesis</a:t>
            </a:r>
            <a:endParaRPr i="1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pic>
        <p:nvPicPr>
          <p:cNvPr id="176" name="Google Shape;17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850" y="1862825"/>
            <a:ext cx="3506597" cy="289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451038" y="1566871"/>
            <a:ext cx="2226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id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&gt; </a:t>
            </a:r>
            <a:r>
              <a:rPr b="1" i="1" lang="id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Root Causes Analysi</a:t>
            </a:r>
            <a:r>
              <a:rPr b="1" i="1" lang="id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endParaRPr i="1">
              <a:solidFill>
                <a:schemeClr val="dk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grpSp>
        <p:nvGrpSpPr>
          <p:cNvPr id="178" name="Google Shape;178;p18"/>
          <p:cNvGrpSpPr/>
          <p:nvPr/>
        </p:nvGrpSpPr>
        <p:grpSpPr>
          <a:xfrm>
            <a:off x="180011" y="4821554"/>
            <a:ext cx="1187769" cy="218206"/>
            <a:chOff x="180011" y="4821554"/>
            <a:chExt cx="1187769" cy="218206"/>
          </a:xfrm>
        </p:grpSpPr>
        <p:sp>
          <p:nvSpPr>
            <p:cNvPr id="179" name="Google Shape;179;p18"/>
            <p:cNvSpPr/>
            <p:nvPr/>
          </p:nvSpPr>
          <p:spPr>
            <a:xfrm>
              <a:off x="183010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0" name="Google Shape;180;p18"/>
            <p:cNvSpPr/>
            <p:nvPr/>
          </p:nvSpPr>
          <p:spPr>
            <a:xfrm>
              <a:off x="386364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1" name="Google Shape;181;p18"/>
            <p:cNvSpPr/>
            <p:nvPr/>
          </p:nvSpPr>
          <p:spPr>
            <a:xfrm>
              <a:off x="589717" y="4847319"/>
              <a:ext cx="168000" cy="168000"/>
            </a:xfrm>
            <a:prstGeom prst="ellipse">
              <a:avLst/>
            </a:prstGeom>
            <a:solidFill>
              <a:srgbClr val="FF9900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2" name="Google Shape;182;p18"/>
            <p:cNvSpPr/>
            <p:nvPr/>
          </p:nvSpPr>
          <p:spPr>
            <a:xfrm>
              <a:off x="793071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3" name="Google Shape;183;p18"/>
            <p:cNvSpPr/>
            <p:nvPr/>
          </p:nvSpPr>
          <p:spPr>
            <a:xfrm>
              <a:off x="996425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4" name="Google Shape;184;p18"/>
            <p:cNvSpPr txBox="1"/>
            <p:nvPr/>
          </p:nvSpPr>
          <p:spPr>
            <a:xfrm>
              <a:off x="180011" y="4824616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5" name="Google Shape;185;p18"/>
            <p:cNvSpPr txBox="1"/>
            <p:nvPr/>
          </p:nvSpPr>
          <p:spPr>
            <a:xfrm>
              <a:off x="386368" y="4821554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2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6" name="Google Shape;186;p18"/>
            <p:cNvSpPr txBox="1"/>
            <p:nvPr/>
          </p:nvSpPr>
          <p:spPr>
            <a:xfrm>
              <a:off x="589722" y="4827697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3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7" name="Google Shape;187;p18"/>
            <p:cNvSpPr txBox="1"/>
            <p:nvPr/>
          </p:nvSpPr>
          <p:spPr>
            <a:xfrm>
              <a:off x="793076" y="4824619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4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8" name="Google Shape;188;p18"/>
            <p:cNvSpPr txBox="1"/>
            <p:nvPr/>
          </p:nvSpPr>
          <p:spPr>
            <a:xfrm>
              <a:off x="996429" y="4828713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5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9" name="Google Shape;189;p18"/>
            <p:cNvSpPr/>
            <p:nvPr/>
          </p:nvSpPr>
          <p:spPr>
            <a:xfrm>
              <a:off x="1199775" y="4848966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0" name="Google Shape;190;p18"/>
            <p:cNvSpPr txBox="1"/>
            <p:nvPr/>
          </p:nvSpPr>
          <p:spPr>
            <a:xfrm>
              <a:off x="1199779" y="4830360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6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"/>
          <p:cNvSpPr txBox="1"/>
          <p:nvPr/>
        </p:nvSpPr>
        <p:spPr>
          <a:xfrm>
            <a:off x="271050" y="1691250"/>
            <a:ext cx="1209900" cy="672000"/>
          </a:xfrm>
          <a:prstGeom prst="rect">
            <a:avLst/>
          </a:prstGeom>
          <a:solidFill>
            <a:srgbClr val="E6B8AF"/>
          </a:solidFill>
          <a:ln>
            <a:noFill/>
          </a:ln>
        </p:spPr>
        <p:txBody>
          <a:bodyPr anchorCtr="0" anchor="t" bIns="97750" lIns="97750" spcFirstLastPara="1" rIns="97750" wrap="square" tIns="97750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71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1" sz="171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Defining 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problem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p19"/>
          <p:cNvSpPr txBox="1"/>
          <p:nvPr/>
        </p:nvSpPr>
        <p:spPr>
          <a:xfrm>
            <a:off x="2060563" y="1691250"/>
            <a:ext cx="1283400" cy="6720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t" bIns="97750" lIns="97750" spcFirstLastPara="1" rIns="97750" wrap="square" tIns="97750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71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 sz="171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cleaning &amp; preparation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19"/>
          <p:cNvSpPr txBox="1"/>
          <p:nvPr/>
        </p:nvSpPr>
        <p:spPr>
          <a:xfrm>
            <a:off x="3951757" y="1691250"/>
            <a:ext cx="1126200" cy="6720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7750" lIns="97750" spcFirstLastPara="1" rIns="97750" wrap="square" tIns="97750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71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 sz="171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Exploratory data analysis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19"/>
          <p:cNvSpPr txBox="1"/>
          <p:nvPr/>
        </p:nvSpPr>
        <p:spPr>
          <a:xfrm>
            <a:off x="5685788" y="1691250"/>
            <a:ext cx="1120800" cy="7377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7750" lIns="97750" spcFirstLastPara="1" rIns="97750" wrap="square" tIns="977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71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="1" sz="171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Analysis Framework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1574599" y="2000294"/>
            <a:ext cx="392400" cy="124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01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750" lIns="97750" spcFirstLastPara="1" rIns="97750" wrap="square" tIns="97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96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3451678" y="2000294"/>
            <a:ext cx="392400" cy="124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01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750" lIns="97750" spcFirstLastPara="1" rIns="97750" wrap="square" tIns="97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96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19"/>
          <p:cNvSpPr txBox="1"/>
          <p:nvPr/>
        </p:nvSpPr>
        <p:spPr>
          <a:xfrm>
            <a:off x="7348963" y="1691250"/>
            <a:ext cx="1524000" cy="672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7750" lIns="97750" spcFirstLastPara="1" rIns="97750" wrap="square" tIns="97750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71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b="1" sz="171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Insights &amp; recommendation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5185716" y="1974634"/>
            <a:ext cx="392400" cy="124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01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750" lIns="97750" spcFirstLastPara="1" rIns="97750" wrap="square" tIns="97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96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6914301" y="2000294"/>
            <a:ext cx="392400" cy="124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01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750" lIns="97750" spcFirstLastPara="1" rIns="97750" wrap="square" tIns="97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96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19"/>
          <p:cNvSpPr txBox="1"/>
          <p:nvPr/>
        </p:nvSpPr>
        <p:spPr>
          <a:xfrm>
            <a:off x="2050435" y="2503653"/>
            <a:ext cx="130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59725" lvl="0" marL="192450" rtl="0" algn="l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id" sz="100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Data cleaning &amp; preparation using Python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271038" y="2494378"/>
            <a:ext cx="1303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59725" lvl="0" marL="192450" rtl="0" algn="l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id" sz="1000">
                <a:latin typeface="Calibri"/>
                <a:ea typeface="Calibri"/>
                <a:cs typeface="Calibri"/>
                <a:sym typeface="Calibri"/>
              </a:rPr>
              <a:t>Exploratory and understand data and problem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59725" lvl="0" marL="192450" rtl="0" algn="l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id" sz="100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Determine the user using DARCI</a:t>
            </a:r>
            <a:endParaRPr sz="1000">
              <a:solidFill>
                <a:srgbClr val="2632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9725" lvl="0" marL="192450" rtl="0" algn="l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000"/>
              <a:buFont typeface="Calibri"/>
              <a:buChar char="●"/>
            </a:pPr>
            <a:r>
              <a:rPr lang="id" sz="100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Define Objective</a:t>
            </a:r>
            <a:endParaRPr sz="1000">
              <a:solidFill>
                <a:srgbClr val="2632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3941267" y="2503653"/>
            <a:ext cx="130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59725" lvl="0" marL="192450" rtl="0" algn="l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id" sz="100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EDA using</a:t>
            </a:r>
            <a:r>
              <a:rPr lang="id" sz="100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id" sz="100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python, &amp; Visualization using tableau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7414375" y="2503650"/>
            <a:ext cx="139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59725" lvl="0" marL="192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id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Summary of the remarkable insights &amp; Recommendations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 txBox="1"/>
          <p:nvPr/>
        </p:nvSpPr>
        <p:spPr>
          <a:xfrm>
            <a:off x="5685782" y="2503653"/>
            <a:ext cx="1303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59725" lvl="0" marL="192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id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Correlations &amp; segmentation by academic level / relationship status.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 txBox="1"/>
          <p:nvPr>
            <p:ph idx="4294967295" type="ctrTitle"/>
          </p:nvPr>
        </p:nvSpPr>
        <p:spPr>
          <a:xfrm>
            <a:off x="303925" y="270350"/>
            <a:ext cx="26172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3600">
                <a:solidFill>
                  <a:srgbClr val="FF0000"/>
                </a:solidFill>
              </a:rPr>
              <a:t>_Calm </a:t>
            </a:r>
            <a:r>
              <a:rPr b="1" lang="id" sz="3600">
                <a:solidFill>
                  <a:srgbClr val="FF9900"/>
                </a:solidFill>
              </a:rPr>
              <a:t>Space_</a:t>
            </a:r>
            <a:endParaRPr sz="3600"/>
          </a:p>
        </p:txBody>
      </p:sp>
      <p:sp>
        <p:nvSpPr>
          <p:cNvPr id="210" name="Google Shape;210;p19"/>
          <p:cNvSpPr txBox="1"/>
          <p:nvPr/>
        </p:nvSpPr>
        <p:spPr>
          <a:xfrm>
            <a:off x="451052" y="1140700"/>
            <a:ext cx="3804000" cy="3456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7750" lIns="97750" spcFirstLastPara="1" rIns="97750" wrap="square" tIns="97750">
            <a:sp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8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1" name="Google Shape;211;p19"/>
          <p:cNvSpPr txBox="1"/>
          <p:nvPr/>
        </p:nvSpPr>
        <p:spPr>
          <a:xfrm>
            <a:off x="707875" y="1190350"/>
            <a:ext cx="3106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id" sz="1600">
                <a:solidFill>
                  <a:srgbClr val="1474AF"/>
                </a:solidFill>
                <a:latin typeface="Roboto"/>
                <a:ea typeface="Roboto"/>
                <a:cs typeface="Roboto"/>
                <a:sym typeface="Roboto"/>
              </a:rPr>
              <a:t>Methodology</a:t>
            </a:r>
            <a:endParaRPr b="1" sz="1600">
              <a:solidFill>
                <a:srgbClr val="1474A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12" name="Google Shape;212;p19"/>
          <p:cNvGrpSpPr/>
          <p:nvPr/>
        </p:nvGrpSpPr>
        <p:grpSpPr>
          <a:xfrm>
            <a:off x="180011" y="4820007"/>
            <a:ext cx="1187769" cy="219753"/>
            <a:chOff x="180011" y="4820007"/>
            <a:chExt cx="1187769" cy="219753"/>
          </a:xfrm>
        </p:grpSpPr>
        <p:sp>
          <p:nvSpPr>
            <p:cNvPr id="213" name="Google Shape;213;p19"/>
            <p:cNvSpPr/>
            <p:nvPr/>
          </p:nvSpPr>
          <p:spPr>
            <a:xfrm>
              <a:off x="183010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4" name="Google Shape;214;p19"/>
            <p:cNvSpPr/>
            <p:nvPr/>
          </p:nvSpPr>
          <p:spPr>
            <a:xfrm>
              <a:off x="386364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5" name="Google Shape;215;p19"/>
            <p:cNvSpPr/>
            <p:nvPr/>
          </p:nvSpPr>
          <p:spPr>
            <a:xfrm>
              <a:off x="589717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6" name="Google Shape;216;p19"/>
            <p:cNvSpPr/>
            <p:nvPr/>
          </p:nvSpPr>
          <p:spPr>
            <a:xfrm>
              <a:off x="793071" y="4847319"/>
              <a:ext cx="168000" cy="168000"/>
            </a:xfrm>
            <a:prstGeom prst="ellipse">
              <a:avLst/>
            </a:prstGeom>
            <a:solidFill>
              <a:srgbClr val="FF9900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7" name="Google Shape;217;p19"/>
            <p:cNvSpPr/>
            <p:nvPr/>
          </p:nvSpPr>
          <p:spPr>
            <a:xfrm>
              <a:off x="996425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8" name="Google Shape;218;p19"/>
            <p:cNvSpPr txBox="1"/>
            <p:nvPr/>
          </p:nvSpPr>
          <p:spPr>
            <a:xfrm>
              <a:off x="180011" y="4824616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9" name="Google Shape;219;p19"/>
            <p:cNvSpPr txBox="1"/>
            <p:nvPr/>
          </p:nvSpPr>
          <p:spPr>
            <a:xfrm>
              <a:off x="386368" y="4821554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2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0" name="Google Shape;220;p19"/>
            <p:cNvSpPr txBox="1"/>
            <p:nvPr/>
          </p:nvSpPr>
          <p:spPr>
            <a:xfrm>
              <a:off x="589722" y="4823085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3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1" name="Google Shape;221;p19"/>
            <p:cNvSpPr txBox="1"/>
            <p:nvPr/>
          </p:nvSpPr>
          <p:spPr>
            <a:xfrm>
              <a:off x="793076" y="4820007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4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2" name="Google Shape;222;p19"/>
            <p:cNvSpPr txBox="1"/>
            <p:nvPr/>
          </p:nvSpPr>
          <p:spPr>
            <a:xfrm>
              <a:off x="996429" y="4828713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5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3" name="Google Shape;223;p19"/>
            <p:cNvSpPr/>
            <p:nvPr/>
          </p:nvSpPr>
          <p:spPr>
            <a:xfrm>
              <a:off x="1199775" y="4848966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4" name="Google Shape;224;p19"/>
            <p:cNvSpPr txBox="1"/>
            <p:nvPr/>
          </p:nvSpPr>
          <p:spPr>
            <a:xfrm>
              <a:off x="1199779" y="4830360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6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0"/>
          <p:cNvSpPr txBox="1"/>
          <p:nvPr>
            <p:ph idx="4294967295" type="ctrTitle"/>
          </p:nvPr>
        </p:nvSpPr>
        <p:spPr>
          <a:xfrm>
            <a:off x="303925" y="270350"/>
            <a:ext cx="26172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3600">
                <a:solidFill>
                  <a:srgbClr val="FF0000"/>
                </a:solidFill>
              </a:rPr>
              <a:t>_Calm </a:t>
            </a:r>
            <a:r>
              <a:rPr b="1" lang="id" sz="3600">
                <a:solidFill>
                  <a:srgbClr val="FF9900"/>
                </a:solidFill>
              </a:rPr>
              <a:t>Space_</a:t>
            </a:r>
            <a:endParaRPr sz="3600"/>
          </a:p>
        </p:txBody>
      </p:sp>
      <p:sp>
        <p:nvSpPr>
          <p:cNvPr id="230" name="Google Shape;230;p20"/>
          <p:cNvSpPr txBox="1"/>
          <p:nvPr/>
        </p:nvSpPr>
        <p:spPr>
          <a:xfrm>
            <a:off x="451052" y="1140700"/>
            <a:ext cx="3804000" cy="3456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7750" lIns="97750" spcFirstLastPara="1" rIns="97750" wrap="square" tIns="97750">
            <a:sp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8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707875" y="1190350"/>
            <a:ext cx="3106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id" sz="160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Conflict is Systematic</a:t>
            </a:r>
            <a:endParaRPr b="1" sz="1600">
              <a:solidFill>
                <a:srgbClr val="2632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p20"/>
          <p:cNvSpPr txBox="1"/>
          <p:nvPr>
            <p:ph type="title"/>
          </p:nvPr>
        </p:nvSpPr>
        <p:spPr>
          <a:xfrm>
            <a:off x="451050" y="1929100"/>
            <a:ext cx="3804000" cy="14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AutoNum type="arabicPeriod"/>
            </a:pP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Almost all students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 reported </a:t>
            </a: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conflicts 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due to social media.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AutoNum type="arabicPeriod"/>
            </a:pP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Not linked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 to </a:t>
            </a: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gender 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(male vs female similar conflict rates).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AutoNum type="arabicPeriod"/>
            </a:pPr>
            <a:r>
              <a:rPr lang="id" sz="1200">
                <a:latin typeface="Roboto"/>
                <a:ea typeface="Roboto"/>
                <a:cs typeface="Roboto"/>
                <a:sym typeface="Roboto"/>
              </a:rPr>
              <a:t>Education level: </a:t>
            </a: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graduate 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students </a:t>
            </a: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slightly better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, but conflict still significant.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3" name="Google Shape;233;p20" title="Conflict Rate (2)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8693" y="2589769"/>
            <a:ext cx="2766199" cy="1162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0" title="Conflict Rate (3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7375" y="1391425"/>
            <a:ext cx="3328838" cy="1107513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0"/>
          <p:cNvSpPr txBox="1"/>
          <p:nvPr/>
        </p:nvSpPr>
        <p:spPr>
          <a:xfrm>
            <a:off x="4418700" y="3842900"/>
            <a:ext cx="344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  <a:highlight>
                  <a:srgbClr val="FFF2CC"/>
                </a:highlight>
                <a:latin typeface="Open Sans"/>
                <a:ea typeface="Open Sans"/>
                <a:cs typeface="Open Sans"/>
                <a:sym typeface="Open Sans"/>
              </a:rPr>
              <a:t>“</a:t>
            </a:r>
            <a:r>
              <a:rPr b="1" lang="id" sz="1200">
                <a:solidFill>
                  <a:schemeClr val="dk1"/>
                </a:solidFill>
                <a:highlight>
                  <a:srgbClr val="FFF2CC"/>
                </a:highlight>
                <a:latin typeface="Open Sans"/>
                <a:ea typeface="Open Sans"/>
                <a:cs typeface="Open Sans"/>
                <a:sym typeface="Open Sans"/>
              </a:rPr>
              <a:t>Conflict</a:t>
            </a:r>
            <a:r>
              <a:rPr lang="id" sz="1200">
                <a:solidFill>
                  <a:schemeClr val="dk1"/>
                </a:solidFill>
                <a:highlight>
                  <a:srgbClr val="FFF2CC"/>
                </a:highlight>
                <a:latin typeface="Open Sans"/>
                <a:ea typeface="Open Sans"/>
                <a:cs typeface="Open Sans"/>
                <a:sym typeface="Open Sans"/>
              </a:rPr>
              <a:t> is </a:t>
            </a:r>
            <a:r>
              <a:rPr b="1" lang="id" sz="1200">
                <a:solidFill>
                  <a:schemeClr val="dk1"/>
                </a:solidFill>
                <a:highlight>
                  <a:srgbClr val="FFF2CC"/>
                </a:highlight>
                <a:latin typeface="Open Sans"/>
                <a:ea typeface="Open Sans"/>
                <a:cs typeface="Open Sans"/>
                <a:sym typeface="Open Sans"/>
              </a:rPr>
              <a:t>widespread</a:t>
            </a:r>
            <a:r>
              <a:rPr lang="id" sz="1200">
                <a:solidFill>
                  <a:schemeClr val="dk1"/>
                </a:solidFill>
                <a:highlight>
                  <a:srgbClr val="FFF2CC"/>
                </a:highlight>
                <a:latin typeface="Open Sans"/>
                <a:ea typeface="Open Sans"/>
                <a:cs typeface="Open Sans"/>
                <a:sym typeface="Open Sans"/>
              </a:rPr>
              <a:t>, not </a:t>
            </a:r>
            <a:r>
              <a:rPr b="1" lang="id" sz="1200">
                <a:solidFill>
                  <a:schemeClr val="dk1"/>
                </a:solidFill>
                <a:highlight>
                  <a:srgbClr val="FFF2CC"/>
                </a:highlight>
                <a:latin typeface="Open Sans"/>
                <a:ea typeface="Open Sans"/>
                <a:cs typeface="Open Sans"/>
                <a:sym typeface="Open Sans"/>
              </a:rPr>
              <a:t>isolated</a:t>
            </a:r>
            <a:r>
              <a:rPr lang="id" sz="1200">
                <a:solidFill>
                  <a:schemeClr val="dk1"/>
                </a:solidFill>
                <a:highlight>
                  <a:srgbClr val="FFF2CC"/>
                </a:highlight>
                <a:latin typeface="Open Sans"/>
                <a:ea typeface="Open Sans"/>
                <a:cs typeface="Open Sans"/>
                <a:sym typeface="Open Sans"/>
              </a:rPr>
              <a:t>.”</a:t>
            </a:r>
            <a:endParaRPr sz="1200">
              <a:solidFill>
                <a:schemeClr val="dk1"/>
              </a:solidFill>
              <a:highlight>
                <a:srgbClr val="FFF2CC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451055" y="1647425"/>
            <a:ext cx="3106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id">
                <a:latin typeface="Roboto SemiBold"/>
                <a:ea typeface="Roboto SemiBold"/>
                <a:cs typeface="Roboto SemiBold"/>
                <a:sym typeface="Roboto SemiBold"/>
              </a:rPr>
              <a:t>&gt; </a:t>
            </a:r>
            <a:r>
              <a:rPr b="1" i="1" lang="id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Conflict: A Systematic Issue</a:t>
            </a:r>
            <a:endParaRPr i="1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grpSp>
        <p:nvGrpSpPr>
          <p:cNvPr id="237" name="Google Shape;237;p20"/>
          <p:cNvGrpSpPr/>
          <p:nvPr/>
        </p:nvGrpSpPr>
        <p:grpSpPr>
          <a:xfrm>
            <a:off x="180011" y="4821554"/>
            <a:ext cx="1187769" cy="218206"/>
            <a:chOff x="180011" y="4821554"/>
            <a:chExt cx="1187769" cy="218206"/>
          </a:xfrm>
        </p:grpSpPr>
        <p:sp>
          <p:nvSpPr>
            <p:cNvPr id="238" name="Google Shape;238;p20"/>
            <p:cNvSpPr/>
            <p:nvPr/>
          </p:nvSpPr>
          <p:spPr>
            <a:xfrm>
              <a:off x="183010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9" name="Google Shape;239;p20"/>
            <p:cNvSpPr/>
            <p:nvPr/>
          </p:nvSpPr>
          <p:spPr>
            <a:xfrm>
              <a:off x="386364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0" name="Google Shape;240;p20"/>
            <p:cNvSpPr/>
            <p:nvPr/>
          </p:nvSpPr>
          <p:spPr>
            <a:xfrm>
              <a:off x="589717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1" name="Google Shape;241;p20"/>
            <p:cNvSpPr/>
            <p:nvPr/>
          </p:nvSpPr>
          <p:spPr>
            <a:xfrm>
              <a:off x="793071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2" name="Google Shape;242;p20"/>
            <p:cNvSpPr/>
            <p:nvPr/>
          </p:nvSpPr>
          <p:spPr>
            <a:xfrm>
              <a:off x="996425" y="4847319"/>
              <a:ext cx="168000" cy="168000"/>
            </a:xfrm>
            <a:prstGeom prst="ellipse">
              <a:avLst/>
            </a:prstGeom>
            <a:solidFill>
              <a:srgbClr val="FF9900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3" name="Google Shape;243;p20"/>
            <p:cNvSpPr txBox="1"/>
            <p:nvPr/>
          </p:nvSpPr>
          <p:spPr>
            <a:xfrm>
              <a:off x="180011" y="4824616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4" name="Google Shape;244;p20"/>
            <p:cNvSpPr txBox="1"/>
            <p:nvPr/>
          </p:nvSpPr>
          <p:spPr>
            <a:xfrm>
              <a:off x="386368" y="4821554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2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5" name="Google Shape;245;p20"/>
            <p:cNvSpPr txBox="1"/>
            <p:nvPr/>
          </p:nvSpPr>
          <p:spPr>
            <a:xfrm>
              <a:off x="589722" y="4823085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3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6" name="Google Shape;246;p20"/>
            <p:cNvSpPr txBox="1"/>
            <p:nvPr/>
          </p:nvSpPr>
          <p:spPr>
            <a:xfrm>
              <a:off x="793076" y="4823147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4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7" name="Google Shape;247;p20"/>
            <p:cNvSpPr txBox="1"/>
            <p:nvPr/>
          </p:nvSpPr>
          <p:spPr>
            <a:xfrm>
              <a:off x="996429" y="4825900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5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8" name="Google Shape;248;p20"/>
            <p:cNvSpPr/>
            <p:nvPr/>
          </p:nvSpPr>
          <p:spPr>
            <a:xfrm>
              <a:off x="1199775" y="4848966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9" name="Google Shape;249;p20"/>
            <p:cNvSpPr txBox="1"/>
            <p:nvPr/>
          </p:nvSpPr>
          <p:spPr>
            <a:xfrm>
              <a:off x="1199779" y="4830360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6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1"/>
          <p:cNvSpPr txBox="1"/>
          <p:nvPr>
            <p:ph type="title"/>
          </p:nvPr>
        </p:nvSpPr>
        <p:spPr>
          <a:xfrm>
            <a:off x="773700" y="1806450"/>
            <a:ext cx="4462800" cy="259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400">
                <a:latin typeface="Roboto"/>
                <a:ea typeface="Roboto"/>
                <a:cs typeface="Roboto"/>
                <a:sym typeface="Roboto"/>
              </a:rPr>
              <a:t>“</a:t>
            </a:r>
            <a:r>
              <a:rPr i="1" lang="id" sz="1400">
                <a:latin typeface="Roboto"/>
                <a:ea typeface="Roboto"/>
                <a:cs typeface="Roboto"/>
                <a:sym typeface="Roboto"/>
              </a:rPr>
              <a:t>The World Health Organization (</a:t>
            </a:r>
            <a:r>
              <a:rPr b="1" i="1" lang="id" sz="1400">
                <a:latin typeface="Roboto"/>
                <a:ea typeface="Roboto"/>
                <a:cs typeface="Roboto"/>
                <a:sym typeface="Roboto"/>
              </a:rPr>
              <a:t>WHO</a:t>
            </a:r>
            <a:r>
              <a:rPr i="1" lang="id" sz="1400">
                <a:latin typeface="Roboto"/>
                <a:ea typeface="Roboto"/>
                <a:cs typeface="Roboto"/>
                <a:sym typeface="Roboto"/>
              </a:rPr>
              <a:t>) </a:t>
            </a:r>
            <a:r>
              <a:rPr b="1" i="1" lang="id" sz="1400">
                <a:latin typeface="Roboto"/>
                <a:ea typeface="Roboto"/>
                <a:cs typeface="Roboto"/>
                <a:sym typeface="Roboto"/>
              </a:rPr>
              <a:t>does not specify a particular</a:t>
            </a:r>
            <a:r>
              <a:rPr i="1" lang="id" sz="1400">
                <a:latin typeface="Roboto"/>
                <a:ea typeface="Roboto"/>
                <a:cs typeface="Roboto"/>
                <a:sym typeface="Roboto"/>
              </a:rPr>
              <a:t> “international sleep time,” but </a:t>
            </a:r>
            <a:r>
              <a:rPr b="1" i="1" lang="id" sz="1400">
                <a:latin typeface="Roboto"/>
                <a:ea typeface="Roboto"/>
                <a:cs typeface="Roboto"/>
                <a:sym typeface="Roboto"/>
              </a:rPr>
              <a:t>recommends </a:t>
            </a:r>
            <a:r>
              <a:rPr i="1" lang="id" sz="1400">
                <a:latin typeface="Roboto"/>
                <a:ea typeface="Roboto"/>
                <a:cs typeface="Roboto"/>
                <a:sym typeface="Roboto"/>
              </a:rPr>
              <a:t>different sleep durations for different age groups. For adults (</a:t>
            </a:r>
            <a:r>
              <a:rPr b="1" i="1" lang="id" sz="1400">
                <a:latin typeface="Roboto"/>
                <a:ea typeface="Roboto"/>
                <a:cs typeface="Roboto"/>
                <a:sym typeface="Roboto"/>
              </a:rPr>
              <a:t>18–64 years old), 7–9 hours</a:t>
            </a:r>
            <a:r>
              <a:rPr i="1" lang="id" sz="1400">
                <a:latin typeface="Roboto"/>
                <a:ea typeface="Roboto"/>
                <a:cs typeface="Roboto"/>
                <a:sym typeface="Roboto"/>
              </a:rPr>
              <a:t> of sleep per night is recommended, while adolescents (14–17 years old) need 8–10 hours of sleep. Less than these durations can have a negative impact on health and daily performance.</a:t>
            </a:r>
            <a:r>
              <a:rPr lang="id" sz="1400">
                <a:latin typeface="Roboto"/>
                <a:ea typeface="Roboto"/>
                <a:cs typeface="Roboto"/>
                <a:sym typeface="Roboto"/>
              </a:rPr>
              <a:t>”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 u="sng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3"/>
              </a:rPr>
              <a:t>nhlbi - 2022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" name="Google Shape;255;p21"/>
          <p:cNvSpPr txBox="1"/>
          <p:nvPr>
            <p:ph idx="4294967295" type="ctrTitle"/>
          </p:nvPr>
        </p:nvSpPr>
        <p:spPr>
          <a:xfrm>
            <a:off x="303925" y="270350"/>
            <a:ext cx="26172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3600">
                <a:solidFill>
                  <a:srgbClr val="FF0000"/>
                </a:solidFill>
              </a:rPr>
              <a:t>_Calm </a:t>
            </a:r>
            <a:r>
              <a:rPr b="1" lang="id" sz="3600">
                <a:solidFill>
                  <a:srgbClr val="FF9900"/>
                </a:solidFill>
              </a:rPr>
              <a:t>Space_</a:t>
            </a:r>
            <a:endParaRPr sz="3600"/>
          </a:p>
        </p:txBody>
      </p:sp>
      <p:sp>
        <p:nvSpPr>
          <p:cNvPr id="256" name="Google Shape;256;p21"/>
          <p:cNvSpPr txBox="1"/>
          <p:nvPr/>
        </p:nvSpPr>
        <p:spPr>
          <a:xfrm>
            <a:off x="451052" y="1140700"/>
            <a:ext cx="3804000" cy="3456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7750" lIns="97750" spcFirstLastPara="1" rIns="97750" wrap="square" tIns="97750">
            <a:sp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8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707875" y="1190350"/>
            <a:ext cx="3106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id" sz="160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Sleep as a Key Mediator</a:t>
            </a:r>
            <a:endParaRPr b="1" sz="1600">
              <a:solidFill>
                <a:srgbClr val="2632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8" name="Google Shape;258;p21" title="Screenshot 2025-09-22 06312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2350" y="2277999"/>
            <a:ext cx="2497675" cy="1660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9" name="Google Shape;259;p21"/>
          <p:cNvGrpSpPr/>
          <p:nvPr/>
        </p:nvGrpSpPr>
        <p:grpSpPr>
          <a:xfrm>
            <a:off x="180011" y="4821554"/>
            <a:ext cx="1187769" cy="218206"/>
            <a:chOff x="180011" y="4821554"/>
            <a:chExt cx="1187769" cy="218206"/>
          </a:xfrm>
        </p:grpSpPr>
        <p:sp>
          <p:nvSpPr>
            <p:cNvPr id="260" name="Google Shape;260;p21"/>
            <p:cNvSpPr/>
            <p:nvPr/>
          </p:nvSpPr>
          <p:spPr>
            <a:xfrm>
              <a:off x="183010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1" name="Google Shape;261;p21"/>
            <p:cNvSpPr/>
            <p:nvPr/>
          </p:nvSpPr>
          <p:spPr>
            <a:xfrm>
              <a:off x="386364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2" name="Google Shape;262;p21"/>
            <p:cNvSpPr/>
            <p:nvPr/>
          </p:nvSpPr>
          <p:spPr>
            <a:xfrm>
              <a:off x="589717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3" name="Google Shape;263;p21"/>
            <p:cNvSpPr/>
            <p:nvPr/>
          </p:nvSpPr>
          <p:spPr>
            <a:xfrm>
              <a:off x="793071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4" name="Google Shape;264;p21"/>
            <p:cNvSpPr/>
            <p:nvPr/>
          </p:nvSpPr>
          <p:spPr>
            <a:xfrm>
              <a:off x="996425" y="4847319"/>
              <a:ext cx="168000" cy="168000"/>
            </a:xfrm>
            <a:prstGeom prst="ellipse">
              <a:avLst/>
            </a:prstGeom>
            <a:solidFill>
              <a:srgbClr val="FF9900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5" name="Google Shape;265;p21"/>
            <p:cNvSpPr txBox="1"/>
            <p:nvPr/>
          </p:nvSpPr>
          <p:spPr>
            <a:xfrm>
              <a:off x="180011" y="4824616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6" name="Google Shape;266;p21"/>
            <p:cNvSpPr txBox="1"/>
            <p:nvPr/>
          </p:nvSpPr>
          <p:spPr>
            <a:xfrm>
              <a:off x="386368" y="4821554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2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7" name="Google Shape;267;p21"/>
            <p:cNvSpPr txBox="1"/>
            <p:nvPr/>
          </p:nvSpPr>
          <p:spPr>
            <a:xfrm>
              <a:off x="589722" y="4823085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3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8" name="Google Shape;268;p21"/>
            <p:cNvSpPr txBox="1"/>
            <p:nvPr/>
          </p:nvSpPr>
          <p:spPr>
            <a:xfrm>
              <a:off x="793076" y="4823147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4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9" name="Google Shape;269;p21"/>
            <p:cNvSpPr txBox="1"/>
            <p:nvPr/>
          </p:nvSpPr>
          <p:spPr>
            <a:xfrm>
              <a:off x="996429" y="4825900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5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0" name="Google Shape;270;p21"/>
            <p:cNvSpPr/>
            <p:nvPr/>
          </p:nvSpPr>
          <p:spPr>
            <a:xfrm>
              <a:off x="1199775" y="4848966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1" name="Google Shape;271;p21"/>
            <p:cNvSpPr txBox="1"/>
            <p:nvPr/>
          </p:nvSpPr>
          <p:spPr>
            <a:xfrm>
              <a:off x="1199779" y="4830360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6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2"/>
          <p:cNvSpPr txBox="1"/>
          <p:nvPr>
            <p:ph idx="4294967295" type="ctrTitle"/>
          </p:nvPr>
        </p:nvSpPr>
        <p:spPr>
          <a:xfrm>
            <a:off x="303925" y="270350"/>
            <a:ext cx="26172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3600">
                <a:solidFill>
                  <a:srgbClr val="FF0000"/>
                </a:solidFill>
              </a:rPr>
              <a:t>_Calm </a:t>
            </a:r>
            <a:r>
              <a:rPr b="1" lang="id" sz="3600">
                <a:solidFill>
                  <a:srgbClr val="FF9900"/>
                </a:solidFill>
              </a:rPr>
              <a:t>Space_</a:t>
            </a:r>
            <a:endParaRPr sz="3600"/>
          </a:p>
        </p:txBody>
      </p:sp>
      <p:sp>
        <p:nvSpPr>
          <p:cNvPr id="277" name="Google Shape;277;p22"/>
          <p:cNvSpPr txBox="1"/>
          <p:nvPr/>
        </p:nvSpPr>
        <p:spPr>
          <a:xfrm>
            <a:off x="451050" y="1140700"/>
            <a:ext cx="3624300" cy="3456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7750" lIns="97750" spcFirstLastPara="1" rIns="97750" wrap="square" tIns="97750">
            <a:sp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8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8" name="Google Shape;278;p22"/>
          <p:cNvSpPr txBox="1"/>
          <p:nvPr/>
        </p:nvSpPr>
        <p:spPr>
          <a:xfrm>
            <a:off x="707875" y="1190350"/>
            <a:ext cx="3106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id" sz="160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Sleep as a Key Mediator</a:t>
            </a:r>
            <a:endParaRPr b="1" sz="1600">
              <a:solidFill>
                <a:srgbClr val="2632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" name="Google Shape;279;p22"/>
          <p:cNvSpPr txBox="1"/>
          <p:nvPr>
            <p:ph type="title"/>
          </p:nvPr>
        </p:nvSpPr>
        <p:spPr>
          <a:xfrm>
            <a:off x="451050" y="1929100"/>
            <a:ext cx="3745200" cy="126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171450" lvl="0" marL="269999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AutoNum type="arabicPeriod"/>
            </a:pP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&lt;6 hours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 of sleep is </a:t>
            </a: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associated 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with </a:t>
            </a: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the lowest mental health scores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 (–85%).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171450" lvl="0" marL="269999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AutoNum type="arabicPeriod"/>
            </a:pP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7 hours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 of sleep </a:t>
            </a: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supports better health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 (+113%).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171450" lvl="0" marL="269999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AutoNum type="arabicPeriod"/>
            </a:pPr>
            <a:r>
              <a:rPr lang="id" sz="1200"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clear negative correlation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: the more time spent in front of a screen, the less sleep.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" name="Google Shape;280;p22"/>
          <p:cNvSpPr txBox="1"/>
          <p:nvPr/>
        </p:nvSpPr>
        <p:spPr>
          <a:xfrm>
            <a:off x="451055" y="1647425"/>
            <a:ext cx="3106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id">
                <a:latin typeface="Roboto SemiBold"/>
                <a:ea typeface="Roboto SemiBold"/>
                <a:cs typeface="Roboto SemiBold"/>
                <a:sym typeface="Roboto SemiBold"/>
              </a:rPr>
              <a:t>&gt; </a:t>
            </a:r>
            <a:r>
              <a:rPr b="1" i="1" lang="id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Sleep Duration &amp; Mental Health</a:t>
            </a:r>
            <a:endParaRPr i="1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pic>
        <p:nvPicPr>
          <p:cNvPr id="281" name="Google Shape;28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5050" y="2924475"/>
            <a:ext cx="4520001" cy="212909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2"/>
          <p:cNvSpPr/>
          <p:nvPr/>
        </p:nvSpPr>
        <p:spPr>
          <a:xfrm>
            <a:off x="5211954" y="3272540"/>
            <a:ext cx="1274700" cy="285000"/>
          </a:xfrm>
          <a:prstGeom prst="rect">
            <a:avLst/>
          </a:prstGeom>
          <a:noFill/>
          <a:ln cap="flat" cmpd="sng" w="91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150" lIns="88150" spcFirstLastPara="1" rIns="88150" wrap="square" tIns="88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3" name="Google Shape;283;p22"/>
          <p:cNvSpPr txBox="1"/>
          <p:nvPr/>
        </p:nvSpPr>
        <p:spPr>
          <a:xfrm>
            <a:off x="5134400" y="3037564"/>
            <a:ext cx="24801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88150" lIns="88150" spcFirstLastPara="1" rIns="88150" wrap="square" tIns="881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771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“High screen time = short sleep.”</a:t>
            </a:r>
            <a:endParaRPr b="1" sz="77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84" name="Google Shape;284;p22" title="Sleep vs Mental Health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92124" y="858150"/>
            <a:ext cx="1770088" cy="21290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5" name="Google Shape;285;p22"/>
          <p:cNvCxnSpPr/>
          <p:nvPr/>
        </p:nvCxnSpPr>
        <p:spPr>
          <a:xfrm rot="10800000">
            <a:off x="6737979" y="1532096"/>
            <a:ext cx="490800" cy="0"/>
          </a:xfrm>
          <a:prstGeom prst="straightConnector1">
            <a:avLst/>
          </a:prstGeom>
          <a:noFill/>
          <a:ln cap="flat" cmpd="sng" w="82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" name="Google Shape;286;p22"/>
          <p:cNvCxnSpPr/>
          <p:nvPr/>
        </p:nvCxnSpPr>
        <p:spPr>
          <a:xfrm rot="10800000">
            <a:off x="6732757" y="1064512"/>
            <a:ext cx="1634700" cy="0"/>
          </a:xfrm>
          <a:prstGeom prst="straightConnector1">
            <a:avLst/>
          </a:prstGeom>
          <a:noFill/>
          <a:ln cap="flat" cmpd="sng" w="82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7" name="Google Shape;287;p22"/>
          <p:cNvSpPr txBox="1"/>
          <p:nvPr/>
        </p:nvSpPr>
        <p:spPr>
          <a:xfrm>
            <a:off x="6651616" y="1322367"/>
            <a:ext cx="427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78900" lIns="78900" spcFirstLastPara="1" rIns="78900" wrap="square" tIns="78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69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85%</a:t>
            </a:r>
            <a:endParaRPr b="1" sz="69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8" name="Google Shape;288;p22"/>
          <p:cNvSpPr txBox="1"/>
          <p:nvPr/>
        </p:nvSpPr>
        <p:spPr>
          <a:xfrm>
            <a:off x="6659318" y="858150"/>
            <a:ext cx="427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78900" lIns="78900" spcFirstLastPara="1" rIns="78900" wrap="square" tIns="78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69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113%</a:t>
            </a:r>
            <a:endParaRPr b="1" sz="69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89" name="Google Shape;289;p22"/>
          <p:cNvGrpSpPr/>
          <p:nvPr/>
        </p:nvGrpSpPr>
        <p:grpSpPr>
          <a:xfrm>
            <a:off x="180011" y="4821554"/>
            <a:ext cx="1187769" cy="218206"/>
            <a:chOff x="180011" y="4821554"/>
            <a:chExt cx="1187769" cy="218206"/>
          </a:xfrm>
        </p:grpSpPr>
        <p:sp>
          <p:nvSpPr>
            <p:cNvPr id="290" name="Google Shape;290;p22"/>
            <p:cNvSpPr/>
            <p:nvPr/>
          </p:nvSpPr>
          <p:spPr>
            <a:xfrm>
              <a:off x="183010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91" name="Google Shape;291;p22"/>
            <p:cNvSpPr/>
            <p:nvPr/>
          </p:nvSpPr>
          <p:spPr>
            <a:xfrm>
              <a:off x="386364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92" name="Google Shape;292;p22"/>
            <p:cNvSpPr/>
            <p:nvPr/>
          </p:nvSpPr>
          <p:spPr>
            <a:xfrm>
              <a:off x="589717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93" name="Google Shape;293;p22"/>
            <p:cNvSpPr/>
            <p:nvPr/>
          </p:nvSpPr>
          <p:spPr>
            <a:xfrm>
              <a:off x="793071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94" name="Google Shape;294;p22"/>
            <p:cNvSpPr/>
            <p:nvPr/>
          </p:nvSpPr>
          <p:spPr>
            <a:xfrm>
              <a:off x="996425" y="4847319"/>
              <a:ext cx="168000" cy="168000"/>
            </a:xfrm>
            <a:prstGeom prst="ellipse">
              <a:avLst/>
            </a:prstGeom>
            <a:solidFill>
              <a:srgbClr val="FF9900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95" name="Google Shape;295;p22"/>
            <p:cNvSpPr txBox="1"/>
            <p:nvPr/>
          </p:nvSpPr>
          <p:spPr>
            <a:xfrm>
              <a:off x="180011" y="4824616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96" name="Google Shape;296;p22"/>
            <p:cNvSpPr txBox="1"/>
            <p:nvPr/>
          </p:nvSpPr>
          <p:spPr>
            <a:xfrm>
              <a:off x="386368" y="4821554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2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97" name="Google Shape;297;p22"/>
            <p:cNvSpPr txBox="1"/>
            <p:nvPr/>
          </p:nvSpPr>
          <p:spPr>
            <a:xfrm>
              <a:off x="589722" y="4823085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3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98" name="Google Shape;298;p22"/>
            <p:cNvSpPr txBox="1"/>
            <p:nvPr/>
          </p:nvSpPr>
          <p:spPr>
            <a:xfrm>
              <a:off x="793076" y="4823147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4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99" name="Google Shape;299;p22"/>
            <p:cNvSpPr txBox="1"/>
            <p:nvPr/>
          </p:nvSpPr>
          <p:spPr>
            <a:xfrm>
              <a:off x="996429" y="4825900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5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00" name="Google Shape;300;p22"/>
            <p:cNvSpPr/>
            <p:nvPr/>
          </p:nvSpPr>
          <p:spPr>
            <a:xfrm>
              <a:off x="1199775" y="4848966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01" name="Google Shape;301;p22"/>
            <p:cNvSpPr txBox="1"/>
            <p:nvPr/>
          </p:nvSpPr>
          <p:spPr>
            <a:xfrm>
              <a:off x="1199779" y="4830360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6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3"/>
          <p:cNvSpPr txBox="1"/>
          <p:nvPr>
            <p:ph idx="4294967295" type="ctrTitle"/>
          </p:nvPr>
        </p:nvSpPr>
        <p:spPr>
          <a:xfrm>
            <a:off x="303925" y="270350"/>
            <a:ext cx="26172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3600">
                <a:solidFill>
                  <a:srgbClr val="FF0000"/>
                </a:solidFill>
              </a:rPr>
              <a:t>_Calm </a:t>
            </a:r>
            <a:r>
              <a:rPr b="1" lang="id" sz="3600">
                <a:solidFill>
                  <a:srgbClr val="FF9900"/>
                </a:solidFill>
              </a:rPr>
              <a:t>Space_</a:t>
            </a:r>
            <a:endParaRPr sz="3600"/>
          </a:p>
        </p:txBody>
      </p:sp>
      <p:sp>
        <p:nvSpPr>
          <p:cNvPr id="307" name="Google Shape;307;p23"/>
          <p:cNvSpPr txBox="1"/>
          <p:nvPr/>
        </p:nvSpPr>
        <p:spPr>
          <a:xfrm>
            <a:off x="451050" y="1140700"/>
            <a:ext cx="3624300" cy="3456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7750" lIns="97750" spcFirstLastPara="1" rIns="97750" wrap="square" tIns="97750">
            <a:sp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8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8" name="Google Shape;308;p23"/>
          <p:cNvSpPr txBox="1"/>
          <p:nvPr>
            <p:ph type="title"/>
          </p:nvPr>
        </p:nvSpPr>
        <p:spPr>
          <a:xfrm>
            <a:off x="451050" y="2239650"/>
            <a:ext cx="3745200" cy="18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AutoNum type="arabicPeriod"/>
            </a:pPr>
            <a:r>
              <a:rPr lang="id" sz="1200">
                <a:latin typeface="Roboto"/>
                <a:ea typeface="Roboto"/>
                <a:cs typeface="Roboto"/>
                <a:sym typeface="Roboto"/>
              </a:rPr>
              <a:t>There is an </a:t>
            </a: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pattern increase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 in hours of sleep as the level of education increases.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AutoNum type="arabicPeriod"/>
            </a:pP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High school students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 show the highest potential for sleep deprivation, sleeping less than 6 hours.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AutoNum type="arabicPeriod"/>
            </a:pP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Graduate 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students have the highest average number of hours of sleep, with males sleeping slightly longer than females.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" name="Google Shape;309;p23"/>
          <p:cNvSpPr txBox="1"/>
          <p:nvPr/>
        </p:nvSpPr>
        <p:spPr>
          <a:xfrm>
            <a:off x="707875" y="1190350"/>
            <a:ext cx="3106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id" sz="160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Sleep as a Key Mediator</a:t>
            </a:r>
            <a:endParaRPr b="1" sz="1600">
              <a:solidFill>
                <a:srgbClr val="2632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23"/>
          <p:cNvSpPr txBox="1"/>
          <p:nvPr/>
        </p:nvSpPr>
        <p:spPr>
          <a:xfrm>
            <a:off x="451055" y="1647425"/>
            <a:ext cx="310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id">
                <a:latin typeface="Roboto SemiBold"/>
                <a:ea typeface="Roboto SemiBold"/>
                <a:cs typeface="Roboto SemiBold"/>
                <a:sym typeface="Roboto SemiBold"/>
              </a:rPr>
              <a:t>&gt; </a:t>
            </a:r>
            <a:r>
              <a:rPr b="1" i="1" lang="id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Sleep Duration Sleep Duration </a:t>
            </a:r>
            <a:endParaRPr b="1" i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d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based on academic performance</a:t>
            </a:r>
            <a:endParaRPr i="1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pic>
        <p:nvPicPr>
          <p:cNvPr id="311" name="Google Shape;311;p23" title="AVG Sleep Hours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2575" y="1647425"/>
            <a:ext cx="4642950" cy="22272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2" name="Google Shape;312;p23"/>
          <p:cNvGrpSpPr/>
          <p:nvPr/>
        </p:nvGrpSpPr>
        <p:grpSpPr>
          <a:xfrm>
            <a:off x="180011" y="4821554"/>
            <a:ext cx="1187769" cy="218206"/>
            <a:chOff x="180011" y="4821554"/>
            <a:chExt cx="1187769" cy="218206"/>
          </a:xfrm>
        </p:grpSpPr>
        <p:sp>
          <p:nvSpPr>
            <p:cNvPr id="313" name="Google Shape;313;p23"/>
            <p:cNvSpPr/>
            <p:nvPr/>
          </p:nvSpPr>
          <p:spPr>
            <a:xfrm>
              <a:off x="183010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4" name="Google Shape;314;p23"/>
            <p:cNvSpPr/>
            <p:nvPr/>
          </p:nvSpPr>
          <p:spPr>
            <a:xfrm>
              <a:off x="386364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5" name="Google Shape;315;p23"/>
            <p:cNvSpPr/>
            <p:nvPr/>
          </p:nvSpPr>
          <p:spPr>
            <a:xfrm>
              <a:off x="589717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6" name="Google Shape;316;p23"/>
            <p:cNvSpPr/>
            <p:nvPr/>
          </p:nvSpPr>
          <p:spPr>
            <a:xfrm>
              <a:off x="793071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7" name="Google Shape;317;p23"/>
            <p:cNvSpPr/>
            <p:nvPr/>
          </p:nvSpPr>
          <p:spPr>
            <a:xfrm>
              <a:off x="996425" y="4847319"/>
              <a:ext cx="168000" cy="168000"/>
            </a:xfrm>
            <a:prstGeom prst="ellipse">
              <a:avLst/>
            </a:prstGeom>
            <a:solidFill>
              <a:srgbClr val="FF9900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8" name="Google Shape;318;p23"/>
            <p:cNvSpPr txBox="1"/>
            <p:nvPr/>
          </p:nvSpPr>
          <p:spPr>
            <a:xfrm>
              <a:off x="180011" y="4824616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9" name="Google Shape;319;p23"/>
            <p:cNvSpPr txBox="1"/>
            <p:nvPr/>
          </p:nvSpPr>
          <p:spPr>
            <a:xfrm>
              <a:off x="386368" y="4821554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2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20" name="Google Shape;320;p23"/>
            <p:cNvSpPr txBox="1"/>
            <p:nvPr/>
          </p:nvSpPr>
          <p:spPr>
            <a:xfrm>
              <a:off x="589722" y="4823085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3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21" name="Google Shape;321;p23"/>
            <p:cNvSpPr txBox="1"/>
            <p:nvPr/>
          </p:nvSpPr>
          <p:spPr>
            <a:xfrm>
              <a:off x="793076" y="4823147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4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22" name="Google Shape;322;p23"/>
            <p:cNvSpPr txBox="1"/>
            <p:nvPr/>
          </p:nvSpPr>
          <p:spPr>
            <a:xfrm>
              <a:off x="996429" y="4825900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5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23" name="Google Shape;323;p23"/>
            <p:cNvSpPr/>
            <p:nvPr/>
          </p:nvSpPr>
          <p:spPr>
            <a:xfrm>
              <a:off x="1199775" y="4848966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24" name="Google Shape;324;p23"/>
            <p:cNvSpPr txBox="1"/>
            <p:nvPr/>
          </p:nvSpPr>
          <p:spPr>
            <a:xfrm>
              <a:off x="1199779" y="4830360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6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4"/>
          <p:cNvSpPr txBox="1"/>
          <p:nvPr>
            <p:ph type="title"/>
          </p:nvPr>
        </p:nvSpPr>
        <p:spPr>
          <a:xfrm>
            <a:off x="773700" y="2078600"/>
            <a:ext cx="41904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400">
                <a:latin typeface="Roboto"/>
                <a:ea typeface="Roboto"/>
                <a:cs typeface="Roboto"/>
                <a:sym typeface="Roboto"/>
              </a:rPr>
              <a:t>“</a:t>
            </a:r>
            <a:r>
              <a:rPr i="1" lang="id" sz="1400">
                <a:latin typeface="Roboto"/>
                <a:ea typeface="Roboto"/>
                <a:cs typeface="Roboto"/>
                <a:sym typeface="Roboto"/>
              </a:rPr>
              <a:t>The average screen time for adults (aged </a:t>
            </a:r>
            <a:r>
              <a:rPr b="1" i="1" lang="id" sz="1400">
                <a:latin typeface="Roboto"/>
                <a:ea typeface="Roboto"/>
                <a:cs typeface="Roboto"/>
                <a:sym typeface="Roboto"/>
              </a:rPr>
              <a:t>16 to 64</a:t>
            </a:r>
            <a:r>
              <a:rPr i="1" lang="id" sz="1400">
                <a:latin typeface="Roboto"/>
                <a:ea typeface="Roboto"/>
                <a:cs typeface="Roboto"/>
                <a:sym typeface="Roboto"/>
              </a:rPr>
              <a:t>) is </a:t>
            </a:r>
            <a:r>
              <a:rPr b="1" i="1" lang="id" sz="1400">
                <a:latin typeface="Roboto"/>
                <a:ea typeface="Roboto"/>
                <a:cs typeface="Roboto"/>
                <a:sym typeface="Roboto"/>
              </a:rPr>
              <a:t>6 hours and 37 minutes </a:t>
            </a:r>
            <a:r>
              <a:rPr i="1" lang="id" sz="1400">
                <a:latin typeface="Roboto"/>
                <a:ea typeface="Roboto"/>
                <a:cs typeface="Roboto"/>
                <a:sym typeface="Roboto"/>
              </a:rPr>
              <a:t>per day.</a:t>
            </a:r>
            <a:r>
              <a:rPr lang="id" sz="1400">
                <a:latin typeface="Roboto"/>
                <a:ea typeface="Roboto"/>
                <a:cs typeface="Roboto"/>
                <a:sym typeface="Roboto"/>
              </a:rPr>
              <a:t>”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 u="sng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3"/>
              </a:rPr>
              <a:t>Digital Report 2023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24"/>
          <p:cNvSpPr txBox="1"/>
          <p:nvPr>
            <p:ph idx="4294967295" type="ctrTitle"/>
          </p:nvPr>
        </p:nvSpPr>
        <p:spPr>
          <a:xfrm>
            <a:off x="303925" y="270350"/>
            <a:ext cx="26172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3600">
                <a:solidFill>
                  <a:srgbClr val="FF0000"/>
                </a:solidFill>
              </a:rPr>
              <a:t>_Calm </a:t>
            </a:r>
            <a:r>
              <a:rPr b="1" lang="id" sz="3600">
                <a:solidFill>
                  <a:srgbClr val="FF9900"/>
                </a:solidFill>
              </a:rPr>
              <a:t>Space_</a:t>
            </a:r>
            <a:endParaRPr sz="3600"/>
          </a:p>
        </p:txBody>
      </p:sp>
      <p:sp>
        <p:nvSpPr>
          <p:cNvPr id="331" name="Google Shape;331;p24"/>
          <p:cNvSpPr txBox="1"/>
          <p:nvPr/>
        </p:nvSpPr>
        <p:spPr>
          <a:xfrm>
            <a:off x="451052" y="1140700"/>
            <a:ext cx="3804000" cy="3456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7750" lIns="97750" spcFirstLastPara="1" rIns="97750" wrap="square" tIns="97750">
            <a:sp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8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2" name="Google Shape;332;p24"/>
          <p:cNvSpPr txBox="1"/>
          <p:nvPr/>
        </p:nvSpPr>
        <p:spPr>
          <a:xfrm>
            <a:off x="707875" y="1190350"/>
            <a:ext cx="3106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id" sz="160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Duration Screen time Usage</a:t>
            </a:r>
            <a:endParaRPr b="1" sz="1600">
              <a:solidFill>
                <a:srgbClr val="2632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3" name="Google Shape;333;p24" title="Screenshot 2025-09-22 06335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7975" y="1562713"/>
            <a:ext cx="2781800" cy="2562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4" name="Google Shape;334;p24"/>
          <p:cNvGrpSpPr/>
          <p:nvPr/>
        </p:nvGrpSpPr>
        <p:grpSpPr>
          <a:xfrm>
            <a:off x="180011" y="4821554"/>
            <a:ext cx="1187769" cy="218206"/>
            <a:chOff x="180011" y="4821554"/>
            <a:chExt cx="1187769" cy="218206"/>
          </a:xfrm>
        </p:grpSpPr>
        <p:sp>
          <p:nvSpPr>
            <p:cNvPr id="335" name="Google Shape;335;p24"/>
            <p:cNvSpPr/>
            <p:nvPr/>
          </p:nvSpPr>
          <p:spPr>
            <a:xfrm>
              <a:off x="183010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6" name="Google Shape;336;p24"/>
            <p:cNvSpPr/>
            <p:nvPr/>
          </p:nvSpPr>
          <p:spPr>
            <a:xfrm>
              <a:off x="386364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7" name="Google Shape;337;p24"/>
            <p:cNvSpPr/>
            <p:nvPr/>
          </p:nvSpPr>
          <p:spPr>
            <a:xfrm>
              <a:off x="589717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8" name="Google Shape;338;p24"/>
            <p:cNvSpPr/>
            <p:nvPr/>
          </p:nvSpPr>
          <p:spPr>
            <a:xfrm>
              <a:off x="793071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9" name="Google Shape;339;p24"/>
            <p:cNvSpPr/>
            <p:nvPr/>
          </p:nvSpPr>
          <p:spPr>
            <a:xfrm>
              <a:off x="996425" y="4847319"/>
              <a:ext cx="168000" cy="168000"/>
            </a:xfrm>
            <a:prstGeom prst="ellipse">
              <a:avLst/>
            </a:prstGeom>
            <a:solidFill>
              <a:srgbClr val="FF9900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0" name="Google Shape;340;p24"/>
            <p:cNvSpPr txBox="1"/>
            <p:nvPr/>
          </p:nvSpPr>
          <p:spPr>
            <a:xfrm>
              <a:off x="180011" y="4824616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1" name="Google Shape;341;p24"/>
            <p:cNvSpPr txBox="1"/>
            <p:nvPr/>
          </p:nvSpPr>
          <p:spPr>
            <a:xfrm>
              <a:off x="386368" y="4821554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2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2" name="Google Shape;342;p24"/>
            <p:cNvSpPr txBox="1"/>
            <p:nvPr/>
          </p:nvSpPr>
          <p:spPr>
            <a:xfrm>
              <a:off x="589722" y="4823085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3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3" name="Google Shape;343;p24"/>
            <p:cNvSpPr txBox="1"/>
            <p:nvPr/>
          </p:nvSpPr>
          <p:spPr>
            <a:xfrm>
              <a:off x="793076" y="4823147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4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4" name="Google Shape;344;p24"/>
            <p:cNvSpPr txBox="1"/>
            <p:nvPr/>
          </p:nvSpPr>
          <p:spPr>
            <a:xfrm>
              <a:off x="996429" y="4825900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5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5" name="Google Shape;345;p24"/>
            <p:cNvSpPr/>
            <p:nvPr/>
          </p:nvSpPr>
          <p:spPr>
            <a:xfrm>
              <a:off x="1199775" y="4848966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6" name="Google Shape;346;p24"/>
            <p:cNvSpPr txBox="1"/>
            <p:nvPr/>
          </p:nvSpPr>
          <p:spPr>
            <a:xfrm>
              <a:off x="1199779" y="4830360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6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301" y="1691250"/>
            <a:ext cx="4327711" cy="21604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52" name="Google Shape;35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2160" y="1691250"/>
            <a:ext cx="4509342" cy="2147624"/>
          </a:xfrm>
          <a:prstGeom prst="rect">
            <a:avLst/>
          </a:prstGeom>
          <a:noFill/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53" name="Google Shape;353;p25"/>
          <p:cNvSpPr txBox="1"/>
          <p:nvPr>
            <p:ph idx="4294967295" type="ctrTitle"/>
          </p:nvPr>
        </p:nvSpPr>
        <p:spPr>
          <a:xfrm>
            <a:off x="303925" y="270350"/>
            <a:ext cx="26172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3600">
                <a:solidFill>
                  <a:srgbClr val="FF0000"/>
                </a:solidFill>
              </a:rPr>
              <a:t>_Calm </a:t>
            </a:r>
            <a:r>
              <a:rPr b="1" lang="id" sz="3600">
                <a:solidFill>
                  <a:srgbClr val="FF9900"/>
                </a:solidFill>
              </a:rPr>
              <a:t>Space_</a:t>
            </a:r>
            <a:endParaRPr sz="3600"/>
          </a:p>
        </p:txBody>
      </p:sp>
      <p:sp>
        <p:nvSpPr>
          <p:cNvPr id="354" name="Google Shape;354;p25"/>
          <p:cNvSpPr txBox="1"/>
          <p:nvPr/>
        </p:nvSpPr>
        <p:spPr>
          <a:xfrm>
            <a:off x="451052" y="1140700"/>
            <a:ext cx="3804000" cy="3456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7750" lIns="97750" spcFirstLastPara="1" rIns="97750" wrap="square" tIns="97750">
            <a:sp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8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5" name="Google Shape;355;p25"/>
          <p:cNvSpPr txBox="1"/>
          <p:nvPr/>
        </p:nvSpPr>
        <p:spPr>
          <a:xfrm>
            <a:off x="707875" y="1190350"/>
            <a:ext cx="3106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id" sz="160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Duration Screen time Usage</a:t>
            </a:r>
            <a:endParaRPr b="1" sz="1600">
              <a:solidFill>
                <a:srgbClr val="2632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56" name="Google Shape;356;p25"/>
          <p:cNvGrpSpPr/>
          <p:nvPr/>
        </p:nvGrpSpPr>
        <p:grpSpPr>
          <a:xfrm>
            <a:off x="180011" y="4821554"/>
            <a:ext cx="1187769" cy="218206"/>
            <a:chOff x="180011" y="4821554"/>
            <a:chExt cx="1187769" cy="218206"/>
          </a:xfrm>
        </p:grpSpPr>
        <p:sp>
          <p:nvSpPr>
            <p:cNvPr id="357" name="Google Shape;357;p25"/>
            <p:cNvSpPr/>
            <p:nvPr/>
          </p:nvSpPr>
          <p:spPr>
            <a:xfrm>
              <a:off x="183010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58" name="Google Shape;358;p25"/>
            <p:cNvSpPr/>
            <p:nvPr/>
          </p:nvSpPr>
          <p:spPr>
            <a:xfrm>
              <a:off x="386364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59" name="Google Shape;359;p25"/>
            <p:cNvSpPr/>
            <p:nvPr/>
          </p:nvSpPr>
          <p:spPr>
            <a:xfrm>
              <a:off x="589717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60" name="Google Shape;360;p25"/>
            <p:cNvSpPr/>
            <p:nvPr/>
          </p:nvSpPr>
          <p:spPr>
            <a:xfrm>
              <a:off x="793071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61" name="Google Shape;361;p25"/>
            <p:cNvSpPr/>
            <p:nvPr/>
          </p:nvSpPr>
          <p:spPr>
            <a:xfrm>
              <a:off x="996425" y="4847319"/>
              <a:ext cx="168000" cy="168000"/>
            </a:xfrm>
            <a:prstGeom prst="ellipse">
              <a:avLst/>
            </a:prstGeom>
            <a:solidFill>
              <a:srgbClr val="FF9900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62" name="Google Shape;362;p25"/>
            <p:cNvSpPr txBox="1"/>
            <p:nvPr/>
          </p:nvSpPr>
          <p:spPr>
            <a:xfrm>
              <a:off x="180011" y="4824616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63" name="Google Shape;363;p25"/>
            <p:cNvSpPr txBox="1"/>
            <p:nvPr/>
          </p:nvSpPr>
          <p:spPr>
            <a:xfrm>
              <a:off x="386368" y="4821554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2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64" name="Google Shape;364;p25"/>
            <p:cNvSpPr txBox="1"/>
            <p:nvPr/>
          </p:nvSpPr>
          <p:spPr>
            <a:xfrm>
              <a:off x="589722" y="4823085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3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65" name="Google Shape;365;p25"/>
            <p:cNvSpPr txBox="1"/>
            <p:nvPr/>
          </p:nvSpPr>
          <p:spPr>
            <a:xfrm>
              <a:off x="793076" y="4823147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4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66" name="Google Shape;366;p25"/>
            <p:cNvSpPr txBox="1"/>
            <p:nvPr/>
          </p:nvSpPr>
          <p:spPr>
            <a:xfrm>
              <a:off x="996429" y="4825900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5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67" name="Google Shape;367;p25"/>
            <p:cNvSpPr/>
            <p:nvPr/>
          </p:nvSpPr>
          <p:spPr>
            <a:xfrm>
              <a:off x="1199775" y="4848966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68" name="Google Shape;368;p25"/>
            <p:cNvSpPr txBox="1"/>
            <p:nvPr/>
          </p:nvSpPr>
          <p:spPr>
            <a:xfrm>
              <a:off x="1199779" y="4830360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6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26" title="AVG Screentime Hours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925" y="1795650"/>
            <a:ext cx="5454575" cy="2100624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6"/>
          <p:cNvSpPr txBox="1"/>
          <p:nvPr>
            <p:ph idx="4294967295" type="ctrTitle"/>
          </p:nvPr>
        </p:nvSpPr>
        <p:spPr>
          <a:xfrm>
            <a:off x="303925" y="270350"/>
            <a:ext cx="26172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3600">
                <a:solidFill>
                  <a:srgbClr val="FF0000"/>
                </a:solidFill>
              </a:rPr>
              <a:t>_Calm </a:t>
            </a:r>
            <a:r>
              <a:rPr b="1" lang="id" sz="3600">
                <a:solidFill>
                  <a:srgbClr val="FF9900"/>
                </a:solidFill>
              </a:rPr>
              <a:t>Space_</a:t>
            </a:r>
            <a:endParaRPr sz="3600"/>
          </a:p>
        </p:txBody>
      </p:sp>
      <p:sp>
        <p:nvSpPr>
          <p:cNvPr id="375" name="Google Shape;375;p26"/>
          <p:cNvSpPr txBox="1"/>
          <p:nvPr/>
        </p:nvSpPr>
        <p:spPr>
          <a:xfrm>
            <a:off x="451052" y="1140700"/>
            <a:ext cx="3804000" cy="3456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7750" lIns="97750" spcFirstLastPara="1" rIns="97750" wrap="square" tIns="97750">
            <a:sp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8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6" name="Google Shape;376;p26"/>
          <p:cNvSpPr txBox="1"/>
          <p:nvPr/>
        </p:nvSpPr>
        <p:spPr>
          <a:xfrm>
            <a:off x="707875" y="1190350"/>
            <a:ext cx="3106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id" sz="160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Duration Screen time Usage</a:t>
            </a:r>
            <a:endParaRPr b="1" sz="1600">
              <a:solidFill>
                <a:srgbClr val="2632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" name="Google Shape;377;p26"/>
          <p:cNvSpPr txBox="1"/>
          <p:nvPr>
            <p:ph type="title"/>
          </p:nvPr>
        </p:nvSpPr>
        <p:spPr>
          <a:xfrm>
            <a:off x="5758500" y="2054425"/>
            <a:ext cx="3187200" cy="225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171450" lvl="0" marL="179999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AutoNum type="arabicPeriod"/>
            </a:pP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Dominate 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usage for </a:t>
            </a: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4-6 hours per day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.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171450" lvl="0" marL="179999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AutoNum type="arabicPeriod"/>
            </a:pP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Undergraduates most intensively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 on a daily basis, with some even </a:t>
            </a: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reaching 8 hours per day.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  <a:p>
            <a:pPr indent="-171450" lvl="0" marL="179999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AutoNum type="arabicPeriod"/>
            </a:pP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Graduate 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students are r</a:t>
            </a: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elatively balanced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 (3-6 hours) and rarely exceed 7 hours per day.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171450" lvl="0" marL="179999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AutoNum type="arabicPeriod"/>
            </a:pP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High school 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students use social media less, but still </a:t>
            </a: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significantly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, up to 5 hours per day.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p26"/>
          <p:cNvSpPr txBox="1"/>
          <p:nvPr/>
        </p:nvSpPr>
        <p:spPr>
          <a:xfrm>
            <a:off x="5758504" y="1780150"/>
            <a:ext cx="2643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id">
                <a:latin typeface="Roboto SemiBold"/>
                <a:ea typeface="Roboto SemiBold"/>
                <a:cs typeface="Roboto SemiBold"/>
                <a:sym typeface="Roboto SemiBold"/>
              </a:rPr>
              <a:t>&gt; Daily Usage per Academic</a:t>
            </a:r>
            <a:endParaRPr i="1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grpSp>
        <p:nvGrpSpPr>
          <p:cNvPr id="379" name="Google Shape;379;p26"/>
          <p:cNvGrpSpPr/>
          <p:nvPr/>
        </p:nvGrpSpPr>
        <p:grpSpPr>
          <a:xfrm>
            <a:off x="180011" y="4821554"/>
            <a:ext cx="1187769" cy="218206"/>
            <a:chOff x="180011" y="4821554"/>
            <a:chExt cx="1187769" cy="218206"/>
          </a:xfrm>
        </p:grpSpPr>
        <p:sp>
          <p:nvSpPr>
            <p:cNvPr id="380" name="Google Shape;380;p26"/>
            <p:cNvSpPr/>
            <p:nvPr/>
          </p:nvSpPr>
          <p:spPr>
            <a:xfrm>
              <a:off x="183010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81" name="Google Shape;381;p26"/>
            <p:cNvSpPr/>
            <p:nvPr/>
          </p:nvSpPr>
          <p:spPr>
            <a:xfrm>
              <a:off x="386364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82" name="Google Shape;382;p26"/>
            <p:cNvSpPr/>
            <p:nvPr/>
          </p:nvSpPr>
          <p:spPr>
            <a:xfrm>
              <a:off x="589717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83" name="Google Shape;383;p26"/>
            <p:cNvSpPr/>
            <p:nvPr/>
          </p:nvSpPr>
          <p:spPr>
            <a:xfrm>
              <a:off x="793071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84" name="Google Shape;384;p26"/>
            <p:cNvSpPr/>
            <p:nvPr/>
          </p:nvSpPr>
          <p:spPr>
            <a:xfrm>
              <a:off x="996425" y="4847319"/>
              <a:ext cx="168000" cy="168000"/>
            </a:xfrm>
            <a:prstGeom prst="ellipse">
              <a:avLst/>
            </a:prstGeom>
            <a:solidFill>
              <a:srgbClr val="FF9900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85" name="Google Shape;385;p26"/>
            <p:cNvSpPr txBox="1"/>
            <p:nvPr/>
          </p:nvSpPr>
          <p:spPr>
            <a:xfrm>
              <a:off x="180011" y="4824616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86" name="Google Shape;386;p26"/>
            <p:cNvSpPr txBox="1"/>
            <p:nvPr/>
          </p:nvSpPr>
          <p:spPr>
            <a:xfrm>
              <a:off x="386368" y="4821554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2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87" name="Google Shape;387;p26"/>
            <p:cNvSpPr txBox="1"/>
            <p:nvPr/>
          </p:nvSpPr>
          <p:spPr>
            <a:xfrm>
              <a:off x="589722" y="4823085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3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88" name="Google Shape;388;p26"/>
            <p:cNvSpPr txBox="1"/>
            <p:nvPr/>
          </p:nvSpPr>
          <p:spPr>
            <a:xfrm>
              <a:off x="793076" y="4823147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4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89" name="Google Shape;389;p26"/>
            <p:cNvSpPr txBox="1"/>
            <p:nvPr/>
          </p:nvSpPr>
          <p:spPr>
            <a:xfrm>
              <a:off x="996429" y="4825900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5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90" name="Google Shape;390;p26"/>
            <p:cNvSpPr/>
            <p:nvPr/>
          </p:nvSpPr>
          <p:spPr>
            <a:xfrm>
              <a:off x="1199775" y="4848966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91" name="Google Shape;391;p26"/>
            <p:cNvSpPr txBox="1"/>
            <p:nvPr/>
          </p:nvSpPr>
          <p:spPr>
            <a:xfrm>
              <a:off x="1199779" y="4830360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6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27" title="AVG Screentime Hours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2701" y="1588225"/>
            <a:ext cx="5431050" cy="2171812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27"/>
          <p:cNvSpPr/>
          <p:nvPr/>
        </p:nvSpPr>
        <p:spPr>
          <a:xfrm>
            <a:off x="3361858" y="2868583"/>
            <a:ext cx="4486800" cy="652500"/>
          </a:xfrm>
          <a:prstGeom prst="rect">
            <a:avLst/>
          </a:prstGeom>
          <a:noFill/>
          <a:ln cap="flat" cmpd="sng" w="80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575" lIns="77575" spcFirstLastPara="1" rIns="77575" wrap="square" tIns="77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87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8" name="Google Shape;398;p27"/>
          <p:cNvSpPr txBox="1"/>
          <p:nvPr>
            <p:ph idx="4294967295" type="ctrTitle"/>
          </p:nvPr>
        </p:nvSpPr>
        <p:spPr>
          <a:xfrm>
            <a:off x="303925" y="270350"/>
            <a:ext cx="26172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3600">
                <a:solidFill>
                  <a:srgbClr val="FF0000"/>
                </a:solidFill>
              </a:rPr>
              <a:t>_Calm </a:t>
            </a:r>
            <a:r>
              <a:rPr b="1" lang="id" sz="3600">
                <a:solidFill>
                  <a:srgbClr val="FF9900"/>
                </a:solidFill>
              </a:rPr>
              <a:t>Space_</a:t>
            </a:r>
            <a:endParaRPr sz="3600"/>
          </a:p>
        </p:txBody>
      </p:sp>
      <p:sp>
        <p:nvSpPr>
          <p:cNvPr id="399" name="Google Shape;399;p27"/>
          <p:cNvSpPr txBox="1"/>
          <p:nvPr/>
        </p:nvSpPr>
        <p:spPr>
          <a:xfrm>
            <a:off x="451052" y="1140700"/>
            <a:ext cx="3804000" cy="3456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7750" lIns="97750" spcFirstLastPara="1" rIns="97750" wrap="square" tIns="97750">
            <a:sp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8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0" name="Google Shape;400;p27"/>
          <p:cNvSpPr txBox="1"/>
          <p:nvPr/>
        </p:nvSpPr>
        <p:spPr>
          <a:xfrm>
            <a:off x="707875" y="1190350"/>
            <a:ext cx="3106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id" sz="160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Who is Most at Risk?</a:t>
            </a:r>
            <a:endParaRPr b="1" sz="1600">
              <a:solidFill>
                <a:srgbClr val="2632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1" name="Google Shape;401;p27"/>
          <p:cNvSpPr txBox="1"/>
          <p:nvPr/>
        </p:nvSpPr>
        <p:spPr>
          <a:xfrm>
            <a:off x="451055" y="3619500"/>
            <a:ext cx="3106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id">
                <a:latin typeface="Roboto SemiBold"/>
                <a:ea typeface="Roboto SemiBold"/>
                <a:cs typeface="Roboto SemiBold"/>
                <a:sym typeface="Roboto SemiBold"/>
              </a:rPr>
              <a:t>&gt; </a:t>
            </a:r>
            <a:r>
              <a:rPr b="1" i="1" lang="id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High-Risk Student Groups</a:t>
            </a:r>
            <a:endParaRPr i="1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02" name="Google Shape;402;p27"/>
          <p:cNvSpPr txBox="1"/>
          <p:nvPr>
            <p:ph type="title"/>
          </p:nvPr>
        </p:nvSpPr>
        <p:spPr>
          <a:xfrm>
            <a:off x="388375" y="3919317"/>
            <a:ext cx="5592300" cy="93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171450" lvl="0" marL="179999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AutoNum type="arabicPeriod"/>
            </a:pP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Undergraduates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 are heaviest users (4–8h/day).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171450" lvl="0" marL="179999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AutoNum type="arabicPeriod"/>
            </a:pP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Single/Complicated status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 more extreme screen time.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171450" lvl="0" marL="179999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AutoNum type="arabicPeriod"/>
            </a:pP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Moderate users (3–5h/day)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 paradoxically most conflict-prone (more active interactions).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3" name="Google Shape;403;p27"/>
          <p:cNvSpPr txBox="1"/>
          <p:nvPr/>
        </p:nvSpPr>
        <p:spPr>
          <a:xfrm>
            <a:off x="4686200" y="3760025"/>
            <a:ext cx="389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d" sz="1000">
                <a:solidFill>
                  <a:schemeClr val="dk1"/>
                </a:solidFill>
                <a:highlight>
                  <a:srgbClr val="FFF2CC"/>
                </a:highlight>
                <a:latin typeface="Open Sans"/>
                <a:ea typeface="Open Sans"/>
                <a:cs typeface="Open Sans"/>
                <a:sym typeface="Open Sans"/>
              </a:rPr>
              <a:t>“Undergraduates (single/complicated) are </a:t>
            </a:r>
            <a:r>
              <a:rPr b="1" lang="id" sz="1000">
                <a:solidFill>
                  <a:schemeClr val="dk1"/>
                </a:solidFill>
                <a:highlight>
                  <a:srgbClr val="FFF2CC"/>
                </a:highlight>
                <a:latin typeface="Open Sans"/>
                <a:ea typeface="Open Sans"/>
                <a:cs typeface="Open Sans"/>
                <a:sym typeface="Open Sans"/>
              </a:rPr>
              <a:t>most vulnerable</a:t>
            </a:r>
            <a:r>
              <a:rPr lang="id" sz="1000">
                <a:solidFill>
                  <a:schemeClr val="dk1"/>
                </a:solidFill>
                <a:highlight>
                  <a:srgbClr val="FFF2CC"/>
                </a:highlight>
                <a:latin typeface="Open Sans"/>
                <a:ea typeface="Open Sans"/>
                <a:cs typeface="Open Sans"/>
                <a:sym typeface="Open Sans"/>
              </a:rPr>
              <a:t>.”</a:t>
            </a:r>
            <a:endParaRPr sz="1000">
              <a:solidFill>
                <a:schemeClr val="dk1"/>
              </a:solidFill>
              <a:highlight>
                <a:srgbClr val="FFF2CC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404" name="Google Shape;404;p27"/>
          <p:cNvGrpSpPr/>
          <p:nvPr/>
        </p:nvGrpSpPr>
        <p:grpSpPr>
          <a:xfrm>
            <a:off x="180011" y="4821554"/>
            <a:ext cx="1187769" cy="218206"/>
            <a:chOff x="180011" y="4821554"/>
            <a:chExt cx="1187769" cy="218206"/>
          </a:xfrm>
        </p:grpSpPr>
        <p:sp>
          <p:nvSpPr>
            <p:cNvPr id="405" name="Google Shape;405;p27"/>
            <p:cNvSpPr/>
            <p:nvPr/>
          </p:nvSpPr>
          <p:spPr>
            <a:xfrm>
              <a:off x="183010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06" name="Google Shape;406;p27"/>
            <p:cNvSpPr/>
            <p:nvPr/>
          </p:nvSpPr>
          <p:spPr>
            <a:xfrm>
              <a:off x="386364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07" name="Google Shape;407;p27"/>
            <p:cNvSpPr/>
            <p:nvPr/>
          </p:nvSpPr>
          <p:spPr>
            <a:xfrm>
              <a:off x="589717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08" name="Google Shape;408;p27"/>
            <p:cNvSpPr/>
            <p:nvPr/>
          </p:nvSpPr>
          <p:spPr>
            <a:xfrm>
              <a:off x="793071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09" name="Google Shape;409;p27"/>
            <p:cNvSpPr/>
            <p:nvPr/>
          </p:nvSpPr>
          <p:spPr>
            <a:xfrm>
              <a:off x="996425" y="4847319"/>
              <a:ext cx="168000" cy="168000"/>
            </a:xfrm>
            <a:prstGeom prst="ellipse">
              <a:avLst/>
            </a:prstGeom>
            <a:solidFill>
              <a:srgbClr val="FF9900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0" name="Google Shape;410;p27"/>
            <p:cNvSpPr txBox="1"/>
            <p:nvPr/>
          </p:nvSpPr>
          <p:spPr>
            <a:xfrm>
              <a:off x="180011" y="4824616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1" name="Google Shape;411;p27"/>
            <p:cNvSpPr txBox="1"/>
            <p:nvPr/>
          </p:nvSpPr>
          <p:spPr>
            <a:xfrm>
              <a:off x="386368" y="4821554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2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2" name="Google Shape;412;p27"/>
            <p:cNvSpPr txBox="1"/>
            <p:nvPr/>
          </p:nvSpPr>
          <p:spPr>
            <a:xfrm>
              <a:off x="589722" y="4823085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3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3" name="Google Shape;413;p27"/>
            <p:cNvSpPr txBox="1"/>
            <p:nvPr/>
          </p:nvSpPr>
          <p:spPr>
            <a:xfrm>
              <a:off x="793076" y="4823147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4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4" name="Google Shape;414;p27"/>
            <p:cNvSpPr txBox="1"/>
            <p:nvPr/>
          </p:nvSpPr>
          <p:spPr>
            <a:xfrm>
              <a:off x="996429" y="4825900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5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5" name="Google Shape;415;p27"/>
            <p:cNvSpPr/>
            <p:nvPr/>
          </p:nvSpPr>
          <p:spPr>
            <a:xfrm>
              <a:off x="1199775" y="4848966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6" name="Google Shape;416;p27"/>
            <p:cNvSpPr txBox="1"/>
            <p:nvPr/>
          </p:nvSpPr>
          <p:spPr>
            <a:xfrm>
              <a:off x="1199779" y="4830360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6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8"/>
          <p:cNvSpPr txBox="1"/>
          <p:nvPr>
            <p:ph idx="4294967295" type="ctrTitle"/>
          </p:nvPr>
        </p:nvSpPr>
        <p:spPr>
          <a:xfrm>
            <a:off x="303925" y="270350"/>
            <a:ext cx="26172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3600">
                <a:solidFill>
                  <a:srgbClr val="FF0000"/>
                </a:solidFill>
              </a:rPr>
              <a:t>_Calm </a:t>
            </a:r>
            <a:r>
              <a:rPr b="1" lang="id" sz="3600">
                <a:solidFill>
                  <a:srgbClr val="FF9900"/>
                </a:solidFill>
              </a:rPr>
              <a:t>Space_</a:t>
            </a:r>
            <a:endParaRPr sz="3600"/>
          </a:p>
        </p:txBody>
      </p:sp>
      <p:sp>
        <p:nvSpPr>
          <p:cNvPr id="422" name="Google Shape;422;p28"/>
          <p:cNvSpPr txBox="1"/>
          <p:nvPr/>
        </p:nvSpPr>
        <p:spPr>
          <a:xfrm>
            <a:off x="451052" y="1140700"/>
            <a:ext cx="3804000" cy="3456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7750" lIns="97750" spcFirstLastPara="1" rIns="97750" wrap="square" tIns="97750">
            <a:sp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8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3" name="Google Shape;423;p28"/>
          <p:cNvSpPr txBox="1"/>
          <p:nvPr/>
        </p:nvSpPr>
        <p:spPr>
          <a:xfrm>
            <a:off x="707875" y="1190350"/>
            <a:ext cx="3106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id" sz="160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Segmentation Mental Health</a:t>
            </a:r>
            <a:endParaRPr b="1" sz="1600">
              <a:solidFill>
                <a:srgbClr val="2632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4" name="Google Shape;424;p28"/>
          <p:cNvSpPr txBox="1"/>
          <p:nvPr/>
        </p:nvSpPr>
        <p:spPr>
          <a:xfrm>
            <a:off x="451055" y="1817025"/>
            <a:ext cx="3106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id">
                <a:latin typeface="Roboto SemiBold"/>
                <a:ea typeface="Roboto SemiBold"/>
                <a:cs typeface="Roboto SemiBold"/>
                <a:sym typeface="Roboto SemiBold"/>
              </a:rPr>
              <a:t>&gt; </a:t>
            </a:r>
            <a:r>
              <a:rPr b="1" i="1" lang="id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level of anxiety based on age</a:t>
            </a:r>
            <a:endParaRPr i="1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25" name="Google Shape;425;p28"/>
          <p:cNvSpPr txBox="1"/>
          <p:nvPr>
            <p:ph type="title"/>
          </p:nvPr>
        </p:nvSpPr>
        <p:spPr>
          <a:xfrm>
            <a:off x="388375" y="2139525"/>
            <a:ext cx="4061100" cy="155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AutoNum type="arabicPeriod"/>
            </a:pPr>
            <a:r>
              <a:rPr lang="id" sz="1200">
                <a:latin typeface="Roboto"/>
                <a:ea typeface="Roboto"/>
                <a:cs typeface="Roboto"/>
                <a:sym typeface="Roboto"/>
              </a:rPr>
              <a:t>The average mental health score of respondents was in the medium category.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AutoNum type="arabicPeriod"/>
            </a:pPr>
            <a:r>
              <a:rPr lang="id" sz="1200">
                <a:latin typeface="Roboto"/>
                <a:ea typeface="Roboto"/>
                <a:cs typeface="Roboto"/>
                <a:sym typeface="Roboto"/>
              </a:rPr>
              <a:t>The highest mental health score was among those aged 22, and the lowest was among those aged 18–20.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AutoNum type="arabicPeriod"/>
            </a:pPr>
            <a:r>
              <a:rPr lang="id" sz="1200">
                <a:latin typeface="Roboto"/>
                <a:ea typeface="Roboto"/>
                <a:cs typeface="Roboto"/>
                <a:sym typeface="Roboto"/>
              </a:rPr>
              <a:t>As age increased, mental health scores also increased.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6" name="Google Shape;426;p28" title="Avg Mental Health Score (Age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6200" y="1817025"/>
            <a:ext cx="4061050" cy="1364577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28"/>
          <p:cNvSpPr/>
          <p:nvPr/>
        </p:nvSpPr>
        <p:spPr>
          <a:xfrm>
            <a:off x="7754825" y="2071575"/>
            <a:ext cx="1075800" cy="1110000"/>
          </a:xfrm>
          <a:prstGeom prst="rect">
            <a:avLst/>
          </a:prstGeom>
          <a:noFill/>
          <a:ln cap="flat" cmpd="sng" w="80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575" lIns="77575" spcFirstLastPara="1" rIns="77575" wrap="square" tIns="77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87"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428" name="Google Shape;428;p28"/>
          <p:cNvGrpSpPr/>
          <p:nvPr/>
        </p:nvGrpSpPr>
        <p:grpSpPr>
          <a:xfrm>
            <a:off x="180011" y="4821554"/>
            <a:ext cx="1187769" cy="218206"/>
            <a:chOff x="180011" y="4821554"/>
            <a:chExt cx="1187769" cy="218206"/>
          </a:xfrm>
        </p:grpSpPr>
        <p:sp>
          <p:nvSpPr>
            <p:cNvPr id="429" name="Google Shape;429;p28"/>
            <p:cNvSpPr/>
            <p:nvPr/>
          </p:nvSpPr>
          <p:spPr>
            <a:xfrm>
              <a:off x="183010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30" name="Google Shape;430;p28"/>
            <p:cNvSpPr/>
            <p:nvPr/>
          </p:nvSpPr>
          <p:spPr>
            <a:xfrm>
              <a:off x="386364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31" name="Google Shape;431;p28"/>
            <p:cNvSpPr/>
            <p:nvPr/>
          </p:nvSpPr>
          <p:spPr>
            <a:xfrm>
              <a:off x="589717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32" name="Google Shape;432;p28"/>
            <p:cNvSpPr/>
            <p:nvPr/>
          </p:nvSpPr>
          <p:spPr>
            <a:xfrm>
              <a:off x="793071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33" name="Google Shape;433;p28"/>
            <p:cNvSpPr/>
            <p:nvPr/>
          </p:nvSpPr>
          <p:spPr>
            <a:xfrm>
              <a:off x="996425" y="4847319"/>
              <a:ext cx="168000" cy="168000"/>
            </a:xfrm>
            <a:prstGeom prst="ellipse">
              <a:avLst/>
            </a:prstGeom>
            <a:solidFill>
              <a:srgbClr val="FF9900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34" name="Google Shape;434;p28"/>
            <p:cNvSpPr txBox="1"/>
            <p:nvPr/>
          </p:nvSpPr>
          <p:spPr>
            <a:xfrm>
              <a:off x="180011" y="4824616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35" name="Google Shape;435;p28"/>
            <p:cNvSpPr txBox="1"/>
            <p:nvPr/>
          </p:nvSpPr>
          <p:spPr>
            <a:xfrm>
              <a:off x="386368" y="4821554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2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36" name="Google Shape;436;p28"/>
            <p:cNvSpPr txBox="1"/>
            <p:nvPr/>
          </p:nvSpPr>
          <p:spPr>
            <a:xfrm>
              <a:off x="589722" y="4823085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3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37" name="Google Shape;437;p28"/>
            <p:cNvSpPr txBox="1"/>
            <p:nvPr/>
          </p:nvSpPr>
          <p:spPr>
            <a:xfrm>
              <a:off x="793076" y="4823147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4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38" name="Google Shape;438;p28"/>
            <p:cNvSpPr txBox="1"/>
            <p:nvPr/>
          </p:nvSpPr>
          <p:spPr>
            <a:xfrm>
              <a:off x="996429" y="4825900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5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39" name="Google Shape;439;p28"/>
            <p:cNvSpPr/>
            <p:nvPr/>
          </p:nvSpPr>
          <p:spPr>
            <a:xfrm>
              <a:off x="1199775" y="4848966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40" name="Google Shape;440;p28"/>
            <p:cNvSpPr txBox="1"/>
            <p:nvPr/>
          </p:nvSpPr>
          <p:spPr>
            <a:xfrm>
              <a:off x="1199779" y="4830360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6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Google Shape;445;p29" title="Avg Mental Health Scor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000" y="1829177"/>
            <a:ext cx="5884663" cy="2463551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29"/>
          <p:cNvSpPr txBox="1"/>
          <p:nvPr>
            <p:ph idx="4294967295" type="ctrTitle"/>
          </p:nvPr>
        </p:nvSpPr>
        <p:spPr>
          <a:xfrm>
            <a:off x="303925" y="270350"/>
            <a:ext cx="26172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3600">
                <a:solidFill>
                  <a:srgbClr val="FF0000"/>
                </a:solidFill>
              </a:rPr>
              <a:t>_Calm </a:t>
            </a:r>
            <a:r>
              <a:rPr b="1" lang="id" sz="3600">
                <a:solidFill>
                  <a:srgbClr val="FF9900"/>
                </a:solidFill>
              </a:rPr>
              <a:t>Space_</a:t>
            </a:r>
            <a:endParaRPr sz="3600"/>
          </a:p>
        </p:txBody>
      </p:sp>
      <p:sp>
        <p:nvSpPr>
          <p:cNvPr id="447" name="Google Shape;447;p29"/>
          <p:cNvSpPr txBox="1"/>
          <p:nvPr/>
        </p:nvSpPr>
        <p:spPr>
          <a:xfrm>
            <a:off x="451052" y="1140700"/>
            <a:ext cx="3804000" cy="3456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7750" lIns="97750" spcFirstLastPara="1" rIns="97750" wrap="square" tIns="97750">
            <a:sp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8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8" name="Google Shape;448;p29"/>
          <p:cNvSpPr txBox="1"/>
          <p:nvPr/>
        </p:nvSpPr>
        <p:spPr>
          <a:xfrm>
            <a:off x="707875" y="1190350"/>
            <a:ext cx="3106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id" sz="160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Segmentation Mental Health</a:t>
            </a:r>
            <a:endParaRPr b="1" sz="1600">
              <a:solidFill>
                <a:srgbClr val="2632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9" name="Google Shape;449;p29"/>
          <p:cNvSpPr txBox="1"/>
          <p:nvPr/>
        </p:nvSpPr>
        <p:spPr>
          <a:xfrm>
            <a:off x="5829350" y="2025800"/>
            <a:ext cx="2969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id">
                <a:latin typeface="Roboto SemiBold"/>
                <a:ea typeface="Roboto SemiBold"/>
                <a:cs typeface="Roboto SemiBold"/>
                <a:sym typeface="Roboto SemiBold"/>
              </a:rPr>
              <a:t>&gt; </a:t>
            </a:r>
            <a:r>
              <a:rPr b="1" i="1" lang="id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level of anxiety based on Gender &amp; Academic</a:t>
            </a:r>
            <a:endParaRPr i="1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50" name="Google Shape;450;p29"/>
          <p:cNvSpPr txBox="1"/>
          <p:nvPr>
            <p:ph type="title"/>
          </p:nvPr>
        </p:nvSpPr>
        <p:spPr>
          <a:xfrm>
            <a:off x="5829350" y="2765725"/>
            <a:ext cx="3106200" cy="152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171450" lvl="0" marL="179999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AutoNum type="arabicPeriod"/>
            </a:pPr>
            <a:r>
              <a:rPr lang="id" sz="1200">
                <a:latin typeface="Roboto"/>
                <a:ea typeface="Roboto"/>
                <a:cs typeface="Roboto"/>
                <a:sym typeface="Roboto"/>
              </a:rPr>
              <a:t>Women tend to have higher scores than men, except at the undergraduate level.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171450" lvl="0" marL="179999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AutoNum type="arabicPeriod"/>
            </a:pPr>
            <a:r>
              <a:rPr lang="id" sz="1200">
                <a:latin typeface="Roboto"/>
                <a:ea typeface="Roboto"/>
                <a:cs typeface="Roboto"/>
                <a:sym typeface="Roboto"/>
              </a:rPr>
              <a:t>High levels of anxiety were seen at all levels of education, especially at the undergraduate and graduate levels.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171450" lvl="0" marL="179999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AutoNum type="arabicPeriod"/>
            </a:pPr>
            <a:r>
              <a:rPr lang="id" sz="1200">
                <a:latin typeface="Roboto"/>
                <a:ea typeface="Roboto"/>
                <a:cs typeface="Roboto"/>
                <a:sym typeface="Roboto"/>
              </a:rPr>
              <a:t>There were few high school respondents, but those who reported high scores reached 7.0–7.1.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51" name="Google Shape;451;p29"/>
          <p:cNvGrpSpPr/>
          <p:nvPr/>
        </p:nvGrpSpPr>
        <p:grpSpPr>
          <a:xfrm>
            <a:off x="180011" y="4821554"/>
            <a:ext cx="1187769" cy="218206"/>
            <a:chOff x="180011" y="4821554"/>
            <a:chExt cx="1187769" cy="218206"/>
          </a:xfrm>
        </p:grpSpPr>
        <p:sp>
          <p:nvSpPr>
            <p:cNvPr id="452" name="Google Shape;452;p29"/>
            <p:cNvSpPr/>
            <p:nvPr/>
          </p:nvSpPr>
          <p:spPr>
            <a:xfrm>
              <a:off x="183010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53" name="Google Shape;453;p29"/>
            <p:cNvSpPr/>
            <p:nvPr/>
          </p:nvSpPr>
          <p:spPr>
            <a:xfrm>
              <a:off x="386364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54" name="Google Shape;454;p29"/>
            <p:cNvSpPr/>
            <p:nvPr/>
          </p:nvSpPr>
          <p:spPr>
            <a:xfrm>
              <a:off x="589717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55" name="Google Shape;455;p29"/>
            <p:cNvSpPr/>
            <p:nvPr/>
          </p:nvSpPr>
          <p:spPr>
            <a:xfrm>
              <a:off x="793071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56" name="Google Shape;456;p29"/>
            <p:cNvSpPr/>
            <p:nvPr/>
          </p:nvSpPr>
          <p:spPr>
            <a:xfrm>
              <a:off x="996425" y="4847319"/>
              <a:ext cx="168000" cy="168000"/>
            </a:xfrm>
            <a:prstGeom prst="ellipse">
              <a:avLst/>
            </a:prstGeom>
            <a:solidFill>
              <a:srgbClr val="FF9900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57" name="Google Shape;457;p29"/>
            <p:cNvSpPr txBox="1"/>
            <p:nvPr/>
          </p:nvSpPr>
          <p:spPr>
            <a:xfrm>
              <a:off x="180011" y="4824616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58" name="Google Shape;458;p29"/>
            <p:cNvSpPr txBox="1"/>
            <p:nvPr/>
          </p:nvSpPr>
          <p:spPr>
            <a:xfrm>
              <a:off x="386368" y="4821554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2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59" name="Google Shape;459;p29"/>
            <p:cNvSpPr txBox="1"/>
            <p:nvPr/>
          </p:nvSpPr>
          <p:spPr>
            <a:xfrm>
              <a:off x="589722" y="4823085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3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60" name="Google Shape;460;p29"/>
            <p:cNvSpPr txBox="1"/>
            <p:nvPr/>
          </p:nvSpPr>
          <p:spPr>
            <a:xfrm>
              <a:off x="793076" y="4823147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4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61" name="Google Shape;461;p29"/>
            <p:cNvSpPr txBox="1"/>
            <p:nvPr/>
          </p:nvSpPr>
          <p:spPr>
            <a:xfrm>
              <a:off x="996429" y="4825900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5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62" name="Google Shape;462;p29"/>
            <p:cNvSpPr/>
            <p:nvPr/>
          </p:nvSpPr>
          <p:spPr>
            <a:xfrm>
              <a:off x="1199775" y="4848966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63" name="Google Shape;463;p29"/>
            <p:cNvSpPr txBox="1"/>
            <p:nvPr/>
          </p:nvSpPr>
          <p:spPr>
            <a:xfrm>
              <a:off x="1199779" y="4830360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6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0"/>
          <p:cNvSpPr txBox="1"/>
          <p:nvPr>
            <p:ph idx="4294967295" type="ctrTitle"/>
          </p:nvPr>
        </p:nvSpPr>
        <p:spPr>
          <a:xfrm>
            <a:off x="303925" y="270350"/>
            <a:ext cx="26172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3600">
                <a:solidFill>
                  <a:srgbClr val="FF0000"/>
                </a:solidFill>
              </a:rPr>
              <a:t>_Calm </a:t>
            </a:r>
            <a:r>
              <a:rPr b="1" lang="id" sz="3600">
                <a:solidFill>
                  <a:srgbClr val="FF9900"/>
                </a:solidFill>
              </a:rPr>
              <a:t>Space_</a:t>
            </a:r>
            <a:endParaRPr sz="3600"/>
          </a:p>
        </p:txBody>
      </p:sp>
      <p:sp>
        <p:nvSpPr>
          <p:cNvPr id="469" name="Google Shape;469;p30"/>
          <p:cNvSpPr txBox="1"/>
          <p:nvPr/>
        </p:nvSpPr>
        <p:spPr>
          <a:xfrm>
            <a:off x="451052" y="1140700"/>
            <a:ext cx="3804000" cy="3456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7750" lIns="97750" spcFirstLastPara="1" rIns="97750" wrap="square" tIns="97750">
            <a:sp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8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0" name="Google Shape;470;p30"/>
          <p:cNvSpPr txBox="1"/>
          <p:nvPr/>
        </p:nvSpPr>
        <p:spPr>
          <a:xfrm>
            <a:off x="707875" y="1190350"/>
            <a:ext cx="3106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id" sz="160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Hypotheses Validated</a:t>
            </a:r>
            <a:endParaRPr b="1" sz="1600">
              <a:solidFill>
                <a:srgbClr val="2632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1" name="Google Shape;471;p30"/>
          <p:cNvSpPr txBox="1"/>
          <p:nvPr/>
        </p:nvSpPr>
        <p:spPr>
          <a:xfrm>
            <a:off x="451055" y="1610125"/>
            <a:ext cx="3106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id">
                <a:latin typeface="Roboto SemiBold"/>
                <a:ea typeface="Roboto SemiBold"/>
                <a:cs typeface="Roboto SemiBold"/>
                <a:sym typeface="Roboto SemiBold"/>
              </a:rPr>
              <a:t>&gt; </a:t>
            </a:r>
            <a:r>
              <a:rPr b="1" i="1" lang="id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Hypotheses Confirmed by Data</a:t>
            </a:r>
            <a:endParaRPr i="1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72" name="Google Shape;472;p30"/>
          <p:cNvSpPr txBox="1"/>
          <p:nvPr>
            <p:ph type="title"/>
          </p:nvPr>
        </p:nvSpPr>
        <p:spPr>
          <a:xfrm>
            <a:off x="417575" y="4363011"/>
            <a:ext cx="2871600" cy="53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High 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Students using </a:t>
            </a: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&gt;5h/day (150)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 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2x higher conflict risk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 vs </a:t>
            </a: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&lt;3h/day (43)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3" name="Google Shape;473;p30"/>
          <p:cNvSpPr txBox="1"/>
          <p:nvPr/>
        </p:nvSpPr>
        <p:spPr>
          <a:xfrm>
            <a:off x="56450" y="4424266"/>
            <a:ext cx="49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✅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74" name="Google Shape;474;p30" title="Screen time vs Conflic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800" y="1832435"/>
            <a:ext cx="1637635" cy="2545775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30"/>
          <p:cNvSpPr/>
          <p:nvPr/>
        </p:nvSpPr>
        <p:spPr>
          <a:xfrm>
            <a:off x="1328063" y="3528784"/>
            <a:ext cx="495900" cy="874200"/>
          </a:xfrm>
          <a:prstGeom prst="rect">
            <a:avLst/>
          </a:prstGeom>
          <a:noFill/>
          <a:ln cap="flat" cmpd="sng" w="80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575" lIns="77575" spcFirstLastPara="1" rIns="77575" wrap="square" tIns="77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87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6" name="Google Shape;476;p30"/>
          <p:cNvSpPr/>
          <p:nvPr/>
        </p:nvSpPr>
        <p:spPr>
          <a:xfrm>
            <a:off x="378450" y="3992109"/>
            <a:ext cx="495900" cy="411000"/>
          </a:xfrm>
          <a:prstGeom prst="rect">
            <a:avLst/>
          </a:prstGeom>
          <a:noFill/>
          <a:ln cap="flat" cmpd="sng" w="80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575" lIns="77575" spcFirstLastPara="1" rIns="77575" wrap="square" tIns="77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87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7" name="Google Shape;477;p30"/>
          <p:cNvSpPr txBox="1"/>
          <p:nvPr>
            <p:ph type="title"/>
          </p:nvPr>
        </p:nvSpPr>
        <p:spPr>
          <a:xfrm>
            <a:off x="3780600" y="4363011"/>
            <a:ext cx="2112600" cy="53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100">
                <a:latin typeface="Roboto"/>
                <a:ea typeface="Roboto"/>
                <a:cs typeface="Roboto"/>
                <a:sym typeface="Roboto"/>
              </a:rPr>
              <a:t>Students sleeping </a:t>
            </a: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&lt;6h/night </a:t>
            </a:r>
            <a:endParaRPr b="1"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25% higher anxiety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 vs </a:t>
            </a: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≥7h 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8" name="Google Shape;478;p30"/>
          <p:cNvSpPr txBox="1"/>
          <p:nvPr/>
        </p:nvSpPr>
        <p:spPr>
          <a:xfrm>
            <a:off x="3419475" y="4424266"/>
            <a:ext cx="49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✅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79" name="Google Shape;479;p30" title="Sleep vs Mental Health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7775" y="1969910"/>
            <a:ext cx="2050476" cy="2466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0" name="Google Shape;480;p30"/>
          <p:cNvCxnSpPr/>
          <p:nvPr/>
        </p:nvCxnSpPr>
        <p:spPr>
          <a:xfrm rot="10800000">
            <a:off x="3389250" y="2750610"/>
            <a:ext cx="5685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30"/>
          <p:cNvCxnSpPr/>
          <p:nvPr/>
        </p:nvCxnSpPr>
        <p:spPr>
          <a:xfrm rot="10800000">
            <a:off x="3383475" y="2208960"/>
            <a:ext cx="18933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30"/>
          <p:cNvSpPr txBox="1"/>
          <p:nvPr/>
        </p:nvSpPr>
        <p:spPr>
          <a:xfrm>
            <a:off x="3289175" y="2507660"/>
            <a:ext cx="495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85%</a:t>
            </a:r>
            <a:endParaRPr b="1" sz="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3" name="Google Shape;483;p30"/>
          <p:cNvSpPr txBox="1"/>
          <p:nvPr/>
        </p:nvSpPr>
        <p:spPr>
          <a:xfrm>
            <a:off x="3298097" y="1969910"/>
            <a:ext cx="495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113</a:t>
            </a:r>
            <a:r>
              <a:rPr b="1" lang="id" sz="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%</a:t>
            </a:r>
            <a:endParaRPr b="1" sz="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4" name="Google Shape;484;p30"/>
          <p:cNvSpPr txBox="1"/>
          <p:nvPr>
            <p:ph type="title"/>
          </p:nvPr>
        </p:nvSpPr>
        <p:spPr>
          <a:xfrm>
            <a:off x="6470350" y="4509722"/>
            <a:ext cx="2389200" cy="53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100">
                <a:latin typeface="Roboto"/>
                <a:ea typeface="Roboto"/>
                <a:cs typeface="Roboto"/>
                <a:sym typeface="Roboto"/>
              </a:rPr>
              <a:t>Combination (&gt;5h Timescreen + &lt;6h sleep) </a:t>
            </a: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2x conflict risk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 vs balanced group.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5" name="Google Shape;485;p30"/>
          <p:cNvSpPr txBox="1"/>
          <p:nvPr/>
        </p:nvSpPr>
        <p:spPr>
          <a:xfrm>
            <a:off x="6109225" y="4424266"/>
            <a:ext cx="49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✅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86" name="Google Shape;486;p30" title="Screen Time &amp; Sleep vs Conflict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14400" y="1832435"/>
            <a:ext cx="2498666" cy="2606849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30"/>
          <p:cNvSpPr/>
          <p:nvPr/>
        </p:nvSpPr>
        <p:spPr>
          <a:xfrm>
            <a:off x="6470350" y="2090402"/>
            <a:ext cx="632400" cy="2349000"/>
          </a:xfrm>
          <a:prstGeom prst="rect">
            <a:avLst/>
          </a:prstGeom>
          <a:noFill/>
          <a:ln cap="flat" cmpd="sng" w="80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575" lIns="77575" spcFirstLastPara="1" rIns="77575" wrap="square" tIns="77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87"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488" name="Google Shape;488;p30"/>
          <p:cNvGrpSpPr/>
          <p:nvPr/>
        </p:nvGrpSpPr>
        <p:grpSpPr>
          <a:xfrm>
            <a:off x="180011" y="4821554"/>
            <a:ext cx="1187769" cy="218206"/>
            <a:chOff x="180011" y="4821554"/>
            <a:chExt cx="1187769" cy="218206"/>
          </a:xfrm>
        </p:grpSpPr>
        <p:sp>
          <p:nvSpPr>
            <p:cNvPr id="489" name="Google Shape;489;p30"/>
            <p:cNvSpPr/>
            <p:nvPr/>
          </p:nvSpPr>
          <p:spPr>
            <a:xfrm>
              <a:off x="183010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90" name="Google Shape;490;p30"/>
            <p:cNvSpPr/>
            <p:nvPr/>
          </p:nvSpPr>
          <p:spPr>
            <a:xfrm>
              <a:off x="386364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91" name="Google Shape;491;p30"/>
            <p:cNvSpPr/>
            <p:nvPr/>
          </p:nvSpPr>
          <p:spPr>
            <a:xfrm>
              <a:off x="589717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92" name="Google Shape;492;p30"/>
            <p:cNvSpPr/>
            <p:nvPr/>
          </p:nvSpPr>
          <p:spPr>
            <a:xfrm>
              <a:off x="793071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93" name="Google Shape;493;p30"/>
            <p:cNvSpPr/>
            <p:nvPr/>
          </p:nvSpPr>
          <p:spPr>
            <a:xfrm>
              <a:off x="996425" y="4847319"/>
              <a:ext cx="168000" cy="168000"/>
            </a:xfrm>
            <a:prstGeom prst="ellipse">
              <a:avLst/>
            </a:prstGeom>
            <a:solidFill>
              <a:srgbClr val="FF9900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94" name="Google Shape;494;p30"/>
            <p:cNvSpPr txBox="1"/>
            <p:nvPr/>
          </p:nvSpPr>
          <p:spPr>
            <a:xfrm>
              <a:off x="180011" y="4824616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95" name="Google Shape;495;p30"/>
            <p:cNvSpPr txBox="1"/>
            <p:nvPr/>
          </p:nvSpPr>
          <p:spPr>
            <a:xfrm>
              <a:off x="386368" y="4821554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2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96" name="Google Shape;496;p30"/>
            <p:cNvSpPr txBox="1"/>
            <p:nvPr/>
          </p:nvSpPr>
          <p:spPr>
            <a:xfrm>
              <a:off x="589722" y="4823085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3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97" name="Google Shape;497;p30"/>
            <p:cNvSpPr txBox="1"/>
            <p:nvPr/>
          </p:nvSpPr>
          <p:spPr>
            <a:xfrm>
              <a:off x="793076" y="4823147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4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98" name="Google Shape;498;p30"/>
            <p:cNvSpPr txBox="1"/>
            <p:nvPr/>
          </p:nvSpPr>
          <p:spPr>
            <a:xfrm>
              <a:off x="996429" y="4825900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5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99" name="Google Shape;499;p30"/>
            <p:cNvSpPr/>
            <p:nvPr/>
          </p:nvSpPr>
          <p:spPr>
            <a:xfrm>
              <a:off x="1199775" y="4848966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00" name="Google Shape;500;p30"/>
            <p:cNvSpPr txBox="1"/>
            <p:nvPr/>
          </p:nvSpPr>
          <p:spPr>
            <a:xfrm>
              <a:off x="1199779" y="4830360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6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1"/>
          <p:cNvSpPr txBox="1"/>
          <p:nvPr>
            <p:ph idx="4294967295" type="ctrTitle"/>
          </p:nvPr>
        </p:nvSpPr>
        <p:spPr>
          <a:xfrm>
            <a:off x="303925" y="270350"/>
            <a:ext cx="26172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3600">
                <a:solidFill>
                  <a:srgbClr val="FF0000"/>
                </a:solidFill>
              </a:rPr>
              <a:t>_Calm </a:t>
            </a:r>
            <a:r>
              <a:rPr b="1" lang="id" sz="3600">
                <a:solidFill>
                  <a:srgbClr val="FF9900"/>
                </a:solidFill>
              </a:rPr>
              <a:t>Space_</a:t>
            </a:r>
            <a:endParaRPr sz="3600"/>
          </a:p>
        </p:txBody>
      </p:sp>
      <p:sp>
        <p:nvSpPr>
          <p:cNvPr id="506" name="Google Shape;506;p31"/>
          <p:cNvSpPr txBox="1"/>
          <p:nvPr/>
        </p:nvSpPr>
        <p:spPr>
          <a:xfrm>
            <a:off x="451052" y="1140700"/>
            <a:ext cx="3804000" cy="3456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7750" lIns="97750" spcFirstLastPara="1" rIns="97750" wrap="square" tIns="97750">
            <a:sp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8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7" name="Google Shape;507;p31"/>
          <p:cNvSpPr txBox="1"/>
          <p:nvPr/>
        </p:nvSpPr>
        <p:spPr>
          <a:xfrm>
            <a:off x="707875" y="1190350"/>
            <a:ext cx="3106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id" sz="160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Business Insight</a:t>
            </a:r>
            <a:endParaRPr b="1" sz="1600">
              <a:solidFill>
                <a:srgbClr val="2632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8" name="Google Shape;508;p31"/>
          <p:cNvSpPr txBox="1"/>
          <p:nvPr/>
        </p:nvSpPr>
        <p:spPr>
          <a:xfrm>
            <a:off x="451055" y="1610125"/>
            <a:ext cx="3106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id">
                <a:latin typeface="Roboto SemiBold"/>
                <a:ea typeface="Roboto SemiBold"/>
                <a:cs typeface="Roboto SemiBold"/>
                <a:sym typeface="Roboto SemiBold"/>
              </a:rPr>
              <a:t>&gt; </a:t>
            </a:r>
            <a:r>
              <a:rPr b="1" i="1" lang="id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Business Impact: Why This Matters</a:t>
            </a:r>
            <a:endParaRPr i="1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509" name="Google Shape;509;p31"/>
          <p:cNvSpPr txBox="1"/>
          <p:nvPr>
            <p:ph type="title"/>
          </p:nvPr>
        </p:nvSpPr>
        <p:spPr>
          <a:xfrm>
            <a:off x="542050" y="1880625"/>
            <a:ext cx="5686800" cy="246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High prevalence of conflict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 </a:t>
            </a:r>
            <a:br>
              <a:rPr lang="id" sz="1200">
                <a:latin typeface="Roboto"/>
                <a:ea typeface="Roboto"/>
                <a:cs typeface="Roboto"/>
                <a:sym typeface="Roboto"/>
              </a:rPr>
            </a:br>
            <a:r>
              <a:rPr lang="id" sz="1200">
                <a:latin typeface="Roboto"/>
                <a:ea typeface="Roboto"/>
                <a:cs typeface="Roboto"/>
                <a:sym typeface="Roboto"/>
              </a:rPr>
              <a:t>risk of decline in academic achievement and student welfare.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Lack of sleep &amp; anxiety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 </a:t>
            </a:r>
            <a:br>
              <a:rPr lang="id" sz="1200">
                <a:latin typeface="Roboto"/>
                <a:ea typeface="Roboto"/>
                <a:cs typeface="Roboto"/>
                <a:sym typeface="Roboto"/>
              </a:rPr>
            </a:br>
            <a:r>
              <a:rPr lang="id" sz="1200">
                <a:latin typeface="Roboto"/>
                <a:ea typeface="Roboto"/>
                <a:cs typeface="Roboto"/>
                <a:sym typeface="Roboto"/>
              </a:rPr>
              <a:t>increased need for counseling services (increased institutional costs).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Undergraduate students are vulnerable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 </a:t>
            </a:r>
            <a:br>
              <a:rPr lang="id" sz="1200">
                <a:latin typeface="Roboto"/>
                <a:ea typeface="Roboto"/>
                <a:cs typeface="Roboto"/>
                <a:sym typeface="Roboto"/>
              </a:rPr>
            </a:br>
            <a:r>
              <a:rPr lang="id" sz="1200">
                <a:latin typeface="Roboto"/>
                <a:ea typeface="Roboto"/>
                <a:cs typeface="Roboto"/>
                <a:sym typeface="Roboto"/>
              </a:rPr>
              <a:t>main target of Calm Space (potential market &amp; early intervention).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If left unaddressed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 </a:t>
            </a:r>
            <a:br>
              <a:rPr lang="id" sz="1200">
                <a:latin typeface="Roboto"/>
                <a:ea typeface="Roboto"/>
                <a:cs typeface="Roboto"/>
                <a:sym typeface="Roboto"/>
              </a:rPr>
            </a:br>
            <a:r>
              <a:rPr lang="id" sz="1200">
                <a:latin typeface="Roboto"/>
                <a:ea typeface="Roboto"/>
                <a:cs typeface="Roboto"/>
                <a:sym typeface="Roboto"/>
              </a:rPr>
              <a:t>school/university reputation may decline (dropouts, exhaustion, complaints).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0" name="Google Shape;510;p31"/>
          <p:cNvSpPr txBox="1"/>
          <p:nvPr/>
        </p:nvSpPr>
        <p:spPr>
          <a:xfrm>
            <a:off x="542050" y="2016527"/>
            <a:ext cx="49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⚡ 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1" name="Google Shape;511;p31"/>
          <p:cNvSpPr txBox="1"/>
          <p:nvPr/>
        </p:nvSpPr>
        <p:spPr>
          <a:xfrm>
            <a:off x="303925" y="2567652"/>
            <a:ext cx="49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😴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2" name="Google Shape;512;p31"/>
          <p:cNvSpPr txBox="1"/>
          <p:nvPr/>
        </p:nvSpPr>
        <p:spPr>
          <a:xfrm>
            <a:off x="602950" y="2567652"/>
            <a:ext cx="49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😟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3" name="Google Shape;513;p31"/>
          <p:cNvSpPr txBox="1"/>
          <p:nvPr/>
        </p:nvSpPr>
        <p:spPr>
          <a:xfrm>
            <a:off x="456325" y="3697502"/>
            <a:ext cx="495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🎓</a:t>
            </a:r>
            <a:endParaRPr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14" name="Google Shape;514;p31" title="icons8-technology-8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950" y="3193750"/>
            <a:ext cx="314400" cy="3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1" title="Screenshot 2025-09-21 11151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79200" y="2184525"/>
            <a:ext cx="1498775" cy="15129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6" name="Google Shape;516;p31"/>
          <p:cNvGrpSpPr/>
          <p:nvPr/>
        </p:nvGrpSpPr>
        <p:grpSpPr>
          <a:xfrm>
            <a:off x="180011" y="4821554"/>
            <a:ext cx="1187769" cy="218206"/>
            <a:chOff x="180011" y="4821554"/>
            <a:chExt cx="1187769" cy="218206"/>
          </a:xfrm>
        </p:grpSpPr>
        <p:sp>
          <p:nvSpPr>
            <p:cNvPr id="517" name="Google Shape;517;p31"/>
            <p:cNvSpPr/>
            <p:nvPr/>
          </p:nvSpPr>
          <p:spPr>
            <a:xfrm>
              <a:off x="183010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18" name="Google Shape;518;p31"/>
            <p:cNvSpPr/>
            <p:nvPr/>
          </p:nvSpPr>
          <p:spPr>
            <a:xfrm>
              <a:off x="386364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19" name="Google Shape;519;p31"/>
            <p:cNvSpPr/>
            <p:nvPr/>
          </p:nvSpPr>
          <p:spPr>
            <a:xfrm>
              <a:off x="589717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20" name="Google Shape;520;p31"/>
            <p:cNvSpPr/>
            <p:nvPr/>
          </p:nvSpPr>
          <p:spPr>
            <a:xfrm>
              <a:off x="793071" y="4847319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21" name="Google Shape;521;p31"/>
            <p:cNvSpPr/>
            <p:nvPr/>
          </p:nvSpPr>
          <p:spPr>
            <a:xfrm>
              <a:off x="996425" y="4847319"/>
              <a:ext cx="168000" cy="168000"/>
            </a:xfrm>
            <a:prstGeom prst="ellipse">
              <a:avLst/>
            </a:prstGeom>
            <a:solidFill>
              <a:srgbClr val="FF9900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22" name="Google Shape;522;p31"/>
            <p:cNvSpPr txBox="1"/>
            <p:nvPr/>
          </p:nvSpPr>
          <p:spPr>
            <a:xfrm>
              <a:off x="180011" y="4824616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23" name="Google Shape;523;p31"/>
            <p:cNvSpPr txBox="1"/>
            <p:nvPr/>
          </p:nvSpPr>
          <p:spPr>
            <a:xfrm>
              <a:off x="386368" y="4821554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2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24" name="Google Shape;524;p31"/>
            <p:cNvSpPr txBox="1"/>
            <p:nvPr/>
          </p:nvSpPr>
          <p:spPr>
            <a:xfrm>
              <a:off x="589722" y="4823085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3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25" name="Google Shape;525;p31"/>
            <p:cNvSpPr txBox="1"/>
            <p:nvPr/>
          </p:nvSpPr>
          <p:spPr>
            <a:xfrm>
              <a:off x="793076" y="4823147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4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26" name="Google Shape;526;p31"/>
            <p:cNvSpPr txBox="1"/>
            <p:nvPr/>
          </p:nvSpPr>
          <p:spPr>
            <a:xfrm>
              <a:off x="996429" y="4825900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5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27" name="Google Shape;527;p31"/>
            <p:cNvSpPr/>
            <p:nvPr/>
          </p:nvSpPr>
          <p:spPr>
            <a:xfrm>
              <a:off x="1199775" y="4848966"/>
              <a:ext cx="168000" cy="168000"/>
            </a:xfrm>
            <a:prstGeom prst="ellipse">
              <a:avLst/>
            </a:prstGeom>
            <a:solidFill>
              <a:srgbClr val="FCE5CD"/>
            </a:solidFill>
            <a:ln cap="flat" cmpd="sng" w="54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800" lIns="51800" spcFirstLastPara="1" rIns="51800" wrap="square" tIns="5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28" name="Google Shape;528;p31"/>
            <p:cNvSpPr txBox="1"/>
            <p:nvPr/>
          </p:nvSpPr>
          <p:spPr>
            <a:xfrm>
              <a:off x="1199779" y="4830360"/>
              <a:ext cx="168000" cy="2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800" lIns="51800" spcFirstLastPara="1" rIns="51800" wrap="square" tIns="518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d" sz="68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6</a:t>
              </a:r>
              <a:endParaRPr b="1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2"/>
          <p:cNvSpPr txBox="1"/>
          <p:nvPr>
            <p:ph idx="4294967295" type="ctrTitle"/>
          </p:nvPr>
        </p:nvSpPr>
        <p:spPr>
          <a:xfrm>
            <a:off x="303925" y="270350"/>
            <a:ext cx="26172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3600">
                <a:solidFill>
                  <a:srgbClr val="FF0000"/>
                </a:solidFill>
              </a:rPr>
              <a:t>_Calm </a:t>
            </a:r>
            <a:r>
              <a:rPr b="1" lang="id" sz="3600">
                <a:solidFill>
                  <a:srgbClr val="FF9900"/>
                </a:solidFill>
              </a:rPr>
              <a:t>Space_</a:t>
            </a:r>
            <a:endParaRPr sz="3600"/>
          </a:p>
        </p:txBody>
      </p:sp>
      <p:sp>
        <p:nvSpPr>
          <p:cNvPr id="534" name="Google Shape;534;p32"/>
          <p:cNvSpPr txBox="1"/>
          <p:nvPr/>
        </p:nvSpPr>
        <p:spPr>
          <a:xfrm>
            <a:off x="451052" y="1140700"/>
            <a:ext cx="3804000" cy="3456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7750" lIns="97750" spcFirstLastPara="1" rIns="97750" wrap="square" tIns="97750">
            <a:sp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8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5" name="Google Shape;535;p32"/>
          <p:cNvSpPr txBox="1"/>
          <p:nvPr/>
        </p:nvSpPr>
        <p:spPr>
          <a:xfrm>
            <a:off x="648750" y="1190350"/>
            <a:ext cx="3606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id" sz="160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Strategic Recommendations (Q2 2025)</a:t>
            </a:r>
            <a:endParaRPr b="1" sz="1600">
              <a:solidFill>
                <a:srgbClr val="2632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6" name="Google Shape;536;p32"/>
          <p:cNvSpPr txBox="1"/>
          <p:nvPr>
            <p:ph type="title"/>
          </p:nvPr>
        </p:nvSpPr>
        <p:spPr>
          <a:xfrm>
            <a:off x="648750" y="2057375"/>
            <a:ext cx="5981400" cy="27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Focus: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 reduce student conflicts by </a:t>
            </a: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15%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 through better sleep &amp; screen time balance.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Target Group: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 Undergraduates with </a:t>
            </a: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single/complicated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 relationship status = most at risk.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Actions: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id" sz="1200">
                <a:latin typeface="Roboto"/>
                <a:ea typeface="Roboto"/>
                <a:cs typeface="Roboto"/>
                <a:sym typeface="Roboto"/>
              </a:rPr>
              <a:t>Launch </a:t>
            </a: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Sleep First Campaign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 to encourage +30 min average sleep.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id" sz="1200">
                <a:latin typeface="Roboto"/>
                <a:ea typeface="Roboto"/>
                <a:cs typeface="Roboto"/>
                <a:sym typeface="Roboto"/>
              </a:rPr>
              <a:t>Deploy </a:t>
            </a: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Gamified Digital Detox Challenge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 (reward for &lt;5h/day).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id" sz="1200">
                <a:latin typeface="Roboto"/>
                <a:ea typeface="Roboto"/>
                <a:cs typeface="Roboto"/>
                <a:sym typeface="Roboto"/>
              </a:rPr>
              <a:t>Provide </a:t>
            </a: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Institutional Wellness Dashboards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 to school boards/universities.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Expected KPI Impact: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 Conflict down15%, Sleep +30 min, Anxiety down 10%.</a:t>
            </a:r>
            <a:br>
              <a:rPr lang="id" sz="1200">
                <a:latin typeface="Roboto"/>
                <a:ea typeface="Roboto"/>
                <a:cs typeface="Roboto"/>
                <a:sym typeface="Roboto"/>
              </a:rPr>
            </a:br>
            <a:endParaRPr b="1"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7" name="Google Shape;537;p32"/>
          <p:cNvSpPr txBox="1"/>
          <p:nvPr/>
        </p:nvSpPr>
        <p:spPr>
          <a:xfrm>
            <a:off x="451055" y="1610125"/>
            <a:ext cx="3106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id">
                <a:latin typeface="Roboto SemiBold"/>
                <a:ea typeface="Roboto SemiBold"/>
                <a:cs typeface="Roboto SemiBold"/>
                <a:sym typeface="Roboto SemiBold"/>
              </a:rPr>
              <a:t>&gt; </a:t>
            </a:r>
            <a:r>
              <a:rPr b="1" i="1" lang="id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Strategic Actions for Q2 2025</a:t>
            </a:r>
            <a:endParaRPr i="1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538" name="Google Shape;538;p32"/>
          <p:cNvSpPr txBox="1"/>
          <p:nvPr/>
        </p:nvSpPr>
        <p:spPr>
          <a:xfrm>
            <a:off x="648750" y="2057377"/>
            <a:ext cx="49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🎯 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9" name="Google Shape;539;p32"/>
          <p:cNvSpPr txBox="1"/>
          <p:nvPr/>
        </p:nvSpPr>
        <p:spPr>
          <a:xfrm>
            <a:off x="648750" y="2592752"/>
            <a:ext cx="49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🏫 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0" name="Google Shape;540;p32"/>
          <p:cNvSpPr txBox="1"/>
          <p:nvPr/>
        </p:nvSpPr>
        <p:spPr>
          <a:xfrm>
            <a:off x="667074" y="3074091"/>
            <a:ext cx="49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⚡ 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1" name="Google Shape;541;p32"/>
          <p:cNvSpPr txBox="1"/>
          <p:nvPr/>
        </p:nvSpPr>
        <p:spPr>
          <a:xfrm>
            <a:off x="667074" y="4160891"/>
            <a:ext cx="49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📊 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2" name="Google Shape;542;p32"/>
          <p:cNvSpPr/>
          <p:nvPr/>
        </p:nvSpPr>
        <p:spPr>
          <a:xfrm>
            <a:off x="183010" y="4847319"/>
            <a:ext cx="168000" cy="168000"/>
          </a:xfrm>
          <a:prstGeom prst="ellipse">
            <a:avLst/>
          </a:prstGeom>
          <a:solidFill>
            <a:srgbClr val="FCE5CD"/>
          </a:solidFill>
          <a:ln cap="flat" cmpd="sng" w="54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800" lIns="51800" spcFirstLastPara="1" rIns="51800" wrap="square" tIns="51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93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3" name="Google Shape;543;p32"/>
          <p:cNvSpPr/>
          <p:nvPr/>
        </p:nvSpPr>
        <p:spPr>
          <a:xfrm>
            <a:off x="386364" y="4847319"/>
            <a:ext cx="168000" cy="168000"/>
          </a:xfrm>
          <a:prstGeom prst="ellipse">
            <a:avLst/>
          </a:prstGeom>
          <a:solidFill>
            <a:srgbClr val="FCE5CD"/>
          </a:solidFill>
          <a:ln cap="flat" cmpd="sng" w="54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800" lIns="51800" spcFirstLastPara="1" rIns="51800" wrap="square" tIns="51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93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4" name="Google Shape;544;p32"/>
          <p:cNvSpPr/>
          <p:nvPr/>
        </p:nvSpPr>
        <p:spPr>
          <a:xfrm>
            <a:off x="589717" y="4847319"/>
            <a:ext cx="168000" cy="168000"/>
          </a:xfrm>
          <a:prstGeom prst="ellipse">
            <a:avLst/>
          </a:prstGeom>
          <a:solidFill>
            <a:srgbClr val="FCE5CD"/>
          </a:solidFill>
          <a:ln cap="flat" cmpd="sng" w="54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800" lIns="51800" spcFirstLastPara="1" rIns="51800" wrap="square" tIns="51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93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5" name="Google Shape;545;p32"/>
          <p:cNvSpPr/>
          <p:nvPr/>
        </p:nvSpPr>
        <p:spPr>
          <a:xfrm>
            <a:off x="793071" y="4847319"/>
            <a:ext cx="168000" cy="168000"/>
          </a:xfrm>
          <a:prstGeom prst="ellipse">
            <a:avLst/>
          </a:prstGeom>
          <a:solidFill>
            <a:srgbClr val="FCE5CD"/>
          </a:solidFill>
          <a:ln cap="flat" cmpd="sng" w="54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800" lIns="51800" spcFirstLastPara="1" rIns="51800" wrap="square" tIns="51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93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6" name="Google Shape;546;p32"/>
          <p:cNvSpPr/>
          <p:nvPr/>
        </p:nvSpPr>
        <p:spPr>
          <a:xfrm>
            <a:off x="996425" y="4847319"/>
            <a:ext cx="168000" cy="168000"/>
          </a:xfrm>
          <a:prstGeom prst="ellipse">
            <a:avLst/>
          </a:prstGeom>
          <a:solidFill>
            <a:srgbClr val="FCE5CD"/>
          </a:solidFill>
          <a:ln cap="flat" cmpd="sng" w="54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800" lIns="51800" spcFirstLastPara="1" rIns="51800" wrap="square" tIns="51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93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7" name="Google Shape;547;p32"/>
          <p:cNvSpPr txBox="1"/>
          <p:nvPr/>
        </p:nvSpPr>
        <p:spPr>
          <a:xfrm>
            <a:off x="180011" y="4824616"/>
            <a:ext cx="1680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51800" lIns="51800" spcFirstLastPara="1" rIns="51800" wrap="square" tIns="518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68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8" name="Google Shape;548;p32"/>
          <p:cNvSpPr txBox="1"/>
          <p:nvPr/>
        </p:nvSpPr>
        <p:spPr>
          <a:xfrm>
            <a:off x="386368" y="4821554"/>
            <a:ext cx="1680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51800" lIns="51800" spcFirstLastPara="1" rIns="51800" wrap="square" tIns="518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sz="68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9" name="Google Shape;549;p32"/>
          <p:cNvSpPr txBox="1"/>
          <p:nvPr/>
        </p:nvSpPr>
        <p:spPr>
          <a:xfrm>
            <a:off x="589722" y="4823085"/>
            <a:ext cx="1680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51800" lIns="51800" spcFirstLastPara="1" rIns="51800" wrap="square" tIns="518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b="1" sz="68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0" name="Google Shape;550;p32"/>
          <p:cNvSpPr txBox="1"/>
          <p:nvPr/>
        </p:nvSpPr>
        <p:spPr>
          <a:xfrm>
            <a:off x="793076" y="4823147"/>
            <a:ext cx="1680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51800" lIns="51800" spcFirstLastPara="1" rIns="51800" wrap="square" tIns="518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b="1" sz="68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1" name="Google Shape;551;p32"/>
          <p:cNvSpPr txBox="1"/>
          <p:nvPr/>
        </p:nvSpPr>
        <p:spPr>
          <a:xfrm>
            <a:off x="996429" y="4823294"/>
            <a:ext cx="1680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51800" lIns="51800" spcFirstLastPara="1" rIns="51800" wrap="square" tIns="518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 b="1" sz="68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2" name="Google Shape;552;p32"/>
          <p:cNvSpPr/>
          <p:nvPr/>
        </p:nvSpPr>
        <p:spPr>
          <a:xfrm>
            <a:off x="1199775" y="4848966"/>
            <a:ext cx="168000" cy="168000"/>
          </a:xfrm>
          <a:prstGeom prst="ellipse">
            <a:avLst/>
          </a:prstGeom>
          <a:solidFill>
            <a:srgbClr val="FF9900"/>
          </a:solidFill>
          <a:ln cap="flat" cmpd="sng" w="54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800" lIns="51800" spcFirstLastPara="1" rIns="51800" wrap="square" tIns="51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93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3" name="Google Shape;553;p32"/>
          <p:cNvSpPr txBox="1"/>
          <p:nvPr/>
        </p:nvSpPr>
        <p:spPr>
          <a:xfrm>
            <a:off x="1199779" y="4823785"/>
            <a:ext cx="1680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51800" lIns="51800" spcFirstLastPara="1" rIns="51800" wrap="square" tIns="518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b="1" sz="68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3"/>
          <p:cNvSpPr txBox="1"/>
          <p:nvPr>
            <p:ph idx="4294967295" type="ctrTitle"/>
          </p:nvPr>
        </p:nvSpPr>
        <p:spPr>
          <a:xfrm>
            <a:off x="303925" y="270350"/>
            <a:ext cx="26172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3600">
                <a:solidFill>
                  <a:srgbClr val="FF0000"/>
                </a:solidFill>
              </a:rPr>
              <a:t>_Calm </a:t>
            </a:r>
            <a:r>
              <a:rPr b="1" lang="id" sz="3600">
                <a:solidFill>
                  <a:srgbClr val="FF9900"/>
                </a:solidFill>
              </a:rPr>
              <a:t>Space_</a:t>
            </a:r>
            <a:endParaRPr sz="3600"/>
          </a:p>
        </p:txBody>
      </p:sp>
      <p:sp>
        <p:nvSpPr>
          <p:cNvPr id="559" name="Google Shape;559;p33"/>
          <p:cNvSpPr txBox="1"/>
          <p:nvPr/>
        </p:nvSpPr>
        <p:spPr>
          <a:xfrm>
            <a:off x="451052" y="1140700"/>
            <a:ext cx="3804000" cy="3456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7750" lIns="97750" spcFirstLastPara="1" rIns="97750" wrap="square" tIns="97750">
            <a:sp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8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0" name="Google Shape;560;p33"/>
          <p:cNvSpPr txBox="1"/>
          <p:nvPr/>
        </p:nvSpPr>
        <p:spPr>
          <a:xfrm>
            <a:off x="648750" y="1190350"/>
            <a:ext cx="3606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id" sz="160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Summary Insight &amp; Recommendation</a:t>
            </a:r>
            <a:endParaRPr b="1" sz="1600">
              <a:solidFill>
                <a:srgbClr val="2632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1" name="Google Shape;561;p33"/>
          <p:cNvSpPr txBox="1"/>
          <p:nvPr/>
        </p:nvSpPr>
        <p:spPr>
          <a:xfrm>
            <a:off x="451055" y="1572526"/>
            <a:ext cx="3106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id">
                <a:latin typeface="Roboto SemiBold"/>
                <a:ea typeface="Roboto SemiBold"/>
                <a:cs typeface="Roboto SemiBold"/>
                <a:sym typeface="Roboto SemiBold"/>
              </a:rPr>
              <a:t>&gt; </a:t>
            </a:r>
            <a:r>
              <a:rPr b="1" i="1" lang="id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Strategic Actions for Q2 2025</a:t>
            </a:r>
            <a:endParaRPr i="1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562" name="Google Shape;562;p33"/>
          <p:cNvSpPr/>
          <p:nvPr/>
        </p:nvSpPr>
        <p:spPr>
          <a:xfrm>
            <a:off x="183010" y="4847319"/>
            <a:ext cx="168000" cy="168000"/>
          </a:xfrm>
          <a:prstGeom prst="ellipse">
            <a:avLst/>
          </a:prstGeom>
          <a:solidFill>
            <a:srgbClr val="FCE5CD"/>
          </a:solidFill>
          <a:ln cap="flat" cmpd="sng" w="54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800" lIns="51800" spcFirstLastPara="1" rIns="51800" wrap="square" tIns="51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93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3" name="Google Shape;563;p33"/>
          <p:cNvSpPr/>
          <p:nvPr/>
        </p:nvSpPr>
        <p:spPr>
          <a:xfrm>
            <a:off x="386364" y="4847319"/>
            <a:ext cx="168000" cy="168000"/>
          </a:xfrm>
          <a:prstGeom prst="ellipse">
            <a:avLst/>
          </a:prstGeom>
          <a:solidFill>
            <a:srgbClr val="FCE5CD"/>
          </a:solidFill>
          <a:ln cap="flat" cmpd="sng" w="54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800" lIns="51800" spcFirstLastPara="1" rIns="51800" wrap="square" tIns="51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93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4" name="Google Shape;564;p33"/>
          <p:cNvSpPr/>
          <p:nvPr/>
        </p:nvSpPr>
        <p:spPr>
          <a:xfrm>
            <a:off x="589717" y="4847319"/>
            <a:ext cx="168000" cy="168000"/>
          </a:xfrm>
          <a:prstGeom prst="ellipse">
            <a:avLst/>
          </a:prstGeom>
          <a:solidFill>
            <a:srgbClr val="FCE5CD"/>
          </a:solidFill>
          <a:ln cap="flat" cmpd="sng" w="54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800" lIns="51800" spcFirstLastPara="1" rIns="51800" wrap="square" tIns="51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93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5" name="Google Shape;565;p33"/>
          <p:cNvSpPr/>
          <p:nvPr/>
        </p:nvSpPr>
        <p:spPr>
          <a:xfrm>
            <a:off x="793071" y="4847319"/>
            <a:ext cx="168000" cy="168000"/>
          </a:xfrm>
          <a:prstGeom prst="ellipse">
            <a:avLst/>
          </a:prstGeom>
          <a:solidFill>
            <a:srgbClr val="FCE5CD"/>
          </a:solidFill>
          <a:ln cap="flat" cmpd="sng" w="54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800" lIns="51800" spcFirstLastPara="1" rIns="51800" wrap="square" tIns="51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93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6" name="Google Shape;566;p33"/>
          <p:cNvSpPr/>
          <p:nvPr/>
        </p:nvSpPr>
        <p:spPr>
          <a:xfrm>
            <a:off x="996425" y="4847319"/>
            <a:ext cx="168000" cy="168000"/>
          </a:xfrm>
          <a:prstGeom prst="ellipse">
            <a:avLst/>
          </a:prstGeom>
          <a:solidFill>
            <a:srgbClr val="FCE5CD"/>
          </a:solidFill>
          <a:ln cap="flat" cmpd="sng" w="54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800" lIns="51800" spcFirstLastPara="1" rIns="51800" wrap="square" tIns="51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93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7" name="Google Shape;567;p33"/>
          <p:cNvSpPr txBox="1"/>
          <p:nvPr/>
        </p:nvSpPr>
        <p:spPr>
          <a:xfrm>
            <a:off x="180011" y="4824616"/>
            <a:ext cx="1680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51800" lIns="51800" spcFirstLastPara="1" rIns="51800" wrap="square" tIns="518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68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8" name="Google Shape;568;p33"/>
          <p:cNvSpPr txBox="1"/>
          <p:nvPr/>
        </p:nvSpPr>
        <p:spPr>
          <a:xfrm>
            <a:off x="386368" y="4821554"/>
            <a:ext cx="1680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51800" lIns="51800" spcFirstLastPara="1" rIns="51800" wrap="square" tIns="518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sz="68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9" name="Google Shape;569;p33"/>
          <p:cNvSpPr txBox="1"/>
          <p:nvPr/>
        </p:nvSpPr>
        <p:spPr>
          <a:xfrm>
            <a:off x="589722" y="4823085"/>
            <a:ext cx="1680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51800" lIns="51800" spcFirstLastPara="1" rIns="51800" wrap="square" tIns="518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b="1" sz="68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0" name="Google Shape;570;p33"/>
          <p:cNvSpPr txBox="1"/>
          <p:nvPr/>
        </p:nvSpPr>
        <p:spPr>
          <a:xfrm>
            <a:off x="793076" y="4823147"/>
            <a:ext cx="1680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51800" lIns="51800" spcFirstLastPara="1" rIns="51800" wrap="square" tIns="518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b="1" sz="68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1" name="Google Shape;571;p33"/>
          <p:cNvSpPr txBox="1"/>
          <p:nvPr/>
        </p:nvSpPr>
        <p:spPr>
          <a:xfrm>
            <a:off x="996429" y="4823294"/>
            <a:ext cx="1680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51800" lIns="51800" spcFirstLastPara="1" rIns="51800" wrap="square" tIns="518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 b="1" sz="68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2" name="Google Shape;572;p33"/>
          <p:cNvSpPr/>
          <p:nvPr/>
        </p:nvSpPr>
        <p:spPr>
          <a:xfrm>
            <a:off x="1199775" y="4848966"/>
            <a:ext cx="168000" cy="168000"/>
          </a:xfrm>
          <a:prstGeom prst="ellipse">
            <a:avLst/>
          </a:prstGeom>
          <a:solidFill>
            <a:srgbClr val="FF9900"/>
          </a:solidFill>
          <a:ln cap="flat" cmpd="sng" w="54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800" lIns="51800" spcFirstLastPara="1" rIns="51800" wrap="square" tIns="51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93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3" name="Google Shape;573;p33"/>
          <p:cNvSpPr txBox="1"/>
          <p:nvPr/>
        </p:nvSpPr>
        <p:spPr>
          <a:xfrm>
            <a:off x="1199779" y="4823785"/>
            <a:ext cx="1680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51800" lIns="51800" spcFirstLastPara="1" rIns="51800" wrap="square" tIns="518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b="1" sz="68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4" name="Google Shape;574;p33"/>
          <p:cNvSpPr txBox="1"/>
          <p:nvPr>
            <p:ph type="title"/>
          </p:nvPr>
        </p:nvSpPr>
        <p:spPr>
          <a:xfrm>
            <a:off x="589725" y="1810370"/>
            <a:ext cx="8155800" cy="34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Objective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, Reduce student conflicts by 15% in 6 months by improving sleep (+30 min/night) and reducing anxiety.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75" name="Google Shape;575;p33"/>
          <p:cNvGraphicFramePr/>
          <p:nvPr/>
        </p:nvGraphicFramePr>
        <p:xfrm>
          <a:off x="646334" y="21719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{AAF95292-2B32-4739-8E17-B6C0FC8E13AF}</a:tableStyleId>
              </a:tblPr>
              <a:tblGrid>
                <a:gridCol w="2038950"/>
                <a:gridCol w="2565325"/>
                <a:gridCol w="2799375"/>
                <a:gridCol w="75215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1000"/>
                        <a:t>B (Business Problem)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1000"/>
                        <a:t>P (Insight Summary)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1000"/>
                        <a:t>I (Recommendation – Detailed &amp; Actionable)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1000"/>
                        <a:t>R (Priority Level)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Students show high conflict prevalence linked with excessive screen time and poor sleep.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Conflicts are systematic (seen across gender &amp; education level), with undergraduates most vulnerable.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🎯 Target undergraduates with “single/complicated” status through digital wellness programs (screen time balance, sleep campaign).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🔴 High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Excessive screen time (&gt;5h/day) doubles conflict risk.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Undergraduates dominate usage (4-8h/day). Moderate users (3-5h/day) most conflict-prone due to active interactions.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⚡ Launch Gamified Digital Detox Challenge to reward &lt;5h/day usage; integrate screen time tracker in Calm Space app.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🔴 High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Poor sleep (&lt;6h/day) raises anxiety/depression by 25%.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High school students most at risk of sleep deprivation (&lt;6h), graduate students have better patterns.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🌙 Deploy Sleep First Campaign: nudges for 7h sleep, bedtime reminders, sleep score dashboard for schools.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🟠 Medium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4"/>
          <p:cNvSpPr txBox="1"/>
          <p:nvPr>
            <p:ph idx="4294967295" type="ctrTitle"/>
          </p:nvPr>
        </p:nvSpPr>
        <p:spPr>
          <a:xfrm>
            <a:off x="303925" y="270350"/>
            <a:ext cx="26172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3600">
                <a:solidFill>
                  <a:srgbClr val="FF0000"/>
                </a:solidFill>
              </a:rPr>
              <a:t>_Calm </a:t>
            </a:r>
            <a:r>
              <a:rPr b="1" lang="id" sz="3600">
                <a:solidFill>
                  <a:srgbClr val="FF9900"/>
                </a:solidFill>
              </a:rPr>
              <a:t>Space_</a:t>
            </a:r>
            <a:endParaRPr sz="3600"/>
          </a:p>
        </p:txBody>
      </p:sp>
      <p:sp>
        <p:nvSpPr>
          <p:cNvPr id="581" name="Google Shape;581;p34"/>
          <p:cNvSpPr txBox="1"/>
          <p:nvPr/>
        </p:nvSpPr>
        <p:spPr>
          <a:xfrm>
            <a:off x="451052" y="1140700"/>
            <a:ext cx="3804000" cy="3456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7750" lIns="97750" spcFirstLastPara="1" rIns="97750" wrap="square" tIns="97750">
            <a:sp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8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2" name="Google Shape;582;p34"/>
          <p:cNvSpPr txBox="1"/>
          <p:nvPr/>
        </p:nvSpPr>
        <p:spPr>
          <a:xfrm>
            <a:off x="648750" y="1190350"/>
            <a:ext cx="3606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id" sz="160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Summary Insight &amp; Recommendation</a:t>
            </a:r>
            <a:endParaRPr b="1" sz="1600">
              <a:solidFill>
                <a:srgbClr val="2632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3" name="Google Shape;583;p34"/>
          <p:cNvSpPr txBox="1"/>
          <p:nvPr/>
        </p:nvSpPr>
        <p:spPr>
          <a:xfrm>
            <a:off x="451055" y="1572526"/>
            <a:ext cx="3106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id">
                <a:latin typeface="Roboto SemiBold"/>
                <a:ea typeface="Roboto SemiBold"/>
                <a:cs typeface="Roboto SemiBold"/>
                <a:sym typeface="Roboto SemiBold"/>
              </a:rPr>
              <a:t>&gt; </a:t>
            </a:r>
            <a:r>
              <a:rPr b="1" i="1" lang="id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Strategic Actions for Q2 2025</a:t>
            </a:r>
            <a:endParaRPr i="1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584" name="Google Shape;584;p34"/>
          <p:cNvSpPr/>
          <p:nvPr/>
        </p:nvSpPr>
        <p:spPr>
          <a:xfrm>
            <a:off x="183010" y="4847319"/>
            <a:ext cx="168000" cy="168000"/>
          </a:xfrm>
          <a:prstGeom prst="ellipse">
            <a:avLst/>
          </a:prstGeom>
          <a:solidFill>
            <a:srgbClr val="FCE5CD"/>
          </a:solidFill>
          <a:ln cap="flat" cmpd="sng" w="54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800" lIns="51800" spcFirstLastPara="1" rIns="51800" wrap="square" tIns="51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93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5" name="Google Shape;585;p34"/>
          <p:cNvSpPr/>
          <p:nvPr/>
        </p:nvSpPr>
        <p:spPr>
          <a:xfrm>
            <a:off x="386364" y="4847319"/>
            <a:ext cx="168000" cy="168000"/>
          </a:xfrm>
          <a:prstGeom prst="ellipse">
            <a:avLst/>
          </a:prstGeom>
          <a:solidFill>
            <a:srgbClr val="FCE5CD"/>
          </a:solidFill>
          <a:ln cap="flat" cmpd="sng" w="54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800" lIns="51800" spcFirstLastPara="1" rIns="51800" wrap="square" tIns="51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93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6" name="Google Shape;586;p34"/>
          <p:cNvSpPr/>
          <p:nvPr/>
        </p:nvSpPr>
        <p:spPr>
          <a:xfrm>
            <a:off x="589717" y="4847319"/>
            <a:ext cx="168000" cy="168000"/>
          </a:xfrm>
          <a:prstGeom prst="ellipse">
            <a:avLst/>
          </a:prstGeom>
          <a:solidFill>
            <a:srgbClr val="FCE5CD"/>
          </a:solidFill>
          <a:ln cap="flat" cmpd="sng" w="54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800" lIns="51800" spcFirstLastPara="1" rIns="51800" wrap="square" tIns="51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93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7" name="Google Shape;587;p34"/>
          <p:cNvSpPr/>
          <p:nvPr/>
        </p:nvSpPr>
        <p:spPr>
          <a:xfrm>
            <a:off x="793071" y="4847319"/>
            <a:ext cx="168000" cy="168000"/>
          </a:xfrm>
          <a:prstGeom prst="ellipse">
            <a:avLst/>
          </a:prstGeom>
          <a:solidFill>
            <a:srgbClr val="FCE5CD"/>
          </a:solidFill>
          <a:ln cap="flat" cmpd="sng" w="54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800" lIns="51800" spcFirstLastPara="1" rIns="51800" wrap="square" tIns="51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93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8" name="Google Shape;588;p34"/>
          <p:cNvSpPr/>
          <p:nvPr/>
        </p:nvSpPr>
        <p:spPr>
          <a:xfrm>
            <a:off x="996425" y="4847319"/>
            <a:ext cx="168000" cy="168000"/>
          </a:xfrm>
          <a:prstGeom prst="ellipse">
            <a:avLst/>
          </a:prstGeom>
          <a:solidFill>
            <a:srgbClr val="FCE5CD"/>
          </a:solidFill>
          <a:ln cap="flat" cmpd="sng" w="54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800" lIns="51800" spcFirstLastPara="1" rIns="51800" wrap="square" tIns="51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93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9" name="Google Shape;589;p34"/>
          <p:cNvSpPr txBox="1"/>
          <p:nvPr/>
        </p:nvSpPr>
        <p:spPr>
          <a:xfrm>
            <a:off x="180011" y="4824616"/>
            <a:ext cx="1680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51800" lIns="51800" spcFirstLastPara="1" rIns="51800" wrap="square" tIns="518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68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0" name="Google Shape;590;p34"/>
          <p:cNvSpPr txBox="1"/>
          <p:nvPr/>
        </p:nvSpPr>
        <p:spPr>
          <a:xfrm>
            <a:off x="386368" y="4821554"/>
            <a:ext cx="1680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51800" lIns="51800" spcFirstLastPara="1" rIns="51800" wrap="square" tIns="518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sz="68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1" name="Google Shape;591;p34"/>
          <p:cNvSpPr txBox="1"/>
          <p:nvPr/>
        </p:nvSpPr>
        <p:spPr>
          <a:xfrm>
            <a:off x="589722" y="4823085"/>
            <a:ext cx="1680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51800" lIns="51800" spcFirstLastPara="1" rIns="51800" wrap="square" tIns="518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b="1" sz="68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2" name="Google Shape;592;p34"/>
          <p:cNvSpPr txBox="1"/>
          <p:nvPr/>
        </p:nvSpPr>
        <p:spPr>
          <a:xfrm>
            <a:off x="793076" y="4823147"/>
            <a:ext cx="1680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51800" lIns="51800" spcFirstLastPara="1" rIns="51800" wrap="square" tIns="518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b="1" sz="68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3" name="Google Shape;593;p34"/>
          <p:cNvSpPr txBox="1"/>
          <p:nvPr/>
        </p:nvSpPr>
        <p:spPr>
          <a:xfrm>
            <a:off x="996429" y="4823294"/>
            <a:ext cx="1680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51800" lIns="51800" spcFirstLastPara="1" rIns="51800" wrap="square" tIns="518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 b="1" sz="68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4" name="Google Shape;594;p34"/>
          <p:cNvSpPr/>
          <p:nvPr/>
        </p:nvSpPr>
        <p:spPr>
          <a:xfrm>
            <a:off x="1199775" y="4848966"/>
            <a:ext cx="168000" cy="168000"/>
          </a:xfrm>
          <a:prstGeom prst="ellipse">
            <a:avLst/>
          </a:prstGeom>
          <a:solidFill>
            <a:srgbClr val="FF9900"/>
          </a:solidFill>
          <a:ln cap="flat" cmpd="sng" w="54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800" lIns="51800" spcFirstLastPara="1" rIns="51800" wrap="square" tIns="51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93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5" name="Google Shape;595;p34"/>
          <p:cNvSpPr txBox="1"/>
          <p:nvPr/>
        </p:nvSpPr>
        <p:spPr>
          <a:xfrm>
            <a:off x="1199779" y="4823785"/>
            <a:ext cx="1680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51800" lIns="51800" spcFirstLastPara="1" rIns="51800" wrap="square" tIns="518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6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b="1" sz="68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6" name="Google Shape;596;p34"/>
          <p:cNvSpPr txBox="1"/>
          <p:nvPr>
            <p:ph type="title"/>
          </p:nvPr>
        </p:nvSpPr>
        <p:spPr>
          <a:xfrm>
            <a:off x="589725" y="1810370"/>
            <a:ext cx="8155800" cy="34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200">
                <a:latin typeface="Roboto"/>
                <a:ea typeface="Roboto"/>
                <a:cs typeface="Roboto"/>
                <a:sym typeface="Roboto"/>
              </a:rPr>
              <a:t>Objective</a:t>
            </a:r>
            <a:r>
              <a:rPr lang="id" sz="1200">
                <a:latin typeface="Roboto"/>
                <a:ea typeface="Roboto"/>
                <a:cs typeface="Roboto"/>
                <a:sym typeface="Roboto"/>
              </a:rPr>
              <a:t>, Reduce student conflicts by 15% in 6 months by improving sleep (+30 min/night) and reducing anxiety.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97" name="Google Shape;597;p34"/>
          <p:cNvGraphicFramePr/>
          <p:nvPr/>
        </p:nvGraphicFramePr>
        <p:xfrm>
          <a:off x="646334" y="21719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{AAF95292-2B32-4739-8E17-B6C0FC8E13AF}</a:tableStyleId>
              </a:tblPr>
              <a:tblGrid>
                <a:gridCol w="2038950"/>
                <a:gridCol w="2565325"/>
                <a:gridCol w="2749225"/>
                <a:gridCol w="8023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1000"/>
                        <a:t>B (Business Problem)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1000"/>
                        <a:t>P (Insight Summary)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1000"/>
                        <a:t>I (Recommendation – Detailed &amp; Actionable)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1000"/>
                        <a:t>R (Priority Level)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Combined high screen time + poor sleep doubles conflict risk.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Groups with irregular patterns are most vulnerable to conflict.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🧩 Build Conflict Risk Score Model combining screen time + sleep alerts for at-risk students.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🔴 High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Anxiety levels remain high across education levels, especially undergraduate &amp; graduate.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Women slightly higher scores, except undergrad; mental health lowest at age 18–20.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🧑‍🏫 Partner with psychologists &amp; schools to run micro-courses on stress management, healthy digital interaction, targeting 18–22 age.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🟠 Medium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Country variation: US &amp; India high usage, but conflict also high in Bangladesh &amp; Pakistan even at lower usage.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Conflict not linear with usage; cultural/contextual factors matter.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🌍 Expand Calm Space B2B offering to universities in high-conflict regions, tailor interventions per region.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🟡 Low (longer-term)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5"/>
          <p:cNvSpPr txBox="1"/>
          <p:nvPr>
            <p:ph type="title"/>
          </p:nvPr>
        </p:nvSpPr>
        <p:spPr>
          <a:xfrm>
            <a:off x="239575" y="197080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3000" u="sng">
                <a:latin typeface="Roboto SemiBold"/>
                <a:ea typeface="Roboto SemiBold"/>
                <a:cs typeface="Roboto SemiBold"/>
                <a:sym typeface="Roboto SemiBold"/>
                <a:hlinkClick r:id="rId3"/>
              </a:rPr>
              <a:t>Dashboard</a:t>
            </a:r>
            <a:endParaRPr sz="3000" u="sng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pic>
        <p:nvPicPr>
          <p:cNvPr id="603" name="Google Shape;603;p35" title="Dashboard 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8725" y="1117825"/>
            <a:ext cx="6436899" cy="361484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35"/>
          <p:cNvSpPr txBox="1"/>
          <p:nvPr>
            <p:ph idx="4294967295" type="ctrTitle"/>
          </p:nvPr>
        </p:nvSpPr>
        <p:spPr>
          <a:xfrm>
            <a:off x="303925" y="270350"/>
            <a:ext cx="26172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3600">
                <a:solidFill>
                  <a:srgbClr val="FF0000"/>
                </a:solidFill>
              </a:rPr>
              <a:t>_Calm </a:t>
            </a:r>
            <a:r>
              <a:rPr b="1" lang="id" sz="3600">
                <a:solidFill>
                  <a:srgbClr val="FF9900"/>
                </a:solidFill>
              </a:rPr>
              <a:t>Space_</a:t>
            </a:r>
            <a:endParaRPr sz="3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36"/>
          <p:cNvSpPr txBox="1"/>
          <p:nvPr>
            <p:ph type="title"/>
          </p:nvPr>
        </p:nvSpPr>
        <p:spPr>
          <a:xfrm>
            <a:off x="24510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6000">
                <a:latin typeface="Roboto Black"/>
                <a:ea typeface="Roboto Black"/>
                <a:cs typeface="Roboto Black"/>
                <a:sym typeface="Roboto Black"/>
              </a:rPr>
              <a:t>QnA</a:t>
            </a:r>
            <a:endParaRPr sz="6000"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610" name="Google Shape;610;p36"/>
          <p:cNvSpPr/>
          <p:nvPr/>
        </p:nvSpPr>
        <p:spPr>
          <a:xfrm>
            <a:off x="0" y="3006450"/>
            <a:ext cx="9144000" cy="2137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7"/>
          <p:cNvSpPr txBox="1"/>
          <p:nvPr>
            <p:ph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6800" u="sng"/>
              <a:t>Thank You</a:t>
            </a:r>
            <a:endParaRPr sz="6800" u="sng"/>
          </a:p>
        </p:txBody>
      </p:sp>
      <p:sp>
        <p:nvSpPr>
          <p:cNvPr id="616" name="Google Shape;616;p37"/>
          <p:cNvSpPr txBox="1"/>
          <p:nvPr>
            <p:ph idx="4294967295" type="subTitle"/>
          </p:nvPr>
        </p:nvSpPr>
        <p:spPr>
          <a:xfrm>
            <a:off x="2989650" y="2918351"/>
            <a:ext cx="3164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400">
                <a:uFill>
                  <a:noFill/>
                </a:uFill>
                <a:hlinkClick r:id="rId3"/>
              </a:rPr>
              <a:t>Mikhael Putra Iswanto</a:t>
            </a:r>
            <a:endParaRPr b="1"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400"/>
              <a:t>RevoU - FSDA Madrid batch JUN25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100">
                <a:solidFill>
                  <a:srgbClr val="FF0000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</a:t>
            </a:r>
            <a:r>
              <a:rPr lang="id" sz="1100"/>
              <a:t> </a:t>
            </a:r>
            <a:r>
              <a:rPr b="1" lang="id" sz="1100">
                <a:solidFill>
                  <a:srgbClr val="1474AF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Collab</a:t>
            </a:r>
            <a:r>
              <a:rPr lang="id" sz="1100"/>
              <a:t> </a:t>
            </a:r>
            <a:r>
              <a:rPr b="1" lang="id" sz="1100">
                <a:solidFill>
                  <a:srgbClr val="FF9900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Tableau</a:t>
            </a:r>
            <a:r>
              <a:rPr lang="id" sz="1100">
                <a:solidFill>
                  <a:srgbClr val="FF9900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id" sz="1100">
                <a:solidFill>
                  <a:srgbClr val="1474AF"/>
                </a:solidFill>
                <a:uFill>
                  <a:noFill/>
                </a:u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</a:t>
            </a:r>
            <a:endParaRPr b="1" sz="1100">
              <a:solidFill>
                <a:srgbClr val="1474AF"/>
              </a:solidFill>
            </a:endParaRPr>
          </a:p>
        </p:txBody>
      </p:sp>
      <p:sp>
        <p:nvSpPr>
          <p:cNvPr id="617" name="Google Shape;617;p37"/>
          <p:cNvSpPr txBox="1"/>
          <p:nvPr/>
        </p:nvSpPr>
        <p:spPr>
          <a:xfrm>
            <a:off x="1241000" y="2456650"/>
            <a:ext cx="666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Social Media Addiction &amp; Student Conflicts : Survey Insights from Q1 2025</a:t>
            </a:r>
            <a:endParaRPr sz="1800">
              <a:solidFill>
                <a:schemeClr val="dk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8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d" sz="7200">
                <a:solidFill>
                  <a:srgbClr val="1474AF"/>
                </a:solidFill>
              </a:rPr>
              <a:t>APPENDIX</a:t>
            </a:r>
            <a:endParaRPr b="1" i="1" sz="7200">
              <a:solidFill>
                <a:srgbClr val="1474AF"/>
              </a:solidFill>
            </a:endParaRPr>
          </a:p>
        </p:txBody>
      </p:sp>
      <p:sp>
        <p:nvSpPr>
          <p:cNvPr id="623" name="Google Shape;623;p38"/>
          <p:cNvSpPr txBox="1"/>
          <p:nvPr/>
        </p:nvSpPr>
        <p:spPr>
          <a:xfrm>
            <a:off x="4940100" y="2993100"/>
            <a:ext cx="163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800" u="sng">
                <a:solidFill>
                  <a:srgbClr val="FF9900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Python</a:t>
            </a:r>
            <a:endParaRPr b="1" sz="1800">
              <a:solidFill>
                <a:srgbClr val="FF99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39"/>
          <p:cNvSpPr txBox="1"/>
          <p:nvPr/>
        </p:nvSpPr>
        <p:spPr>
          <a:xfrm>
            <a:off x="70218" y="3199350"/>
            <a:ext cx="3988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9750" lIns="109750" spcFirstLastPara="1" rIns="109750" wrap="square" tIns="109750">
            <a:spAutoFit/>
          </a:bodyPr>
          <a:lstStyle/>
          <a:p>
            <a:pPr indent="-344298" lvl="0" marL="548896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id" sz="1100">
                <a:solidFill>
                  <a:schemeClr val="dk1"/>
                </a:solidFill>
              </a:rPr>
              <a:t>Excessive social media use (more than 5 hours/day) is </a:t>
            </a:r>
            <a:r>
              <a:rPr b="1" lang="id" sz="1100">
                <a:solidFill>
                  <a:schemeClr val="dk1"/>
                </a:solidFill>
              </a:rPr>
              <a:t>strongly correlated with poorer mental health.</a:t>
            </a:r>
            <a:endParaRPr b="1" sz="1100">
              <a:solidFill>
                <a:schemeClr val="dk1"/>
              </a:solidFill>
            </a:endParaRPr>
          </a:p>
          <a:p>
            <a:pPr indent="-344298" lvl="0" marL="54889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id" sz="1100">
                <a:solidFill>
                  <a:schemeClr val="dk1"/>
                </a:solidFill>
              </a:rPr>
              <a:t>The most significant impact is seen among </a:t>
            </a:r>
            <a:r>
              <a:rPr b="1" lang="id" sz="1100">
                <a:solidFill>
                  <a:schemeClr val="dk1"/>
                </a:solidFill>
              </a:rPr>
              <a:t>low </a:t>
            </a:r>
            <a:r>
              <a:rPr lang="id" sz="1100">
                <a:solidFill>
                  <a:schemeClr val="dk1"/>
                </a:solidFill>
              </a:rPr>
              <a:t>and </a:t>
            </a:r>
            <a:r>
              <a:rPr b="1" lang="id" sz="1100">
                <a:solidFill>
                  <a:schemeClr val="dk1"/>
                </a:solidFill>
              </a:rPr>
              <a:t>moderate </a:t>
            </a:r>
            <a:r>
              <a:rPr lang="id" sz="1100">
                <a:solidFill>
                  <a:schemeClr val="dk1"/>
                </a:solidFill>
              </a:rPr>
              <a:t>users, while </a:t>
            </a:r>
            <a:r>
              <a:rPr b="1" lang="id" sz="1100">
                <a:solidFill>
                  <a:schemeClr val="dk1"/>
                </a:solidFill>
              </a:rPr>
              <a:t>high </a:t>
            </a:r>
            <a:r>
              <a:rPr lang="id" sz="1100">
                <a:solidFill>
                  <a:schemeClr val="dk1"/>
                </a:solidFill>
              </a:rPr>
              <a:t>users are already at a low point and do not deteriorate much further.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629" name="Google Shape;62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301" y="899325"/>
            <a:ext cx="4327711" cy="21604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30" name="Google Shape;630;p39"/>
          <p:cNvSpPr txBox="1"/>
          <p:nvPr/>
        </p:nvSpPr>
        <p:spPr>
          <a:xfrm>
            <a:off x="4675893" y="3199350"/>
            <a:ext cx="3988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9750" lIns="109750" spcFirstLastPara="1" rIns="109750" wrap="square" tIns="109750">
            <a:spAutoFit/>
          </a:bodyPr>
          <a:lstStyle/>
          <a:p>
            <a:pPr indent="-344298" lvl="0" marL="548896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id" sz="1100">
                <a:solidFill>
                  <a:schemeClr val="dk1"/>
                </a:solidFill>
              </a:rPr>
              <a:t>Positive correlation: the higher the daily use of social media, the higher the conflict on social media</a:t>
            </a:r>
            <a:endParaRPr sz="1100">
              <a:solidFill>
                <a:schemeClr val="dk1"/>
              </a:solidFill>
            </a:endParaRPr>
          </a:p>
          <a:p>
            <a:pPr indent="-344298" lvl="0" marL="54889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id" sz="1100">
                <a:solidFill>
                  <a:schemeClr val="dk1"/>
                </a:solidFill>
              </a:rPr>
              <a:t>Relationship status is related to this correlation, with the highest conflict occurring among those with a “</a:t>
            </a:r>
            <a:r>
              <a:rPr b="1" lang="id" sz="1100">
                <a:solidFill>
                  <a:schemeClr val="dk1"/>
                </a:solidFill>
              </a:rPr>
              <a:t>Complicated</a:t>
            </a:r>
            <a:r>
              <a:rPr lang="id" sz="1100">
                <a:solidFill>
                  <a:schemeClr val="dk1"/>
                </a:solidFill>
              </a:rPr>
              <a:t>” status, followed by “</a:t>
            </a:r>
            <a:r>
              <a:rPr b="1" lang="id" sz="1100">
                <a:solidFill>
                  <a:schemeClr val="dk1"/>
                </a:solidFill>
              </a:rPr>
              <a:t>Single</a:t>
            </a:r>
            <a:r>
              <a:rPr lang="id" sz="1100">
                <a:solidFill>
                  <a:schemeClr val="dk1"/>
                </a:solidFill>
              </a:rPr>
              <a:t>,” and the lowest among those “</a:t>
            </a:r>
            <a:r>
              <a:rPr b="1" lang="id" sz="1100">
                <a:solidFill>
                  <a:schemeClr val="dk1"/>
                </a:solidFill>
              </a:rPr>
              <a:t>in a relationship”.</a:t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631" name="Google Shape;631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2160" y="899325"/>
            <a:ext cx="4509342" cy="2147624"/>
          </a:xfrm>
          <a:prstGeom prst="rect">
            <a:avLst/>
          </a:prstGeom>
          <a:noFill/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32" name="Google Shape;632;p39"/>
          <p:cNvSpPr txBox="1"/>
          <p:nvPr/>
        </p:nvSpPr>
        <p:spPr>
          <a:xfrm>
            <a:off x="2599050" y="328600"/>
            <a:ext cx="3945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6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Correlation</a:t>
            </a:r>
            <a:endParaRPr b="1" sz="16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40"/>
          <p:cNvSpPr txBox="1"/>
          <p:nvPr/>
        </p:nvSpPr>
        <p:spPr>
          <a:xfrm>
            <a:off x="319100" y="3346650"/>
            <a:ext cx="8520600" cy="17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9750" lIns="109750" spcFirstLastPara="1" rIns="109750" wrap="square" tIns="109750">
            <a:spAutoFit/>
          </a:bodyPr>
          <a:lstStyle/>
          <a:p>
            <a:pPr indent="-344298" lvl="0" marL="548896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id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USA and India</a:t>
            </a:r>
            <a:r>
              <a:rPr lang="id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have the highest daily social media usage (&gt;6 hours/day), but high usage </a:t>
            </a:r>
            <a:r>
              <a:rPr b="1" lang="id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does not always correlate linearly with conflict. 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4298" lvl="0" marL="54889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id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 example, Bangladesh and Pakistan have relatively lower usage hours than the USA, but the resulting conflict is quite high.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4298" lvl="0" marL="54889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id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majority of interactions on social media trigger high conflict (&gt;3). This indicates a </a:t>
            </a:r>
            <a:r>
              <a:rPr b="1" lang="id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high potential for negative impacts on mental health</a:t>
            </a:r>
            <a:r>
              <a:rPr lang="id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especially in countries with high usage hours.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4298" lvl="0" marL="54889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id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higher the usage, the higher the conflicts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4298" lvl="0" marL="54889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id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majority of respondents</a:t>
            </a:r>
            <a:r>
              <a:rPr lang="id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were not low users, but </a:t>
            </a:r>
            <a:r>
              <a:rPr b="1" lang="id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moderate/high users,</a:t>
            </a:r>
            <a:r>
              <a:rPr lang="id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and more than half had been affected by the conflict.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8" name="Google Shape;638;p40"/>
          <p:cNvSpPr txBox="1"/>
          <p:nvPr/>
        </p:nvSpPr>
        <p:spPr>
          <a:xfrm>
            <a:off x="319100" y="374175"/>
            <a:ext cx="394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Results Average Daily Usage per Country</a:t>
            </a:r>
            <a:endParaRPr b="1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39" name="Google Shape;639;p40" title="Clustered Usage _ Count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5338" y="865462"/>
            <a:ext cx="4771000" cy="2385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40" title="Stacked Bar_ High Conflict Flag by Usage Categor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4038" y="908425"/>
            <a:ext cx="1654618" cy="2299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41"/>
          <p:cNvSpPr txBox="1"/>
          <p:nvPr/>
        </p:nvSpPr>
        <p:spPr>
          <a:xfrm>
            <a:off x="3719578" y="1791188"/>
            <a:ext cx="4688400" cy="14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9750" lIns="109750" spcFirstLastPara="1" rIns="109750" wrap="square" tIns="109750">
            <a:spAutoFit/>
          </a:bodyPr>
          <a:lstStyle/>
          <a:p>
            <a:pPr indent="-350648" lvl="0" marL="548896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High school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students were the respondents most affected by high conflict, even at moderate usage levels.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0648" lvl="0" marL="54889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Undergraduate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conflict was high at high usage levels, but more balanced at moderate usage levels.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0648" lvl="0" marL="54889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Graduate 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conflict was still significant, but more controlled than at the high school level.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6" name="Google Shape;646;p41"/>
          <p:cNvSpPr txBox="1"/>
          <p:nvPr/>
        </p:nvSpPr>
        <p:spPr>
          <a:xfrm>
            <a:off x="3832925" y="1252825"/>
            <a:ext cx="4869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3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In the first quarter, social media addiction among university and high school students was high and led to social conflicts</a:t>
            </a:r>
            <a:endParaRPr sz="13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47" name="Google Shape;647;p41" title="Stacked Bar_ High Conflict Flag by Usage Category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975" y="774375"/>
            <a:ext cx="3015584" cy="3902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41"/>
          <p:cNvSpPr txBox="1"/>
          <p:nvPr/>
        </p:nvSpPr>
        <p:spPr>
          <a:xfrm>
            <a:off x="397600" y="374163"/>
            <a:ext cx="751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Results by Academic Level</a:t>
            </a:r>
            <a:endParaRPr b="1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